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4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1" r:id="rId46"/>
    <p:sldId id="300" r:id="rId4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PDybyMQ7tWKxVeJ51KI/ZyW9S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7bf93f2fc63ec58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7bf93f2fc63ec580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7bf93f2fc63ec580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7bf93f2fc63ec580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657db7c27af81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4657db7c27af81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4657db7c27af81b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h4657db7c27af81b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4657db7c27af81b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4657db7c27af81b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4657db7c27af81b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h4657db7c27af81b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4657db7c27af81b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4657db7c27af81b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4657db7c27af81b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4657db7c27af81b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4657db7c27af81b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4657db7c27af81b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4657db7c27af81b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h4657db7c27af81b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657db7c27af81b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4657db7c27af81b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4657db7c27af81b0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h4657db7c27af81b0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4657db7c27af81b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4657db7c27af81b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4657db7c27af81b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h4657db7c27af81b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4657db7c27af81b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4657db7c27af81b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4657db7c27af81b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4657db7c27af81b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4657db7c27af81b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h4657db7c27af81b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4657db7c27af81b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h4657db7c27af81b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4657db7c27af81b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h4657db7c27af81b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4657db7c27af81b0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h4657db7c27af81b0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4657db7c27af81b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4657db7c27af81b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4657db7c27af81b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4657db7c27af81b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4657db7c27af81b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4657db7c27af81b0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4657db7c27af81b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h4657db7c27af81b0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63d7fb8fcd6c11da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" name="Google Shape;342;h63d7fb8fcd6c11da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63d7fb8fcd6c11da_3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h63d7fb8fcd6c11da_3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h63d7fb8fcd6c11da_3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h63d7fb8fcd6c11da_3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h63d7fb8fcd6c11da_3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h63d7fb8fcd6c11da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63d7fb8fcd6c11da_3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h63d7fb8fcd6c11da_3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h4657db7c27af81b0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h4657db7c27af81b0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4657db7c27af81b0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h4657db7c27af81b0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4657db7c27af81b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h4657db7c27af81b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4657db7c27af81b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h4657db7c27af81b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h4657db7c27af81b0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h4657db7c27af81b0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7bf93f2fc63ec580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h7bf93f2fc63ec580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AC8557E-80EE-6360-38CD-FD3597F0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>
            <a:extLst>
              <a:ext uri="{FF2B5EF4-FFF2-40B4-BE49-F238E27FC236}">
                <a16:creationId xmlns:a16="http://schemas.microsoft.com/office/drawing/2014/main" id="{E036C93E-1503-E93F-7462-446C37A54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>
            <a:extLst>
              <a:ext uri="{FF2B5EF4-FFF2-40B4-BE49-F238E27FC236}">
                <a16:creationId xmlns:a16="http://schemas.microsoft.com/office/drawing/2014/main" id="{43272639-E54F-C967-6C74-134139427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1697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h4657db7c27af81b0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h4657db7c27af81b0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3d7fb8fcd6c11da_3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63d7fb8fcd6c11da_3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63d7fb8fcd6c11da_3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63d7fb8fcd6c11da_3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63d7fb8fcd6c11da_3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63d7fb8fcd6c11da_3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63d7fb8fcd6c11da_3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63d7fb8fcd6c11da_3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3d7fb8fcd6c11da_3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63d7fb8fcd6c11da_3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63d7fb8fcd6c11da_3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63d7fb8fcd6c11da_3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63d7fb8fcd6c11da_3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3d7fb8fcd6c11da_3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63d7fb8fcd6c11da_3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63d7fb8fcd6c11da_3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63d7fb8fcd6c11da_3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63d7fb8fcd6c11da_3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3d7fb8fcd6c11da_3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63d7fb8fcd6c11da_3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63d7fb8fcd6c11da_3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63d7fb8fcd6c11da_3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63d7fb8fcd6c11da_3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63d7fb8fcd6c11da_3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3d7fb8fcd6c11da_3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63d7fb8fcd6c11da_3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63d7fb8fcd6c11da_3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63d7fb8fcd6c11da_3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63d7fb8fcd6c11da_3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63d7fb8fcd6c11da_3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63d7fb8fcd6c11da_3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63d7fb8fcd6c11da_3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3d7fb8fcd6c11da_3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63d7fb8fcd6c11da_3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63d7fb8fcd6c11da_3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63d7fb8fcd6c11da_3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3d7fb8fcd6c11da_3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63d7fb8fcd6c11da_3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63d7fb8fcd6c11da_3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63d7fb8fcd6c11da_3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63d7fb8fcd6c11da_3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63d7fb8fcd6c11da_3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3d7fb8fcd6c11da_3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63d7fb8fcd6c11da_3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63d7fb8fcd6c11da_3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63d7fb8fcd6c11da_3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63d7fb8fcd6c11da_3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63d7fb8fcd6c11da_3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3d7fb8fcd6c11da_3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63d7fb8fcd6c11da_3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63d7fb8fcd6c11da_3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63d7fb8fcd6c11da_3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63d7fb8fcd6c11da_3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3d7fb8fcd6c11da_3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63d7fb8fcd6c11da_3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63d7fb8fcd6c11da_3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63d7fb8fcd6c11da_3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63d7fb8fcd6c11da_3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3d7fb8fcd6c11da_3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h63d7fb8fcd6c11da_3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h63d7fb8fcd6c11da_3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h63d7fb8fcd6c11da_3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h63d7fb8fcd6c11da_3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914400" y="1371600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Multimodal Pattern Recognition Framework for</a:t>
            </a:r>
            <a:br>
              <a:rPr lang="en-US" sz="22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Screen Activity Understanding and Knowledge Extraction</a:t>
            </a:r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914400" y="4114800"/>
            <a:ext cx="10058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Project Group 21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M.Tech in Artificial Intelligence Systems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National University of Singapore</a:t>
            </a:r>
            <a:endParaRPr/>
          </a:p>
        </p:txBody>
      </p:sp>
      <p:sp>
        <p:nvSpPr>
          <p:cNvPr id="164" name="Google Shape;164;p1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Pattern Recognition Systems  |  September 2026</a:t>
            </a:r>
            <a:endParaRPr/>
          </a:p>
        </p:txBody>
      </p:sp>
      <p:pic>
        <p:nvPicPr>
          <p:cNvPr id="165" name="Google Shape;16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71" name="Google Shape;171;p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1.  Problem Statement &amp; Motivation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2.  Objectives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3.  System Architecture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4.  Feature Extraction Pipeline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5.  Classification Models (3 Tiers, 14 Models)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6.  Dataset — CUA-Suite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7.  Training Pipeline &amp; Results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8.  Technology Stack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9.  Live Demo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10. Deployment (Docker + AWS)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11. Challenges &amp; Solutions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12. Future Work &amp; Conclusion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914400" y="13716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Screen recordings contain rich multimodal information (text, UI elements, visual patterns, user interactions) but are opaque to automated analysis</a:t>
            </a:r>
            <a:endParaRPr/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Manually reviewing hours of screen activity recordings is time-consuming and error-prone</a:t>
            </a:r>
            <a:endParaRPr/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Existing video classification approaches focus on natural video scenes, not screen activity patterns</a:t>
            </a:r>
            <a:endParaRPr/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No unified framework combines OCR, UI detection, visual analysis, and interaction tracking for screen recordings</a:t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1371600" y="4572000"/>
            <a:ext cx="9144000" cy="109728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How can we automatically classify and understand screen activity</a:t>
            </a:r>
            <a:br>
              <a:rPr lang="en-US" sz="1800" b="1" i="0" u="none" strike="noStrike" cap="non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from video recordings using multimodal pattern recognition?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h7bf93f2fc63ec580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914400" y="13716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 multimodal feature extraction pipeline combining OCR, UI detection, visual analysis, and interaction tracking into a unified 150-dimensional feature vector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1645920" y="22860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Implement and benchmark 14 classification models across 3 tiers: Classical ML, Deep Learning, and Ensemble methods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914400" y="32004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1645920" y="32004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Develop an end-to-end web application for video upload, analysis, and interactive model comparison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645920" y="41148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 and evaluate on the CUA-Suite dataset (7,021 tasks, ~48 GB) for real-world screen activity classification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914400" y="50292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1645920" y="50292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Deploy as a containerized microservice architecture using Docker and AWS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h7bf93f2fc63ec580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5855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h7bf93f2fc63ec580_2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h4657db7c27af81b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h4657db7c27af81b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h4657db7c27af81b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h4657db7c27af81b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h4657db7c27af81b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h4657db7c27af81b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h4657db7c27af81b0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h4657db7c27af81b0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h4657db7c27af81b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h4657db7c27af81b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h4657db7c27af81b0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h4657db7c27af81b0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h4657db7c27af81b0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h4657db7c27af81b0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h4657db7c27af81b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h4657db7c27af81b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h4657db7c27af81b0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h4657db7c27af81b0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h4657db7c27af81b0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h4657db7c27af81b0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h4657db7c27af81b0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h4657db7c27af81b0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h4657db7c27af81b0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h4657db7c27af81b0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h4657db7c27af81b0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h4657db7c27af81b0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h4657db7c27af81b0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h4657db7c27af81b0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h4657db7c27af81b0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h4657db7c27af81b0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h4657db7c27af81b0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h4657db7c27af81b0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h4657db7c27af81b0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h4657db7c27af81b0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h4657db7c27af81b0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h4657db7c27af81b0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h4657db7c27af81b0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h4657db7c27af81b0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h4657db7c27af81b0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h4657db7c27af81b0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h4657db7c27af81b0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h4657db7c27af81b0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h4657db7c27af81b0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63d7fb8fcd6c11da_3_75"/>
          <p:cNvSpPr txBox="1"/>
          <p:nvPr/>
        </p:nvSpPr>
        <p:spPr>
          <a:xfrm>
            <a:off x="731520" y="36576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Dataset — CUA-Suite (VideoCUA)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63d7fb8fcd6c11da_3_75"/>
          <p:cNvSpPr/>
          <p:nvPr/>
        </p:nvSpPr>
        <p:spPr>
          <a:xfrm>
            <a:off x="731520" y="1005840"/>
            <a:ext cx="1828800" cy="456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h63d7fb8fcd6c11da_3_75"/>
          <p:cNvSpPr/>
          <p:nvPr/>
        </p:nvSpPr>
        <p:spPr>
          <a:xfrm>
            <a:off x="731520" y="1371600"/>
            <a:ext cx="2469000" cy="10974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h63d7fb8fcd6c11da_3_75"/>
          <p:cNvSpPr txBox="1"/>
          <p:nvPr/>
        </p:nvSpPr>
        <p:spPr>
          <a:xfrm>
            <a:off x="731520" y="1463040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7,021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h63d7fb8fcd6c11da_3_75"/>
          <p:cNvSpPr txBox="1"/>
          <p:nvPr/>
        </p:nvSpPr>
        <p:spPr>
          <a:xfrm>
            <a:off x="731520" y="19202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h63d7fb8fcd6c11da_3_75"/>
          <p:cNvSpPr/>
          <p:nvPr/>
        </p:nvSpPr>
        <p:spPr>
          <a:xfrm>
            <a:off x="3566160" y="1371600"/>
            <a:ext cx="2469000" cy="10974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h63d7fb8fcd6c11da_3_75"/>
          <p:cNvSpPr txBox="1"/>
          <p:nvPr/>
        </p:nvSpPr>
        <p:spPr>
          <a:xfrm>
            <a:off x="3566160" y="1463040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6,991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h63d7fb8fcd6c11da_3_75"/>
          <p:cNvSpPr txBox="1"/>
          <p:nvPr/>
        </p:nvSpPr>
        <p:spPr>
          <a:xfrm>
            <a:off x="3566160" y="19202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Videos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h63d7fb8fcd6c11da_3_75"/>
          <p:cNvSpPr/>
          <p:nvPr/>
        </p:nvSpPr>
        <p:spPr>
          <a:xfrm>
            <a:off x="6400800" y="1371600"/>
            <a:ext cx="2469000" cy="10974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h63d7fb8fcd6c11da_3_75"/>
          <p:cNvSpPr txBox="1"/>
          <p:nvPr/>
        </p:nvSpPr>
        <p:spPr>
          <a:xfrm>
            <a:off x="6400800" y="1463040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~48 GB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h63d7fb8fcd6c11da_3_75"/>
          <p:cNvSpPr txBox="1"/>
          <p:nvPr/>
        </p:nvSpPr>
        <p:spPr>
          <a:xfrm>
            <a:off x="6400800" y="19202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Total Size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h63d7fb8fcd6c11da_3_75"/>
          <p:cNvSpPr/>
          <p:nvPr/>
        </p:nvSpPr>
        <p:spPr>
          <a:xfrm>
            <a:off x="9235440" y="1371600"/>
            <a:ext cx="2469000" cy="10974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h63d7fb8fcd6c11da_3_75"/>
          <p:cNvSpPr txBox="1"/>
          <p:nvPr/>
        </p:nvSpPr>
        <p:spPr>
          <a:xfrm>
            <a:off x="9235440" y="1463040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MIT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h63d7fb8fcd6c11da_3_75"/>
          <p:cNvSpPr txBox="1"/>
          <p:nvPr/>
        </p:nvSpPr>
        <p:spPr>
          <a:xfrm>
            <a:off x="9235440" y="19202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License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h63d7fb8fcd6c11da_3_75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ServiceNow/VideoCUA on HuggingFace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h63d7fb8fcd6c11da_3_7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 Activity Labels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h63d7fb8fcd6c11da_3_75"/>
          <p:cNvSpPr/>
          <p:nvPr/>
        </p:nvSpPr>
        <p:spPr>
          <a:xfrm>
            <a:off x="731520" y="384048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git_operations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h63d7fb8fcd6c11da_3_75"/>
          <p:cNvSpPr/>
          <p:nvPr/>
        </p:nvSpPr>
        <p:spPr>
          <a:xfrm>
            <a:off x="2926080" y="384048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docker_workflow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h63d7fb8fcd6c11da_3_75"/>
          <p:cNvSpPr/>
          <p:nvPr/>
        </p:nvSpPr>
        <p:spPr>
          <a:xfrm>
            <a:off x="5120640" y="384048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kubernetes_ops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h63d7fb8fcd6c11da_3_75"/>
          <p:cNvSpPr/>
          <p:nvPr/>
        </p:nvSpPr>
        <p:spPr>
          <a:xfrm>
            <a:off x="7315200" y="384048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terraform_iac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h63d7fb8fcd6c11da_3_75"/>
          <p:cNvSpPr/>
          <p:nvPr/>
        </p:nvSpPr>
        <p:spPr>
          <a:xfrm>
            <a:off x="9509760" y="384048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aws_console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h63d7fb8fcd6c11da_3_75"/>
          <p:cNvSpPr/>
          <p:nvPr/>
        </p:nvSpPr>
        <p:spPr>
          <a:xfrm>
            <a:off x="731520" y="443484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jenkins_ci_cd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h63d7fb8fcd6c11da_3_75"/>
          <p:cNvSpPr/>
          <p:nvPr/>
        </p:nvSpPr>
        <p:spPr>
          <a:xfrm>
            <a:off x="2926080" y="443484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coding_editing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h63d7fb8fcd6c11da_3_75"/>
          <p:cNvSpPr/>
          <p:nvPr/>
        </p:nvSpPr>
        <p:spPr>
          <a:xfrm>
            <a:off x="5120640" y="443484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h63d7fb8fcd6c11da_3_75"/>
          <p:cNvSpPr/>
          <p:nvPr/>
        </p:nvSpPr>
        <p:spPr>
          <a:xfrm>
            <a:off x="7315200" y="443484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h63d7fb8fcd6c11da_3_75"/>
          <p:cNvSpPr/>
          <p:nvPr/>
        </p:nvSpPr>
        <p:spPr>
          <a:xfrm>
            <a:off x="9509760" y="4434840"/>
            <a:ext cx="20118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h63d7fb8fcd6c11da_3_75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Labels derived from task instructions via keyword matching in dataset_loader.py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63d7fb8fcd6c11da_3_106"/>
          <p:cNvSpPr txBox="1"/>
          <p:nvPr/>
        </p:nvSpPr>
        <p:spPr>
          <a:xfrm>
            <a:off x="548640" y="256032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Training &amp; Evaluation</a:t>
            </a:r>
            <a:endParaRPr/>
          </a:p>
        </p:txBody>
      </p:sp>
      <p:sp>
        <p:nvSpPr>
          <p:cNvPr id="376" name="Google Shape;376;h63d7fb8fcd6c11da_3_106"/>
          <p:cNvSpPr/>
          <p:nvPr/>
        </p:nvSpPr>
        <p:spPr>
          <a:xfrm>
            <a:off x="548640" y="877824"/>
            <a:ext cx="1280160" cy="54864"/>
          </a:xfrm>
          <a:prstGeom prst="roundRect">
            <a:avLst>
              <a:gd name="adj" fmla="val 50000"/>
            </a:avLst>
          </a:prstGeom>
          <a:solidFill>
            <a:srgbClr val="007ACC"/>
          </a:solidFill>
          <a:ln>
            <a:noFill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h63d7fb8fcd6c11da_3_106"/>
          <p:cNvSpPr txBox="1"/>
          <p:nvPr/>
        </p:nvSpPr>
        <p:spPr>
          <a:xfrm>
            <a:off x="548640" y="950976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Five-fold cross-validation over all 6,991 recordings.</a:t>
            </a:r>
            <a:endParaRPr/>
          </a:p>
        </p:txBody>
      </p:sp>
      <p:sp>
        <p:nvSpPr>
          <p:cNvPr id="378" name="Google Shape;378;h63d7fb8fcd6c11da_3_106"/>
          <p:cNvSpPr/>
          <p:nvPr/>
        </p:nvSpPr>
        <p:spPr>
          <a:xfrm>
            <a:off x="548640" y="1426464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9" name="Google Shape;379;h63d7fb8fcd6c11da_3_106"/>
          <p:cNvSpPr txBox="1"/>
          <p:nvPr/>
        </p:nvSpPr>
        <p:spPr>
          <a:xfrm>
            <a:off x="1024128" y="1408176"/>
            <a:ext cx="95829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Split into 5 folds</a:t>
            </a:r>
            <a:endParaRPr/>
          </a:p>
        </p:txBody>
      </p:sp>
      <p:sp>
        <p:nvSpPr>
          <p:cNvPr id="380" name="Google Shape;380;h63d7fb8fcd6c11da_3_106"/>
          <p:cNvSpPr txBox="1"/>
          <p:nvPr/>
        </p:nvSpPr>
        <p:spPr>
          <a:xfrm>
            <a:off x="548640" y="1828800"/>
            <a:ext cx="110916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The 6,991 rows go into 5 folds, grouped so a recording is never split in two.</a:t>
            </a:r>
            <a:endParaRPr/>
          </a:p>
        </p:txBody>
      </p:sp>
      <p:sp>
        <p:nvSpPr>
          <p:cNvPr id="381" name="Google Shape;381;h63d7fb8fcd6c11da_3_106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2" name="Google Shape;382;h63d7fb8fcd6c11da_3_106"/>
          <p:cNvSpPr txBox="1"/>
          <p:nvPr/>
        </p:nvSpPr>
        <p:spPr>
          <a:xfrm>
            <a:off x="1024128" y="2267712"/>
            <a:ext cx="95829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Run 5 rounds — every fold is the test set exactly once</a:t>
            </a:r>
            <a:endParaRPr/>
          </a:p>
        </p:txBody>
      </p:sp>
      <p:sp>
        <p:nvSpPr>
          <p:cNvPr id="383" name="Google Shape;383;h63d7fb8fcd6c11da_3_106"/>
          <p:cNvSpPr txBox="1"/>
          <p:nvPr/>
        </p:nvSpPr>
        <p:spPr>
          <a:xfrm>
            <a:off x="548640" y="2743200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1</a:t>
            </a:r>
            <a:endParaRPr/>
          </a:p>
        </p:txBody>
      </p:sp>
      <p:sp>
        <p:nvSpPr>
          <p:cNvPr id="384" name="Google Shape;384;h63d7fb8fcd6c11da_3_106"/>
          <p:cNvSpPr/>
          <p:nvPr/>
        </p:nvSpPr>
        <p:spPr>
          <a:xfrm>
            <a:off x="1691640" y="2743200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007ACC"/>
          </a:solidFill>
          <a:ln w="12700" cap="flat" cmpd="sng">
            <a:solidFill>
              <a:srgbClr val="007A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</p:txBody>
      </p:sp>
      <p:sp>
        <p:nvSpPr>
          <p:cNvPr id="385" name="Google Shape;385;h63d7fb8fcd6c11da_3_106"/>
          <p:cNvSpPr/>
          <p:nvPr/>
        </p:nvSpPr>
        <p:spPr>
          <a:xfrm>
            <a:off x="2710281" y="2743200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86" name="Google Shape;386;h63d7fb8fcd6c11da_3_106"/>
          <p:cNvSpPr/>
          <p:nvPr/>
        </p:nvSpPr>
        <p:spPr>
          <a:xfrm>
            <a:off x="3728923" y="2743200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87" name="Google Shape;387;h63d7fb8fcd6c11da_3_106"/>
          <p:cNvSpPr/>
          <p:nvPr/>
        </p:nvSpPr>
        <p:spPr>
          <a:xfrm>
            <a:off x="4747564" y="2743200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88" name="Google Shape;388;h63d7fb8fcd6c11da_3_106"/>
          <p:cNvSpPr/>
          <p:nvPr/>
        </p:nvSpPr>
        <p:spPr>
          <a:xfrm>
            <a:off x="5766206" y="2743200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89" name="Google Shape;389;h63d7fb8fcd6c11da_3_106"/>
          <p:cNvSpPr txBox="1"/>
          <p:nvPr/>
        </p:nvSpPr>
        <p:spPr>
          <a:xfrm>
            <a:off x="548640" y="3209544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2</a:t>
            </a:r>
            <a:endParaRPr/>
          </a:p>
        </p:txBody>
      </p:sp>
      <p:sp>
        <p:nvSpPr>
          <p:cNvPr id="390" name="Google Shape;390;h63d7fb8fcd6c11da_3_106"/>
          <p:cNvSpPr/>
          <p:nvPr/>
        </p:nvSpPr>
        <p:spPr>
          <a:xfrm>
            <a:off x="1691640" y="3209544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91" name="Google Shape;391;h63d7fb8fcd6c11da_3_106"/>
          <p:cNvSpPr/>
          <p:nvPr/>
        </p:nvSpPr>
        <p:spPr>
          <a:xfrm>
            <a:off x="2710281" y="3209544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007ACC"/>
          </a:solidFill>
          <a:ln w="12700" cap="flat" cmpd="sng">
            <a:solidFill>
              <a:srgbClr val="007A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</p:txBody>
      </p:sp>
      <p:sp>
        <p:nvSpPr>
          <p:cNvPr id="392" name="Google Shape;392;h63d7fb8fcd6c11da_3_106"/>
          <p:cNvSpPr/>
          <p:nvPr/>
        </p:nvSpPr>
        <p:spPr>
          <a:xfrm>
            <a:off x="3728923" y="3209544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93" name="Google Shape;393;h63d7fb8fcd6c11da_3_106"/>
          <p:cNvSpPr/>
          <p:nvPr/>
        </p:nvSpPr>
        <p:spPr>
          <a:xfrm>
            <a:off x="4747564" y="3209544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94" name="Google Shape;394;h63d7fb8fcd6c11da_3_106"/>
          <p:cNvSpPr/>
          <p:nvPr/>
        </p:nvSpPr>
        <p:spPr>
          <a:xfrm>
            <a:off x="5766206" y="3209544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95" name="Google Shape;395;h63d7fb8fcd6c11da_3_106"/>
          <p:cNvSpPr txBox="1"/>
          <p:nvPr/>
        </p:nvSpPr>
        <p:spPr>
          <a:xfrm>
            <a:off x="548640" y="3675887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3</a:t>
            </a:r>
            <a:endParaRPr/>
          </a:p>
        </p:txBody>
      </p:sp>
      <p:sp>
        <p:nvSpPr>
          <p:cNvPr id="396" name="Google Shape;396;h63d7fb8fcd6c11da_3_106"/>
          <p:cNvSpPr/>
          <p:nvPr/>
        </p:nvSpPr>
        <p:spPr>
          <a:xfrm>
            <a:off x="1691640" y="3675887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97" name="Google Shape;397;h63d7fb8fcd6c11da_3_106"/>
          <p:cNvSpPr/>
          <p:nvPr/>
        </p:nvSpPr>
        <p:spPr>
          <a:xfrm>
            <a:off x="2710281" y="3675887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98" name="Google Shape;398;h63d7fb8fcd6c11da_3_106"/>
          <p:cNvSpPr/>
          <p:nvPr/>
        </p:nvSpPr>
        <p:spPr>
          <a:xfrm>
            <a:off x="3728923" y="3675887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007ACC"/>
          </a:solidFill>
          <a:ln w="12700" cap="flat" cmpd="sng">
            <a:solidFill>
              <a:srgbClr val="007A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</p:txBody>
      </p:sp>
      <p:sp>
        <p:nvSpPr>
          <p:cNvPr id="399" name="Google Shape;399;h63d7fb8fcd6c11da_3_106"/>
          <p:cNvSpPr/>
          <p:nvPr/>
        </p:nvSpPr>
        <p:spPr>
          <a:xfrm>
            <a:off x="4747564" y="3675887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0" name="Google Shape;400;h63d7fb8fcd6c11da_3_106"/>
          <p:cNvSpPr/>
          <p:nvPr/>
        </p:nvSpPr>
        <p:spPr>
          <a:xfrm>
            <a:off x="5766206" y="3675887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1" name="Google Shape;401;h63d7fb8fcd6c11da_3_106"/>
          <p:cNvSpPr txBox="1"/>
          <p:nvPr/>
        </p:nvSpPr>
        <p:spPr>
          <a:xfrm>
            <a:off x="548640" y="4142232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4</a:t>
            </a:r>
            <a:endParaRPr/>
          </a:p>
        </p:txBody>
      </p:sp>
      <p:sp>
        <p:nvSpPr>
          <p:cNvPr id="402" name="Google Shape;402;h63d7fb8fcd6c11da_3_106"/>
          <p:cNvSpPr/>
          <p:nvPr/>
        </p:nvSpPr>
        <p:spPr>
          <a:xfrm>
            <a:off x="1691640" y="4142232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3" name="Google Shape;403;h63d7fb8fcd6c11da_3_106"/>
          <p:cNvSpPr/>
          <p:nvPr/>
        </p:nvSpPr>
        <p:spPr>
          <a:xfrm>
            <a:off x="2710281" y="4142232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4" name="Google Shape;404;h63d7fb8fcd6c11da_3_106"/>
          <p:cNvSpPr/>
          <p:nvPr/>
        </p:nvSpPr>
        <p:spPr>
          <a:xfrm>
            <a:off x="3728923" y="4142232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5" name="Google Shape;405;h63d7fb8fcd6c11da_3_106"/>
          <p:cNvSpPr/>
          <p:nvPr/>
        </p:nvSpPr>
        <p:spPr>
          <a:xfrm>
            <a:off x="4747564" y="4142232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007ACC"/>
          </a:solidFill>
          <a:ln w="12700" cap="flat" cmpd="sng">
            <a:solidFill>
              <a:srgbClr val="007A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</p:txBody>
      </p:sp>
      <p:sp>
        <p:nvSpPr>
          <p:cNvPr id="406" name="Google Shape;406;h63d7fb8fcd6c11da_3_106"/>
          <p:cNvSpPr/>
          <p:nvPr/>
        </p:nvSpPr>
        <p:spPr>
          <a:xfrm>
            <a:off x="5766206" y="4142232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7" name="Google Shape;407;h63d7fb8fcd6c11da_3_106"/>
          <p:cNvSpPr txBox="1"/>
          <p:nvPr/>
        </p:nvSpPr>
        <p:spPr>
          <a:xfrm>
            <a:off x="548640" y="4608576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5</a:t>
            </a:r>
            <a:endParaRPr/>
          </a:p>
        </p:txBody>
      </p:sp>
      <p:sp>
        <p:nvSpPr>
          <p:cNvPr id="408" name="Google Shape;408;h63d7fb8fcd6c11da_3_106"/>
          <p:cNvSpPr/>
          <p:nvPr/>
        </p:nvSpPr>
        <p:spPr>
          <a:xfrm>
            <a:off x="1691640" y="4608576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09" name="Google Shape;409;h63d7fb8fcd6c11da_3_106"/>
          <p:cNvSpPr/>
          <p:nvPr/>
        </p:nvSpPr>
        <p:spPr>
          <a:xfrm>
            <a:off x="2710281" y="4608576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10" name="Google Shape;410;h63d7fb8fcd6c11da_3_106"/>
          <p:cNvSpPr/>
          <p:nvPr/>
        </p:nvSpPr>
        <p:spPr>
          <a:xfrm>
            <a:off x="3728923" y="4608576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11" name="Google Shape;411;h63d7fb8fcd6c11da_3_106"/>
          <p:cNvSpPr/>
          <p:nvPr/>
        </p:nvSpPr>
        <p:spPr>
          <a:xfrm>
            <a:off x="4747564" y="4608576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E4E9EF"/>
          </a:solidFill>
          <a:ln w="12700" cap="flat" cmpd="sng">
            <a:solidFill>
              <a:srgbClr val="CFD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12" name="Google Shape;412;h63d7fb8fcd6c11da_3_106"/>
          <p:cNvSpPr/>
          <p:nvPr/>
        </p:nvSpPr>
        <p:spPr>
          <a:xfrm>
            <a:off x="5766206" y="4608576"/>
            <a:ext cx="954633" cy="402336"/>
          </a:xfrm>
          <a:prstGeom prst="roundRect">
            <a:avLst>
              <a:gd name="adj" fmla="val 16000"/>
            </a:avLst>
          </a:prstGeom>
          <a:solidFill>
            <a:srgbClr val="007ACC"/>
          </a:solidFill>
          <a:ln w="12700" cap="flat" cmpd="sng">
            <a:solidFill>
              <a:srgbClr val="007A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</p:txBody>
      </p:sp>
      <p:sp>
        <p:nvSpPr>
          <p:cNvPr id="413" name="Google Shape;413;h63d7fb8fcd6c11da_3_106"/>
          <p:cNvSpPr txBox="1"/>
          <p:nvPr/>
        </p:nvSpPr>
        <p:spPr>
          <a:xfrm>
            <a:off x="7040880" y="2706624"/>
            <a:ext cx="45994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Inside every round</a:t>
            </a:r>
            <a:endParaRPr/>
          </a:p>
        </p:txBody>
      </p:sp>
      <p:sp>
        <p:nvSpPr>
          <p:cNvPr id="414" name="Google Shape;414;h63d7fb8fcd6c11da_3_106"/>
          <p:cNvSpPr/>
          <p:nvPr/>
        </p:nvSpPr>
        <p:spPr>
          <a:xfrm>
            <a:off x="7040880" y="3200400"/>
            <a:ext cx="1417320" cy="603504"/>
          </a:xfrm>
          <a:prstGeom prst="roundRect">
            <a:avLst>
              <a:gd name="adj" fmla="val 18000"/>
            </a:avLst>
          </a:prstGeom>
          <a:solidFill>
            <a:srgbClr val="E8F4FD"/>
          </a:solidFill>
          <a:ln w="12700" cap="flat" cmpd="sng">
            <a:solidFill>
              <a:srgbClr val="BFD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fit</a:t>
            </a:r>
            <a:endParaRPr/>
          </a:p>
        </p:txBody>
      </p:sp>
      <p:sp>
        <p:nvSpPr>
          <p:cNvPr id="415" name="Google Shape;415;h63d7fb8fcd6c11da_3_106"/>
          <p:cNvSpPr txBox="1"/>
          <p:nvPr/>
        </p:nvSpPr>
        <p:spPr>
          <a:xfrm>
            <a:off x="8531352" y="3200400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vocabulary and scaler,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from 4 training folds</a:t>
            </a:r>
            <a:endParaRPr/>
          </a:p>
        </p:txBody>
      </p:sp>
      <p:sp>
        <p:nvSpPr>
          <p:cNvPr id="416" name="Google Shape;416;h63d7fb8fcd6c11da_3_106"/>
          <p:cNvSpPr/>
          <p:nvPr/>
        </p:nvSpPr>
        <p:spPr>
          <a:xfrm>
            <a:off x="7040880" y="3877056"/>
            <a:ext cx="1417320" cy="603504"/>
          </a:xfrm>
          <a:prstGeom prst="roundRect">
            <a:avLst>
              <a:gd name="adj" fmla="val 18000"/>
            </a:avLst>
          </a:prstGeom>
          <a:solidFill>
            <a:srgbClr val="E8F4FD"/>
          </a:solidFill>
          <a:ln w="12700" cap="flat" cmpd="sng">
            <a:solidFill>
              <a:srgbClr val="BFD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417" name="Google Shape;417;h63d7fb8fcd6c11da_3_106"/>
          <p:cNvSpPr txBox="1"/>
          <p:nvPr/>
        </p:nvSpPr>
        <p:spPr>
          <a:xfrm>
            <a:off x="8531352" y="3877056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the classifier 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those rows</a:t>
            </a:r>
            <a:endParaRPr/>
          </a:p>
        </p:txBody>
      </p:sp>
      <p:sp>
        <p:nvSpPr>
          <p:cNvPr id="418" name="Google Shape;418;h63d7fb8fcd6c11da_3_106"/>
          <p:cNvSpPr/>
          <p:nvPr/>
        </p:nvSpPr>
        <p:spPr>
          <a:xfrm>
            <a:off x="7040880" y="4553712"/>
            <a:ext cx="1417320" cy="603504"/>
          </a:xfrm>
          <a:prstGeom prst="roundRect">
            <a:avLst>
              <a:gd name="adj" fmla="val 18000"/>
            </a:avLst>
          </a:prstGeom>
          <a:solidFill>
            <a:srgbClr val="E8F4FD"/>
          </a:solidFill>
          <a:ln w="12700" cap="flat" cmpd="sng">
            <a:solidFill>
              <a:srgbClr val="BFD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/>
          </a:p>
        </p:txBody>
      </p:sp>
      <p:sp>
        <p:nvSpPr>
          <p:cNvPr id="419" name="Google Shape;419;h63d7fb8fcd6c11da_3_106"/>
          <p:cNvSpPr txBox="1"/>
          <p:nvPr/>
        </p:nvSpPr>
        <p:spPr>
          <a:xfrm>
            <a:off x="8531352" y="455371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the held-out fold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through the same ones</a:t>
            </a:r>
            <a:endParaRPr/>
          </a:p>
        </p:txBody>
      </p:sp>
      <p:sp>
        <p:nvSpPr>
          <p:cNvPr id="420" name="Google Shape;420;h63d7fb8fcd6c11da_3_106"/>
          <p:cNvSpPr/>
          <p:nvPr/>
        </p:nvSpPr>
        <p:spPr>
          <a:xfrm>
            <a:off x="7040880" y="5230368"/>
            <a:ext cx="1417320" cy="603504"/>
          </a:xfrm>
          <a:prstGeom prst="roundRect">
            <a:avLst>
              <a:gd name="adj" fmla="val 18000"/>
            </a:avLst>
          </a:prstGeom>
          <a:solidFill>
            <a:srgbClr val="E8F4FD"/>
          </a:solidFill>
          <a:ln w="12700" cap="flat" cmpd="sng">
            <a:solidFill>
              <a:srgbClr val="BFD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/>
          </a:p>
        </p:txBody>
      </p:sp>
      <p:sp>
        <p:nvSpPr>
          <p:cNvPr id="421" name="Google Shape;421;h63d7fb8fcd6c11da_3_106"/>
          <p:cNvSpPr txBox="1"/>
          <p:nvPr/>
        </p:nvSpPr>
        <p:spPr>
          <a:xfrm>
            <a:off x="8531352" y="5230368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1,398 recordings it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has never seen</a:t>
            </a:r>
            <a:endParaRPr/>
          </a:p>
        </p:txBody>
      </p:sp>
      <p:sp>
        <p:nvSpPr>
          <p:cNvPr id="422" name="Google Shape;422;h63d7fb8fcd6c11da_3_106"/>
          <p:cNvSpPr/>
          <p:nvPr/>
        </p:nvSpPr>
        <p:spPr>
          <a:xfrm>
            <a:off x="548640" y="6144768"/>
            <a:ext cx="11091672" cy="566928"/>
          </a:xfrm>
          <a:prstGeom prst="roundRect">
            <a:avLst>
              <a:gd name="adj" fmla="val 14000"/>
            </a:avLst>
          </a:prstGeom>
          <a:solidFill>
            <a:srgbClr val="E7F6EB"/>
          </a:solidFill>
          <a:ln w="12700" cap="flat" cmpd="sng">
            <a:solidFill>
              <a:srgbClr val="9FD3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h63d7fb8fcd6c11da_3_106"/>
          <p:cNvSpPr/>
          <p:nvPr/>
        </p:nvSpPr>
        <p:spPr>
          <a:xfrm>
            <a:off x="713232" y="6245352"/>
            <a:ext cx="365760" cy="365760"/>
          </a:xfrm>
          <a:prstGeom prst="ellipse">
            <a:avLst/>
          </a:prstGeom>
          <a:solidFill>
            <a:srgbClr val="1E7B34"/>
          </a:solidFill>
          <a:ln>
            <a:noFill/>
          </a:ln>
        </p:spPr>
        <p:txBody>
          <a:bodyPr spcFirstLastPara="1" wrap="square" lIns="54850" tIns="0" rIns="548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24" name="Google Shape;424;h63d7fb8fcd6c11da_3_106"/>
          <p:cNvSpPr txBox="1"/>
          <p:nvPr/>
        </p:nvSpPr>
        <p:spPr>
          <a:xfrm>
            <a:off x="1207008" y="6144768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spc="0">
                <a:solidFill>
                  <a:srgbClr val="1E7B34"/>
                </a:solidFill>
                <a:latin typeface="Calibri"/>
                <a:ea typeface="Calibri"/>
                <a:cs typeface="Calibri"/>
                <a:sym typeface="Calibri"/>
              </a:rPr>
              <a:t>All 6,991 recordings predicted exactly once — scored together as one macro-F1.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63d7fb8fcd6c11da_3_159"/>
          <p:cNvSpPr txBox="1"/>
          <p:nvPr/>
        </p:nvSpPr>
        <p:spPr>
          <a:xfrm>
            <a:off x="731520" y="36576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Evaluation — Full Dataset</a:t>
            </a:r>
            <a:endParaRPr/>
          </a:p>
        </p:txBody>
      </p:sp>
      <p:sp>
        <p:nvSpPr>
          <p:cNvPr id="430" name="Google Shape;430;h63d7fb8fcd6c11da_3_159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h63d7fb8fcd6c11da_3_159"/>
          <p:cNvSpPr txBox="1"/>
          <p:nvPr/>
        </p:nvSpPr>
        <p:spPr>
          <a:xfrm>
            <a:off x="731520" y="1133856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10 keyword labels · 8 appear in the data · 6,991 recordings · 5-fold cross-validation</a:t>
            </a:r>
            <a:endParaRPr/>
          </a:p>
        </p:txBody>
      </p:sp>
      <p:sp>
        <p:nvSpPr>
          <p:cNvPr id="432" name="Google Shape;432;h63d7fb8fcd6c11da_3_159"/>
          <p:cNvSpPr/>
          <p:nvPr/>
        </p:nvSpPr>
        <p:spPr>
          <a:xfrm>
            <a:off x="731520" y="1572768"/>
            <a:ext cx="3328416" cy="109728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h63d7fb8fcd6c11da_3_159"/>
          <p:cNvSpPr txBox="1"/>
          <p:nvPr/>
        </p:nvSpPr>
        <p:spPr>
          <a:xfrm>
            <a:off x="731520" y="1700784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0.2957</a:t>
            </a:r>
            <a:endParaRPr/>
          </a:p>
        </p:txBody>
      </p:sp>
      <p:sp>
        <p:nvSpPr>
          <p:cNvPr id="434" name="Google Shape;434;h63d7fb8fcd6c11da_3_159"/>
          <p:cNvSpPr txBox="1"/>
          <p:nvPr/>
        </p:nvSpPr>
        <p:spPr>
          <a:xfrm>
            <a:off x="731520" y="2249424"/>
            <a:ext cx="33284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macro-F1, best model (stacking)</a:t>
            </a:r>
            <a:endParaRPr/>
          </a:p>
        </p:txBody>
      </p:sp>
      <p:sp>
        <p:nvSpPr>
          <p:cNvPr id="435" name="Google Shape;435;h63d7fb8fcd6c11da_3_159"/>
          <p:cNvSpPr/>
          <p:nvPr/>
        </p:nvSpPr>
        <p:spPr>
          <a:xfrm>
            <a:off x="4370832" y="1572768"/>
            <a:ext cx="3328416" cy="109728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h63d7fb8fcd6c11da_3_159"/>
          <p:cNvSpPr txBox="1"/>
          <p:nvPr/>
        </p:nvSpPr>
        <p:spPr>
          <a:xfrm>
            <a:off x="4370832" y="1700784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3.3×</a:t>
            </a:r>
            <a:endParaRPr/>
          </a:p>
        </p:txBody>
      </p:sp>
      <p:sp>
        <p:nvSpPr>
          <p:cNvPr id="437" name="Google Shape;437;h63d7fb8fcd6c11da_3_159"/>
          <p:cNvSpPr txBox="1"/>
          <p:nvPr/>
        </p:nvSpPr>
        <p:spPr>
          <a:xfrm>
            <a:off x="4370832" y="2249424"/>
            <a:ext cx="33284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over the majority baseline</a:t>
            </a:r>
            <a:endParaRPr/>
          </a:p>
        </p:txBody>
      </p:sp>
      <p:sp>
        <p:nvSpPr>
          <p:cNvPr id="438" name="Google Shape;438;h63d7fb8fcd6c11da_3_159"/>
          <p:cNvSpPr/>
          <p:nvPr/>
        </p:nvSpPr>
        <p:spPr>
          <a:xfrm>
            <a:off x="8010144" y="1572768"/>
            <a:ext cx="3328416" cy="109728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h63d7fb8fcd6c11da_3_159"/>
          <p:cNvSpPr txBox="1"/>
          <p:nvPr/>
        </p:nvSpPr>
        <p:spPr>
          <a:xfrm>
            <a:off x="8010144" y="1700784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6,991</a:t>
            </a:r>
            <a:endParaRPr/>
          </a:p>
        </p:txBody>
      </p:sp>
      <p:sp>
        <p:nvSpPr>
          <p:cNvPr id="440" name="Google Shape;440;h63d7fb8fcd6c11da_3_159"/>
          <p:cNvSpPr txBox="1"/>
          <p:nvPr/>
        </p:nvSpPr>
        <p:spPr>
          <a:xfrm>
            <a:off x="8010144" y="2249424"/>
            <a:ext cx="33284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recordings, 70 applications</a:t>
            </a:r>
            <a:endParaRPr/>
          </a:p>
        </p:txBody>
      </p:sp>
      <p:sp>
        <p:nvSpPr>
          <p:cNvPr id="441" name="Google Shape;441;h63d7fb8fcd6c11da_3_159"/>
          <p:cNvSpPr txBox="1"/>
          <p:nvPr/>
        </p:nvSpPr>
        <p:spPr>
          <a:xfrm>
            <a:off x="731520" y="2852928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Top 4 — full table in the appendix</a:t>
            </a:r>
            <a:endParaRPr/>
          </a:p>
        </p:txBody>
      </p:sp>
      <p:sp>
        <p:nvSpPr>
          <p:cNvPr id="442" name="Google Shape;442;h63d7fb8fcd6c11da_3_159"/>
          <p:cNvSpPr txBox="1"/>
          <p:nvPr/>
        </p:nvSpPr>
        <p:spPr>
          <a:xfrm>
            <a:off x="7040880" y="285292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Why these numbers are fair</a:t>
            </a:r>
            <a:endParaRPr/>
          </a:p>
        </p:txBody>
      </p:sp>
      <p:sp>
        <p:nvSpPr>
          <p:cNvPr id="443" name="Google Shape;443;h63d7fb8fcd6c11da_3_159"/>
          <p:cNvSpPr/>
          <p:nvPr/>
        </p:nvSpPr>
        <p:spPr>
          <a:xfrm>
            <a:off x="731520" y="3273552"/>
            <a:ext cx="6035040" cy="42062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h63d7fb8fcd6c11da_3_159"/>
          <p:cNvSpPr txBox="1"/>
          <p:nvPr/>
        </p:nvSpPr>
        <p:spPr>
          <a:xfrm>
            <a:off x="859536" y="3273552"/>
            <a:ext cx="22494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445" name="Google Shape;445;h63d7fb8fcd6c11da_3_159"/>
          <p:cNvSpPr txBox="1"/>
          <p:nvPr/>
        </p:nvSpPr>
        <p:spPr>
          <a:xfrm>
            <a:off x="3108960" y="3273552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</a:t>
            </a:r>
            <a:endParaRPr/>
          </a:p>
        </p:txBody>
      </p:sp>
      <p:sp>
        <p:nvSpPr>
          <p:cNvPr id="446" name="Google Shape;446;h63d7fb8fcd6c11da_3_159"/>
          <p:cNvSpPr txBox="1"/>
          <p:nvPr/>
        </p:nvSpPr>
        <p:spPr>
          <a:xfrm>
            <a:off x="4114800" y="3273552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447" name="Google Shape;447;h63d7fb8fcd6c11da_3_159"/>
          <p:cNvSpPr txBox="1"/>
          <p:nvPr/>
        </p:nvSpPr>
        <p:spPr>
          <a:xfrm>
            <a:off x="5440680" y="3273552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/>
          </a:p>
        </p:txBody>
      </p:sp>
      <p:sp>
        <p:nvSpPr>
          <p:cNvPr id="448" name="Google Shape;448;h63d7fb8fcd6c11da_3_159"/>
          <p:cNvSpPr/>
          <p:nvPr/>
        </p:nvSpPr>
        <p:spPr>
          <a:xfrm>
            <a:off x="731520" y="3694176"/>
            <a:ext cx="6035040" cy="42062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h63d7fb8fcd6c11da_3_159"/>
          <p:cNvSpPr txBox="1"/>
          <p:nvPr/>
        </p:nvSpPr>
        <p:spPr>
          <a:xfrm>
            <a:off x="859536" y="3694176"/>
            <a:ext cx="22494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endParaRPr/>
          </a:p>
        </p:txBody>
      </p:sp>
      <p:sp>
        <p:nvSpPr>
          <p:cNvPr id="450" name="Google Shape;450;h63d7fb8fcd6c11da_3_159"/>
          <p:cNvSpPr txBox="1"/>
          <p:nvPr/>
        </p:nvSpPr>
        <p:spPr>
          <a:xfrm>
            <a:off x="3108960" y="3694176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Tier 3</a:t>
            </a:r>
            <a:endParaRPr/>
          </a:p>
        </p:txBody>
      </p:sp>
      <p:sp>
        <p:nvSpPr>
          <p:cNvPr id="451" name="Google Shape;451;h63d7fb8fcd6c11da_3_159"/>
          <p:cNvSpPr txBox="1"/>
          <p:nvPr/>
        </p:nvSpPr>
        <p:spPr>
          <a:xfrm>
            <a:off x="4114800" y="3694176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0.7400</a:t>
            </a:r>
            <a:endParaRPr/>
          </a:p>
        </p:txBody>
      </p:sp>
      <p:sp>
        <p:nvSpPr>
          <p:cNvPr id="452" name="Google Shape;452;h63d7fb8fcd6c11da_3_159"/>
          <p:cNvSpPr txBox="1"/>
          <p:nvPr/>
        </p:nvSpPr>
        <p:spPr>
          <a:xfrm>
            <a:off x="5440680" y="3694176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0.2957</a:t>
            </a:r>
            <a:endParaRPr/>
          </a:p>
        </p:txBody>
      </p:sp>
      <p:sp>
        <p:nvSpPr>
          <p:cNvPr id="453" name="Google Shape;453;h63d7fb8fcd6c11da_3_159"/>
          <p:cNvSpPr/>
          <p:nvPr/>
        </p:nvSpPr>
        <p:spPr>
          <a:xfrm>
            <a:off x="731520" y="4526280"/>
            <a:ext cx="6035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h63d7fb8fcd6c11da_3_159"/>
          <p:cNvSpPr txBox="1"/>
          <p:nvPr/>
        </p:nvSpPr>
        <p:spPr>
          <a:xfrm>
            <a:off x="859536" y="4114800"/>
            <a:ext cx="22494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455" name="Google Shape;455;h63d7fb8fcd6c11da_3_159"/>
          <p:cNvSpPr txBox="1"/>
          <p:nvPr/>
        </p:nvSpPr>
        <p:spPr>
          <a:xfrm>
            <a:off x="3108960" y="4114800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/>
          </a:p>
        </p:txBody>
      </p:sp>
      <p:sp>
        <p:nvSpPr>
          <p:cNvPr id="456" name="Google Shape;456;h63d7fb8fcd6c11da_3_159"/>
          <p:cNvSpPr txBox="1"/>
          <p:nvPr/>
        </p:nvSpPr>
        <p:spPr>
          <a:xfrm>
            <a:off x="4114800" y="4114800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0.7452</a:t>
            </a:r>
            <a:endParaRPr/>
          </a:p>
        </p:txBody>
      </p:sp>
      <p:sp>
        <p:nvSpPr>
          <p:cNvPr id="457" name="Google Shape;457;h63d7fb8fcd6c11da_3_159"/>
          <p:cNvSpPr txBox="1"/>
          <p:nvPr/>
        </p:nvSpPr>
        <p:spPr>
          <a:xfrm>
            <a:off x="5440680" y="4114800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0.2810</a:t>
            </a:r>
            <a:endParaRPr/>
          </a:p>
        </p:txBody>
      </p:sp>
      <p:sp>
        <p:nvSpPr>
          <p:cNvPr id="458" name="Google Shape;458;h63d7fb8fcd6c11da_3_159"/>
          <p:cNvSpPr/>
          <p:nvPr/>
        </p:nvSpPr>
        <p:spPr>
          <a:xfrm>
            <a:off x="731520" y="4946904"/>
            <a:ext cx="6035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h63d7fb8fcd6c11da_3_159"/>
          <p:cNvSpPr txBox="1"/>
          <p:nvPr/>
        </p:nvSpPr>
        <p:spPr>
          <a:xfrm>
            <a:off x="859536" y="4535424"/>
            <a:ext cx="22494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/>
          </a:p>
        </p:txBody>
      </p:sp>
      <p:sp>
        <p:nvSpPr>
          <p:cNvPr id="460" name="Google Shape;460;h63d7fb8fcd6c11da_3_159"/>
          <p:cNvSpPr txBox="1"/>
          <p:nvPr/>
        </p:nvSpPr>
        <p:spPr>
          <a:xfrm>
            <a:off x="3108960" y="4535424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/>
          </a:p>
        </p:txBody>
      </p:sp>
      <p:sp>
        <p:nvSpPr>
          <p:cNvPr id="461" name="Google Shape;461;h63d7fb8fcd6c11da_3_159"/>
          <p:cNvSpPr txBox="1"/>
          <p:nvPr/>
        </p:nvSpPr>
        <p:spPr>
          <a:xfrm>
            <a:off x="4114800" y="4535424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0.7432</a:t>
            </a:r>
            <a:endParaRPr/>
          </a:p>
        </p:txBody>
      </p:sp>
      <p:sp>
        <p:nvSpPr>
          <p:cNvPr id="462" name="Google Shape;462;h63d7fb8fcd6c11da_3_159"/>
          <p:cNvSpPr txBox="1"/>
          <p:nvPr/>
        </p:nvSpPr>
        <p:spPr>
          <a:xfrm>
            <a:off x="5440680" y="4535424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0.2756</a:t>
            </a:r>
            <a:endParaRPr/>
          </a:p>
        </p:txBody>
      </p:sp>
      <p:sp>
        <p:nvSpPr>
          <p:cNvPr id="463" name="Google Shape;463;h63d7fb8fcd6c11da_3_159"/>
          <p:cNvSpPr/>
          <p:nvPr/>
        </p:nvSpPr>
        <p:spPr>
          <a:xfrm>
            <a:off x="731520" y="5367528"/>
            <a:ext cx="6035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h63d7fb8fcd6c11da_3_159"/>
          <p:cNvSpPr txBox="1"/>
          <p:nvPr/>
        </p:nvSpPr>
        <p:spPr>
          <a:xfrm>
            <a:off x="859536" y="4956048"/>
            <a:ext cx="22494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endParaRPr/>
          </a:p>
        </p:txBody>
      </p:sp>
      <p:sp>
        <p:nvSpPr>
          <p:cNvPr id="465" name="Google Shape;465;h63d7fb8fcd6c11da_3_159"/>
          <p:cNvSpPr txBox="1"/>
          <p:nvPr/>
        </p:nvSpPr>
        <p:spPr>
          <a:xfrm>
            <a:off x="3108960" y="4956048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/>
          </a:p>
        </p:txBody>
      </p:sp>
      <p:sp>
        <p:nvSpPr>
          <p:cNvPr id="466" name="Google Shape;466;h63d7fb8fcd6c11da_3_159"/>
          <p:cNvSpPr txBox="1"/>
          <p:nvPr/>
        </p:nvSpPr>
        <p:spPr>
          <a:xfrm>
            <a:off x="4114800" y="4956048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0.7344</a:t>
            </a:r>
            <a:endParaRPr/>
          </a:p>
        </p:txBody>
      </p:sp>
      <p:sp>
        <p:nvSpPr>
          <p:cNvPr id="467" name="Google Shape;467;h63d7fb8fcd6c11da_3_159"/>
          <p:cNvSpPr txBox="1"/>
          <p:nvPr/>
        </p:nvSpPr>
        <p:spPr>
          <a:xfrm>
            <a:off x="5440680" y="4956048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0.2700</a:t>
            </a:r>
            <a:endParaRPr/>
          </a:p>
        </p:txBody>
      </p:sp>
      <p:sp>
        <p:nvSpPr>
          <p:cNvPr id="468" name="Google Shape;468;h63d7fb8fcd6c11da_3_159"/>
          <p:cNvSpPr/>
          <p:nvPr/>
        </p:nvSpPr>
        <p:spPr>
          <a:xfrm>
            <a:off x="731520" y="5788152"/>
            <a:ext cx="6035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h63d7fb8fcd6c11da_3_159"/>
          <p:cNvSpPr txBox="1"/>
          <p:nvPr/>
        </p:nvSpPr>
        <p:spPr>
          <a:xfrm>
            <a:off x="859536" y="5376672"/>
            <a:ext cx="22494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majority baseline</a:t>
            </a:r>
            <a:endParaRPr/>
          </a:p>
        </p:txBody>
      </p:sp>
      <p:sp>
        <p:nvSpPr>
          <p:cNvPr id="470" name="Google Shape;470;h63d7fb8fcd6c11da_3_159"/>
          <p:cNvSpPr txBox="1"/>
          <p:nvPr/>
        </p:nvSpPr>
        <p:spPr>
          <a:xfrm>
            <a:off x="3108960" y="5376672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71" name="Google Shape;471;h63d7fb8fcd6c11da_3_159"/>
          <p:cNvSpPr txBox="1"/>
          <p:nvPr/>
        </p:nvSpPr>
        <p:spPr>
          <a:xfrm>
            <a:off x="4114800" y="5376672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0.5533</a:t>
            </a:r>
            <a:endParaRPr/>
          </a:p>
        </p:txBody>
      </p:sp>
      <p:sp>
        <p:nvSpPr>
          <p:cNvPr id="472" name="Google Shape;472;h63d7fb8fcd6c11da_3_159"/>
          <p:cNvSpPr txBox="1"/>
          <p:nvPr/>
        </p:nvSpPr>
        <p:spPr>
          <a:xfrm>
            <a:off x="5440680" y="5376672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0.0891</a:t>
            </a:r>
            <a:endParaRPr/>
          </a:p>
        </p:txBody>
      </p:sp>
      <p:sp>
        <p:nvSpPr>
          <p:cNvPr id="473" name="Google Shape;473;h63d7fb8fcd6c11da_3_159"/>
          <p:cNvSpPr/>
          <p:nvPr/>
        </p:nvSpPr>
        <p:spPr>
          <a:xfrm>
            <a:off x="7040880" y="3273552"/>
            <a:ext cx="4297680" cy="2523744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h63d7fb8fcd6c11da_3_159"/>
          <p:cNvSpPr txBox="1"/>
          <p:nvPr/>
        </p:nvSpPr>
        <p:spPr>
          <a:xfrm>
            <a:off x="7278624" y="3273552"/>
            <a:ext cx="3822191" cy="252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No leakage: </a:t>
            </a: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folds are grouped by recording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No peeking: </a:t>
            </a: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vocabulary and scaler are fitted on the training folds only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Strict metric: </a:t>
            </a: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macro-F1 weighs every class equally</a:t>
            </a:r>
            <a:endParaRPr/>
          </a:p>
        </p:txBody>
      </p:sp>
      <p:sp>
        <p:nvSpPr>
          <p:cNvPr id="475" name="Google Shape;475;h63d7fb8fcd6c11da_3_159"/>
          <p:cNvSpPr txBox="1"/>
          <p:nvPr/>
        </p:nvSpPr>
        <p:spPr>
          <a:xfrm>
            <a:off x="731520" y="5998464"/>
            <a:ext cx="10607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Pooled out-of-fold predictions. The baseline always answers the most common class.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63d7fb8fcd6c11da_3_209"/>
          <p:cNvSpPr txBox="1"/>
          <p:nvPr/>
        </p:nvSpPr>
        <p:spPr>
          <a:xfrm>
            <a:off x="731520" y="36576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SOP Detector — Reading Steps from the Video</a:t>
            </a:r>
            <a:endParaRPr/>
          </a:p>
        </p:txBody>
      </p:sp>
      <p:sp>
        <p:nvSpPr>
          <p:cNvPr id="481" name="Google Shape;481;h63d7fb8fcd6c11da_3_209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h63d7fb8fcd6c11da_3_209"/>
          <p:cNvSpPr txBox="1"/>
          <p:nvPr/>
        </p:nvSpPr>
        <p:spPr>
          <a:xfrm>
            <a:off x="731520" y="1152144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Objective 4 promised a timeline of steps. </a:t>
            </a: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classifier tells us what kind of work a recording shows — this second path reads the steps themselves, from the video alone.</a:t>
            </a:r>
            <a:endParaRPr/>
          </a:p>
        </p:txBody>
      </p:sp>
      <p:sp>
        <p:nvSpPr>
          <p:cNvPr id="483" name="Google Shape;483;h63d7fb8fcd6c11da_3_209"/>
          <p:cNvSpPr/>
          <p:nvPr/>
        </p:nvSpPr>
        <p:spPr>
          <a:xfrm>
            <a:off x="731520" y="1847088"/>
            <a:ext cx="3840480" cy="384048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</p:spPr>
        <p:txBody>
          <a:bodyPr spcFirstLastPara="1" wrap="square" lIns="73150" tIns="0" rIns="731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ONLY  ·  NO ACTION LOG</a:t>
            </a:r>
            <a:endParaRPr/>
          </a:p>
        </p:txBody>
      </p:sp>
      <p:sp>
        <p:nvSpPr>
          <p:cNvPr id="484" name="Google Shape;484;h63d7fb8fcd6c11da_3_209"/>
          <p:cNvSpPr/>
          <p:nvPr/>
        </p:nvSpPr>
        <p:spPr>
          <a:xfrm>
            <a:off x="731520" y="2395728"/>
            <a:ext cx="5212080" cy="144475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h63d7fb8fcd6c11da_3_209"/>
          <p:cNvSpPr txBox="1"/>
          <p:nvPr/>
        </p:nvSpPr>
        <p:spPr>
          <a:xfrm>
            <a:off x="969264" y="2542032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1   </a:t>
            </a:r>
            <a:r>
              <a:rPr lang="en-US" sz="20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486" name="Google Shape;486;h63d7fb8fcd6c11da_3_209"/>
          <p:cNvSpPr txBox="1"/>
          <p:nvPr/>
        </p:nvSpPr>
        <p:spPr>
          <a:xfrm>
            <a:off x="969264" y="2980944"/>
            <a:ext cx="473659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 MLP names the application from frame features — 94.5% correct over 70 applications.</a:t>
            </a:r>
            <a:endParaRPr/>
          </a:p>
        </p:txBody>
      </p:sp>
      <p:sp>
        <p:nvSpPr>
          <p:cNvPr id="487" name="Google Shape;487;h63d7fb8fcd6c11da_3_209"/>
          <p:cNvSpPr/>
          <p:nvPr/>
        </p:nvSpPr>
        <p:spPr>
          <a:xfrm>
            <a:off x="6126480" y="2395728"/>
            <a:ext cx="5212080" cy="144475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h63d7fb8fcd6c11da_3_209"/>
          <p:cNvSpPr txBox="1"/>
          <p:nvPr/>
        </p:nvSpPr>
        <p:spPr>
          <a:xfrm>
            <a:off x="6364224" y="2542032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lang="en-US" sz="20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/>
          </a:p>
        </p:txBody>
      </p:sp>
      <p:sp>
        <p:nvSpPr>
          <p:cNvPr id="489" name="Google Shape;489;h63d7fb8fcd6c11da_3_209"/>
          <p:cNvSpPr txBox="1"/>
          <p:nvPr/>
        </p:nvSpPr>
        <p:spPr>
          <a:xfrm>
            <a:off x="6364224" y="2980944"/>
            <a:ext cx="473659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 CNN tracks the mouse pointer; a LightGBM filter keeps the real clicks, and OCR reads the button clicked.</a:t>
            </a:r>
            <a:endParaRPr/>
          </a:p>
        </p:txBody>
      </p:sp>
      <p:sp>
        <p:nvSpPr>
          <p:cNvPr id="490" name="Google Shape;490;h63d7fb8fcd6c11da_3_209"/>
          <p:cNvSpPr/>
          <p:nvPr/>
        </p:nvSpPr>
        <p:spPr>
          <a:xfrm>
            <a:off x="731520" y="3986784"/>
            <a:ext cx="5212080" cy="144475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h63d7fb8fcd6c11da_3_209"/>
          <p:cNvSpPr txBox="1"/>
          <p:nvPr/>
        </p:nvSpPr>
        <p:spPr>
          <a:xfrm>
            <a:off x="969264" y="4133088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3   </a:t>
            </a:r>
            <a:r>
              <a:rPr lang="en-US" sz="20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Typing</a:t>
            </a:r>
            <a:endParaRPr/>
          </a:p>
        </p:txBody>
      </p:sp>
      <p:sp>
        <p:nvSpPr>
          <p:cNvPr id="492" name="Google Shape;492;h63d7fb8fcd6c11da_3_209"/>
          <p:cNvSpPr txBox="1"/>
          <p:nvPr/>
        </p:nvSpPr>
        <p:spPr>
          <a:xfrm>
            <a:off x="969264" y="4572000"/>
            <a:ext cx="473659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screen is read once a second; a LightGBM ranker keeps the text the user typed.</a:t>
            </a:r>
            <a:endParaRPr/>
          </a:p>
        </p:txBody>
      </p:sp>
      <p:sp>
        <p:nvSpPr>
          <p:cNvPr id="493" name="Google Shape;493;h63d7fb8fcd6c11da_3_209"/>
          <p:cNvSpPr/>
          <p:nvPr/>
        </p:nvSpPr>
        <p:spPr>
          <a:xfrm>
            <a:off x="6126480" y="3986784"/>
            <a:ext cx="5212080" cy="144475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h63d7fb8fcd6c11da_3_209"/>
          <p:cNvSpPr txBox="1"/>
          <p:nvPr/>
        </p:nvSpPr>
        <p:spPr>
          <a:xfrm>
            <a:off x="6364224" y="4133088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4   </a:t>
            </a:r>
            <a:r>
              <a:rPr lang="en-US" sz="20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endParaRPr/>
          </a:p>
        </p:txBody>
      </p:sp>
      <p:sp>
        <p:nvSpPr>
          <p:cNvPr id="495" name="Google Shape;495;h63d7fb8fcd6c11da_3_209"/>
          <p:cNvSpPr txBox="1"/>
          <p:nvPr/>
        </p:nvSpPr>
        <p:spPr>
          <a:xfrm>
            <a:off x="6364224" y="4572000"/>
            <a:ext cx="473659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Clicks and typing are merged in time order; every step links to its moment in the video.</a:t>
            </a:r>
            <a:endParaRPr/>
          </a:p>
        </p:txBody>
      </p:sp>
      <p:sp>
        <p:nvSpPr>
          <p:cNvPr id="496" name="Google Shape;496;h63d7fb8fcd6c11da_3_209"/>
          <p:cNvSpPr/>
          <p:nvPr/>
        </p:nvSpPr>
        <p:spPr>
          <a:xfrm>
            <a:off x="731520" y="5650992"/>
            <a:ext cx="10607040" cy="512064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73150" tIns="0" rIns="731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All four models ship in one file, sop_detector.pkl — runs on CPU, no GPU needed.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63d7fb8fcd6c11da_3_229"/>
          <p:cNvSpPr txBox="1"/>
          <p:nvPr/>
        </p:nvSpPr>
        <p:spPr>
          <a:xfrm>
            <a:off x="731520" y="36576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SOP Detector — Results</a:t>
            </a:r>
            <a:endParaRPr/>
          </a:p>
        </p:txBody>
      </p:sp>
      <p:sp>
        <p:nvSpPr>
          <p:cNvPr id="502" name="Google Shape;502;h63d7fb8fcd6c11da_3_229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h63d7fb8fcd6c11da_3_229"/>
          <p:cNvSpPr/>
          <p:nvPr/>
        </p:nvSpPr>
        <p:spPr>
          <a:xfrm>
            <a:off x="731520" y="1371600"/>
            <a:ext cx="1060704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h63d7fb8fcd6c11da_3_229"/>
          <p:cNvSpPr txBox="1"/>
          <p:nvPr/>
        </p:nvSpPr>
        <p:spPr>
          <a:xfrm>
            <a:off x="896112" y="13716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h63d7fb8fcd6c11da_3_229"/>
          <p:cNvSpPr txBox="1"/>
          <p:nvPr/>
        </p:nvSpPr>
        <p:spPr>
          <a:xfrm>
            <a:off x="4754880" y="1371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/>
          </a:p>
        </p:txBody>
      </p:sp>
      <p:sp>
        <p:nvSpPr>
          <p:cNvPr id="506" name="Google Shape;506;h63d7fb8fcd6c11da_3_229"/>
          <p:cNvSpPr txBox="1"/>
          <p:nvPr/>
        </p:nvSpPr>
        <p:spPr>
          <a:xfrm>
            <a:off x="6949440" y="1371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507" name="Google Shape;507;h63d7fb8fcd6c11da_3_229"/>
          <p:cNvSpPr txBox="1"/>
          <p:nvPr/>
        </p:nvSpPr>
        <p:spPr>
          <a:xfrm>
            <a:off x="9144000" y="1371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508" name="Google Shape;508;h63d7fb8fcd6c11da_3_229"/>
          <p:cNvSpPr/>
          <p:nvPr/>
        </p:nvSpPr>
        <p:spPr>
          <a:xfrm>
            <a:off x="731520" y="2276856"/>
            <a:ext cx="10607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h63d7fb8fcd6c11da_3_229"/>
          <p:cNvSpPr txBox="1"/>
          <p:nvPr/>
        </p:nvSpPr>
        <p:spPr>
          <a:xfrm>
            <a:off x="896112" y="18288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/>
          </a:p>
        </p:txBody>
      </p:sp>
      <p:sp>
        <p:nvSpPr>
          <p:cNvPr id="510" name="Google Shape;510;h63d7fb8fcd6c11da_3_229"/>
          <p:cNvSpPr txBox="1"/>
          <p:nvPr/>
        </p:nvSpPr>
        <p:spPr>
          <a:xfrm>
            <a:off x="475488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78.1%</a:t>
            </a:r>
            <a:endParaRPr/>
          </a:p>
        </p:txBody>
      </p:sp>
      <p:sp>
        <p:nvSpPr>
          <p:cNvPr id="511" name="Google Shape;511;h63d7fb8fcd6c11da_3_229"/>
          <p:cNvSpPr txBox="1"/>
          <p:nvPr/>
        </p:nvSpPr>
        <p:spPr>
          <a:xfrm>
            <a:off x="694944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46.2%</a:t>
            </a:r>
            <a:endParaRPr/>
          </a:p>
        </p:txBody>
      </p:sp>
      <p:sp>
        <p:nvSpPr>
          <p:cNvPr id="512" name="Google Shape;512;h63d7fb8fcd6c11da_3_229"/>
          <p:cNvSpPr txBox="1"/>
          <p:nvPr/>
        </p:nvSpPr>
        <p:spPr>
          <a:xfrm>
            <a:off x="914400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58.1%</a:t>
            </a:r>
            <a:endParaRPr/>
          </a:p>
        </p:txBody>
      </p:sp>
      <p:sp>
        <p:nvSpPr>
          <p:cNvPr id="513" name="Google Shape;513;h63d7fb8fcd6c11da_3_229"/>
          <p:cNvSpPr/>
          <p:nvPr/>
        </p:nvSpPr>
        <p:spPr>
          <a:xfrm>
            <a:off x="731520" y="2734056"/>
            <a:ext cx="10607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h63d7fb8fcd6c11da_3_229"/>
          <p:cNvSpPr txBox="1"/>
          <p:nvPr/>
        </p:nvSpPr>
        <p:spPr>
          <a:xfrm>
            <a:off x="896112" y="22860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Typing</a:t>
            </a:r>
            <a:endParaRPr/>
          </a:p>
        </p:txBody>
      </p:sp>
      <p:sp>
        <p:nvSpPr>
          <p:cNvPr id="515" name="Google Shape;515;h63d7fb8fcd6c11da_3_229"/>
          <p:cNvSpPr txBox="1"/>
          <p:nvPr/>
        </p:nvSpPr>
        <p:spPr>
          <a:xfrm>
            <a:off x="4754880" y="22860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68.1%</a:t>
            </a:r>
            <a:endParaRPr/>
          </a:p>
        </p:txBody>
      </p:sp>
      <p:sp>
        <p:nvSpPr>
          <p:cNvPr id="516" name="Google Shape;516;h63d7fb8fcd6c11da_3_229"/>
          <p:cNvSpPr txBox="1"/>
          <p:nvPr/>
        </p:nvSpPr>
        <p:spPr>
          <a:xfrm>
            <a:off x="6949440" y="22860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32.5%</a:t>
            </a:r>
            <a:endParaRPr/>
          </a:p>
        </p:txBody>
      </p:sp>
      <p:sp>
        <p:nvSpPr>
          <p:cNvPr id="517" name="Google Shape;517;h63d7fb8fcd6c11da_3_229"/>
          <p:cNvSpPr txBox="1"/>
          <p:nvPr/>
        </p:nvSpPr>
        <p:spPr>
          <a:xfrm>
            <a:off x="9144000" y="22860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44.0%</a:t>
            </a:r>
            <a:endParaRPr/>
          </a:p>
        </p:txBody>
      </p:sp>
      <p:sp>
        <p:nvSpPr>
          <p:cNvPr id="518" name="Google Shape;518;h63d7fb8fcd6c11da_3_229"/>
          <p:cNvSpPr/>
          <p:nvPr/>
        </p:nvSpPr>
        <p:spPr>
          <a:xfrm>
            <a:off x="731520" y="2743200"/>
            <a:ext cx="1060704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h63d7fb8fcd6c11da_3_229"/>
          <p:cNvSpPr txBox="1"/>
          <p:nvPr/>
        </p:nvSpPr>
        <p:spPr>
          <a:xfrm>
            <a:off x="896112" y="27432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Whole SOP  (SOP detector)</a:t>
            </a:r>
            <a:endParaRPr/>
          </a:p>
        </p:txBody>
      </p:sp>
      <p:sp>
        <p:nvSpPr>
          <p:cNvPr id="520" name="Google Shape;520;h63d7fb8fcd6c11da_3_229"/>
          <p:cNvSpPr txBox="1"/>
          <p:nvPr/>
        </p:nvSpPr>
        <p:spPr>
          <a:xfrm>
            <a:off x="475488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77.5%</a:t>
            </a:r>
            <a:endParaRPr/>
          </a:p>
        </p:txBody>
      </p:sp>
      <p:sp>
        <p:nvSpPr>
          <p:cNvPr id="521" name="Google Shape;521;h63d7fb8fcd6c11da_3_229"/>
          <p:cNvSpPr txBox="1"/>
          <p:nvPr/>
        </p:nvSpPr>
        <p:spPr>
          <a:xfrm>
            <a:off x="694944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45.2%</a:t>
            </a:r>
            <a:endParaRPr/>
          </a:p>
        </p:txBody>
      </p:sp>
      <p:sp>
        <p:nvSpPr>
          <p:cNvPr id="522" name="Google Shape;522;h63d7fb8fcd6c11da_3_229"/>
          <p:cNvSpPr txBox="1"/>
          <p:nvPr/>
        </p:nvSpPr>
        <p:spPr>
          <a:xfrm>
            <a:off x="914400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57.1%</a:t>
            </a:r>
            <a:endParaRPr/>
          </a:p>
        </p:txBody>
      </p:sp>
      <p:sp>
        <p:nvSpPr>
          <p:cNvPr id="523" name="Google Shape;523;h63d7fb8fcd6c11da_3_229"/>
          <p:cNvSpPr/>
          <p:nvPr/>
        </p:nvSpPr>
        <p:spPr>
          <a:xfrm>
            <a:off x="731520" y="3648456"/>
            <a:ext cx="10607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h63d7fb8fcd6c11da_3_229"/>
          <p:cNvSpPr txBox="1"/>
          <p:nvPr/>
        </p:nvSpPr>
        <p:spPr>
          <a:xfrm>
            <a:off x="896112" y="32004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Baseline: random guesses</a:t>
            </a:r>
            <a:endParaRPr/>
          </a:p>
        </p:txBody>
      </p:sp>
      <p:sp>
        <p:nvSpPr>
          <p:cNvPr id="525" name="Google Shape;525;h63d7fb8fcd6c11da_3_229"/>
          <p:cNvSpPr txBox="1"/>
          <p:nvPr/>
        </p:nvSpPr>
        <p:spPr>
          <a:xfrm>
            <a:off x="4754880" y="32004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0.2%</a:t>
            </a:r>
            <a:endParaRPr/>
          </a:p>
        </p:txBody>
      </p:sp>
      <p:sp>
        <p:nvSpPr>
          <p:cNvPr id="526" name="Google Shape;526;h63d7fb8fcd6c11da_3_229"/>
          <p:cNvSpPr txBox="1"/>
          <p:nvPr/>
        </p:nvSpPr>
        <p:spPr>
          <a:xfrm>
            <a:off x="6949440" y="32004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0.1%</a:t>
            </a:r>
            <a:endParaRPr/>
          </a:p>
        </p:txBody>
      </p:sp>
      <p:sp>
        <p:nvSpPr>
          <p:cNvPr id="527" name="Google Shape;527;h63d7fb8fcd6c11da_3_229"/>
          <p:cNvSpPr txBox="1"/>
          <p:nvPr/>
        </p:nvSpPr>
        <p:spPr>
          <a:xfrm>
            <a:off x="9144000" y="32004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0.1%</a:t>
            </a:r>
            <a:endParaRPr/>
          </a:p>
        </p:txBody>
      </p:sp>
      <p:sp>
        <p:nvSpPr>
          <p:cNvPr id="528" name="Google Shape;528;h63d7fb8fcd6c11da_3_229"/>
          <p:cNvSpPr/>
          <p:nvPr/>
        </p:nvSpPr>
        <p:spPr>
          <a:xfrm>
            <a:off x="731520" y="4105656"/>
            <a:ext cx="106070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h63d7fb8fcd6c11da_3_229"/>
          <p:cNvSpPr txBox="1"/>
          <p:nvPr/>
        </p:nvSpPr>
        <p:spPr>
          <a:xfrm>
            <a:off x="896112" y="3657600"/>
            <a:ext cx="3858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Baseline: random detector candidates</a:t>
            </a:r>
            <a:endParaRPr/>
          </a:p>
        </p:txBody>
      </p:sp>
      <p:sp>
        <p:nvSpPr>
          <p:cNvPr id="530" name="Google Shape;530;h63d7fb8fcd6c11da_3_229"/>
          <p:cNvSpPr txBox="1"/>
          <p:nvPr/>
        </p:nvSpPr>
        <p:spPr>
          <a:xfrm>
            <a:off x="4754880" y="3657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28.7%</a:t>
            </a:r>
            <a:endParaRPr/>
          </a:p>
        </p:txBody>
      </p:sp>
      <p:sp>
        <p:nvSpPr>
          <p:cNvPr id="531" name="Google Shape;531;h63d7fb8fcd6c11da_3_229"/>
          <p:cNvSpPr txBox="1"/>
          <p:nvPr/>
        </p:nvSpPr>
        <p:spPr>
          <a:xfrm>
            <a:off x="6949440" y="3657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16.7%</a:t>
            </a:r>
            <a:endParaRPr/>
          </a:p>
        </p:txBody>
      </p:sp>
      <p:sp>
        <p:nvSpPr>
          <p:cNvPr id="532" name="Google Shape;532;h63d7fb8fcd6c11da_3_229"/>
          <p:cNvSpPr txBox="1"/>
          <p:nvPr/>
        </p:nvSpPr>
        <p:spPr>
          <a:xfrm>
            <a:off x="9144000" y="3657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21.1%</a:t>
            </a:r>
            <a:endParaRPr/>
          </a:p>
        </p:txBody>
      </p:sp>
      <p:sp>
        <p:nvSpPr>
          <p:cNvPr id="533" name="Google Shape;533;h63d7fb8fcd6c11da_3_229"/>
          <p:cNvSpPr/>
          <p:nvPr/>
        </p:nvSpPr>
        <p:spPr>
          <a:xfrm>
            <a:off x="731520" y="4334256"/>
            <a:ext cx="10607040" cy="100584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h63d7fb8fcd6c11da_3_229"/>
          <p:cNvSpPr txBox="1"/>
          <p:nvPr/>
        </p:nvSpPr>
        <p:spPr>
          <a:xfrm>
            <a:off x="969264" y="4498848"/>
            <a:ext cx="1013155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Random times and positions almost never hit a real click. Picking at random among the detector's own candidates reaches F1 </a:t>
            </a: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21.1%</a:t>
            </a: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— the learned filters </a:t>
            </a:r>
            <a:r>
              <a:rPr lang="en-US" sz="1600" b="1" i="0" u="none" strike="noStrike" cap="none" spc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nearly triple precision and recall</a:t>
            </a:r>
            <a:r>
              <a:rPr lang="en-US" sz="1600" b="0" i="0" u="none" strike="noStrike" cap="none" spc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535" name="Google Shape;535;h63d7fb8fcd6c11da_3_229"/>
          <p:cNvSpPr txBox="1"/>
          <p:nvPr/>
        </p:nvSpPr>
        <p:spPr>
          <a:xfrm>
            <a:off x="731520" y="5541264"/>
            <a:ext cx="10607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spc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720 unseen recordings, 61 applications · baselines write as many steps as the detector · mean of 20 runs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"/>
          <p:cNvSpPr txBox="1"/>
          <p:nvPr/>
        </p:nvSpPr>
        <p:spPr>
          <a:xfrm>
            <a:off x="731520" y="36576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731520" y="1005840"/>
            <a:ext cx="1828800" cy="4560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457200" y="137160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(Python 3.11)</a:t>
            </a:r>
            <a:endParaRPr/>
          </a:p>
        </p:txBody>
      </p:sp>
      <p:sp>
        <p:nvSpPr>
          <p:cNvPr id="543" name="Google Shape;543;p12"/>
          <p:cNvSpPr txBox="1"/>
          <p:nvPr/>
        </p:nvSpPr>
        <p:spPr>
          <a:xfrm>
            <a:off x="640080" y="1920240"/>
            <a:ext cx="3200400" cy="1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FastAPI + Uvicorn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PyTorch (Deep Learning)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scikit-learn</a:t>
            </a: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EasyOCR + Tesseract (OCR)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Ultralytics YOLOv8 (UI Detection)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SQLAlchemy async + Pydantic</a:t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4389120" y="1371600"/>
            <a:ext cx="3200400" cy="457200"/>
          </a:xfrm>
          <a:prstGeom prst="roundRect">
            <a:avLst>
              <a:gd name="adj" fmla="val 16667"/>
            </a:avLst>
          </a:prstGeom>
          <a:solidFill>
            <a:srgbClr val="F57C0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545" name="Google Shape;545;p12"/>
          <p:cNvSpPr txBox="1"/>
          <p:nvPr/>
        </p:nvSpPr>
        <p:spPr>
          <a:xfrm>
            <a:off x="4572000" y="1920240"/>
            <a:ext cx="3017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React + TypeScript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Vite (build tool)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nginx (production)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Model comparison UI</a:t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8046720" y="137160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28A74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547" name="Google Shape;547;p12"/>
          <p:cNvSpPr txBox="1"/>
          <p:nvPr/>
        </p:nvSpPr>
        <p:spPr>
          <a:xfrm>
            <a:off x="822960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Docker Compose (3 services)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PostgreSQL 16 + pgvector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Terraform (IaC)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AWS EC2 (training)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HuggingFace Hub (dataset)</a:t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4389120" y="3291840"/>
            <a:ext cx="3200400" cy="457200"/>
          </a:xfrm>
          <a:prstGeom prst="roundRect">
            <a:avLst>
              <a:gd name="adj" fmla="val 16667"/>
            </a:avLst>
          </a:prstGeom>
          <a:solidFill>
            <a:srgbClr val="6F42C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&amp; Testing</a:t>
            </a:r>
            <a:endParaRPr/>
          </a:p>
        </p:txBody>
      </p:sp>
      <p:sp>
        <p:nvSpPr>
          <p:cNvPr id="549" name="Google Shape;549;p12"/>
          <p:cNvSpPr txBox="1"/>
          <p:nvPr/>
        </p:nvSpPr>
        <p:spPr>
          <a:xfrm>
            <a:off x="4572000" y="384048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pytest + pytest-asyncio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ruff (linting), mypy (typing)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Alembic (migrations)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3"/>
          <p:cNvSpPr txBox="1"/>
          <p:nvPr/>
        </p:nvSpPr>
        <p:spPr>
          <a:xfrm>
            <a:off x="914400" y="2286000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 Screenshots</a:t>
            </a:r>
            <a:endParaRPr/>
          </a:p>
        </p:txBody>
      </p:sp>
      <p:sp>
        <p:nvSpPr>
          <p:cNvPr id="555" name="Google Shape;555;p13"/>
          <p:cNvSpPr txBox="1"/>
          <p:nvPr/>
        </p:nvSpPr>
        <p:spPr>
          <a:xfrm>
            <a:off x="914400" y="347472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Upload a screen recording  →  Feature extraction  →   classifiers  →  Results</a:t>
            </a:r>
            <a:endParaRPr/>
          </a:p>
        </p:txBody>
      </p:sp>
      <p:sp>
        <p:nvSpPr>
          <p:cNvPr id="556" name="Google Shape;556;p1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http://localhost:5173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h4657db7c27af81b0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5495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h4657db7c27af81b0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5585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h4657db7c27af81b0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7133"/>
            <a:ext cx="12192001" cy="5728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h4657db7c27af81b0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5552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h4657db7c27af81b0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4206"/>
            <a:ext cx="12192000" cy="5694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h4657db7c27af81b0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37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h4657db7c27af81b0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1048"/>
            <a:ext cx="12192001" cy="6540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h4657db7c27af81b0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72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h4657db7c27af81b0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4641"/>
            <a:ext cx="12191999" cy="643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731520" y="13716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 b="1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Large Dataset (48 GB)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 txBox="1"/>
          <p:nvPr/>
        </p:nvSpPr>
        <p:spPr>
          <a:xfrm>
            <a:off x="3200400" y="1371600"/>
            <a:ext cx="320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Cannot fit in memory or train locally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 txBox="1"/>
          <p:nvPr/>
        </p:nvSpPr>
        <p:spPr>
          <a:xfrm>
            <a:off x="6583680" y="1371600"/>
            <a:ext cx="5029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Streaming dataset loader; AWS EC2 for cloud training; Google Colab as free alternative . In any case it is taking 12-15 hours of training time.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8A7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731520" y="246888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activity class in Dataset</a:t>
            </a:r>
            <a:endParaRPr/>
          </a:p>
        </p:txBody>
      </p:sp>
      <p:sp>
        <p:nvSpPr>
          <p:cNvPr id="596" name="Google Shape;596;p16"/>
          <p:cNvSpPr txBox="1"/>
          <p:nvPr/>
        </p:nvSpPr>
        <p:spPr>
          <a:xfrm>
            <a:off x="3200400" y="1969325"/>
            <a:ext cx="41223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The dataset gave no activity labels. The activity field was null in all 4,963 rows, so the team had to write its own app-to-activity mapping. The first version left 72% of samples as "other". Refining the mapping brought that to about 15%, and v3's 130+ mappings and 4 new classes brought it under 1%.</a:t>
            </a:r>
            <a:endParaRPr/>
          </a:p>
        </p:txBody>
      </p:sp>
      <p:sp>
        <p:nvSpPr>
          <p:cNvPr id="597" name="Google Shape;597;p16"/>
          <p:cNvSpPr txBox="1"/>
          <p:nvPr/>
        </p:nvSpPr>
        <p:spPr>
          <a:xfrm>
            <a:off x="7178526" y="2468875"/>
            <a:ext cx="443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Retraining the models again and again which took lot of time.Evry run is around 10-12 hours</a:t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731520" y="356616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OCR output is not correct</a:t>
            </a:r>
            <a:endParaRPr/>
          </a:p>
        </p:txBody>
      </p:sp>
      <p:sp>
        <p:nvSpPr>
          <p:cNvPr id="599" name="Google Shape;599;p16"/>
          <p:cNvSpPr txBox="1"/>
          <p:nvPr/>
        </p:nvSpPr>
        <p:spPr>
          <a:xfrm>
            <a:off x="3200400" y="3566160"/>
            <a:ext cx="3200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</a:rPr>
              <a:t>EasyOCR or Tesseract) are trained on scanned documents (with plain backgrounds and uniform black text).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350">
                <a:solidFill>
                  <a:schemeClr val="dk1"/>
                </a:solidFill>
              </a:rPr>
              <a:t>On complex user interfaces with multiple panels, overlapping windows, gradients, or custom font anti-aliasing, the OCR engine struggles to achieve high certainty, </a:t>
            </a:r>
            <a:endParaRPr/>
          </a:p>
        </p:txBody>
      </p:sp>
      <p:sp>
        <p:nvSpPr>
          <p:cNvPr id="600" name="Google Shape;600;p16"/>
          <p:cNvSpPr txBox="1"/>
          <p:nvPr/>
        </p:nvSpPr>
        <p:spPr>
          <a:xfrm>
            <a:off x="6583680" y="3566160"/>
            <a:ext cx="5029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Screen OCR is often noisy, the model relies much more heavily on the visual features extracted via the CNN backend (EfficientNet-B0) and localized UI elements than it does on raw parsed OCR text strings.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731520" y="567149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/>
          </a:p>
        </p:txBody>
      </p:sp>
      <p:sp>
        <p:nvSpPr>
          <p:cNvPr id="602" name="Google Shape;602;p16"/>
          <p:cNvSpPr txBox="1"/>
          <p:nvPr/>
        </p:nvSpPr>
        <p:spPr>
          <a:xfrm>
            <a:off x="3283025" y="5671490"/>
            <a:ext cx="32004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Uneven activity label distribution. Heavy class imbalance. VSCode and OpenShot make up about 65% of the 277 local tasks. We used macro-F1 and stratified splits instead of plain accuracy.</a:t>
            </a:r>
            <a:endParaRPr/>
          </a:p>
        </p:txBody>
      </p:sp>
      <p:sp>
        <p:nvSpPr>
          <p:cNvPr id="603" name="Google Shape;603;p16"/>
          <p:cNvSpPr txBox="1"/>
          <p:nvPr/>
        </p:nvSpPr>
        <p:spPr>
          <a:xfrm>
            <a:off x="6583680" y="5360540"/>
            <a:ext cx="5029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Stratified train/test split; 5x augmentation for datasets &lt; 100 samples; F1-macro as primary metric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h7bf93f2fc63ec580_1_2"/>
          <p:cNvSpPr txBox="1"/>
          <p:nvPr/>
        </p:nvSpPr>
        <p:spPr>
          <a:xfrm>
            <a:off x="693025" y="1155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609" name="Google Shape;609;h7bf93f2fc63ec580_1_2"/>
          <p:cNvSpPr txBox="1"/>
          <p:nvPr/>
        </p:nvSpPr>
        <p:spPr>
          <a:xfrm>
            <a:off x="3753850" y="765200"/>
            <a:ext cx="6413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duplicate-frame check compared whole-screen averages, so a new terminal line went unnoticed. risk_test_video.mp4 was read on only 2 of 24 keyframes. The check now counts changed pixels.Tesseract was dropped. It did worse than EasyOCR on terminal text.</a:t>
            </a:r>
            <a:endParaRPr/>
          </a:p>
        </p:txBody>
      </p:sp>
      <p:sp>
        <p:nvSpPr>
          <p:cNvPr id="610" name="Google Shape;610;h7bf93f2fc63ec580_1_2"/>
          <p:cNvSpPr txBox="1"/>
          <p:nvPr/>
        </p:nvSpPr>
        <p:spPr>
          <a:xfrm>
            <a:off x="3883800" y="2035725"/>
            <a:ext cx="5272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 CPU-only image, SQLite inside the task (so only one running task), cold starts, and the first job downloading CNN weights. Fixes were baking the weights into the image, a startup warm-up, and a feature cache keyed by the video's hash</a:t>
            </a:r>
            <a:endParaRPr/>
          </a:p>
        </p:txBody>
      </p:sp>
      <p:sp>
        <p:nvSpPr>
          <p:cNvPr id="611" name="Google Shape;611;h7bf93f2fc63ec580_1_2"/>
          <p:cNvSpPr txBox="1"/>
          <p:nvPr/>
        </p:nvSpPr>
        <p:spPr>
          <a:xfrm>
            <a:off x="693025" y="232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Fargate constraints: </a:t>
            </a:r>
            <a:endParaRPr/>
          </a:p>
        </p:txBody>
      </p:sp>
      <p:sp>
        <p:nvSpPr>
          <p:cNvPr id="612" name="Google Shape;612;h7bf93f2fc63ec580_1_2"/>
          <p:cNvSpPr/>
          <p:nvPr/>
        </p:nvSpPr>
        <p:spPr>
          <a:xfrm>
            <a:off x="693025" y="1074175"/>
            <a:ext cx="2286000" cy="602400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Missed screen changes.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h7bf93f2fc63ec580_1_2"/>
          <p:cNvSpPr txBox="1"/>
          <p:nvPr/>
        </p:nvSpPr>
        <p:spPr>
          <a:xfrm>
            <a:off x="4028175" y="4168150"/>
            <a:ext cx="5489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 live demo. This was addressed by sharing one EasyOCR reader across jobs, batching OCR, reusing text for unchanged frames, caching features by video hash, and pre-warming the demo videos.</a:t>
            </a:r>
            <a:endParaRPr/>
          </a:p>
        </p:txBody>
      </p:sp>
      <p:sp>
        <p:nvSpPr>
          <p:cNvPr id="614" name="Google Shape;614;h7bf93f2fc63ec580_1_2"/>
          <p:cNvSpPr txBox="1"/>
          <p:nvPr/>
        </p:nvSpPr>
        <p:spPr>
          <a:xfrm>
            <a:off x="883800" y="4331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Slow Analysis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7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620" name="Google Shape;620;p17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731520" y="1371600"/>
            <a:ext cx="73152" cy="64008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 txBox="1"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/>
          </a:p>
        </p:txBody>
      </p:sp>
      <p:sp>
        <p:nvSpPr>
          <p:cNvPr id="623" name="Google Shape;623;p17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Add retrieval-augmented generation for knowledge extraction from classified video segments</a:t>
            </a: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731520" y="2240280"/>
            <a:ext cx="73152" cy="64008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 txBox="1"/>
          <p:nvPr/>
        </p:nvSpPr>
        <p:spPr>
          <a:xfrm>
            <a:off x="109728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MLflow Integration</a:t>
            </a:r>
            <a:endParaRPr/>
          </a:p>
        </p:txBody>
      </p:sp>
      <p:sp>
        <p:nvSpPr>
          <p:cNvPr id="626" name="Google Shape;626;p17"/>
          <p:cNvSpPr txBox="1"/>
          <p:nvPr/>
        </p:nvSpPr>
        <p:spPr>
          <a:xfrm>
            <a:off x="1097280" y="256032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Experiment tracking, model versioning, and automated model selection. Currently we hav</a:t>
            </a:r>
            <a:r>
              <a:rPr lang="en-US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 to upload our models in S3 manually and provide a different location everytime. We can make this pipeline automated.</a:t>
            </a: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731520" y="3108960"/>
            <a:ext cx="73152" cy="64008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 txBox="1"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GPU Optimization</a:t>
            </a:r>
            <a:endParaRPr/>
          </a:p>
        </p:txBody>
      </p:sp>
      <p:sp>
        <p:nvSpPr>
          <p:cNvPr id="629" name="Google Shape;629;p17"/>
          <p:cNvSpPr txBox="1"/>
          <p:nvPr/>
        </p:nvSpPr>
        <p:spPr>
          <a:xfrm>
            <a:off x="1097280" y="3429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CUDA-accelerated inference for real-time video analysis</a:t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731520" y="3977640"/>
            <a:ext cx="73152" cy="64008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 txBox="1"/>
          <p:nvPr/>
        </p:nvSpPr>
        <p:spPr>
          <a:xfrm>
            <a:off x="1097280" y="3977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Additional Datasets</a:t>
            </a:r>
            <a:endParaRPr/>
          </a:p>
        </p:txBody>
      </p:sp>
      <p:sp>
        <p:nvSpPr>
          <p:cNvPr id="632" name="Google Shape;632;p17"/>
          <p:cNvSpPr txBox="1"/>
          <p:nvPr/>
        </p:nvSpPr>
        <p:spPr>
          <a:xfrm>
            <a:off x="1111718" y="429768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Extend beyond CUA-Suite to cover more diverse screen activity patterns. Current data</a:t>
            </a:r>
            <a:r>
              <a:rPr lang="en-US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set is very constrained and to train some specific cases we need to feed them those vides i.e AWS , Azure , cloud platforms . Then other apps which are very common</a:t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731520" y="4846320"/>
            <a:ext cx="73152" cy="64008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 txBox="1"/>
          <p:nvPr/>
        </p:nvSpPr>
        <p:spPr>
          <a:xfrm>
            <a:off x="1097273" y="4846325"/>
            <a:ext cx="390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Enhance SOP detector and OCR</a:t>
            </a:r>
            <a:endParaRPr/>
          </a:p>
        </p:txBody>
      </p:sp>
      <p:sp>
        <p:nvSpPr>
          <p:cNvPr id="635" name="Google Shape;635;p17"/>
          <p:cNvSpPr txBox="1"/>
          <p:nvPr/>
        </p:nvSpPr>
        <p:spPr>
          <a:xfrm>
            <a:off x="1097280" y="516636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need to enhance the SOP detector to create better polish SOP along with better OCR reading . Currently due to screen reading the OCR is not upto the mark as Easy OCR reads scanned document better than screen 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867FB9DF-7AFF-5AA2-CF5F-558D2D58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>
            <a:extLst>
              <a:ext uri="{FF2B5EF4-FFF2-40B4-BE49-F238E27FC236}">
                <a16:creationId xmlns:a16="http://schemas.microsoft.com/office/drawing/2014/main" id="{7B64566E-C196-FAE9-B910-4825F52CF431}"/>
              </a:ext>
            </a:extLst>
          </p:cNvPr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M.Tech in Artificial Intelligence Systems</a:t>
            </a:r>
            <a:endParaRPr/>
          </a:p>
        </p:txBody>
      </p:sp>
      <p:sp>
        <p:nvSpPr>
          <p:cNvPr id="163" name="Google Shape;163;p1">
            <a:extLst>
              <a:ext uri="{FF2B5EF4-FFF2-40B4-BE49-F238E27FC236}">
                <a16:creationId xmlns:a16="http://schemas.microsoft.com/office/drawing/2014/main" id="{793FC9AB-2CCD-F9BC-B7E2-79BD8EA515DA}"/>
              </a:ext>
            </a:extLst>
          </p:cNvPr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National University of Singapore</a:t>
            </a:r>
            <a:endParaRPr/>
          </a:p>
        </p:txBody>
      </p:sp>
      <p:sp>
        <p:nvSpPr>
          <p:cNvPr id="164" name="Google Shape;164;p1">
            <a:extLst>
              <a:ext uri="{FF2B5EF4-FFF2-40B4-BE49-F238E27FC236}">
                <a16:creationId xmlns:a16="http://schemas.microsoft.com/office/drawing/2014/main" id="{27392A7B-9E30-2E2C-6882-450D303A9109}"/>
              </a:ext>
            </a:extLst>
          </p:cNvPr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Pattern Recognition Systems  |  September 2026</a:t>
            </a:r>
            <a:endParaRPr/>
          </a:p>
        </p:txBody>
      </p:sp>
      <p:pic>
        <p:nvPicPr>
          <p:cNvPr id="165" name="Google Shape;165;p1">
            <a:extLst>
              <a:ext uri="{FF2B5EF4-FFF2-40B4-BE49-F238E27FC236}">
                <a16:creationId xmlns:a16="http://schemas.microsoft.com/office/drawing/2014/main" id="{4590C346-6557-28DB-B23B-EBD3044EFB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73D78-4B99-A5AE-AC2B-CDAD29DD184C}"/>
              </a:ext>
            </a:extLst>
          </p:cNvPr>
          <p:cNvSpPr txBox="1"/>
          <p:nvPr/>
        </p:nvSpPr>
        <p:spPr>
          <a:xfrm>
            <a:off x="2926080" y="6087291"/>
            <a:ext cx="6183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github.com/laxmi1707/PatternRecognSystem-Video2Text</a:t>
            </a:r>
            <a:endParaRPr lang="en-US" sz="1400" dirty="0"/>
          </a:p>
        </p:txBody>
      </p:sp>
      <p:sp>
        <p:nvSpPr>
          <p:cNvPr id="5" name="Google Shape;159;p1">
            <a:extLst>
              <a:ext uri="{FF2B5EF4-FFF2-40B4-BE49-F238E27FC236}">
                <a16:creationId xmlns:a16="http://schemas.microsoft.com/office/drawing/2014/main" id="{C4B943EA-D27A-02E7-2015-3EBBCE2B9D28}"/>
              </a:ext>
            </a:extLst>
          </p:cNvPr>
          <p:cNvSpPr txBox="1"/>
          <p:nvPr/>
        </p:nvSpPr>
        <p:spPr>
          <a:xfrm>
            <a:off x="988423" y="466335"/>
            <a:ext cx="10058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2DE5B-4408-0733-0518-FCB7F34B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513" y="1280160"/>
            <a:ext cx="2673487" cy="1638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91BF37-86B7-7A07-2085-0DDC6118F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769" y="1190311"/>
            <a:ext cx="2673487" cy="1638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84C07C-D101-979F-3FF6-78B3CAB2E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398" y="1735183"/>
            <a:ext cx="2673487" cy="1638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31B0AF-4998-3CCA-D92B-614D9B5FB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809" y="1712407"/>
            <a:ext cx="2673487" cy="16383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0C96FE-A92E-3E00-A14E-FBA8C9BF9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635" y="1655669"/>
            <a:ext cx="2673487" cy="16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54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h4657db7c27af81b0_1_17"/>
          <p:cNvSpPr txBox="1"/>
          <p:nvPr/>
        </p:nvSpPr>
        <p:spPr>
          <a:xfrm>
            <a:off x="853800" y="530175"/>
            <a:ext cx="11354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Annex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E0235-EC6A-F7C5-9B85-61C576166940}"/>
              </a:ext>
            </a:extLst>
          </p:cNvPr>
          <p:cNvSpPr txBox="1"/>
          <p:nvPr/>
        </p:nvSpPr>
        <p:spPr>
          <a:xfrm>
            <a:off x="1036321" y="1506583"/>
            <a:ext cx="103544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Declaration of References &amp; AI Usage</a:t>
            </a:r>
          </a:p>
          <a:p>
            <a:endParaRPr lang="en-SG" b="1" dirty="0"/>
          </a:p>
          <a:p>
            <a:r>
              <a:rPr lang="en-SG" dirty="0"/>
              <a:t>In accordance with academic and professional guidelines, we declare that the background research, market context, and this project are grounded to use the dataset from hugging face.</a:t>
            </a:r>
            <a:endParaRPr lang="en-SG" b="1" dirty="0"/>
          </a:p>
          <a:p>
            <a:endParaRPr lang="en-SG" dirty="0"/>
          </a:p>
          <a:p>
            <a:r>
              <a:rPr lang="en-SG" dirty="0"/>
              <a:t>Generative AI Disclosure: In accordance with academic guidelines, we disclose that Google Gemini, ChatGPT T5, Claude sonnet 5 was utilized as a collaborative advisor to structure the project documentation and brainstorm Singapore-specific use cases. All outputs were reviewed and validated by the group members for technical accuracy.</a:t>
            </a:r>
            <a:endParaRPr lang="en-SG" b="1" dirty="0"/>
          </a:p>
          <a:p>
            <a:endParaRPr lang="en-S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1681</Words>
  <Application>Microsoft Office PowerPoint</Application>
  <PresentationFormat>Widescreen</PresentationFormat>
  <Paragraphs>254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Muthaiah Muneeswaran</dc:creator>
  <cp:lastModifiedBy>Muneeswaran Muthaiah</cp:lastModifiedBy>
  <cp:revision>2</cp:revision>
  <dcterms:created xsi:type="dcterms:W3CDTF">2013-01-27T09:14:16Z</dcterms:created>
  <dcterms:modified xsi:type="dcterms:W3CDTF">2026-10-31T08:52:43Z</dcterms:modified>
</cp:coreProperties>
</file>