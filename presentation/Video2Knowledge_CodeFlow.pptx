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Video2Knowledge: Complete Code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Tracing a video from upload to classification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023360"/>
            <a:ext cx="365760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5029200"/>
            <a:ext cx="777240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Upload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72768" y="5029200"/>
            <a:ext cx="777240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Hook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14016" y="5029200"/>
            <a:ext cx="77724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5264" y="5029200"/>
            <a:ext cx="77724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Router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96512" y="5029200"/>
            <a:ext cx="777240" cy="32004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5029200"/>
            <a:ext cx="777240" cy="32004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Frames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79008" y="5029200"/>
            <a:ext cx="777240" cy="32004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0256" y="5029200"/>
            <a:ext cx="777240" cy="32004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Extractors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5029200"/>
            <a:ext cx="777240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5029200"/>
            <a:ext cx="777240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Classifiers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5029200"/>
            <a:ext cx="77724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Compare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85248" y="5029200"/>
            <a:ext cx="77724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26496" y="5029200"/>
            <a:ext cx="777240" cy="32004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Display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Calibri"/>
              </a:defRPr>
            </a:pPr>
            <a:r>
              <a:t>Architecture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Three-layer architecture with key files in each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146304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926080" cy="3657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Frontend (React + TypeScript + Vite) -- port 5173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24688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Calibri"/>
              </a:defRPr>
            </a:pPr>
            <a:r>
              <a:t>UploadPage.tsx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User drops video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920240"/>
            <a:ext cx="24688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938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Calibri"/>
              </a:defRPr>
            </a:pPr>
            <a:r>
              <a:t>useVideoAnalysis.ts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240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Orchestrates 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920240"/>
            <a:ext cx="24688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938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Calibri"/>
              </a:defRPr>
            </a:pPr>
            <a:r>
              <a:t>analysisService.ts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240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API calls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1920240"/>
            <a:ext cx="24688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1938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Calibri"/>
              </a:defRPr>
            </a:pPr>
            <a:r>
              <a:t>VideoResults.tsx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240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Displays 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2103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ACC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2103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ACC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103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ACC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108960"/>
            <a:ext cx="11247120" cy="146304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3154680"/>
            <a:ext cx="3200400" cy="36576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Backend (FastAPI + ML Pipeline) -- port 8000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657600"/>
            <a:ext cx="24688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67588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7C00"/>
                </a:solidFill>
                <a:latin typeface="Calibri"/>
              </a:defRPr>
            </a:pPr>
            <a:r>
              <a:t>jobs.py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9776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Router entry point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83280" y="3657600"/>
            <a:ext cx="24688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367588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7C00"/>
                </a:solidFill>
                <a:latin typeface="Calibri"/>
              </a:defRPr>
            </a:pPr>
            <a:r>
              <a:t>classification_service.py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39776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Pipeline orchestrator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3657600"/>
            <a:ext cx="24688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67588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7C00"/>
                </a:solidFill>
                <a:latin typeface="Calibri"/>
              </a:defRPr>
            </a:pPr>
            <a:r>
              <a:t>feature_assembler.py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150-dim vectors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0" y="3657600"/>
            <a:ext cx="24688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367588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7C00"/>
                </a:solidFill>
                <a:latin typeface="Calibri"/>
              </a:defRPr>
            </a:pPr>
            <a:r>
              <a:t>ml_service.py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9776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Model hub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46120" y="3840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7C00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3840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7C00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3840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7C00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846320"/>
            <a:ext cx="11247120" cy="109728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48640" y="4892040"/>
            <a:ext cx="3200400" cy="3657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Database (PostgreSQL + pgvector) -- port 5434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349240"/>
            <a:ext cx="32918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5367528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A745"/>
                </a:solidFill>
                <a:latin typeface="Calibri"/>
              </a:defRPr>
            </a:pPr>
            <a:r>
              <a:t>videos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57784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Video metadata + file paths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97680" y="5349240"/>
            <a:ext cx="32918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0" y="5367528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A745"/>
                </a:solidFill>
                <a:latin typeface="Calibri"/>
              </a:defRPr>
            </a:pPr>
            <a:r>
              <a:t>jobs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557784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Job status + parameters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63840" y="5349240"/>
            <a:ext cx="32918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55280" y="5367528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A745"/>
                </a:solidFill>
                <a:latin typeface="Calibri"/>
              </a:defRPr>
            </a:pPr>
            <a:r>
              <a:t>classification_results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80" y="557784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Model predictions + probabilities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28800" y="28346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66666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5720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66666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28346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66666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45720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66666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0" y="28346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66666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45720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66666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0" y="28346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66666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0" y="45720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66666"/>
                </a:solidFill>
                <a:latin typeface="Calibri"/>
              </a:defRPr>
            </a:pPr>
            <a:r>
              <a:t>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Calibri"/>
              </a:defRPr>
            </a:pPr>
            <a:r>
              <a:t>Steps 1-2: Upload &amp; Analysis Hook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560320" cy="3657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Step 1: UploadPage.tsx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D2D2D"/>
                </a:solidFill>
                <a:latin typeface="Calibri"/>
              </a:defRPr>
            </a:pPr>
            <a:r>
              <a:t>User drops video.mp4 on VideoDropzone</a:t>
            </a:r>
          </a:p>
          <a:p>
            <a:pPr>
              <a:spcAft>
                <a:spcPts val="400"/>
              </a:spcAft>
              <a:defRPr sz="14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onFileSelected(file) callback triggers</a:t>
            </a:r>
          </a:p>
          <a:p>
            <a:pPr>
              <a:spcAft>
                <a:spcPts val="400"/>
              </a:spcAft>
              <a:defRPr sz="14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Hands the file to the useVideoAnalysis hook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4846320" cy="16459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&lt;VideoDropzone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onFileSelected={handleFileSelected}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accept='video/*'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/&gt;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// handleFileSelected calls: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const { startAnalysis } = useVideoAnalysis();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startAnalysis(file);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ourier New"/>
              </a:defRPr>
            </a:pPr>
            <a:r>
              <a:t>SourceCode/frontend/src/pages/UploadPage.tsx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ACC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486400" cy="50292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2926080" cy="3657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Step 2: useVideoAnalysis.ts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D2D2D"/>
                </a:solidFill>
                <a:latin typeface="Calibri"/>
              </a:defRPr>
            </a:pPr>
            <a:r>
              <a:t>startAnalysis(file) orchestrates the flow</a:t>
            </a:r>
          </a:p>
          <a:p>
            <a:pPr>
              <a:spcAft>
                <a:spcPts val="400"/>
              </a:spcAft>
              <a:defRPr sz="14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Sets screen to 'analyzing', creates video URL</a:t>
            </a:r>
          </a:p>
          <a:p>
            <a:pPr>
              <a:spcAft>
                <a:spcPts val="400"/>
              </a:spcAft>
              <a:defRPr sz="14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Calls analyzeVideo() from analysis service</a:t>
            </a:r>
          </a:p>
          <a:p>
            <a:pPr>
              <a:spcAft>
                <a:spcPts val="400"/>
              </a:spcAft>
              <a:defRPr sz="14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Progress bar starts: 0% -&gt; 90%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474720"/>
            <a:ext cx="5029200" cy="13716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35661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const startAnalysis = async (file: File) =&gt; {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setScreen('analyzing');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const videoUrl = URL.createObjectURL(file);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const result = await analyzeVideo(file);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// result =&gt; { results, modelComparison,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//              bestModel, workflowSteps }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};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5029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ourier New"/>
              </a:defRPr>
            </a:pPr>
            <a:r>
              <a:t>SourceCode/frontend/src/hooks/useVideoAnalysis.ts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Calibri"/>
              </a:defRPr>
            </a:pPr>
            <a:r>
              <a:t>Step 3: Two API Calls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SourceCode/frontend/src/services/analysisService.ts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210312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1280160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Call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417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Upload Video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5029200" cy="12801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8A745"/>
                </a:solidFill>
                <a:latin typeface="Courier New"/>
              </a:defRPr>
            </a:pPr>
            <a:r>
              <a:t>POST /api/v1/videos/upload</a:t>
            </a:r>
          </a:p>
          <a:p>
            <a:pPr>
              <a:spcAft>
                <a:spcPts val="200"/>
              </a:spcAft>
              <a:defRPr sz="1100">
                <a:solidFill>
                  <a:srgbClr val="28A745"/>
                </a:solidFill>
                <a:latin typeface="Courier New"/>
              </a:defRPr>
            </a:pPr>
            <a:r>
              <a:t>  Content-Type: multipart/form-data</a:t>
            </a:r>
          </a:p>
          <a:p>
            <a:pPr>
              <a:spcAft>
                <a:spcPts val="200"/>
              </a:spcAft>
              <a:defRPr sz="1100">
                <a:solidFill>
                  <a:srgbClr val="28A745"/>
                </a:solidFill>
                <a:latin typeface="Courier New"/>
              </a:defRPr>
            </a:pPr>
            <a:r>
              <a:t>  Body: { file: video.mp4 }</a:t>
            </a:r>
          </a:p>
          <a:p>
            <a:pPr>
              <a:spcAft>
                <a:spcPts val="200"/>
              </a:spcAft>
              <a:defRPr sz="1100">
                <a:solidFill>
                  <a:srgbClr val="28A745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8A745"/>
                </a:solidFill>
                <a:latin typeface="Courier New"/>
              </a:defRPr>
            </a:pPr>
            <a:r>
              <a:t>Response: { job_id: 42, id: 7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520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7ACC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5486400" cy="210312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886200"/>
            <a:ext cx="128016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Call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886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Run Classification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5029200" cy="12801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4805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8A745"/>
                </a:solidFill>
                <a:latin typeface="Courier New"/>
              </a:defRPr>
            </a:pPr>
            <a:r>
              <a:t>POST /api/v1/jobs/42/run</a:t>
            </a:r>
          </a:p>
          <a:p>
            <a:pPr>
              <a:spcAft>
                <a:spcPts val="200"/>
              </a:spcAft>
              <a:defRPr sz="1100">
                <a:solidFill>
                  <a:srgbClr val="28A745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8A745"/>
                </a:solidFill>
                <a:latin typeface="Courier New"/>
              </a:defRPr>
            </a:pPr>
            <a:r>
              <a:t>Response: {</a:t>
            </a:r>
          </a:p>
          <a:p>
            <a:pPr>
              <a:spcAft>
                <a:spcPts val="200"/>
              </a:spcAft>
              <a:defRPr sz="1100">
                <a:solidFill>
                  <a:srgbClr val="28A745"/>
                </a:solidFill>
                <a:latin typeface="Courier New"/>
              </a:defRPr>
            </a:pPr>
            <a:r>
              <a:t>  results[], model_comparison[],</a:t>
            </a:r>
          </a:p>
          <a:p>
            <a:pPr>
              <a:spcAft>
                <a:spcPts val="200"/>
              </a:spcAft>
              <a:defRPr sz="1100">
                <a:solidFill>
                  <a:srgbClr val="28A745"/>
                </a:solidFill>
                <a:latin typeface="Courier New"/>
              </a:defRPr>
            </a:pPr>
            <a:r>
              <a:t>  best_model</a:t>
            </a:r>
          </a:p>
          <a:p>
            <a:pPr>
              <a:spcAft>
                <a:spcPts val="200"/>
              </a:spcAft>
              <a:defRPr sz="1100">
                <a:solidFill>
                  <a:srgbClr val="28A745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0"/>
            <a:ext cx="5303520" cy="4572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Post-Processing (Frontend)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2011680"/>
            <a:ext cx="48463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2057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ourier New"/>
              </a:defRPr>
            </a:pPr>
            <a:r>
              <a:t>1. groupResultsByModel(results)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Groups 98 raw results by model name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2971800"/>
            <a:ext cx="48463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ourier New"/>
              </a:defRPr>
            </a:pPr>
            <a:r>
              <a:t>2. mapResultsToSteps(bestResults)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337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Converts best model's results -&gt; WorkflowStep[]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3931920"/>
            <a:ext cx="48463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3977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ourier New"/>
              </a:defRPr>
            </a:pPr>
            <a:r>
              <a:t>3. Builds modelComparison: ModelSummary[]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297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14 entries with label, confidence, latency, tier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4892040"/>
            <a:ext cx="48463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4937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ourier New"/>
              </a:defRPr>
            </a:pPr>
            <a:r>
              <a:t>4. Fallback: if backend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257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Returns mock data so UI always works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Calibri"/>
              </a:defRPr>
            </a:pPr>
            <a:r>
              <a:t>Step 4: Jobs Router (Backend Entry Point)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SourceCode/backend/app/routers/jobs.py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114800" cy="4572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@router.post("/{job_id}/run")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94560"/>
            <a:ext cx="365760" cy="3657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9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Calibri"/>
              </a:defRPr>
            </a:pPr>
            <a:r>
              <a:t>Fetch job and video from database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148840"/>
            <a:ext cx="6400800" cy="777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2240280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job = db.query(Job).get(job_id)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video = db.query(Video).get(job.video_id)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40"/>
            <a:ext cx="365760" cy="36576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63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Calibri"/>
              </a:defRPr>
            </a:pPr>
            <a:r>
              <a:t>Resolve video_path and action_log_path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3017520"/>
            <a:ext cx="6400800" cy="777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3108960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video_path = f"uploads/{video.filename}"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action_log_path = video_path.replace(".mp4", "_actions.json")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931920"/>
            <a:ext cx="365760" cy="3657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Calibri"/>
              </a:defRPr>
            </a:pPr>
            <a:r>
              <a:t>THE CORE CALL -- run_classification_job()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886200"/>
            <a:ext cx="6400800" cy="777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3977640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results = run_classification_job(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  db, job, video_path, action_log_path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800600"/>
            <a:ext cx="365760" cy="36576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00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Calibri"/>
              </a:defRPr>
            </a:pPr>
            <a:r>
              <a:t>Build model comparison from 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4754880"/>
            <a:ext cx="6400800" cy="777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4846320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model_comparison = [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  ModelComparison(model, label, confidence, latency)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  for result in results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669280"/>
            <a:ext cx="365760" cy="3657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Calibri"/>
              </a:defRPr>
            </a:pPr>
            <a:r>
              <a:t>Return JobResultsResponse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0" y="5623560"/>
            <a:ext cx="6400800" cy="777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66360" y="5715000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return JobResultsResponse(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  job_id=job_id, status='completed',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  results=results, model_comparison=mc,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  best_model=best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46320" y="3794760"/>
            <a:ext cx="6675120" cy="9144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384048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THE CORE CALL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416052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results = run_classification_job(db, job, video_path, action_log_path)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ourier New"/>
              </a:defRPr>
            </a:pPr>
            <a:r>
              <a:t>This single call triggers the entire ML pipeline (Slides 6-11)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Calibri"/>
              </a:defRPr>
            </a:pPr>
            <a:r>
              <a:t>Step 5: Classification Service -- The Heart of the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SourceCode/backend/app/services/classification_service.py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32004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926080" cy="3657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1: _extract_features()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Returns: (X, segments, used_yolo)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3200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8A745"/>
                </a:solidFill>
                <a:latin typeface="Calibri"/>
              </a:defRPr>
            </a:pPr>
            <a:r>
              <a:t>Real path (Linux/Docker):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YOLO + EasyOCR + OpenCV</a:t>
            </a:r>
            <a:br/>
            <a:r>
              <a:t>Full feature extraction from video frames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91840"/>
            <a:ext cx="32004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7C00"/>
                </a:solidFill>
                <a:latin typeface="Calibri"/>
              </a:defRPr>
            </a:pPr>
            <a:r>
              <a:t>Synthetic path (macOS):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Random features fallback</a:t>
            </a:r>
            <a:br/>
            <a:r>
              <a:t>For development and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X shape: (n_segments, 150)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371600"/>
            <a:ext cx="3566160" cy="320040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0" y="1417320"/>
            <a:ext cx="3017520" cy="36576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2: _classify_all_models(X)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Returns: dict of predictions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2860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ACC"/>
                </a:solidFill>
                <a:latin typeface="Calibri"/>
              </a:defRPr>
            </a:pPr>
            <a:r>
              <a:t>TIER 1 (7 models):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514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ourier New"/>
              </a:defRPr>
            </a:pPr>
            <a:r>
              <a:t>svm, naive_bayes, decision_tree, random_forest, knn, xgboost, lightgbm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8803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F42C1"/>
                </a:solidFill>
                <a:latin typeface="Calibri"/>
              </a:defRPr>
            </a:pPr>
            <a:r>
              <a:t>TIER 2 (4 models):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ourier New"/>
              </a:defRPr>
            </a:pPr>
            <a:r>
              <a:t>mlp, cnn1d, lstm, transformer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4747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8A745"/>
                </a:solidFill>
                <a:latin typeface="Calibri"/>
              </a:defRPr>
            </a:pPr>
            <a:r>
              <a:t>TIER 3 (3 models):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703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ourier New"/>
              </a:defRPr>
            </a:pPr>
            <a:r>
              <a:t>voting, stacking, late_fusion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371600"/>
            <a:ext cx="3566160" cy="320040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0" y="1417320"/>
            <a:ext cx="3200400" cy="3657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3: Save to 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ClassificationResult per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2286000"/>
            <a:ext cx="3200400" cy="20116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237744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ClassificationResult(</a:t>
            </a:r>
          </a:p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  job_id = 42,</a:t>
            </a:r>
          </a:p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  model_name = 'xgboost',</a:t>
            </a:r>
          </a:p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  predicted_label = 'git_ops',</a:t>
            </a:r>
          </a:p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  confidence = 0.91,</a:t>
            </a:r>
          </a:p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  latency_ms = 59.2,</a:t>
            </a:r>
          </a:p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  probabilities = {...},</a:t>
            </a:r>
          </a:p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  tier = 'tier1'</a:t>
            </a:r>
          </a:p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2743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7ACC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2743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7C00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846320"/>
            <a:ext cx="11247120" cy="13716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9377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8A745"/>
                </a:solidFill>
                <a:latin typeface="Courier New"/>
              </a:defRPr>
            </a:pPr>
            <a:r>
              <a:t>def run_classification_job(db, job, video_path, action_log_path):</a:t>
            </a:r>
          </a:p>
          <a:p>
            <a:pPr>
              <a:spcAft>
                <a:spcPts val="300"/>
              </a:spcAft>
              <a:defRPr sz="1100">
                <a:solidFill>
                  <a:srgbClr val="28A745"/>
                </a:solidFill>
                <a:latin typeface="Courier New"/>
              </a:defRPr>
            </a:pPr>
            <a:r>
              <a:t>    X, segments, used_yolo = _extract_features(video_path, action_log_path)     # Phase 1</a:t>
            </a:r>
          </a:p>
          <a:p>
            <a:pPr>
              <a:spcAft>
                <a:spcPts val="300"/>
              </a:spcAft>
              <a:defRPr sz="1100">
                <a:solidFill>
                  <a:srgbClr val="28A745"/>
                </a:solidFill>
                <a:latin typeface="Courier New"/>
              </a:defRPr>
            </a:pPr>
            <a:r>
              <a:t>    predictions = _classify_all_models(X)                                       # Phase 2</a:t>
            </a:r>
          </a:p>
          <a:p>
            <a:pPr>
              <a:spcAft>
                <a:spcPts val="300"/>
              </a:spcAft>
              <a:defRPr sz="1100">
                <a:solidFill>
                  <a:srgbClr val="28A745"/>
                </a:solidFill>
                <a:latin typeface="Courier New"/>
              </a:defRPr>
            </a:pPr>
            <a:r>
              <a:t>    for model_name, preds in predictions.items():                               # Phase 3</a:t>
            </a:r>
          </a:p>
          <a:p>
            <a:pPr>
              <a:spcAft>
                <a:spcPts val="300"/>
              </a:spcAft>
              <a:defRPr sz="1100">
                <a:solidFill>
                  <a:srgbClr val="28A745"/>
                </a:solidFill>
                <a:latin typeface="Courier New"/>
              </a:defRPr>
            </a:pPr>
            <a:r>
              <a:t>        db.add(ClassificationResult(job_id=job.id, model_name=model_name, ...))</a:t>
            </a:r>
          </a:p>
          <a:p>
            <a:pPr>
              <a:spcAft>
                <a:spcPts val="300"/>
              </a:spcAft>
              <a:defRPr sz="1100">
                <a:solidFill>
                  <a:srgbClr val="28A745"/>
                </a:solidFill>
                <a:latin typeface="Courier New"/>
              </a:defRPr>
            </a:pPr>
            <a:r>
              <a:t>    return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Calibri"/>
              </a:defRPr>
            </a:pPr>
            <a:r>
              <a:t>Step 6: Video Processor (Frame Extraction)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SourceCode/backend/app/services/video_processor.py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029200" cy="1097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8A745"/>
                </a:solidFill>
                <a:latin typeface="Courier New"/>
              </a:defRPr>
            </a:pPr>
            <a:r>
              <a:t>Config:</a:t>
            </a:r>
          </a:p>
          <a:p>
            <a:pPr>
              <a:spcAft>
                <a:spcPts val="200"/>
              </a:spcAft>
              <a:defRPr sz="1100">
                <a:solidFill>
                  <a:srgbClr val="28A745"/>
                </a:solidFill>
                <a:latin typeface="Courier New"/>
              </a:defRPr>
            </a:pPr>
            <a:r>
              <a:t>  sample_fps = 1.0          # 1 frame per second</a:t>
            </a:r>
          </a:p>
          <a:p>
            <a:pPr>
              <a:spcAft>
                <a:spcPts val="200"/>
              </a:spcAft>
              <a:defRPr sz="1100">
                <a:solidFill>
                  <a:srgbClr val="28A745"/>
                </a:solidFill>
                <a:latin typeface="Courier New"/>
              </a:defRPr>
            </a:pPr>
            <a:r>
              <a:t>  target_size = (640, 480)   # Resize all frames</a:t>
            </a:r>
          </a:p>
          <a:p>
            <a:pPr>
              <a:spcAft>
                <a:spcPts val="200"/>
              </a:spcAft>
              <a:defRPr sz="1100">
                <a:solidFill>
                  <a:srgbClr val="28A745"/>
                </a:solidFill>
                <a:latin typeface="Courier New"/>
              </a:defRPr>
            </a:pPr>
            <a:r>
              <a:t>  cluster_gap = 2.0s         # Group actions within 2 seconds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5029200" cy="33832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extract_segments(video_path, actions)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91840"/>
            <a:ext cx="466344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365760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3375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_cluster_actions(actions)</a:t>
            </a:r>
            <a:br/>
            <a:r>
              <a:t>Group by 2-second time gaps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31920"/>
            <a:ext cx="466344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977639"/>
            <a:ext cx="365760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977639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For each cluster -&gt; create SegmentData</a:t>
            </a:r>
            <a:br/>
            <a:r>
              <a:t>with keyframes +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72000"/>
            <a:ext cx="466344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4617720"/>
            <a:ext cx="365760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6177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Extract keyframes at sample_fps rate</a:t>
            </a:r>
            <a:br/>
            <a:r>
              <a:t>Resize to target_size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1371600"/>
            <a:ext cx="5760720" cy="47548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SegmentData Structure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920240"/>
            <a:ext cx="5303520" cy="2743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01168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@dataclass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class SegmentData: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  segment_index: int          # 0, 1, 2, ...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  start_time: float            # e.g., 0.0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  end_time: float              # e.g., 7.2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  keyframes: list[FrameData]   # Actual video frames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  # FrameData.frame: np.ndarray (640x480 BGR)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  # FrameData.timestamp: float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  actions: list[dict]           # User interactions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  # {'type': 'click', 'x': 512, 'y': 340, 't': 2.1}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  # {'type': 'type',  'text': 'git pull', 't': 3.5}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  # {'type': 'press', 'key': 'Enter',     't': 4.0}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4846320"/>
            <a:ext cx="53035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8920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Example: 53s video -&gt; 7 segments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2120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ourier New"/>
              </a:defRPr>
            </a:pPr>
            <a:r>
              <a:t>Seg 0: 0.0-7.2s  | 7 frames | [click, click]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3949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ourier New"/>
              </a:defRPr>
            </a:pPr>
            <a:r>
              <a:t>Seg 1: 7.2-16.0s | 9 frames | [click, type('cd project')]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5778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ourier New"/>
              </a:defRPr>
            </a:pPr>
            <a:r>
              <a:t>Seg 2: 16.0-29.0s| 13 frames| [type('git pull'), press(Enter)]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Calibri"/>
              </a:defRPr>
            </a:pPr>
            <a:r>
              <a:t>Step 7: Feature Assembler (150-dim Vector)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SourceCode/backend/app/services/feature_assembler.py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13716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MODALITY_MAP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2606040" cy="5029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ocr_text: [0, 50)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39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7ACC"/>
                </a:solidFill>
                <a:latin typeface="Calibri"/>
              </a:defRPr>
            </a:pPr>
            <a:r>
              <a:t>50 dims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874519"/>
            <a:ext cx="1371600" cy="50292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ui_elements: [50, 80)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3774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7C00"/>
                </a:solidFill>
                <a:latin typeface="Calibri"/>
              </a:defRPr>
            </a:pPr>
            <a:r>
              <a:t>30 dims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874519"/>
            <a:ext cx="1828800" cy="50292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visual: [80, 120)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37743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F42C1"/>
                </a:solidFill>
                <a:latin typeface="Calibri"/>
              </a:defRPr>
            </a:pPr>
            <a:r>
              <a:t>40 dims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1874519"/>
            <a:ext cx="1371600" cy="5029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interaction: [120, 150)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3774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8A745"/>
                </a:solidFill>
                <a:latin typeface="Calibri"/>
              </a:defRPr>
            </a:pPr>
            <a:r>
              <a:t>30 dims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17520"/>
            <a:ext cx="5486400" cy="34747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extract_segment_features(segment)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320040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566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  <a:latin typeface="Calibri"/>
              </a:defRPr>
            </a:pPr>
            <a:r>
              <a:t>Allocate zeros(150)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566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ourier New"/>
              </a:defRPr>
            </a:pPr>
            <a:r>
              <a:t>vector = np.zeros(150, dtype=np.float32)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950208"/>
            <a:ext cx="320040" cy="27432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9502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  <a:latin typeface="Calibri"/>
              </a:defRPr>
            </a:pPr>
            <a:r>
              <a:t>If keyframes exist: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95020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ourier New"/>
              </a:defRPr>
            </a:pPr>
            <a:r>
              <a:t>Run OCR, UI, and Visual extractors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334256"/>
            <a:ext cx="320040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33425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  <a:latin typeface="Calibri"/>
              </a:defRPr>
            </a:pPr>
            <a:r>
              <a:t>OCR -&gt; [0:50]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3342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ourier New"/>
              </a:defRPr>
            </a:pPr>
            <a:r>
              <a:t>vector[0:50] = ocr_extractor.extract(frames)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718304"/>
            <a:ext cx="320040" cy="27432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7183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  <a:latin typeface="Calibri"/>
              </a:defRPr>
            </a:pPr>
            <a:r>
              <a:t>UI -&gt; [50:80]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718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ourier New"/>
              </a:defRPr>
            </a:pPr>
            <a:r>
              <a:t>vector[50:80] = ui_detector.extract(frames)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102352"/>
            <a:ext cx="320040" cy="27432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1023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  <a:latin typeface="Calibri"/>
              </a:defRPr>
            </a:pPr>
            <a:r>
              <a:t>Visual -&gt; [80:120]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1023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ourier New"/>
              </a:defRPr>
            </a:pPr>
            <a:r>
              <a:t>vector[80:120] = visual_features.extract(frames)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486400"/>
            <a:ext cx="320040" cy="2743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486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  <a:latin typeface="Calibri"/>
              </a:defRPr>
            </a:pPr>
            <a:r>
              <a:t>Interaction -&gt; [120:150]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5486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ourier New"/>
              </a:defRPr>
            </a:pPr>
            <a:r>
              <a:t>vector[120:150] = interaction.extract(actions)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017520"/>
            <a:ext cx="5303520" cy="34747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108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Output: 150-dim float32 vector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3566160"/>
            <a:ext cx="4937760" cy="7315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3593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OCR [0:50]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0"/>
                </a:solidFill>
                <a:latin typeface="Courier New"/>
              </a:defRPr>
            </a:pPr>
            <a:r>
              <a:t>TF-IDF word scores</a:t>
            </a:r>
            <a:br/>
            <a:r>
              <a:t>'git'-&gt;0.82  'pull'-&gt;0.75  'install'-&gt;0.68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4361688"/>
            <a:ext cx="4937760" cy="73152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4389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UI [50:80]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46360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0"/>
                </a:solidFill>
                <a:latin typeface="Courier New"/>
              </a:defRPr>
            </a:pPr>
            <a:r>
              <a:t>Element counts + layout</a:t>
            </a:r>
            <a:br/>
            <a:r>
              <a:t>terminal=1  tabs=3  sidebar=1  density=0.4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5157216"/>
            <a:ext cx="4937760" cy="73152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51846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Visual [80:120]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43153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0"/>
                </a:solidFill>
                <a:latin typeface="Courier New"/>
              </a:defRPr>
            </a:pPr>
            <a:r>
              <a:t>Color + edges + texture</a:t>
            </a:r>
            <a:br/>
            <a:r>
              <a:t>dark_theme=0.8  edge_density=0.6  lines=0.7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5952744"/>
            <a:ext cx="4937760" cy="7315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0" y="598017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Interaction [120:150]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622706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0"/>
                </a:solidFill>
                <a:latin typeface="Courier New"/>
              </a:defRPr>
            </a:pPr>
            <a:r>
              <a:t>Action patterns</a:t>
            </a:r>
            <a:br/>
            <a:r>
              <a:t>typing_speed=3.5  clicks=2  key_presses=5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Calibri"/>
              </a:defRPr>
            </a:pPr>
            <a:r>
              <a:t>Steps 8-11: Four Feature Extractors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Each extractor fills its slice of the 150-dim vector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94960" cy="22860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286000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OCR Extractor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417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50 dims [0:50]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EasyOCR reads text from keyframes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2996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Tesseract fallback if EasyOCR fails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3113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TF-IDF vectorization (max_features=50)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3230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Output: 50-dim word importance scores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5468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ourier New"/>
              </a:defRPr>
            </a:pPr>
            <a:r>
              <a:t>ocr_extractor.py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7ACC"/>
                </a:solidFill>
                <a:latin typeface="Courier New"/>
              </a:defRPr>
            </a:pPr>
            <a:r>
              <a:t>"git pull origin main" -&gt; [0.82, 0.75, ...]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371600"/>
            <a:ext cx="5394960" cy="228600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417320"/>
            <a:ext cx="2286000" cy="32004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UI Detector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1417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C00"/>
                </a:solidFill>
                <a:latin typeface="Calibri"/>
              </a:defRPr>
            </a:pPr>
            <a:r>
              <a:t>30 dims [50:80]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8288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YOLOv8n (conf &gt; 0.25)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2996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12 UI classes: button, textbox, tab, 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23113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Counts + layout + confidence + complexity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43230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Output: 30-dim UI feature vector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15468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ourier New"/>
              </a:defRPr>
            </a:pPr>
            <a:r>
              <a:t>ui_detector.py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3375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7C00"/>
                </a:solidFill>
                <a:latin typeface="Courier New"/>
              </a:defRPr>
            </a:pPr>
            <a:r>
              <a:t>terminal=1, tabs=3 -&gt; [0.0, ..., 0.8, ...]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931920"/>
            <a:ext cx="5394960" cy="2286000"/>
          </a:xfrm>
          <a:prstGeom prst="roundRect">
            <a:avLst/>
          </a:prstGeom>
          <a:solidFill>
            <a:srgbClr val="F0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3977640"/>
            <a:ext cx="2286000" cy="32004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Visual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3977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F42C1"/>
                </a:solidFill>
                <a:latin typeface="Calibri"/>
              </a:defRPr>
            </a:pPr>
            <a:r>
              <a:t>40 dims [80:120]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3891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OpenCV image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5902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Color histogram: 18 dims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79145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Edge detection: 3 dims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99262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Texture (LBP): 6 dims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9379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Scene complexity: 5 dims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3949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Layout features: 8 dims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ourier New"/>
              </a:defRPr>
            </a:pPr>
            <a:r>
              <a:t>visual_features.py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F42C1"/>
                </a:solidFill>
                <a:latin typeface="Courier New"/>
              </a:defRPr>
            </a:pPr>
            <a:r>
              <a:t>dark_theme=0.8, edges=0.6 -&gt; [0.8, 0.1, ...]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3931920"/>
            <a:ext cx="5394960" cy="228600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17920" y="3977640"/>
            <a:ext cx="228600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Interaction Features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3977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8A745"/>
                </a:solidFill>
                <a:latin typeface="Calibri"/>
              </a:defRPr>
            </a:pPr>
            <a:r>
              <a:t>30 dims [120:150]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3891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8 action types parsed from log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5902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Frequency features: action counts/rates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79145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Position features: click coordinates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499262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Temporal features: timing/intervals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519379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Mouse/typing/keyboard features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571500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ourier New"/>
              </a:defRPr>
            </a:pPr>
            <a:r>
              <a:t>interaction_features.py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589788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A745"/>
                </a:solidFill>
                <a:latin typeface="Courier New"/>
              </a:defRPr>
            </a:pPr>
            <a:r>
              <a:t>3 clicks, 25 chars typed -&gt; [0.29, 0.14, ...]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Calibri"/>
              </a:defRPr>
            </a:pPr>
            <a:r>
              <a:t>Step 12: ML Service (Model Hub)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SourceCode/backend/app/services/ml_service.py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657600" cy="9144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8A745"/>
                </a:solidFill>
                <a:latin typeface="Courier New"/>
              </a:defRPr>
            </a:pPr>
            <a:r>
              <a:t># Singleton pattern</a:t>
            </a:r>
          </a:p>
          <a:p>
            <a:pPr>
              <a:spcAft>
                <a:spcPts val="300"/>
              </a:spcAft>
              <a:defRPr sz="1200">
                <a:solidFill>
                  <a:srgbClr val="28A745"/>
                </a:solidFill>
                <a:latin typeface="Courier New"/>
              </a:defRPr>
            </a:pPr>
            <a:r>
              <a:t>ml_service = MLService()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657600" cy="9144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417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On startup: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Registers 7 Tier 1 models</a:t>
            </a:r>
            <a:br/>
            <a:r>
              <a:t>Loads .pkl files from disk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371600"/>
            <a:ext cx="3383280" cy="91440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417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C00"/>
                </a:solidFill>
                <a:latin typeface="Calibri"/>
              </a:defRPr>
            </a:pPr>
            <a:r>
              <a:t>On demand: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691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register_deep_models()</a:t>
            </a:r>
            <a:br/>
            <a:r>
              <a:t>Adds Tier 2 + Tier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60320"/>
            <a:ext cx="11247120" cy="38404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classify(features, model_name) -&gt; dict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108960"/>
            <a:ext cx="365760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1089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_ensure_trained(model_name)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33756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Loads from .pkl file or trains on synthetic data if no saved model exists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3063240"/>
            <a:ext cx="5943600" cy="804672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23560" y="3154680"/>
            <a:ext cx="5669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if model_name in self._trained:</a:t>
            </a:r>
          </a:p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    return  # Already loaded</a:t>
            </a:r>
          </a:p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path = f'models/{model_name}.pkl'</a:t>
            </a:r>
          </a:p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if path.exists(): clf = joblib.load(path)</a:t>
            </a:r>
          </a:p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else: clf.fit(X_synthetic, y_synthetic)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977640"/>
            <a:ext cx="365760" cy="32004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9776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clf.predict(features) -&gt; PredictionResult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0624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Runs the classifier and measures latency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0" y="3931920"/>
            <a:ext cx="5943600" cy="804672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4023360"/>
            <a:ext cx="5669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start = time.time()</a:t>
            </a:r>
          </a:p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result = clf.predict(features)</a:t>
            </a:r>
          </a:p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# PredictionResult(</a:t>
            </a:r>
          </a:p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#   labels=[3, 1, 3, 0, ...],</a:t>
            </a:r>
          </a:p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#   probabilities=[[0.02, 0.91, ...]],</a:t>
            </a:r>
          </a:p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#   latency_ms=59.2)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846320"/>
            <a:ext cx="36576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8463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Map integer labels -&gt; ACTIVITY_LABELS strings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07492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Converts numeric predictions to human-readable labels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0" y="4800600"/>
            <a:ext cx="5943600" cy="804672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23560" y="4892040"/>
            <a:ext cx="5669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ACTIVITY_LABELS = [</a:t>
            </a:r>
          </a:p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  "browsing", "coding", "communication",</a:t>
            </a:r>
          </a:p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  "data_entry", "debugging", "document_editing",</a:t>
            </a:r>
          </a:p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  "git_operations", "system_admin", "testing"</a:t>
            </a:r>
          </a:p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715000"/>
            <a:ext cx="365760" cy="32004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7150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Return result dict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94360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{label, confidence, latency_ms, probabilities}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0" y="5669280"/>
            <a:ext cx="5943600" cy="804672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23560" y="5760720"/>
            <a:ext cx="5669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return {</a:t>
            </a:r>
          </a:p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  "label": "git_operations",</a:t>
            </a:r>
          </a:p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  "confidence": 0.91,</a:t>
            </a:r>
          </a:p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  "latency_ms": 59.2,</a:t>
            </a:r>
          </a:p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  "probabilities": {0: 0.02, ...}</a:t>
            </a:r>
          </a:p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Calibri"/>
              </a:defRPr>
            </a:pPr>
            <a:r>
              <a:t>Step 13: How Classifiers Predict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BaseClassifier interface: fit(X, y), predict(X) -&gt; PredictionResult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3749039" cy="484632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417320"/>
            <a:ext cx="2286000" cy="3657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Tier 1: SVM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D2D2D"/>
                </a:solidFill>
                <a:latin typeface="Calibri"/>
              </a:defRPr>
            </a:pPr>
            <a:r>
              <a:t>sklearn.svm.SVC(kernel='rbf')</a:t>
            </a:r>
          </a:p>
          <a:p>
            <a:pPr>
              <a:spcAft>
                <a:spcPts val="400"/>
              </a:spcAft>
              <a:defRPr sz="11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D2D2D"/>
                </a:solidFill>
                <a:latin typeface="Calibri"/>
              </a:defRPr>
            </a:pPr>
            <a:r>
              <a:t>Input: 150-dim feature vector</a:t>
            </a:r>
          </a:p>
          <a:p>
            <a:pPr>
              <a:spcAft>
                <a:spcPts val="400"/>
              </a:spcAft>
              <a:defRPr sz="1100">
                <a:solidFill>
                  <a:srgbClr val="2D2D2D"/>
                </a:solidFill>
                <a:latin typeface="Calibri"/>
              </a:defRPr>
            </a:pPr>
            <a:r>
              <a:t>Output: predict() + predict_proba()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17520"/>
            <a:ext cx="3474720" cy="20116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  <a:r>
              <a:t>class SVMClassifier(BaseClassifier):</a:t>
            </a:r>
          </a:p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  <a:r>
              <a:t>    def __init__(self):</a:t>
            </a:r>
          </a:p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  <a:r>
              <a:t>        self.model = SVC(</a:t>
            </a:r>
          </a:p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  <a:r>
              <a:t>            kernel='rbf',</a:t>
            </a:r>
          </a:p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  <a:r>
              <a:t>            probability=True</a:t>
            </a:r>
          </a:p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  <a:r>
              <a:t>        )</a:t>
            </a:r>
          </a:p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  <a:r>
              <a:t>    def predict(self, X):</a:t>
            </a:r>
          </a:p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  <a:r>
              <a:t>        labels = self.model.predict(X)</a:t>
            </a:r>
          </a:p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  <a:r>
              <a:t>        proba = self.model.predict_proba(X)</a:t>
            </a:r>
          </a:p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  <a:r>
              <a:t>        return PredictionResult(</a:t>
            </a:r>
          </a:p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  <a:r>
              <a:t>            labels, proba, latency)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7ACC"/>
                </a:solidFill>
                <a:latin typeface="Calibri"/>
              </a:defRPr>
            </a:pPr>
            <a:r>
              <a:t>Fast: ~59ms | Good for linearly separable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371600"/>
            <a:ext cx="3749039" cy="4846320"/>
          </a:xfrm>
          <a:prstGeom prst="roundRect">
            <a:avLst/>
          </a:prstGeom>
          <a:solidFill>
            <a:srgbClr val="F0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1417320"/>
            <a:ext cx="2286000" cy="36576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Tier 2: LSTM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9202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D2D2D"/>
                </a:solidFill>
                <a:latin typeface="Calibri"/>
              </a:defRPr>
            </a:pPr>
            <a:r>
              <a:t>reshape(150) -&gt; (10, 15)</a:t>
            </a:r>
          </a:p>
          <a:p>
            <a:pPr>
              <a:spcAft>
                <a:spcPts val="400"/>
              </a:spcAft>
              <a:defRPr sz="11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D2D2D"/>
                </a:solidFill>
                <a:latin typeface="Calibri"/>
              </a:defRPr>
            </a:pPr>
            <a:r>
              <a:t>10 timesteps x 15 features</a:t>
            </a:r>
          </a:p>
          <a:p>
            <a:pPr>
              <a:spcAft>
                <a:spcPts val="400"/>
              </a:spcAft>
              <a:defRPr sz="1100">
                <a:solidFill>
                  <a:srgbClr val="2D2D2D"/>
                </a:solidFill>
                <a:latin typeface="Calibri"/>
              </a:defRPr>
            </a:pPr>
            <a:r>
              <a:t>Treats modalities as a sequence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017520"/>
            <a:ext cx="3474720" cy="20116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31089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  <a:r>
              <a:t>class LSTMClassifier(BaseClassifier):</a:t>
            </a:r>
          </a:p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  <a:r>
              <a:t>    def __init__(self):</a:t>
            </a:r>
          </a:p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  <a:r>
              <a:t>        self.lstm = nn.LSTM(</a:t>
            </a:r>
          </a:p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  <a:r>
              <a:t>            input_size=15,</a:t>
            </a:r>
          </a:p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  <a:r>
              <a:t>            hidden_size=64,</a:t>
            </a:r>
          </a:p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  <a:r>
              <a:t>            batch_first=True)</a:t>
            </a:r>
          </a:p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  <a:r>
              <a:t>        self.fc = nn.Linear(64, 9)</a:t>
            </a:r>
          </a:p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  <a:r>
              <a:t>    def forward(self, x):</a:t>
            </a:r>
          </a:p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  <a:r>
              <a:t>        x = x.reshape(-1, 10, 15)</a:t>
            </a:r>
          </a:p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  <a:r>
              <a:t>        _, (h, _) = self.lstm(x)</a:t>
            </a:r>
          </a:p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  <a:r>
              <a:t>        return F.softmax(self.fc(h))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5120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F42C1"/>
                </a:solidFill>
                <a:latin typeface="Calibri"/>
              </a:defRPr>
            </a:pPr>
            <a:r>
              <a:t>Moderate: ~180ms | Captures sequential patterns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371600"/>
            <a:ext cx="3749039" cy="484632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0" y="1417320"/>
            <a:ext cx="2286000" cy="3657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Tier 3: Stacking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9202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D2D2D"/>
                </a:solidFill>
                <a:latin typeface="Calibri"/>
              </a:defRPr>
            </a:pPr>
            <a:r>
              <a:t>SVM + RF + MLP -&gt; hstack</a:t>
            </a:r>
          </a:p>
          <a:p>
            <a:pPr>
              <a:spcAft>
                <a:spcPts val="400"/>
              </a:spcAft>
              <a:defRPr sz="11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D2D2D"/>
                </a:solidFill>
                <a:latin typeface="Calibri"/>
              </a:defRPr>
            </a:pPr>
            <a:r>
              <a:t>Base model predictions stacked</a:t>
            </a:r>
          </a:p>
          <a:p>
            <a:pPr>
              <a:spcAft>
                <a:spcPts val="400"/>
              </a:spcAft>
              <a:defRPr sz="1100">
                <a:solidFill>
                  <a:srgbClr val="2D2D2D"/>
                </a:solidFill>
                <a:latin typeface="Calibri"/>
              </a:defRPr>
            </a:pPr>
            <a:r>
              <a:t>Meta-learner: LogisticRegression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3017520"/>
            <a:ext cx="3474720" cy="20116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31089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  <a:r>
              <a:t>class StackingClassifier(Base...):</a:t>
            </a:r>
          </a:p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  <a:r>
              <a:t>    base_models = [</a:t>
            </a:r>
          </a:p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  <a:r>
              <a:t>        SVMClassifier(),</a:t>
            </a:r>
          </a:p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  <a:r>
              <a:t>        RandomForestClassifier(),</a:t>
            </a:r>
          </a:p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  <a:r>
              <a:t>        MLPClassifier(),</a:t>
            </a:r>
          </a:p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  <a:r>
              <a:t>    ]</a:t>
            </a:r>
          </a:p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  <a:r>
              <a:t>    meta = LogisticRegression()</a:t>
            </a:r>
          </a:p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  <a:r>
              <a:t>    def predict(self, X):</a:t>
            </a:r>
          </a:p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  <a:r>
              <a:t>        preds = [m.predict(X)</a:t>
            </a:r>
          </a:p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  <a:r>
              <a:t>                 for m in self.base_models]</a:t>
            </a:r>
          </a:p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  <a:r>
              <a:t>        stacked = np.hstack(preds)</a:t>
            </a:r>
          </a:p>
          <a:p>
            <a:pPr>
              <a:spcAft>
                <a:spcPts val="200"/>
              </a:spcAft>
              <a:defRPr sz="800">
                <a:solidFill>
                  <a:srgbClr val="28A745"/>
                </a:solidFill>
                <a:latin typeface="Courier New"/>
              </a:defRPr>
            </a:pPr>
            <a:r>
              <a:t>        return self.meta.predict(stacked)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5120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A745"/>
                </a:solidFill>
                <a:latin typeface="Calibri"/>
              </a:defRPr>
            </a:pPr>
            <a:r>
              <a:t>Slow: ~6500ms | Combines model strengths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Calibri"/>
              </a:defRPr>
            </a:pPr>
            <a:r>
              <a:t>Steps 14-15: Results Display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Data flows back from backend to frontend components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035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JSON Response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"job_id": 42,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"status": "completed",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"results": [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  // 14 models x 7 segments = 98 results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  { "model": "xgboost", "segment": 0,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    "label": "git_operations",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    "confidence": 0.91 },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  ...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],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"model_comparison": [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  { "model": "xgboost", "tier": "tier1",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    "avg_confidence": 0.91,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    "latency_ms": 59 },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  ... // 14 entries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],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  "best_model": "xgboost"</a:t>
            </a:r>
          </a:p>
          <a:p>
            <a:pPr>
              <a:spcAft>
                <a:spcPts val="2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371600"/>
            <a:ext cx="5669280" cy="50292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Frontend Components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3035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965960"/>
            <a:ext cx="2286000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VideoResults.tsx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317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selectedModel state: tracks which model user is viewing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Shows selected model's workflow steps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Passes modelComparison to child components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291840"/>
            <a:ext cx="53035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3337560"/>
            <a:ext cx="2560320" cy="27432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ModelComparison.tsx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7033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14-row comparison table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Color-coded by tier (blue=T1, purple=T2, green=T3)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Click any row to switch the selected model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Columns: Model | Tier | Confidence | Latency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846320"/>
            <a:ext cx="53035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4892040"/>
            <a:ext cx="2286000" cy="2743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WorkflowSteps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525780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Timeline of predicted activities with timestamps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e.g., "Ran shell command: git pull" (0:16-0:29)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Visual step-by-step display with icons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Calibri"/>
              </a:defRPr>
            </a:pPr>
            <a:r>
              <a:t>Complete Data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Full flow from User -&gt; Frontend -&gt; Backend -&gt; Features -&gt; Models -&gt; Results -&gt; Display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45920"/>
            <a:ext cx="1645920" cy="8229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Drops video.mp4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1645920"/>
            <a:ext cx="1645920" cy="8229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Upload + Hook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1645920"/>
            <a:ext cx="1645920" cy="8229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POST /upload</a:t>
            </a:r>
            <a:br/>
            <a:r>
              <a:t>POST /run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645920"/>
            <a:ext cx="1645920" cy="8229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Router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jobs.py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645920"/>
            <a:ext cx="1645920" cy="82296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classification</a:t>
            </a:r>
            <a:br/>
            <a:r>
              <a:t>_service.py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1645920"/>
            <a:ext cx="1645920" cy="82296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Extractors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4 modules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1828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2D2D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1828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2D2D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1828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2D2D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1828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2D2D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828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2D2D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Calibri"/>
              </a:defRPr>
            </a:pPr>
            <a:r>
              <a:t>Key Data Transformations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383280"/>
            <a:ext cx="137160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3657600"/>
            <a:ext cx="2011680" cy="4572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3703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2D2D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26080" y="3657600"/>
            <a:ext cx="3200400" cy="4572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job_id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703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POST /upload saves file, creates Job record, returns job_id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24528"/>
            <a:ext cx="2011680" cy="45720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Video frames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42702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2D2D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26080" y="4224528"/>
            <a:ext cx="3200400" cy="45720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(n_segments, 150) matrix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2702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Video processor segments, 4 extractors produce 150-dim vectors per segment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791456"/>
            <a:ext cx="2011680" cy="45720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150-dim vector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4600" y="483717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2D2D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26080" y="4791456"/>
            <a:ext cx="3200400" cy="45720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14 x PredictionResult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83717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Each of 14 classifiers (3 tiers) produces predictions + probabilities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358384"/>
            <a:ext cx="2011680" cy="4572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PredictionResult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14600" y="54041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2D2D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926080" y="5358384"/>
            <a:ext cx="3200400" cy="4572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ModelSummary[] + WorkflowStep[]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40410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Frontend groups results by model, maps best model's results to workflow steps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925312"/>
            <a:ext cx="20116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Final render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14600" y="59710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2D2D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26080" y="5925312"/>
            <a:ext cx="320040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Comparison table + Timeline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9710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14-model comparison table with color-coded tiers, clickable timeline of activities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