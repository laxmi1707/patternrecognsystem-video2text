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End-to-End Video Analysis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CCCCC"/>
                </a:solidFill>
                <a:latin typeface="Calibri"/>
              </a:defRPr>
            </a:pPr>
            <a:r>
              <a:t>What happens when a user uploads a screen recording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06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66666"/>
                </a:solidFill>
                <a:latin typeface="Calibri"/>
              </a:defRPr>
            </a:pPr>
            <a:r>
              <a:t>Example: 53-second recording of "git pull" then "npm install" in VSCode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D2D2D"/>
                </a:solidFill>
                <a:latin typeface="Calibri"/>
              </a:defRPr>
            </a:pPr>
            <a:r>
              <a:t>High-Level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1828800" cy="4572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2286000" cy="9144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User Uploads</a:t>
            </a:r>
            <a:br/>
            <a:r>
              <a:t>video.mp4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774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http://localhost:5173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1554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2D2D2D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1371600"/>
            <a:ext cx="2011680" cy="91440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Frontend</a:t>
            </a:r>
            <a:br/>
            <a:r>
              <a:t>React + Vite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37744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Progress bar + results UI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1554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2D2D2D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0116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Calibri"/>
              </a:defRPr>
            </a:pPr>
            <a:r>
              <a:t>POST /api/v1</a:t>
            </a:r>
            <a:br/>
            <a:r>
              <a:t>/jobs/analyze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0" y="1097280"/>
            <a:ext cx="5943600" cy="502920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160" y="11887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ACC"/>
                </a:solidFill>
                <a:latin typeface="Calibri"/>
              </a:defRPr>
            </a:pPr>
            <a:r>
              <a:t>Backend (FastAPI)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1645920"/>
            <a:ext cx="5486400" cy="1188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035040" y="1691640"/>
            <a:ext cx="1645920" cy="32004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Step 1: Segment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210312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D2D2D"/>
                </a:solidFill>
                <a:latin typeface="Calibri"/>
              </a:defRPr>
            </a:pPr>
            <a:r>
              <a:t>Seg 1: 0:00-0:07  Opening editor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22311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D2D2D"/>
                </a:solidFill>
                <a:latin typeface="Calibri"/>
              </a:defRPr>
            </a:pPr>
            <a:r>
              <a:t>Seg 2: 0:07-0:16  Opening terminal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235915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D2D2D"/>
                </a:solidFill>
                <a:latin typeface="Calibri"/>
              </a:defRPr>
            </a:pPr>
            <a:r>
              <a:t>Seg 3: 0:16-0:29  git pull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24871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D2D2D"/>
                </a:solidFill>
                <a:latin typeface="Calibri"/>
              </a:defRPr>
            </a:pPr>
            <a:r>
              <a:t>Seg 4: 0:29-0:58  npm install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261518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D2D2D"/>
                </a:solidFill>
                <a:latin typeface="Calibri"/>
              </a:defRPr>
            </a:pPr>
            <a:r>
              <a:t>Seg 5: 0:58-1:12  Open browser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2743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D2D2D"/>
                </a:solidFill>
                <a:latin typeface="Calibri"/>
              </a:defRPr>
            </a:pPr>
            <a:r>
              <a:t>Seg 6: 1:12-1:35  Check localhost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287121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D2D2D"/>
                </a:solidFill>
                <a:latin typeface="Calibri"/>
              </a:defRPr>
            </a:pPr>
            <a:r>
              <a:t>Seg 7: 1:35-1:47  Verify app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2011680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007ACC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86800" y="1691640"/>
            <a:ext cx="2560320" cy="32004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Step 2: Extract Features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778240" y="2103120"/>
            <a:ext cx="1097280" cy="201168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EasyOCR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21240" y="2103120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2D2D2D"/>
                </a:solidFill>
                <a:latin typeface="Calibri"/>
              </a:defRPr>
            </a:pPr>
            <a:r>
              <a:t>50-dim: "git pull origin main"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78240" y="2331720"/>
            <a:ext cx="1097280" cy="201168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YOLOv8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21240" y="2331720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2D2D2D"/>
                </a:solidFill>
                <a:latin typeface="Calibri"/>
              </a:defRPr>
            </a:pPr>
            <a:r>
              <a:t>30-dim: terminal, tab, sidebar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778240" y="2560320"/>
            <a:ext cx="1097280" cy="201168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OpenCV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21240" y="2560320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2D2D2D"/>
                </a:solidFill>
                <a:latin typeface="Calibri"/>
              </a:defRPr>
            </a:pPr>
            <a:r>
              <a:t>40-dim: dark theme, edges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778240" y="2788920"/>
            <a:ext cx="1097280" cy="201168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Actions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21240" y="2788920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2D2D2D"/>
                </a:solidFill>
                <a:latin typeface="Calibri"/>
              </a:defRPr>
            </a:pPr>
            <a:r>
              <a:t>30-dim: typing, clicks, Enter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778240" y="3063240"/>
            <a:ext cx="2560320" cy="228600"/>
          </a:xfrm>
          <a:prstGeom prst="round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= 150-dim feature vector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0" y="3474720"/>
            <a:ext cx="5486400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035040" y="3520440"/>
            <a:ext cx="1645920" cy="32004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Step 3: Classify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26480" y="3931920"/>
            <a:ext cx="1188720" cy="201168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FFFFFF"/>
                </a:solidFill>
              </a:defRPr>
            </a:pPr>
            <a:r>
              <a:t>SVM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06640" y="3931920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D2D2D"/>
                </a:solidFill>
                <a:latin typeface="Calibri"/>
              </a:defRPr>
            </a:pPr>
            <a:r>
              <a:t>→ git_ops 72%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0" y="3931920"/>
            <a:ext cx="548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66666"/>
                </a:solidFill>
                <a:latin typeface="Calibri"/>
              </a:defRPr>
            </a:pPr>
            <a:r>
              <a:t>Tier 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26480" y="4142232"/>
            <a:ext cx="1188720" cy="201168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FFFFFF"/>
                </a:solidFill>
              </a:defRPr>
            </a:pPr>
            <a:r>
              <a:t>Random Forest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06640" y="4142232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D2D2D"/>
                </a:solidFill>
                <a:latin typeface="Calibri"/>
              </a:defRPr>
            </a:pPr>
            <a:r>
              <a:t>→ git_ops 89%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0" y="4142232"/>
            <a:ext cx="548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66666"/>
                </a:solidFill>
                <a:latin typeface="Calibri"/>
              </a:defRPr>
            </a:pPr>
            <a:r>
              <a:t>Tier 1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26480" y="4352544"/>
            <a:ext cx="1188720" cy="201168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FFFFFF"/>
                </a:solidFill>
              </a:defRPr>
            </a:pPr>
            <a:r>
              <a:t>XGBoost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06640" y="4352544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D2D2D"/>
                </a:solidFill>
                <a:latin typeface="Calibri"/>
              </a:defRPr>
            </a:pPr>
            <a:r>
              <a:t>→ git_ops 91%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4352544"/>
            <a:ext cx="548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66666"/>
                </a:solidFill>
                <a:latin typeface="Calibri"/>
              </a:defRPr>
            </a:pPr>
            <a:r>
              <a:t>Tier 1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26480" y="4562856"/>
            <a:ext cx="1188720" cy="201168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FFFFFF"/>
                </a:solidFill>
              </a:defRPr>
            </a:pPr>
            <a:r>
              <a:t>LSTM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06640" y="4562856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D2D2D"/>
                </a:solidFill>
                <a:latin typeface="Calibri"/>
              </a:defRPr>
            </a:pPr>
            <a:r>
              <a:t>→ coding 65%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4562856"/>
            <a:ext cx="548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66666"/>
                </a:solidFill>
                <a:latin typeface="Calibri"/>
              </a:defRPr>
            </a:pPr>
            <a:r>
              <a:t>Tier 2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26480" y="4773168"/>
            <a:ext cx="1188720" cy="201168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FFFFFF"/>
                </a:solidFill>
              </a:defRPr>
            </a:pPr>
            <a:r>
              <a:t>Stacking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06640" y="4773168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D2D2D"/>
                </a:solidFill>
                <a:latin typeface="Calibri"/>
              </a:defRPr>
            </a:pPr>
            <a:r>
              <a:t>→ git_ops 85%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4773168"/>
            <a:ext cx="548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66666"/>
                </a:solidFill>
                <a:latin typeface="Calibri"/>
              </a:defRPr>
            </a:pPr>
            <a:r>
              <a:t>Tier 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4000" y="39319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... 14 models total</a:t>
            </a:r>
            <a:br/>
            <a:r>
              <a:t>All run on the same</a:t>
            </a:r>
            <a:br/>
            <a:r>
              <a:t>150-dim vector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943600" y="5120640"/>
            <a:ext cx="2560320" cy="822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6035040" y="5166360"/>
            <a:ext cx="1828800" cy="27432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Step 4: Best Model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26480" y="54864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2D2D"/>
                </a:solidFill>
                <a:latin typeface="Calibri"/>
              </a:defRPr>
            </a:pPr>
            <a:r>
              <a:t>"git_operations" 91%</a:t>
            </a:r>
            <a:br/>
            <a:r>
              <a:t>(XGBoost)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686800" y="5120640"/>
            <a:ext cx="2743200" cy="822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8778240" y="5166360"/>
            <a:ext cx="2286000" cy="27432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Step 5: Workflow Description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869680" y="54864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r>
              <a:t>"Ran a shell command:</a:t>
            </a:r>
            <a:br/>
            <a:r>
              <a:t>git pull origin main"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200400" y="27432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JSON response ←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74320" y="3017520"/>
            <a:ext cx="5029200" cy="347472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57200" y="31089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8A745"/>
                </a:solidFill>
                <a:latin typeface="Calibri"/>
              </a:defRPr>
            </a:pPr>
            <a:r>
              <a:t>ANALYSIS COMPLETE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4290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D2D2D"/>
                </a:solidFill>
                <a:latin typeface="Calibri"/>
              </a:defRPr>
            </a:pPr>
            <a:r>
              <a:t>video.mp4 — 1:47 — 7 steps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57200" y="37947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2D2D"/>
                </a:solidFill>
                <a:latin typeface="Calibri"/>
              </a:defRPr>
            </a:pPr>
            <a:r>
              <a:t>Model Comparison — 14 Classifiers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57200" y="4069080"/>
            <a:ext cx="4572000" cy="201168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48640" y="4069080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Calibri"/>
              </a:defRPr>
            </a:pPr>
            <a:r>
              <a:t>Model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11680" y="4069080"/>
            <a:ext cx="548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Tier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743200" y="406908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Conf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0" y="406908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Latency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57200" y="4279392"/>
            <a:ext cx="4572000" cy="2011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48640" y="427939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2D2D2D"/>
                </a:solidFill>
                <a:latin typeface="Calibri"/>
              </a:defRPr>
            </a:pPr>
            <a:r>
              <a:t>XGBoost ★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011680" y="4279392"/>
            <a:ext cx="548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D2D2D"/>
                </a:solidFill>
                <a:latin typeface="Calibri"/>
              </a:defRPr>
            </a:pPr>
            <a:r>
              <a:t>T1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743200" y="42793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D2D2D"/>
                </a:solidFill>
                <a:latin typeface="Calibri"/>
              </a:defRPr>
            </a:pPr>
            <a:r>
              <a:t>91%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0" y="42793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D2D2D"/>
                </a:solidFill>
                <a:latin typeface="Calibri"/>
              </a:defRPr>
            </a:pPr>
            <a:r>
              <a:t>59ms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57200" y="4489704"/>
            <a:ext cx="4572000" cy="2011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48640" y="4489704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D2D2D"/>
                </a:solidFill>
                <a:latin typeface="Calibri"/>
              </a:defRPr>
            </a:pPr>
            <a:r>
              <a:t>Random Forest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011680" y="4489704"/>
            <a:ext cx="548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D2D2D"/>
                </a:solidFill>
                <a:latin typeface="Calibri"/>
              </a:defRPr>
            </a:pPr>
            <a:r>
              <a:t>T1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743200" y="448970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D2D2D"/>
                </a:solidFill>
                <a:latin typeface="Calibri"/>
              </a:defRPr>
            </a:pPr>
            <a:r>
              <a:t>89%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657600" y="448970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D2D2D"/>
                </a:solidFill>
                <a:latin typeface="Calibri"/>
              </a:defRPr>
            </a:pPr>
            <a:r>
              <a:t>103ms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57200" y="4700016"/>
            <a:ext cx="4572000" cy="2011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48640" y="4700016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D2D2D"/>
                </a:solidFill>
                <a:latin typeface="Calibri"/>
              </a:defRPr>
            </a:pPr>
            <a:r>
              <a:t>Stacking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011680" y="4700016"/>
            <a:ext cx="548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D2D2D"/>
                </a:solidFill>
                <a:latin typeface="Calibri"/>
              </a:defRPr>
            </a:pPr>
            <a:r>
              <a:t>T3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743200" y="470001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D2D2D"/>
                </a:solidFill>
                <a:latin typeface="Calibri"/>
              </a:defRPr>
            </a:pPr>
            <a:r>
              <a:t>85%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657600" y="470001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D2D2D"/>
                </a:solidFill>
                <a:latin typeface="Calibri"/>
              </a:defRPr>
            </a:pPr>
            <a:r>
              <a:t>6508ms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57200" y="49377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2D2D"/>
                </a:solidFill>
                <a:latin typeface="Calibri"/>
              </a:defRPr>
            </a:pPr>
            <a:r>
              <a:t>Workflow Steps: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8640" y="5212080"/>
            <a:ext cx="4114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D2D2D"/>
                </a:solidFill>
                <a:latin typeface="Calibri"/>
              </a:defRPr>
            </a:pPr>
            <a:r>
              <a:t>1. Opened the code editor (0:00-0:07)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48640" y="5358384"/>
            <a:ext cx="4114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D2D2D"/>
                </a:solidFill>
                <a:latin typeface="Calibri"/>
              </a:defRPr>
            </a:pPr>
            <a:r>
              <a:t>2. Opened the integrated terminal (0:07-0:16)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48640" y="5504688"/>
            <a:ext cx="4114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D2D2D"/>
                </a:solidFill>
                <a:latin typeface="Calibri"/>
              </a:defRPr>
            </a:pPr>
            <a:r>
              <a:t>3. Ran shell command: git pull (0:16-0:29)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640" y="5650992"/>
            <a:ext cx="4114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D2D2D"/>
                </a:solidFill>
                <a:latin typeface="Calibri"/>
              </a:defRPr>
            </a:pPr>
            <a:r>
              <a:t>4. Installed dependencies: npm install (0:29-0:58)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" y="5797296"/>
            <a:ext cx="4114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D2D2D"/>
                </a:solidFill>
                <a:latin typeface="Calibri"/>
              </a:defRPr>
            </a:pPr>
            <a:r>
              <a:t>5. Opened a browser tab (0:58-1:12)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5943600"/>
            <a:ext cx="4114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D2D2D"/>
                </a:solidFill>
                <a:latin typeface="Calibri"/>
              </a:defRPr>
            </a:pPr>
            <a:r>
              <a:t>6. Checked localhost (1:12-1:35)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48640" y="6089904"/>
            <a:ext cx="4114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D2D2D"/>
                </a:solidFill>
                <a:latin typeface="Calibri"/>
              </a:defRPr>
            </a:pPr>
            <a:r>
              <a:t>7. Verified the app (1:35-1:47)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D2D2D"/>
                </a:solidFill>
                <a:latin typeface="Calibri"/>
              </a:defRPr>
            </a:pPr>
            <a:r>
              <a:t>Step 2 Deep Dive: Feature Extraction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1828800" cy="4572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Segment 3 keyframe — terminal showing "git pull origin main"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63040"/>
            <a:ext cx="3657600" cy="228600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32918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28A745"/>
                </a:solidFill>
                <a:latin typeface="Calibri"/>
              </a:defRPr>
            </a:pPr>
            <a:r>
              <a:t>$ git pull origin main</a:t>
            </a:r>
          </a:p>
          <a:p>
            <a:pPr>
              <a:spcAft>
                <a:spcPts val="400"/>
              </a:spcAft>
              <a:defRPr sz="1100">
                <a:solidFill>
                  <a:srgbClr val="28A745"/>
                </a:solidFill>
                <a:latin typeface="Calibri"/>
              </a:defRPr>
            </a:pPr>
            <a:r>
              <a:t>Already up to date.</a:t>
            </a:r>
          </a:p>
          <a:p>
            <a:pPr>
              <a:spcAft>
                <a:spcPts val="400"/>
              </a:spcAft>
              <a:defRPr sz="1100">
                <a:solidFill>
                  <a:srgbClr val="28A745"/>
                </a:solidFill>
                <a:latin typeface="Calibri"/>
              </a:defRPr>
            </a:pPr>
            <a:r>
              <a:t>$ npm install</a:t>
            </a:r>
          </a:p>
          <a:p>
            <a:pPr>
              <a:spcAft>
                <a:spcPts val="400"/>
              </a:spcAft>
              <a:defRPr sz="1100">
                <a:solidFill>
                  <a:srgbClr val="28A745"/>
                </a:solidFill>
                <a:latin typeface="Calibri"/>
              </a:defRPr>
            </a:pPr>
            <a:r>
              <a:t>added 347 packages in 12s</a:t>
            </a:r>
          </a:p>
          <a:p>
            <a:pPr>
              <a:spcAft>
                <a:spcPts val="400"/>
              </a:spcAft>
              <a:defRPr sz="1100">
                <a:solidFill>
                  <a:srgbClr val="28A745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28A745"/>
                </a:solidFill>
                <a:latin typeface="Calibri"/>
              </a:defRPr>
            </a:pPr>
            <a:r>
              <a:t>ubuntu@dev:~/project$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Calibri"/>
              </a:defRPr>
            </a:pPr>
            <a:r>
              <a:t>Video keyframe (simulated terminal)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2286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2D2D2D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0" y="1463040"/>
            <a:ext cx="3383280" cy="100584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846320" y="1508760"/>
            <a:ext cx="2011680" cy="27432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EasyOCR → TF-IDF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15087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7ACC"/>
                </a:solidFill>
                <a:latin typeface="Calibri"/>
              </a:defRPr>
            </a:pPr>
            <a:r>
              <a:t>50 dims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18288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00">
                <a:solidFill>
                  <a:srgbClr val="2D2D2D"/>
                </a:solidFill>
                <a:latin typeface="Calibri"/>
              </a:defRPr>
            </a:pPr>
            <a:r>
              <a:t>Reads: "git pull origin main Already up to date"</a:t>
            </a:r>
          </a:p>
          <a:p>
            <a:pPr>
              <a:spcAft>
                <a:spcPts val="400"/>
              </a:spcAft>
              <a:defRPr sz="800">
                <a:solidFill>
                  <a:srgbClr val="2D2D2D"/>
                </a:solidFill>
                <a:latin typeface="Calibri"/>
              </a:defRPr>
            </a:pPr>
            <a:r>
              <a:t>TF-IDF: git→0.82, pull→0.75, install→0.68, npm→0.71</a:t>
            </a:r>
          </a:p>
          <a:p>
            <a:pPr>
              <a:spcAft>
                <a:spcPts val="400"/>
              </a:spcAft>
              <a:defRPr sz="800">
                <a:solidFill>
                  <a:srgbClr val="2D2D2D"/>
                </a:solidFill>
                <a:latin typeface="Calibri"/>
              </a:defRPr>
            </a:pPr>
            <a:r>
              <a:t>Output: [0.82, 0.75, 0.68, 0.71, 0.01, 0.0, ...]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0" y="2606040"/>
            <a:ext cx="3383280" cy="1005840"/>
          </a:xfrm>
          <a:prstGeom prst="roundRect">
            <a:avLst/>
          </a:prstGeom>
          <a:solidFill>
            <a:srgbClr val="FE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846320" y="2651760"/>
            <a:ext cx="2011680" cy="27432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YOLOv8 nano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6517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7C00"/>
                </a:solidFill>
                <a:latin typeface="Calibri"/>
              </a:defRPr>
            </a:pPr>
            <a:r>
              <a:t>30 dims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29718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00">
                <a:solidFill>
                  <a:srgbClr val="2D2D2D"/>
                </a:solidFill>
                <a:latin typeface="Calibri"/>
              </a:defRPr>
            </a:pPr>
            <a:r>
              <a:t>Detects: terminal(1), tab(3), sidebar(1)</a:t>
            </a:r>
          </a:p>
          <a:p>
            <a:pPr>
              <a:spcAft>
                <a:spcPts val="400"/>
              </a:spcAft>
              <a:defRPr sz="800">
                <a:solidFill>
                  <a:srgbClr val="2D2D2D"/>
                </a:solidFill>
                <a:latin typeface="Calibri"/>
              </a:defRPr>
            </a:pPr>
            <a:r>
              <a:t>Layout: element positions, density, confidence</a:t>
            </a:r>
          </a:p>
          <a:p>
            <a:pPr>
              <a:spcAft>
                <a:spcPts val="400"/>
              </a:spcAft>
              <a:defRPr sz="800">
                <a:solidFill>
                  <a:srgbClr val="2D2D2D"/>
                </a:solidFill>
                <a:latin typeface="Calibri"/>
              </a:defRPr>
            </a:pPr>
            <a:r>
              <a:t>Complexity: has_terminal=1, has_sidebar=1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0" y="3749039"/>
            <a:ext cx="3383280" cy="1005840"/>
          </a:xfrm>
          <a:prstGeom prst="roundRect">
            <a:avLst/>
          </a:prstGeom>
          <a:solidFill>
            <a:srgbClr val="F0E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46320" y="3794760"/>
            <a:ext cx="2011680" cy="27432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OpenCV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37947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F42C1"/>
                </a:solidFill>
                <a:latin typeface="Calibri"/>
              </a:defRPr>
            </a:pPr>
            <a:r>
              <a:t>40 dims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41148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00">
                <a:solidFill>
                  <a:srgbClr val="2D2D2D"/>
                </a:solidFill>
                <a:latin typeface="Calibri"/>
              </a:defRPr>
            </a:pPr>
            <a:r>
              <a:t>Color: dark theme (low RGB bins)</a:t>
            </a:r>
          </a:p>
          <a:p>
            <a:pPr>
              <a:spcAft>
                <a:spcPts val="400"/>
              </a:spcAft>
              <a:defRPr sz="800">
                <a:solidFill>
                  <a:srgbClr val="2D2D2D"/>
                </a:solidFill>
                <a:latin typeface="Calibri"/>
              </a:defRPr>
            </a:pPr>
            <a:r>
              <a:t>Edges: high density (text + UI borders)</a:t>
            </a:r>
          </a:p>
          <a:p>
            <a:pPr>
              <a:spcAft>
                <a:spcPts val="400"/>
              </a:spcAft>
              <a:defRPr sz="800">
                <a:solidFill>
                  <a:srgbClr val="2D2D2D"/>
                </a:solidFill>
                <a:latin typeface="Calibri"/>
              </a:defRPr>
            </a:pPr>
            <a:r>
              <a:t>Texture: regular line patterns (code)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80" y="4892040"/>
            <a:ext cx="3383280" cy="1005840"/>
          </a:xfrm>
          <a:prstGeom prst="roundRect">
            <a:avLst/>
          </a:prstGeom>
          <a:solidFill>
            <a:srgbClr val="E6F9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46320" y="4937760"/>
            <a:ext cx="2011680" cy="27432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Action Log Parser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49377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8A745"/>
                </a:solidFill>
                <a:latin typeface="Calibri"/>
              </a:defRPr>
            </a:pPr>
            <a:r>
              <a:t>30 dims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52578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00">
                <a:solidFill>
                  <a:srgbClr val="2D2D2D"/>
                </a:solidFill>
                <a:latin typeface="Calibri"/>
              </a:defRPr>
            </a:pPr>
            <a:r>
              <a:t>Actions: TYPING("git pull"), PRESS(Enter), CLICK</a:t>
            </a:r>
          </a:p>
          <a:p>
            <a:pPr>
              <a:spcAft>
                <a:spcPts val="400"/>
              </a:spcAft>
              <a:defRPr sz="800">
                <a:solidFill>
                  <a:srgbClr val="2D2D2D"/>
                </a:solidFill>
                <a:latin typeface="Calibri"/>
              </a:defRPr>
            </a:pPr>
            <a:r>
              <a:t>Temporal: 7 actions, 0.58 actions/sec</a:t>
            </a:r>
          </a:p>
          <a:p>
            <a:pPr>
              <a:spcAft>
                <a:spcPts val="400"/>
              </a:spcAft>
              <a:defRPr sz="800">
                <a:solidFill>
                  <a:srgbClr val="2D2D2D"/>
                </a:solidFill>
                <a:latin typeface="Calibri"/>
              </a:defRPr>
            </a:pPr>
            <a:r>
              <a:t>Typing: 25 chars, speed=3.5 chars/sec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2743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2D2D2D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1463040"/>
            <a:ext cx="3017520" cy="4572000"/>
          </a:xfrm>
          <a:prstGeom prst="round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78240" y="15544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150-dim Feature Vector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869680" y="2011680"/>
            <a:ext cx="2651760" cy="82296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61120" y="205740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[0-49] OCR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20" y="233172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E0E0E0"/>
                </a:solidFill>
                <a:latin typeface="Calibri"/>
              </a:defRPr>
            </a:pPr>
            <a:r>
              <a:t>0.82, 0.75, 0.68, ...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869680" y="2926080"/>
            <a:ext cx="2651760" cy="82296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61120" y="297180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[50-79] UI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61120" y="324612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E0E0E0"/>
                </a:solidFill>
                <a:latin typeface="Calibri"/>
              </a:defRPr>
            </a:pPr>
            <a:r>
              <a:t>0.0, 0.0, ..., 0.8, ...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69680" y="3840480"/>
            <a:ext cx="2651760" cy="82296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61120" y="388620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[80-119] Visual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61120" y="416052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E0E0E0"/>
                </a:solidFill>
                <a:latin typeface="Calibri"/>
              </a:defRPr>
            </a:pPr>
            <a:r>
              <a:t>0.8, 0.1, 0.05, ...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869680" y="4754880"/>
            <a:ext cx="2651760" cy="82296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61120" y="480060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[120-149] Interact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61120" y="507492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E0E0E0"/>
                </a:solidFill>
                <a:latin typeface="Calibri"/>
              </a:defRPr>
            </a:pPr>
            <a:r>
              <a:t>0.29, 0.14, ...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0" y="576072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CCCCC"/>
                </a:solidFill>
                <a:latin typeface="Calibri"/>
              </a:defRPr>
            </a:pPr>
            <a:r>
              <a:t>Fed to all 14 classifiers 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D2D2D"/>
                </a:solidFill>
                <a:latin typeface="Calibri"/>
              </a:defRPr>
            </a:pPr>
            <a:r>
              <a:t>Step 3-5: Classify, Compare, Display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1828800" cy="4572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4320" y="1280160"/>
            <a:ext cx="2011680" cy="548640"/>
          </a:xfrm>
          <a:prstGeom prst="round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150-dim vector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13716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2D2D2D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1097280"/>
            <a:ext cx="4114800" cy="457200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0" y="11887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14 Classifiers (3 Tiers)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0" y="1645920"/>
            <a:ext cx="3749039" cy="27432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Tier 1 — Classical 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1965960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D2D2D"/>
                </a:solidFill>
                <a:latin typeface="Calibri"/>
              </a:defRPr>
            </a:pPr>
            <a:r>
              <a:t>SVM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196596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7ACC"/>
                </a:solidFill>
                <a:latin typeface="Calibri"/>
              </a:defRPr>
            </a:pPr>
            <a:r>
              <a:t>→ git_ops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1965960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2D2D2D"/>
                </a:solidFill>
                <a:latin typeface="Calibri"/>
              </a:defRPr>
            </a:pPr>
            <a:r>
              <a:t>72%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2121408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D2D2D"/>
                </a:solidFill>
                <a:latin typeface="Calibri"/>
              </a:defRPr>
            </a:pPr>
            <a:r>
              <a:t>Naive Bayes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121408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7ACC"/>
                </a:solidFill>
                <a:latin typeface="Calibri"/>
              </a:defRPr>
            </a:pPr>
            <a:r>
              <a:t>→ other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2121408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2D2D2D"/>
                </a:solidFill>
                <a:latin typeface="Calibri"/>
              </a:defRPr>
            </a:pPr>
            <a:r>
              <a:t>45%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276856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D2D2D"/>
                </a:solidFill>
                <a:latin typeface="Calibri"/>
              </a:defRPr>
            </a:pPr>
            <a:r>
              <a:t>Decision Tree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2276856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7ACC"/>
                </a:solidFill>
                <a:latin typeface="Calibri"/>
              </a:defRPr>
            </a:pPr>
            <a:r>
              <a:t>→ git_ops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2276856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2D2D2D"/>
                </a:solidFill>
                <a:latin typeface="Calibri"/>
              </a:defRPr>
            </a:pPr>
            <a:r>
              <a:t>78%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24323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D2D2D"/>
                </a:solidFill>
                <a:latin typeface="Calibri"/>
              </a:defRPr>
            </a:pPr>
            <a:r>
              <a:t>Random Forest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2432304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7ACC"/>
                </a:solidFill>
                <a:latin typeface="Calibri"/>
              </a:defRPr>
            </a:pPr>
            <a:r>
              <a:t>→ git_ops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2432304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2D2D2D"/>
                </a:solidFill>
                <a:latin typeface="Calibri"/>
              </a:defRPr>
            </a:pPr>
            <a:r>
              <a:t>89%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258775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D2D2D"/>
                </a:solidFill>
                <a:latin typeface="Calibri"/>
              </a:defRPr>
            </a:pPr>
            <a:r>
              <a:t>KNN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258775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7ACC"/>
                </a:solidFill>
                <a:latin typeface="Calibri"/>
              </a:defRPr>
            </a:pPr>
            <a:r>
              <a:t>→ git_ops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258775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2D2D2D"/>
                </a:solidFill>
                <a:latin typeface="Calibri"/>
              </a:defRPr>
            </a:pPr>
            <a:r>
              <a:t>70%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2743200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D2D2D"/>
                </a:solidFill>
                <a:latin typeface="Calibri"/>
              </a:defRPr>
            </a:pPr>
            <a:r>
              <a:t>XGBoost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274320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7ACC"/>
                </a:solidFill>
                <a:latin typeface="Calibri"/>
              </a:defRPr>
            </a:pPr>
            <a:r>
              <a:t>→ git_ops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03520" y="2743200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2D2D2D"/>
                </a:solidFill>
                <a:latin typeface="Calibri"/>
              </a:defRPr>
            </a:pPr>
            <a:r>
              <a:t>91%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17520" y="2898648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D2D2D"/>
                </a:solidFill>
                <a:latin typeface="Calibri"/>
              </a:defRPr>
            </a:pPr>
            <a:r>
              <a:t>LightGBM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2898648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7ACC"/>
                </a:solidFill>
                <a:latin typeface="Calibri"/>
              </a:defRPr>
            </a:pPr>
            <a:r>
              <a:t>→ git_ops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03520" y="2898648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2D2D2D"/>
                </a:solidFill>
                <a:latin typeface="Calibri"/>
              </a:defRPr>
            </a:pPr>
            <a:r>
              <a:t>86%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926080" y="3108960"/>
            <a:ext cx="3749039" cy="27432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Tier 2 — Deep Learning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17520" y="3429000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D2D2D"/>
                </a:solidFill>
                <a:latin typeface="Calibri"/>
              </a:defRPr>
            </a:pPr>
            <a:r>
              <a:t>MLP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0" y="342900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F42C1"/>
                </a:solidFill>
                <a:latin typeface="Calibri"/>
              </a:defRPr>
            </a:pPr>
            <a:r>
              <a:t>→ git_ops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03520" y="3429000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2D2D2D"/>
                </a:solidFill>
                <a:latin typeface="Calibri"/>
              </a:defRPr>
            </a:pPr>
            <a:r>
              <a:t>68%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17520" y="3584448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D2D2D"/>
                </a:solidFill>
                <a:latin typeface="Calibri"/>
              </a:defRPr>
            </a:pPr>
            <a:r>
              <a:t>CNN-1D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0" y="3584448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F42C1"/>
                </a:solidFill>
                <a:latin typeface="Calibri"/>
              </a:defRPr>
            </a:pPr>
            <a:r>
              <a:t>→ git_ops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03520" y="3584448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2D2D2D"/>
                </a:solidFill>
                <a:latin typeface="Calibri"/>
              </a:defRPr>
            </a:pPr>
            <a:r>
              <a:t>74%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17520" y="3739896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D2D2D"/>
                </a:solidFill>
                <a:latin typeface="Calibri"/>
              </a:defRPr>
            </a:pPr>
            <a:r>
              <a:t>LSTM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80" y="3739896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F42C1"/>
                </a:solidFill>
                <a:latin typeface="Calibri"/>
              </a:defRPr>
            </a:pPr>
            <a:r>
              <a:t>→ coding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03520" y="3739896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2D2D2D"/>
                </a:solidFill>
                <a:latin typeface="Calibri"/>
              </a:defRPr>
            </a:pPr>
            <a:r>
              <a:t>65%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017520" y="389534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D2D2D"/>
                </a:solidFill>
                <a:latin typeface="Calibri"/>
              </a:defRPr>
            </a:pPr>
            <a:r>
              <a:t>Transformer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97680" y="3895344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F42C1"/>
                </a:solidFill>
                <a:latin typeface="Calibri"/>
              </a:defRPr>
            </a:pPr>
            <a:r>
              <a:t>→ git_ops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03520" y="3895344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2D2D2D"/>
                </a:solidFill>
                <a:latin typeface="Calibri"/>
              </a:defRPr>
            </a:pPr>
            <a:r>
              <a:t>71%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926080" y="4160520"/>
            <a:ext cx="3749039" cy="27432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Tier 3 — Ensemble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17520" y="4480560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D2D2D"/>
                </a:solidFill>
                <a:latin typeface="Calibri"/>
              </a:defRPr>
            </a:pPr>
            <a:r>
              <a:t>Voting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80" y="448056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8A745"/>
                </a:solidFill>
                <a:latin typeface="Calibri"/>
              </a:defRPr>
            </a:pPr>
            <a:r>
              <a:t>→ git_ops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03520" y="4480560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2D2D2D"/>
                </a:solidFill>
                <a:latin typeface="Calibri"/>
              </a:defRPr>
            </a:pPr>
            <a:r>
              <a:t>82%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17520" y="4636008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D2D2D"/>
                </a:solidFill>
                <a:latin typeface="Calibri"/>
              </a:defRPr>
            </a:pPr>
            <a:r>
              <a:t>Stacking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97680" y="4636008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8A745"/>
                </a:solidFill>
                <a:latin typeface="Calibri"/>
              </a:defRPr>
            </a:pPr>
            <a:r>
              <a:t>→ git_ops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303520" y="4636008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2D2D2D"/>
                </a:solidFill>
                <a:latin typeface="Calibri"/>
              </a:defRPr>
            </a:pPr>
            <a:r>
              <a:t>85%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017520" y="4791456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D2D2D"/>
                </a:solidFill>
                <a:latin typeface="Calibri"/>
              </a:defRPr>
            </a:pPr>
            <a:r>
              <a:t>Late Fusion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97680" y="4791456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8A745"/>
                </a:solidFill>
                <a:latin typeface="Calibri"/>
              </a:defRPr>
            </a:pPr>
            <a:r>
              <a:t>→ git_ops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03520" y="4791456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2D2D2D"/>
                </a:solidFill>
                <a:latin typeface="Calibri"/>
              </a:defRPr>
            </a:pPr>
            <a:r>
              <a:t>83%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0" y="2743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2D2D2D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315200" y="1280160"/>
            <a:ext cx="4389120" cy="109728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498079" y="137160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Best Model: XGBoost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98079" y="1691640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"git_operations" — 91% confidence</a:t>
            </a:r>
            <a:br/>
            <a:r>
              <a:t>Latency: 59ms per prediction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315200" y="2651760"/>
            <a:ext cx="4389120" cy="320040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98079" y="27432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D2D"/>
                </a:solidFill>
                <a:latin typeface="Calibri"/>
              </a:defRPr>
            </a:pPr>
            <a:r>
              <a:t>Results Displayed to User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498079" y="310896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2D2D"/>
                </a:solidFill>
                <a:latin typeface="Calibri"/>
              </a:defRPr>
            </a:pPr>
            <a:r>
              <a:t>Model Comparison Table: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498079" y="3383280"/>
            <a:ext cx="4023360" cy="18288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589520" y="3383280"/>
            <a:ext cx="27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Calibri"/>
              </a:defRPr>
            </a:pPr>
            <a:r>
              <a:t># 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863840" y="3383280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FFFFFF"/>
                </a:solidFill>
                <a:latin typeface="Calibri"/>
              </a:defRPr>
            </a:pPr>
            <a:r>
              <a:t>Model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144000" y="3383280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Calibri"/>
              </a:defRPr>
            </a:pPr>
            <a:r>
              <a:t>Tier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692640" y="338328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Calibri"/>
              </a:defRPr>
            </a:pPr>
            <a:r>
              <a:t>Confidence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515600" y="338328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Calibri"/>
              </a:defRPr>
            </a:pPr>
            <a:r>
              <a:t>Latency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498079" y="3584448"/>
            <a:ext cx="4023360" cy="182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589520" y="3584448"/>
            <a:ext cx="27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2D2D2D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863840" y="3584448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2D2D2D"/>
                </a:solidFill>
                <a:latin typeface="Calibri"/>
              </a:defRPr>
            </a:pPr>
            <a:r>
              <a:t>XGBoost ★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144000" y="3584448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2D2D2D"/>
                </a:solidFill>
                <a:latin typeface="Calibri"/>
              </a:defRPr>
            </a:pPr>
            <a:r>
              <a:t>T1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692640" y="358444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2D2D2D"/>
                </a:solidFill>
                <a:latin typeface="Calibri"/>
              </a:defRPr>
            </a:pPr>
            <a:r>
              <a:t>91%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515600" y="358444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2D2D2D"/>
                </a:solidFill>
                <a:latin typeface="Calibri"/>
              </a:defRPr>
            </a:pPr>
            <a:r>
              <a:t>59ms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498079" y="3785616"/>
            <a:ext cx="4023360" cy="182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589520" y="3785616"/>
            <a:ext cx="27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2D2D2D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863840" y="3785616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2D2D2D"/>
                </a:solidFill>
                <a:latin typeface="Calibri"/>
              </a:defRPr>
            </a:pPr>
            <a:r>
              <a:t>Random Forest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144000" y="3785616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2D2D2D"/>
                </a:solidFill>
                <a:latin typeface="Calibri"/>
              </a:defRPr>
            </a:pPr>
            <a:r>
              <a:t>T1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692640" y="3785616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2D2D2D"/>
                </a:solidFill>
                <a:latin typeface="Calibri"/>
              </a:defRPr>
            </a:pPr>
            <a:r>
              <a:t>89%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515600" y="3785616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2D2D2D"/>
                </a:solidFill>
                <a:latin typeface="Calibri"/>
              </a:defRPr>
            </a:pPr>
            <a:r>
              <a:t>103ms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7498079" y="3986784"/>
            <a:ext cx="4023360" cy="182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589520" y="3986784"/>
            <a:ext cx="27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2D2D2D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63840" y="3986784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2D2D2D"/>
                </a:solidFill>
                <a:latin typeface="Calibri"/>
              </a:defRPr>
            </a:pPr>
            <a:r>
              <a:t>LightGBM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144000" y="3986784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2D2D2D"/>
                </a:solidFill>
                <a:latin typeface="Calibri"/>
              </a:defRPr>
            </a:pPr>
            <a:r>
              <a:t>T1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692640" y="3986784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2D2D2D"/>
                </a:solidFill>
                <a:latin typeface="Calibri"/>
              </a:defRPr>
            </a:pPr>
            <a:r>
              <a:t>86%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515600" y="3986784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2D2D2D"/>
                </a:solidFill>
                <a:latin typeface="Calibri"/>
              </a:defRPr>
            </a:pPr>
            <a:r>
              <a:t>281ms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7498079" y="4187952"/>
            <a:ext cx="4023360" cy="182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589520" y="4187952"/>
            <a:ext cx="27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2D2D2D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863840" y="418795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2D2D2D"/>
                </a:solidFill>
                <a:latin typeface="Calibri"/>
              </a:defRPr>
            </a:pPr>
            <a:r>
              <a:t>Stacking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144000" y="4187952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2D2D2D"/>
                </a:solidFill>
                <a:latin typeface="Calibri"/>
              </a:defRPr>
            </a:pPr>
            <a:r>
              <a:t>T3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692640" y="4187952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2D2D2D"/>
                </a:solidFill>
                <a:latin typeface="Calibri"/>
              </a:defRPr>
            </a:pPr>
            <a:r>
              <a:t>85%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515600" y="4187952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2D2D2D"/>
                </a:solidFill>
                <a:latin typeface="Calibri"/>
              </a:defRPr>
            </a:pPr>
            <a:r>
              <a:t>6509ms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7498079" y="4389120"/>
            <a:ext cx="4023360" cy="182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589520" y="4389120"/>
            <a:ext cx="27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2D2D2D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863840" y="4389120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2D2D2D"/>
                </a:solidFill>
                <a:latin typeface="Calibri"/>
              </a:defRPr>
            </a:pPr>
            <a:r>
              <a:t>Late Fusion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144000" y="4389120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2D2D2D"/>
                </a:solidFill>
                <a:latin typeface="Calibri"/>
              </a:defRPr>
            </a:pPr>
            <a:r>
              <a:t>T3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692640" y="438912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2D2D2D"/>
                </a:solidFill>
                <a:latin typeface="Calibri"/>
              </a:defRPr>
            </a:pPr>
            <a:r>
              <a:t>83%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515600" y="438912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2D2D2D"/>
                </a:solidFill>
                <a:latin typeface="Calibri"/>
              </a:defRPr>
            </a:pPr>
            <a:r>
              <a:t>2705ms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498079" y="466344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2D2D"/>
                </a:solidFill>
                <a:latin typeface="Calibri"/>
              </a:defRPr>
            </a:pPr>
            <a:r>
              <a:t>Workflow Timeline: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589520" y="4892040"/>
            <a:ext cx="3931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D2D2D"/>
                </a:solidFill>
                <a:latin typeface="Calibri"/>
              </a:defRPr>
            </a:pPr>
            <a:r>
              <a:t>1. Opened the code editor (0:00-0:07)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589520" y="5038344"/>
            <a:ext cx="3931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D2D2D"/>
                </a:solidFill>
                <a:latin typeface="Calibri"/>
              </a:defRPr>
            </a:pPr>
            <a:r>
              <a:t>2. Opened the integrated terminal (0:07-0:16)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589520" y="5184648"/>
            <a:ext cx="3931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D2D2D"/>
                </a:solidFill>
                <a:latin typeface="Calibri"/>
              </a:defRPr>
            </a:pPr>
            <a:r>
              <a:t>3. Ran shell command: git pull (0:16-0:29)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589520" y="5330952"/>
            <a:ext cx="3931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D2D2D"/>
                </a:solidFill>
                <a:latin typeface="Calibri"/>
              </a:defRPr>
            </a:pPr>
            <a:r>
              <a:t>4. Installed dependencies: npm install (0:29-0:58)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589520" y="5477256"/>
            <a:ext cx="3931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D2D2D"/>
                </a:solidFill>
                <a:latin typeface="Calibri"/>
              </a:defRPr>
            </a:pPr>
            <a:r>
              <a:t>5. Opened a browser tab (0:58-1:12)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