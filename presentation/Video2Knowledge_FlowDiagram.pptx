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End-to-End Video Analysis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What happens when a user uploads a screen recording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  <a:latin typeface="Calibri"/>
              </a:defRPr>
            </a:pPr>
            <a:r>
              <a:t>Example: 53-second recording of "git pull" then "npm install" in VSCode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High-Level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286000" cy="9144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User Uploads</a:t>
            </a:r>
            <a:br/>
            <a:r>
              <a:t>video.mp4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http://localhost:5173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F7C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1371600"/>
            <a:ext cx="2011680" cy="9144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Frontend</a:t>
            </a:r>
            <a:br/>
            <a:r>
              <a:t>React + Vite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377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Progress bar + results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F7C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0116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Calibri"/>
              </a:defRPr>
            </a:pPr>
            <a:r>
              <a:t>POST /api/v1</a:t>
            </a:r>
            <a:br/>
            <a:r>
              <a:t>/jobs/analyze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1097280"/>
            <a:ext cx="5943600" cy="50292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Calibri"/>
              </a:defRPr>
            </a:pPr>
            <a:r>
              <a:t>Backend (FastAPI)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1645920"/>
            <a:ext cx="54864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35040" y="1691640"/>
            <a:ext cx="164592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Step 1: Segment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10312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Seg 1: 0:00-0:07  Opening editor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2311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Seg 2: 0:07-0:16  Opening terminal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35915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Seg 3: 0:16-0:29  git pull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4871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Seg 4: 0:29-0:58  npm install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61518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Seg 5: 0:58-1:12  Open browser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2743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Seg 6: 1:12-1:35  Check localhost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287121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Seg 7: 1:35-1:47  Verify app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01168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7AC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1691640"/>
            <a:ext cx="2560320" cy="32004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Step 2: Extract Features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78240" y="2103120"/>
            <a:ext cx="1097280" cy="201168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EasyOCR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21240" y="21031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50-dim: "git pull origin main"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78240" y="2331720"/>
            <a:ext cx="1097280" cy="201168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YOLOv8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21240" y="23317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30-dim: terminal, tab, sidebar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78240" y="2560320"/>
            <a:ext cx="1097280" cy="201168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OpenCV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25603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40-dim: dark theme, edges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78240" y="2788920"/>
            <a:ext cx="1097280" cy="201168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Actions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27889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30-dim: typing, clicks, Enter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3063240"/>
            <a:ext cx="2560320" cy="22860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= 150-dim feature vector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0" y="3474720"/>
            <a:ext cx="54864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035040" y="3520440"/>
            <a:ext cx="1645920" cy="3200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Step 3: Classify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26480" y="3931920"/>
            <a:ext cx="1188720" cy="201168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t>SVM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3931920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→ git_ops 72%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3931920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CCCCC"/>
                </a:solidFill>
                <a:latin typeface="Calibri"/>
              </a:defRPr>
            </a:pPr>
            <a:r>
              <a:t>Tier 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26480" y="4142232"/>
            <a:ext cx="1188720" cy="201168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t>Random Forest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4142232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→ git_ops 89%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4142232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CCCCC"/>
                </a:solidFill>
                <a:latin typeface="Calibri"/>
              </a:defRPr>
            </a:pPr>
            <a:r>
              <a:t>Tier 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26480" y="4352544"/>
            <a:ext cx="1188720" cy="201168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t>XGBoost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4352544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→ git_ops 91%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435254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CCCCC"/>
                </a:solidFill>
                <a:latin typeface="Calibri"/>
              </a:defRPr>
            </a:pPr>
            <a:r>
              <a:t>Tier 1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26480" y="4562856"/>
            <a:ext cx="1188720" cy="201168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t>LSTM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06640" y="456285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→ coding 65%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4562856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CCCCC"/>
                </a:solidFill>
                <a:latin typeface="Calibri"/>
              </a:defRPr>
            </a:pPr>
            <a:r>
              <a:t>Tier 2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26480" y="4773168"/>
            <a:ext cx="1188720" cy="201168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t>Stacking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06640" y="4773168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→ git_ops 85%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4773168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CCCCC"/>
                </a:solidFill>
                <a:latin typeface="Calibri"/>
              </a:defRPr>
            </a:pPr>
            <a:r>
              <a:t>Tier 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0" y="3931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alibri"/>
              </a:defRPr>
            </a:pPr>
            <a:r>
              <a:t>... 14 models total</a:t>
            </a:r>
            <a:br/>
            <a:r>
              <a:t>All run on the same</a:t>
            </a:r>
            <a:br/>
            <a:r>
              <a:t>150-dim vector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943600" y="5120640"/>
            <a:ext cx="256032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035040" y="5166360"/>
            <a:ext cx="1828800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Step 4: Best Model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26480" y="5486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alibri"/>
              </a:defRPr>
            </a:pPr>
            <a:r>
              <a:t>"git_operations" 91%</a:t>
            </a:r>
            <a:br/>
            <a:r>
              <a:t>(XGBoost)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6800" y="5120640"/>
            <a:ext cx="274320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778240" y="5166360"/>
            <a:ext cx="2286000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Step 5: Workflow Description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54864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"Ran a shell command:</a:t>
            </a:r>
            <a:br/>
            <a:r>
              <a:t>git pull origin main"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00400" y="2743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JSON response ←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74320" y="3017520"/>
            <a:ext cx="5029200" cy="34747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3108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8A745"/>
                </a:solidFill>
                <a:latin typeface="Calibri"/>
              </a:defRPr>
            </a:pPr>
            <a:r>
              <a:t>ANALYSIS COMPLETE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3429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C00"/>
                </a:solidFill>
                <a:latin typeface="Calibri"/>
              </a:defRPr>
            </a:pPr>
            <a:r>
              <a:t>video.mp4 — 1:47 — 7 steps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794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Model Comparison — 14 Classifiers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7200" y="4069080"/>
            <a:ext cx="4572000" cy="201168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8640" y="406908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11680" y="4069080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Tier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43200" y="406908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Conf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0" y="406908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Latency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7200" y="4279392"/>
            <a:ext cx="4572000" cy="2011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8640" y="427939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F7C00"/>
                </a:solidFill>
                <a:latin typeface="Calibri"/>
              </a:defRPr>
            </a:pPr>
            <a:r>
              <a:t>XGBoost ★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11680" y="4279392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T1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43200" y="42793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91%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57600" y="42793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59ms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4489704"/>
            <a:ext cx="4572000" cy="2011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8640" y="448970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11680" y="448970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T1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743200" y="448970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89%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57600" y="448970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103ms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57200" y="4700016"/>
            <a:ext cx="4572000" cy="2011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40" y="470001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Stacking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11680" y="4700016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T3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743200" y="470001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85%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57600" y="470001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6508ms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720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Workflow Steps: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5212080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1. Opened the code editor (0:00-0:07)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8640" y="5358384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2. Opened the integrated terminal (0:07-0:16)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8640" y="5504688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3. Ran shell command: git pull (0:16-0:29)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8640" y="5650992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4. Installed dependencies: npm install (0:29-0:58)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8640" y="5797296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5. Opened a browser tab (0:58-1:12)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8640" y="5943600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6. Checked localhost (1:12-1:35)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6089904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7. Verified the app (1:35-1:47)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Step 2 Deep Dive: Feature Extraction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Segment 3 keyframe — terminal showing "git pull origin main"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63040"/>
            <a:ext cx="3657600" cy="22860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5448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0">
                <a:solidFill>
                  <a:srgbClr val="28A745"/>
                </a:solidFill>
                <a:latin typeface="Calibri"/>
              </a:defRPr>
            </a:pPr>
            <a:r>
              <a:t>$ git pull origin main</a:t>
            </a:r>
          </a:p>
          <a:p>
            <a:pPr algn="l">
              <a:spcAft>
                <a:spcPts val="600"/>
              </a:spcAft>
              <a:defRPr sz="1100" b="0">
                <a:solidFill>
                  <a:srgbClr val="28A745"/>
                </a:solidFill>
                <a:latin typeface="Calibri"/>
              </a:defRPr>
            </a:pPr>
            <a:r>
              <a:t>Already up to date.</a:t>
            </a:r>
          </a:p>
          <a:p>
            <a:pPr algn="l">
              <a:spcAft>
                <a:spcPts val="600"/>
              </a:spcAft>
              <a:defRPr sz="1100" b="0">
                <a:solidFill>
                  <a:srgbClr val="28A745"/>
                </a:solidFill>
                <a:latin typeface="Calibri"/>
              </a:defRPr>
            </a:pPr>
            <a:r>
              <a:t>$ npm install</a:t>
            </a:r>
          </a:p>
          <a:p>
            <a:pPr algn="l">
              <a:spcAft>
                <a:spcPts val="600"/>
              </a:spcAft>
              <a:defRPr sz="1100" b="0">
                <a:solidFill>
                  <a:srgbClr val="28A745"/>
                </a:solidFill>
                <a:latin typeface="Calibri"/>
              </a:defRPr>
            </a:pPr>
            <a:r>
              <a:t>added 347 packages in 12s</a:t>
            </a:r>
          </a:p>
          <a:p>
            <a:pPr algn="l">
              <a:spcAft>
                <a:spcPts val="600"/>
              </a:spcAft>
              <a:defRPr sz="1100" b="0">
                <a:solidFill>
                  <a:srgbClr val="28A745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100" b="0">
                <a:solidFill>
                  <a:srgbClr val="28A745"/>
                </a:solidFill>
                <a:latin typeface="Calibri"/>
              </a:defRPr>
            </a:pPr>
            <a:r>
              <a:t>ubuntu@dev:~/project$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40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Calibri"/>
              </a:defRPr>
            </a:pPr>
            <a:r>
              <a:t>Video keyframe (simulated terminal)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F7C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463040"/>
            <a:ext cx="3383280" cy="100584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46320" y="1508760"/>
            <a:ext cx="2011680" cy="2743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EasyOCR → TF-IDF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1508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alibri"/>
              </a:defRPr>
            </a:pPr>
            <a:r>
              <a:t>50 dims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18288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800" b="0">
                <a:solidFill>
                  <a:srgbClr val="EF7C00"/>
                </a:solidFill>
                <a:latin typeface="Calibri"/>
              </a:defRPr>
            </a:pPr>
            <a:r>
              <a:t>Reads: "git pull origin main Already up to date"</a:t>
            </a:r>
          </a:p>
          <a:p>
            <a:pPr algn="l">
              <a:spcAft>
                <a:spcPts val="600"/>
              </a:spcAft>
              <a:defRPr sz="800" b="0">
                <a:solidFill>
                  <a:srgbClr val="EF7C00"/>
                </a:solidFill>
                <a:latin typeface="Calibri"/>
              </a:defRPr>
            </a:pPr>
            <a:r>
              <a:t>TF-IDF: git→0.82, pull→0.75, install→0.68, npm→0.71</a:t>
            </a:r>
          </a:p>
          <a:p>
            <a:pPr algn="l">
              <a:spcAft>
                <a:spcPts val="600"/>
              </a:spcAft>
              <a:defRPr sz="800" b="0">
                <a:solidFill>
                  <a:srgbClr val="EF7C00"/>
                </a:solidFill>
                <a:latin typeface="Calibri"/>
              </a:defRPr>
            </a:pPr>
            <a:r>
              <a:t>Output: [0.82, 0.75, 0.68, 0.71, 0.01, 0.0, ...]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2606040"/>
            <a:ext cx="3383280" cy="100584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46320" y="2651760"/>
            <a:ext cx="2011680" cy="27432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YOLOv8 nano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2651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30 dims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9718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800" b="0">
                <a:solidFill>
                  <a:srgbClr val="EF7C00"/>
                </a:solidFill>
                <a:latin typeface="Calibri"/>
              </a:defRPr>
            </a:pPr>
            <a:r>
              <a:t>Detects: terminal(1), tab(3), sidebar(1)</a:t>
            </a:r>
          </a:p>
          <a:p>
            <a:pPr algn="l">
              <a:spcAft>
                <a:spcPts val="600"/>
              </a:spcAft>
              <a:defRPr sz="800" b="0">
                <a:solidFill>
                  <a:srgbClr val="EF7C00"/>
                </a:solidFill>
                <a:latin typeface="Calibri"/>
              </a:defRPr>
            </a:pPr>
            <a:r>
              <a:t>Layout: element positions, density, confidence</a:t>
            </a:r>
          </a:p>
          <a:p>
            <a:pPr algn="l">
              <a:spcAft>
                <a:spcPts val="600"/>
              </a:spcAft>
              <a:defRPr sz="800" b="0">
                <a:solidFill>
                  <a:srgbClr val="EF7C00"/>
                </a:solidFill>
                <a:latin typeface="Calibri"/>
              </a:defRPr>
            </a:pPr>
            <a:r>
              <a:t>Complexity: has_terminal=1, has_sidebar=1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3749039"/>
            <a:ext cx="3383280" cy="1005840"/>
          </a:xfrm>
          <a:prstGeom prst="roundRect">
            <a:avLst/>
          </a:prstGeom>
          <a:solidFill>
            <a:srgbClr val="F0E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846320" y="3794760"/>
            <a:ext cx="2011680" cy="2743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OpenCV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3794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F42C1"/>
                </a:solidFill>
                <a:latin typeface="Calibri"/>
              </a:defRPr>
            </a:pPr>
            <a:r>
              <a:t>40 dims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1148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800" b="0">
                <a:solidFill>
                  <a:srgbClr val="EF7C00"/>
                </a:solidFill>
                <a:latin typeface="Calibri"/>
              </a:defRPr>
            </a:pPr>
            <a:r>
              <a:t>Color: dark theme (low RGB bins)</a:t>
            </a:r>
          </a:p>
          <a:p>
            <a:pPr algn="l">
              <a:spcAft>
                <a:spcPts val="600"/>
              </a:spcAft>
              <a:defRPr sz="800" b="0">
                <a:solidFill>
                  <a:srgbClr val="EF7C00"/>
                </a:solidFill>
                <a:latin typeface="Calibri"/>
              </a:defRPr>
            </a:pPr>
            <a:r>
              <a:t>Edges: high density (text + UI borders)</a:t>
            </a:r>
          </a:p>
          <a:p>
            <a:pPr algn="l">
              <a:spcAft>
                <a:spcPts val="600"/>
              </a:spcAft>
              <a:defRPr sz="800" b="0">
                <a:solidFill>
                  <a:srgbClr val="EF7C00"/>
                </a:solidFill>
                <a:latin typeface="Calibri"/>
              </a:defRPr>
            </a:pPr>
            <a:r>
              <a:t>Texture: regular line patterns (code)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4892040"/>
            <a:ext cx="3383280" cy="100584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846320" y="4937760"/>
            <a:ext cx="2011680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Action Log Parser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4937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A745"/>
                </a:solidFill>
                <a:latin typeface="Calibri"/>
              </a:defRPr>
            </a:pPr>
            <a:r>
              <a:t>30 dims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52578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800" b="0">
                <a:solidFill>
                  <a:srgbClr val="EF7C00"/>
                </a:solidFill>
                <a:latin typeface="Calibri"/>
              </a:defRPr>
            </a:pPr>
            <a:r>
              <a:t>Actions: TYPING("git pull"), PRESS(Enter), CLICK</a:t>
            </a:r>
          </a:p>
          <a:p>
            <a:pPr algn="l">
              <a:spcAft>
                <a:spcPts val="600"/>
              </a:spcAft>
              <a:defRPr sz="800" b="0">
                <a:solidFill>
                  <a:srgbClr val="EF7C00"/>
                </a:solidFill>
                <a:latin typeface="Calibri"/>
              </a:defRPr>
            </a:pPr>
            <a:r>
              <a:t>Temporal: 7 actions, 0.58 actions/sec</a:t>
            </a:r>
          </a:p>
          <a:p>
            <a:pPr algn="l">
              <a:spcAft>
                <a:spcPts val="600"/>
              </a:spcAft>
              <a:defRPr sz="800" b="0">
                <a:solidFill>
                  <a:srgbClr val="EF7C00"/>
                </a:solidFill>
                <a:latin typeface="Calibri"/>
              </a:defRPr>
            </a:pPr>
            <a:r>
              <a:t>Typing: 25 chars, speed=3.5 chars/sec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43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F7C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1463040"/>
            <a:ext cx="3017520" cy="457200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15544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150-dim Feature Vector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69680" y="2011680"/>
            <a:ext cx="2651760" cy="8229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0" y="205740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[0-49] OCR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23317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0E0E0"/>
                </a:solidFill>
                <a:latin typeface="Calibri"/>
              </a:defRPr>
            </a:pPr>
            <a:r>
              <a:t>0.82, 0.75, 0.68, ...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69680" y="2926080"/>
            <a:ext cx="2651760" cy="82296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0" y="297180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[50-79] UI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0" y="32461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0E0E0"/>
                </a:solidFill>
                <a:latin typeface="Calibri"/>
              </a:defRPr>
            </a:pPr>
            <a:r>
              <a:t>0.0, 0.0, ..., 0.8, ...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69680" y="3840480"/>
            <a:ext cx="2651760" cy="8229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61120" y="388620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[80-119] Visual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41605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0E0E0"/>
                </a:solidFill>
                <a:latin typeface="Calibri"/>
              </a:defRPr>
            </a:pPr>
            <a:r>
              <a:t>0.8, 0.1, 0.05, ...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69680" y="4754880"/>
            <a:ext cx="2651760" cy="8229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61120" y="480060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[120-149] Interact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50749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0E0E0"/>
                </a:solidFill>
                <a:latin typeface="Calibri"/>
              </a:defRPr>
            </a:pPr>
            <a:r>
              <a:t>0.29, 0.14, ...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57607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Calibri"/>
              </a:defRPr>
            </a:pPr>
            <a:r>
              <a:t>Fed to all 14 classifiers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Step 3-5: Classify, Compare, Display 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280160"/>
            <a:ext cx="2011680" cy="54864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150-dim vector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3716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F7C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097280"/>
            <a:ext cx="411480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7C00"/>
                </a:solidFill>
                <a:latin typeface="Calibri"/>
              </a:defRPr>
            </a:pPr>
            <a:r>
              <a:t>14 Classifiers (3 Tiers)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1645920"/>
            <a:ext cx="3749039" cy="2743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Tier 1 — Classical 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196596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SVM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96596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7ACC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1965960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F7C00"/>
                </a:solidFill>
                <a:latin typeface="Calibri"/>
              </a:defRPr>
            </a:pPr>
            <a:r>
              <a:t>72%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212140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Naive Bayes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121408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7ACC"/>
                </a:solidFill>
                <a:latin typeface="Calibri"/>
              </a:defRPr>
            </a:pPr>
            <a:r>
              <a:t>→ other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121408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F7C00"/>
                </a:solidFill>
                <a:latin typeface="Calibri"/>
              </a:defRPr>
            </a:pPr>
            <a:r>
              <a:t>45%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276856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Decision Tree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2276856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7ACC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2276856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F7C00"/>
                </a:solidFill>
                <a:latin typeface="Calibri"/>
              </a:defRPr>
            </a:pPr>
            <a:r>
              <a:t>78%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24323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32304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7ACC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2432304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F7C00"/>
                </a:solidFill>
                <a:latin typeface="Calibri"/>
              </a:defRPr>
            </a:pPr>
            <a:r>
              <a:t>89%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258775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KNN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258775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7ACC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258775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F7C00"/>
                </a:solidFill>
                <a:latin typeface="Calibri"/>
              </a:defRPr>
            </a:pPr>
            <a:r>
              <a:t>70%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274320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274320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7ACC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743200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F7C00"/>
                </a:solidFill>
                <a:latin typeface="Calibri"/>
              </a:defRPr>
            </a:pPr>
            <a:r>
              <a:t>91%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289864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2898648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7ACC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2898648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F7C00"/>
                </a:solidFill>
                <a:latin typeface="Calibri"/>
              </a:defRPr>
            </a:pPr>
            <a:r>
              <a:t>86%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26080" y="3108960"/>
            <a:ext cx="3749039" cy="2743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Tier 2 — Deep Learning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342900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MLP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342900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F42C1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03520" y="3429000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F7C00"/>
                </a:solidFill>
                <a:latin typeface="Calibri"/>
              </a:defRPr>
            </a:pPr>
            <a:r>
              <a:t>68%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358444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CNN-1D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3584448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F42C1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584448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F7C00"/>
                </a:solidFill>
                <a:latin typeface="Calibri"/>
              </a:defRPr>
            </a:pPr>
            <a:r>
              <a:t>74%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3739896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LSTM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3739896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F42C1"/>
                </a:solidFill>
                <a:latin typeface="Calibri"/>
              </a:defRPr>
            </a:pPr>
            <a:r>
              <a:t>→ coding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03520" y="3739896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F7C00"/>
                </a:solidFill>
                <a:latin typeface="Calibri"/>
              </a:defRPr>
            </a:pPr>
            <a:r>
              <a:t>65%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7520" y="389534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Transformer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97680" y="3895344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F42C1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3895344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F7C00"/>
                </a:solidFill>
                <a:latin typeface="Calibri"/>
              </a:defRPr>
            </a:pPr>
            <a:r>
              <a:t>71%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926080" y="4160520"/>
            <a:ext cx="3749039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Tier 3 — Ensemble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17520" y="448056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Voting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80" y="448056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8A745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03520" y="4480560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F7C00"/>
                </a:solidFill>
                <a:latin typeface="Calibri"/>
              </a:defRPr>
            </a:pPr>
            <a:r>
              <a:t>82%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17520" y="4636008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Stacking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80" y="4636008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8A745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3520" y="4636008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F7C00"/>
                </a:solidFill>
                <a:latin typeface="Calibri"/>
              </a:defRPr>
            </a:pPr>
            <a:r>
              <a:t>85%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17520" y="4791456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Late Fusion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97680" y="4791456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8A745"/>
                </a:solidFill>
                <a:latin typeface="Calibri"/>
              </a:defRPr>
            </a:pPr>
            <a:r>
              <a:t>→ git_ops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03520" y="4791456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F7C00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0" y="2743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F7C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15200" y="1280160"/>
            <a:ext cx="4389120" cy="10972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98079" y="13716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Best Model: XGBoost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98079" y="169164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"git_operations" — 91% confidence</a:t>
            </a:r>
            <a:br/>
            <a:r>
              <a:t>Latency: 59ms per prediction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15200" y="2651760"/>
            <a:ext cx="4389120" cy="32004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98079" y="2743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7C00"/>
                </a:solidFill>
                <a:latin typeface="Calibri"/>
              </a:defRPr>
            </a:pPr>
            <a:r>
              <a:t>Results Displayed to User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98079" y="3108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Model Comparison Table: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98079" y="3383280"/>
            <a:ext cx="4023360" cy="1828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89520" y="338328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Calibri"/>
              </a:defRPr>
            </a:pPr>
            <a:r>
              <a:t># 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63840" y="338328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44000" y="338328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Calibri"/>
              </a:defRPr>
            </a:pPr>
            <a:r>
              <a:t>Tier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92640" y="338328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Calibri"/>
              </a:defRPr>
            </a:pPr>
            <a:r>
              <a:t>Confidence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38328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Calibri"/>
              </a:defRPr>
            </a:pPr>
            <a:r>
              <a:t>Latency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498079" y="3584448"/>
            <a:ext cx="4023360" cy="182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589520" y="3584448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63840" y="358444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EF7C00"/>
                </a:solidFill>
                <a:latin typeface="Calibri"/>
              </a:defRPr>
            </a:pPr>
            <a:r>
              <a:t>XGBoost ★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0" y="35844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T1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584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91%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515600" y="3584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59ms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498079" y="3785616"/>
            <a:ext cx="4023360" cy="182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589520" y="3785616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63840" y="378561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3785616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T1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92640" y="378561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89%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15600" y="378561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103ms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498079" y="3986784"/>
            <a:ext cx="4023360" cy="182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589520" y="3986784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63840" y="398678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44000" y="3986784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T1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692640" y="398678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86%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515600" y="398678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281ms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498079" y="4187952"/>
            <a:ext cx="4023360" cy="182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589520" y="4187952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63840" y="418795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Stacking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44000" y="4187952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T3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692640" y="418795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85%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515600" y="418795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6509ms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498079" y="4389120"/>
            <a:ext cx="4023360" cy="182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589520" y="438912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863840" y="438912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Late Fusion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44000" y="438912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T3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692640" y="438912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515600" y="438912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F7C00"/>
                </a:solidFill>
                <a:latin typeface="Calibri"/>
              </a:defRPr>
            </a:pPr>
            <a:r>
              <a:t>2705ms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498079" y="46634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Workflow Timeline: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589520" y="4892040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1. Opened the code editor (0:00-0:07)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589520" y="5038344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2. Opened the integrated terminal (0:07-0:16)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589520" y="5184648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3. Ran shell command: git pull (0:16-0:29)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589520" y="5330952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4. Installed dependencies: npm install (0:29-0:58)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89520" y="5477256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F7C00"/>
                </a:solidFill>
                <a:latin typeface="Calibri"/>
              </a:defRPr>
            </a:pPr>
            <a:r>
              <a:t>5. Opened a browser tab (0:58-1:12)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