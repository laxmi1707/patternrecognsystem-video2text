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Challenges Faced &amp; How We Overcame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Dataset · Feature Engineering · Model Evaluation · Scope &amp; 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371600"/>
            <a:ext cx="8503920" cy="292608"/>
          </a:xfrm>
          <a:prstGeom prst="round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4 categories of project challenges encountered across data, modelling, evaluation and scope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783080"/>
            <a:ext cx="2084831" cy="384048"/>
          </a:xfrm>
          <a:prstGeom prst="roundRect">
            <a:avLst/>
          </a:prstGeom>
          <a:solidFill>
            <a:srgbClr val="C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Dataset</a:t>
            </a:r>
            <a:br/>
            <a:r>
              <a:t>Challenges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2167128"/>
            <a:ext cx="2084831" cy="3154680"/>
          </a:xfrm>
          <a:prstGeom prst="roundRect">
            <a:avLst/>
          </a:prstGeom>
          <a:solidFill>
            <a:srgbClr val="FD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2267712"/>
            <a:ext cx="1901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⚠  Severe class imbalance (57% majority)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2980944"/>
            <a:ext cx="1901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⚠  Activity labels all null in 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3694176"/>
            <a:ext cx="1901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⚠  Inconsistent resolutions &amp; platform names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4407408"/>
            <a:ext cx="1901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⚠  Missing / corrupt video files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32888" y="1783080"/>
            <a:ext cx="2084831" cy="384048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Feature Engineering</a:t>
            </a:r>
            <a:br/>
            <a:r>
              <a:t>Challenges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32888" y="2167128"/>
            <a:ext cx="2084831" cy="315468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42616" y="2267712"/>
            <a:ext cx="1901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⚠  Feature dimensions: 150 → 1,391 dims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42616" y="2980944"/>
            <a:ext cx="1901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⚠  v3 trained on 8-class subset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42616" y="3694176"/>
            <a:ext cx="1901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⚠  Multimodal feature alignment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42616" y="4407408"/>
            <a:ext cx="1901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⚠  Scaler must match train/inference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45736" y="1783080"/>
            <a:ext cx="2084831" cy="384048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Model &amp; Evaluation</a:t>
            </a:r>
            <a:br/>
            <a:r>
              <a:t>Challenges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45736" y="2167128"/>
            <a:ext cx="2084831" cy="315468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55464" y="2267712"/>
            <a:ext cx="1901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⚠  DL overfitting on 277 tasks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55464" y="2980944"/>
            <a:ext cx="1901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⚠  Evaluation leakage (frame vs task split)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55464" y="3694176"/>
            <a:ext cx="1901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⚠  Class imbalance in cross-validation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55464" y="4407408"/>
            <a:ext cx="1901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⚠  Baseline comparison methodology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58583" y="1783080"/>
            <a:ext cx="2084831" cy="384048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Scope &amp; Design</a:t>
            </a:r>
            <a:br/>
            <a:r>
              <a:t>Challenges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58583" y="2167128"/>
            <a:ext cx="2084831" cy="3154680"/>
          </a:xfrm>
          <a:prstGeom prst="roundRect">
            <a:avLst/>
          </a:prstGeom>
          <a:solidFill>
            <a:srgbClr val="F0E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68311" y="2267712"/>
            <a:ext cx="1901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⚠  Initial scope too broad (13+ models)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68311" y="2980944"/>
            <a:ext cx="1901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⚠  Multimodal fusion strategy selection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68311" y="3694176"/>
            <a:ext cx="1901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⚠  Train vs inference pipeline separation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68311" y="4407408"/>
            <a:ext cx="1901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2A55"/>
                </a:solidFill>
                <a:latin typeface="Calibri"/>
              </a:defRPr>
            </a:pPr>
            <a:r>
              <a:t>⚠  Research question to model mapping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0040" y="5394960"/>
            <a:ext cx="8503920" cy="256032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42239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D7C"/>
                </a:solidFill>
                <a:latin typeface="Calibri"/>
              </a:defRPr>
            </a:pPr>
            <a:r>
              <a:t>All challenges resolved — MVP delivered on time · F1 Macro 0.884 · 3 research questions answered · presented Oct 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Dataset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Class imbalance · null activity labels · data quality quirks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353312"/>
            <a:ext cx="4160520" cy="256032"/>
          </a:xfrm>
          <a:prstGeom prst="roundRect">
            <a:avLst/>
          </a:prstGeom>
          <a:solidFill>
            <a:srgbClr val="C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Challenge 1 — Severe Class Imbalance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645920"/>
            <a:ext cx="914400" cy="438912"/>
          </a:xfrm>
          <a:prstGeom prst="roundRect">
            <a:avLst/>
          </a:prstGeom>
          <a:solidFill>
            <a:srgbClr val="C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Problem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1645920"/>
            <a:ext cx="3200400" cy="438912"/>
          </a:xfrm>
          <a:prstGeom prst="roundRect">
            <a:avLst/>
          </a:prstGeom>
          <a:solidFill>
            <a:srgbClr val="FD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170078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VSCode = 38%, OpenShot = 27% of all 277 tasks. Naive model predicts majority always → Accuracy 38% but F1 Macro ≈ 0.05. Some classes had fewer than 10 training samples.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2121408"/>
            <a:ext cx="914400" cy="438912"/>
          </a:xfrm>
          <a:prstGeom prst="round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Root Cause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0" y="2121408"/>
            <a:ext cx="3200400" cy="438912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217627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VideoCUA dataset reflects real-world tool usage frequency — common tools dominate. Dataset is not class-balanced by design.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2596896"/>
            <a:ext cx="914400" cy="438912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Solution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0" y="2596896"/>
            <a:ext cx="3200400" cy="438912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2651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class_weight='balanced' in all sklearn classifiers (auto-adjusts sample weights). Macro-F1 as primary metric. Stratified split at task level — not frame level.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3072384"/>
            <a:ext cx="914400" cy="438912"/>
          </a:xfrm>
          <a:prstGeom prst="round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Outcome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80160" y="3072384"/>
            <a:ext cx="3200400" cy="438912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312724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F1 Macro improved from 0.05 (naive) to 0.841 (Random Forest). All classes represented fairly in evaluation.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17720" y="1353312"/>
            <a:ext cx="4251960" cy="256032"/>
          </a:xfrm>
          <a:prstGeom prst="roundRect">
            <a:avLst/>
          </a:prstGeom>
          <a:solidFill>
            <a:srgbClr val="C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Challenge 2 — Activity Labels All Null in Dataset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17720" y="1645920"/>
            <a:ext cx="914400" cy="438912"/>
          </a:xfrm>
          <a:prstGeom prst="roundRect">
            <a:avLst/>
          </a:prstGeom>
          <a:solidFill>
            <a:srgbClr val="C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Problem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77840" y="1645920"/>
            <a:ext cx="3291840" cy="438912"/>
          </a:xfrm>
          <a:prstGeom prst="roundRect">
            <a:avLst/>
          </a:prstGeom>
          <a:solidFill>
            <a:srgbClr val="FD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23560" y="170078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The 'activity' field is null in every row of video2knowledge_labels.jsonl. The dataset provides task instructions but no higher-level activity categories.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17720" y="2121408"/>
            <a:ext cx="914400" cy="438912"/>
          </a:xfrm>
          <a:prstGeom prst="round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Root Cause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77840" y="2121408"/>
            <a:ext cx="3291840" cy="438912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23560" y="21762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VideoCUA is a task-completion dataset, not an activity-classification dataset. Activity mapping was never part of the original annotation.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7720" y="2596896"/>
            <a:ext cx="914400" cy="438912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Solution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77840" y="2596896"/>
            <a:ext cx="3291840" cy="438912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2356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Defined our own app → activity mapping: VSCode → software_development, OpenShot → media_editing, draw.io → diagram_design, Chromium/Firefox → web_browsing, Bash → terminal_ops, etc.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17720" y="3072384"/>
            <a:ext cx="914400" cy="438912"/>
          </a:xfrm>
          <a:prstGeom prst="round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Outcome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77840" y="3072384"/>
            <a:ext cx="3291840" cy="438912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23560" y="31272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8 activity classes created and used as classification target across all models. Mapping documented in app/data_pipeline/labeling/.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0040" y="3639312"/>
            <a:ext cx="8503920" cy="256032"/>
          </a:xfrm>
          <a:prstGeom prst="round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Challenge 3 — Inconsistent Resolutions, FPS &amp; Platform Names Across Dataset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0040" y="3931920"/>
            <a:ext cx="914400" cy="438912"/>
          </a:xfrm>
          <a:prstGeom prst="round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Problem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80160" y="3931920"/>
            <a:ext cx="7543800" cy="438912"/>
          </a:xfrm>
          <a:prstGeom prst="roundRect">
            <a:avLst/>
          </a:prstGeom>
          <a:solidFill>
            <a:srgbClr val="FD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25880" y="3986784"/>
            <a:ext cx="7452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7 different resolutions (1920×1008 to 2940×1912 Retina), mixed FPS (29.97 / 30 / 60 fps), inconsistent platform names (OpenShot / OPENSHOT / Openshot, Draw.io vs draw.io). Duration ranges 3.7 s to 117 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040" y="4407408"/>
            <a:ext cx="914400" cy="438912"/>
          </a:xfrm>
          <a:prstGeom prst="round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Root Cause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80160" y="4407408"/>
            <a:ext cx="7543800" cy="438912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25880" y="4462272"/>
            <a:ext cx="7452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VideoCUA was captured across multiple machines and operating systems. No normalisation was applied during export. Platform names were entered manually per recording.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0040" y="4882896"/>
            <a:ext cx="914400" cy="438912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Solution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80160" y="4882896"/>
            <a:ext cx="7543800" cy="438912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25880" y="4937760"/>
            <a:ext cx="7452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Added normalisation step in feature extractor: resize all frames to 1920×1080, resample to 30 fps. Canonical platform map in config.py. Duration outliers (&lt; 5 s) flagged and skipped.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0040" y="5358384"/>
            <a:ext cx="914400" cy="438912"/>
          </a:xfrm>
          <a:prstGeom prst="round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Outcome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280160" y="5358384"/>
            <a:ext cx="7543800" cy="438912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25880" y="5413248"/>
            <a:ext cx="7452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Uniform feature extraction pipeline across all 277 tasks. EfficientNet-B0 receives consistent 224×224 input. Feature vectors are directly comparable across apps.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Feature Engineering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Feature dimension evolution · dataset version mismatch · multimodal alignment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353312"/>
            <a:ext cx="8503920" cy="256032"/>
          </a:xfrm>
          <a:prstGeom prst="roundRect">
            <a:avLst/>
          </a:prstGeom>
          <a:solidFill>
            <a:srgbClr val="C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Challenge 4 — Feature Dimension Evolution: 150-dim → 1,391-dim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645920"/>
            <a:ext cx="914400" cy="438912"/>
          </a:xfrm>
          <a:prstGeom prst="roundRect">
            <a:avLst/>
          </a:prstGeom>
          <a:solidFill>
            <a:srgbClr val="C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Problem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1645920"/>
            <a:ext cx="7543800" cy="438912"/>
          </a:xfrm>
          <a:prstGeom prst="roundRect">
            <a:avLst/>
          </a:prstGeom>
          <a:solidFill>
            <a:srgbClr val="FD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1700784"/>
            <a:ext cx="7452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v2 pipeline used 150-dim HOG + basic bag-of-words OCR features. Upgrading to EfficientNet-B0 CNN (512) + EasyOCR TF-IDF (512) + YOLO UI detection (256) + Interaction log stats (111) = 1,391 dims. All v2 saved models broke.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2121408"/>
            <a:ext cx="914400" cy="438912"/>
          </a:xfrm>
          <a:prstGeom prst="round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Root Cause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0" y="2121408"/>
            <a:ext cx="7543800" cy="438912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2176272"/>
            <a:ext cx="7452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Saved .pkl files encode the input feature shape at training time. A model trained on 150-dim features raises ValueError when given 1,391-dim input at inference.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2596896"/>
            <a:ext cx="914400" cy="438912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Solution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0" y="2596896"/>
            <a:ext cx="7543800" cy="438912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2651760"/>
            <a:ext cx="7452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Versioned model artifacts: models/v2/ → models/v3/. Feature extraction controlled by FEATURE_BACKEND env var. All 13 classifiers and scaler.pkl retrained on 1,391-dim v3 features. S3 bucket versioned (models/v3/).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3072384"/>
            <a:ext cx="914400" cy="438912"/>
          </a:xfrm>
          <a:prstGeom prst="round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Outcome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80160" y="3072384"/>
            <a:ext cx="7543800" cy="438912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3127248"/>
            <a:ext cx="7452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v3b models: F1 Macro 0.884 (vs 0.51 in v2) — 73% improvement. Richer features capture visual layout, text content, UI widgets and user behaviour simultaneously.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3639312"/>
            <a:ext cx="4160520" cy="256032"/>
          </a:xfrm>
          <a:prstGeom prst="round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Challenge 5 — Training Set vs Full Dataset Scope Mismatch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3931920"/>
            <a:ext cx="914400" cy="438912"/>
          </a:xfrm>
          <a:prstGeom prst="round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Problem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80160" y="3931920"/>
            <a:ext cx="3200400" cy="438912"/>
          </a:xfrm>
          <a:prstGeom prst="roundRect">
            <a:avLst/>
          </a:prstGeom>
          <a:solidFill>
            <a:srgbClr val="FD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398678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v3 models trained on 8-class DevOps subset (277 tasks: git, docker, kubernetes...). Full VideoCUA has 9,555 tasks across 139 platforms and 16+ activity classes — unseen at training time.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4407408"/>
            <a:ext cx="914400" cy="438912"/>
          </a:xfrm>
          <a:prstGeom prst="round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Root Cause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80160" y="4407408"/>
            <a:ext cx="3200400" cy="438912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25880" y="446227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Training was completed on the local dataset before full VideoCUA was made available. ACTIVITY_LABELS in config.py was expanded after v3 training.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4882896"/>
            <a:ext cx="914400" cy="438912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Solution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80160" y="4882896"/>
            <a:ext cx="3200400" cy="438912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25880" y="4937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For Oct 30 demo: v3 models remain valid — all demo videos are DevOps-themed. v4 roadmap: retrain on full 9,514 valid tasks with 16-class labels using expanded feature pipeline.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" y="5358384"/>
            <a:ext cx="914400" cy="438912"/>
          </a:xfrm>
          <a:prstGeom prst="round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Outcome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80160" y="5358384"/>
            <a:ext cx="3200400" cy="438912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25880" y="541324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Demo delivered successfully with v3 (F1 0.884). v4 training plan documented. Clear separation between current results and future scope.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17720" y="3639312"/>
            <a:ext cx="4251960" cy="256032"/>
          </a:xfrm>
          <a:prstGeom prst="round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Challenge 6 — 41 Missing / Corrupt Videos in Full Dataset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17720" y="3931920"/>
            <a:ext cx="914400" cy="438912"/>
          </a:xfrm>
          <a:prstGeom prst="round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Problem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77840" y="3931920"/>
            <a:ext cx="3291840" cy="438912"/>
          </a:xfrm>
          <a:prstGeom prst="roundRect">
            <a:avLst/>
          </a:prstGeom>
          <a:solidFill>
            <a:srgbClr val="FD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23560" y="398678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41 of 9,555 task directories have no video.mp4 or a corrupt file. Training loop crashed on the first missing file, halting the entire pipeline.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17720" y="4407408"/>
            <a:ext cx="914400" cy="438912"/>
          </a:xfrm>
          <a:prstGeom prst="round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Root Cause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77840" y="4407408"/>
            <a:ext cx="3291840" cy="438912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23560" y="44622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VideoCUA export process failed silently for some tasks. video_metadata.json shows can_be_loaded: false — these tasks were never flagged during download.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17720" y="4882896"/>
            <a:ext cx="914400" cy="438912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Solution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77840" y="4882896"/>
            <a:ext cx="3291840" cy="438912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23560" y="4937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Loader checks video_metadata.json before extraction. Tasks with can_be_loaded=false are logged and skipped gracefully. Missing files listed in missing_videos.log for audit.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17720" y="5358384"/>
            <a:ext cx="914400" cy="438912"/>
          </a:xfrm>
          <a:prstGeom prst="round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Outcome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577840" y="5358384"/>
            <a:ext cx="3291840" cy="438912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23560" y="54132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9,514 valid tasks load cleanly. Training completes without interruption. Audit log available for dataset quality reporting.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Model &amp; Evaluation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Overfitting on small dataset · evaluation leakage · cross-validation 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353312"/>
            <a:ext cx="8503920" cy="256032"/>
          </a:xfrm>
          <a:prstGeom prst="roundRect">
            <a:avLst/>
          </a:prstGeom>
          <a:solidFill>
            <a:srgbClr val="C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Challenge 7 — Deep Learning Overfitting on 277 Tasks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645920"/>
            <a:ext cx="914400" cy="438912"/>
          </a:xfrm>
          <a:prstGeom prst="roundRect">
            <a:avLst/>
          </a:prstGeom>
          <a:solidFill>
            <a:srgbClr val="C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Problem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1645920"/>
            <a:ext cx="7543800" cy="438912"/>
          </a:xfrm>
          <a:prstGeom prst="roundRect">
            <a:avLst/>
          </a:prstGeom>
          <a:solidFill>
            <a:srgbClr val="FD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1700784"/>
            <a:ext cx="7452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MLP, LSTM and Transformer achieved 95%+ training accuracy but only 80% test accuracy — a 15% generalisation gap. MLP has 846K parameters trained on only 222 samples (80% of 277 tasks).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2121408"/>
            <a:ext cx="914400" cy="438912"/>
          </a:xfrm>
          <a:prstGeom prst="round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Root Cause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0" y="2121408"/>
            <a:ext cx="7543800" cy="438912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2176272"/>
            <a:ext cx="7452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277 tasks is severely under-parameterised for deep learning. High-capacity models memorise training samples instead of learning generalisable patterns. No regularisation in initial design.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2596896"/>
            <a:ext cx="914400" cy="438912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Solution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0" y="2596896"/>
            <a:ext cx="7543800" cy="438912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2651760"/>
            <a:ext cx="7452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Added Dropout (p=0.3) and L2 weight decay to MLP/LSTM/Transformer. Early stopping on validation loss (patience=10). Ensemble methods (Voting, Stacking) reduce variance by combining weak learners.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3072384"/>
            <a:ext cx="914400" cy="438912"/>
          </a:xfrm>
          <a:prstGeom prst="round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Outcome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80160" y="3072384"/>
            <a:ext cx="7543800" cy="438912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3127248"/>
            <a:ext cx="7452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Generalisation gap reduced to ~5%. Key RQ1 finding: classical ML (RF F1 0.841) ≈ deep MLP (0.798) on small dataset — feature engineering more impactful than model capacity.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3639312"/>
            <a:ext cx="4160520" cy="256032"/>
          </a:xfrm>
          <a:prstGeom prst="round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Challenge 8 — Evaluation Leakage Risk (Frame-level Split)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3931920"/>
            <a:ext cx="914400" cy="438912"/>
          </a:xfrm>
          <a:prstGeom prst="round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Problem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80160" y="3931920"/>
            <a:ext cx="3200400" cy="438912"/>
          </a:xfrm>
          <a:prstGeom prst="roundRect">
            <a:avLst/>
          </a:prstGeom>
          <a:solidFill>
            <a:srgbClr val="FD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398678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Splitting at the frame or segment level would allow frames from the same video recording to appear in both train and test sets — inflating accuracy by up to 20%.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4407408"/>
            <a:ext cx="914400" cy="438912"/>
          </a:xfrm>
          <a:prstGeom prst="round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Root Cause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80160" y="4407408"/>
            <a:ext cx="3200400" cy="438912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25880" y="446227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Each task video produces many segments. A naive random split ignores which video each segment came from, causing data leakage between train and test.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4882896"/>
            <a:ext cx="914400" cy="438912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Solution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80160" y="4882896"/>
            <a:ext cx="3200400" cy="438912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25880" y="4937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Strict video-level (task-level) split: all segments from one recording stay together. StratifiedGroupKFold with group=task_id ensures no task appears in both train and validation folds.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" y="5358384"/>
            <a:ext cx="914400" cy="438912"/>
          </a:xfrm>
          <a:prstGeom prst="round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Outcome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80160" y="5358384"/>
            <a:ext cx="3200400" cy="438912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25880" y="541324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Honest, leakage-free evaluation. Results generalise to unseen recordings. Methodology consistent with academic standards for video activity recognition.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17720" y="3639312"/>
            <a:ext cx="4251960" cy="256032"/>
          </a:xfrm>
          <a:prstGeom prst="round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Challenge 9 — No Existing Baseline on VideoCUA Dataset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17720" y="3931920"/>
            <a:ext cx="914400" cy="438912"/>
          </a:xfrm>
          <a:prstGeom prst="round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Problem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77840" y="3931920"/>
            <a:ext cx="3291840" cy="438912"/>
          </a:xfrm>
          <a:prstGeom prst="roundRect">
            <a:avLst/>
          </a:prstGeom>
          <a:solidFill>
            <a:srgbClr val="FD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23560" y="398678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No published F1 scores for activity classification on the VideoCUA / CUA-Suite dataset. Could not compare results against prior work — a required evaluation element in the proposal.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17720" y="4407408"/>
            <a:ext cx="914400" cy="438912"/>
          </a:xfrm>
          <a:prstGeom prst="round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Root Cause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77840" y="4407408"/>
            <a:ext cx="3291840" cy="438912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23560" y="44622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VideoCUA is a recently released dataset (2024). Most existing benchmarks target video activity recognition on Kinetics/UCF-101, not screen-recording desktop tasks.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17720" y="4882896"/>
            <a:ext cx="914400" cy="438912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Solution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77840" y="4882896"/>
            <a:ext cx="3291840" cy="438912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23560" y="4937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Established our own baseline hierarchy: random classifier (F1 0.05) → majority class (F1 0.12) → single-modality SVM (F1 0.72) → best classical (RF 0.841) → ensemble (0.884). Cross-validate with 5-fold StratifiedGroupKFold.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17720" y="5358384"/>
            <a:ext cx="914400" cy="438912"/>
          </a:xfrm>
          <a:prstGeom prst="round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Outcome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577840" y="5358384"/>
            <a:ext cx="3291840" cy="438912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23560" y="54132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Internal baseline ladder provides meaningful comparison. Ablation study quantifies each modality's contribution. Results are reproducible and self-contained.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Scope &amp; Design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Scope management · multimodal fusion strategy · train vs inference separation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353312"/>
            <a:ext cx="8503920" cy="256032"/>
          </a:xfrm>
          <a:prstGeom prst="roundRect">
            <a:avLst/>
          </a:prstGeom>
          <a:solidFill>
            <a:srgbClr val="C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Challenge 10 — Initial Scope Too Broad for One Semester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645920"/>
            <a:ext cx="914400" cy="438912"/>
          </a:xfrm>
          <a:prstGeom prst="roundRect">
            <a:avLst/>
          </a:prstGeom>
          <a:solidFill>
            <a:srgbClr val="C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Problem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1645920"/>
            <a:ext cx="7543800" cy="438912"/>
          </a:xfrm>
          <a:prstGeom prst="roundRect">
            <a:avLst/>
          </a:prstGeom>
          <a:solidFill>
            <a:srgbClr val="FD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1700784"/>
            <a:ext cx="7452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Initial design: 13+ classifiers across 4 levels (interaction evidence → activity recognition → workflow recognition → LLM knowledge generation). Rigorous evaluation of all models within one semester was infeasible.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2121408"/>
            <a:ext cx="914400" cy="438912"/>
          </a:xfrm>
          <a:prstGeom prst="round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Root Cause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0" y="2121408"/>
            <a:ext cx="7543800" cy="438912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2176272"/>
            <a:ext cx="7452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Ambitious proposal covered the full research pipeline end-to-end. Breadth was prioritised over depth in the initial plan, making it hard to demonstrate rigorous results for each model.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2596896"/>
            <a:ext cx="914400" cy="438912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Solution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0" y="2596896"/>
            <a:ext cx="7543800" cy="438912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2651760"/>
            <a:ext cx="7452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With valuable mentor guidance, narrowed to an MVP: 6 representative models (1-2 per tier), activity classification only. Workflow recognition and LLM generation moved to future work. Each of the 6 models directly answers a research question.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3072384"/>
            <a:ext cx="914400" cy="438912"/>
          </a:xfrm>
          <a:prstGeom prst="round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Outcome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80160" y="3072384"/>
            <a:ext cx="7543800" cy="438912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3127248"/>
            <a:ext cx="7452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Deeper, more rigorous evaluation: per-class metrics, confusion matrices, modality ablation, ROC-AUC. F1 Macro 0.884. All 3 RQs answered clearly. Presented Oct 30 on schedule.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3639312"/>
            <a:ext cx="4160520" cy="256032"/>
          </a:xfrm>
          <a:prstGeom prst="round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Challenge 11 — Designing the Multimodal Fusion Strategy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3931920"/>
            <a:ext cx="914400" cy="438912"/>
          </a:xfrm>
          <a:prstGeom prst="round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Problem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80160" y="3931920"/>
            <a:ext cx="3200400" cy="438912"/>
          </a:xfrm>
          <a:prstGeom prst="roundRect">
            <a:avLst/>
          </a:prstGeom>
          <a:solidFill>
            <a:srgbClr val="FD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398678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4 modalities (visual, OCR text, YOLO UI detection, interaction logs) → how to combine? Early fusion (concatenate features) loses per-modality signal; late fusion adds complexity.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4407408"/>
            <a:ext cx="914400" cy="438912"/>
          </a:xfrm>
          <a:prstGeom prst="round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Root Cause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80160" y="4407408"/>
            <a:ext cx="3200400" cy="438912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25880" y="446227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Each modality has different strengths per class: OCR best for git_operations, Visual best for media_editing, Interaction best for terminal_ops. A single concatenated vector treats all equally.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4882896"/>
            <a:ext cx="914400" cy="438912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Solution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80160" y="4882896"/>
            <a:ext cx="3200400" cy="438912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25880" y="4937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Late fusion: each modality trains its own classifier branch (RF/SVM/DT/NB). Branch outputs (n, 8) stacked → meta_X (n, 32). Logistic Regression meta-learner learns per-modality trust weights.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" y="5358384"/>
            <a:ext cx="914400" cy="438912"/>
          </a:xfrm>
          <a:prstGeom prst="round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Outcome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80160" y="5358384"/>
            <a:ext cx="3200400" cy="438912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25880" y="541324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Late Fusion F1 0.861 vs best single modality ~0.78 (+10%). Modality ablation confirms each branch contributes differently per class — validates multimodal design.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17720" y="3639312"/>
            <a:ext cx="4251960" cy="256032"/>
          </a:xfrm>
          <a:prstGeom prst="round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Challenge 12 — Conflated Training and Inference Pipelines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17720" y="3931920"/>
            <a:ext cx="914400" cy="438912"/>
          </a:xfrm>
          <a:prstGeom prst="round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Problem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77840" y="3931920"/>
            <a:ext cx="3291840" cy="438912"/>
          </a:xfrm>
          <a:prstGeom prst="roundRect">
            <a:avLst/>
          </a:prstGeom>
          <a:solidFill>
            <a:srgbClr val="FD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23560" y="398678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Initial architecture diagram mixed training and inference in a single flow. The presentation showed one pipeline that served both purposes — confusing for the audience and technically incorrect.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17720" y="4407408"/>
            <a:ext cx="914400" cy="438912"/>
          </a:xfrm>
          <a:prstGeom prst="round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Root Cause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77840" y="4407408"/>
            <a:ext cx="3291840" cy="438912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23560" y="44622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Early design focused on the end-to-end data flow without distinguishing the offline training phase from the real-time inference phase. Both use the same feature extractor but differ in output.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17720" y="4882896"/>
            <a:ext cx="914400" cy="438912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Solution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77840" y="4882896"/>
            <a:ext cx="3291840" cy="438912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23560" y="4937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Split into two explicit diagrams: Training: dataset → feature extraction → fit() → .pkl + scaler.pkl → S3. Inference: video → feature extraction → load .pkl → predict() → activity class.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17720" y="5358384"/>
            <a:ext cx="914400" cy="438912"/>
          </a:xfrm>
          <a:prstGeom prst="roundRect">
            <a:avLst/>
          </a:prstGeom>
          <a:solidFill>
            <a:srgbClr val="0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Outcome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577840" y="5358384"/>
            <a:ext cx="3291840" cy="438912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23560" y="54132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02A55"/>
                </a:solidFill>
                <a:latin typeface="Calibri"/>
              </a:defRPr>
            </a:pPr>
            <a:r>
              <a:t>Architecture clarity improved. Audience can follow each pipeline independently. Train/inference separation is now a key slide in the Oct 30 presentation.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0040" y="5394960"/>
            <a:ext cx="8503920" cy="256032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542239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D7C"/>
                </a:solidFill>
                <a:latin typeface="Calibri"/>
              </a:defRPr>
            </a:pPr>
            <a:r>
              <a:t>12 project challenges → 12 solutions → MVP delivered on time  ·  F1 Macro 0.884  ·  All 3 RQs answered  ·  Presented Oct 30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