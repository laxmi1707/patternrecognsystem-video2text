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Video2Knowledge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A Multimodal Pattern Recognition Framework for</a:t>
            </a:r>
            <a:br/>
            <a:r>
              <a:t>Screen Activity Understanding and Knowledge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Muneeswaran Muthaiah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M.Tech in Artificial Intelligence Systems</a:t>
            </a:r>
            <a:br/>
            <a:r>
              <a:t>National University of Singapore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Pattern Recognition Systems  |  September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18872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F7C00"/>
                </a:solidFill>
                <a:latin typeface="Calibri"/>
              </a:defRPr>
            </a:pPr>
            <a:r>
              <a:t>1.  Problem Statement &amp; Motivation</a:t>
            </a:r>
          </a:p>
          <a:p>
            <a:pPr>
              <a:spcAft>
                <a:spcPts val="1000"/>
              </a:spcAft>
              <a:defRPr sz="1800">
                <a:solidFill>
                  <a:srgbClr val="EF7C00"/>
                </a:solidFill>
                <a:latin typeface="Calibri"/>
              </a:defRPr>
            </a:pPr>
            <a:r>
              <a:t>2.  Objectives</a:t>
            </a:r>
          </a:p>
          <a:p>
            <a:pPr>
              <a:spcAft>
                <a:spcPts val="1000"/>
              </a:spcAft>
              <a:defRPr sz="1800">
                <a:solidFill>
                  <a:srgbClr val="EF7C00"/>
                </a:solidFill>
                <a:latin typeface="Calibri"/>
              </a:defRPr>
            </a:pPr>
            <a:r>
              <a:t>3.  System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EF7C00"/>
                </a:solidFill>
                <a:latin typeface="Calibri"/>
              </a:defRPr>
            </a:pPr>
            <a:r>
              <a:t>4.  Feature Extraction Pipeline</a:t>
            </a:r>
          </a:p>
          <a:p>
            <a:pPr>
              <a:spcAft>
                <a:spcPts val="1000"/>
              </a:spcAft>
              <a:defRPr sz="1800">
                <a:solidFill>
                  <a:srgbClr val="EF7C00"/>
                </a:solidFill>
                <a:latin typeface="Calibri"/>
              </a:defRPr>
            </a:pPr>
            <a:r>
              <a:t>5.  Classification Models (3 Tiers, 14 Models)</a:t>
            </a:r>
          </a:p>
          <a:p>
            <a:pPr>
              <a:spcAft>
                <a:spcPts val="1000"/>
              </a:spcAft>
              <a:defRPr sz="1800">
                <a:solidFill>
                  <a:srgbClr val="EF7C00"/>
                </a:solidFill>
                <a:latin typeface="Calibri"/>
              </a:defRPr>
            </a:pPr>
            <a:r>
              <a:t>6.  Dataset — CUA-Suite</a:t>
            </a:r>
          </a:p>
          <a:p>
            <a:pPr>
              <a:spcAft>
                <a:spcPts val="1000"/>
              </a:spcAft>
              <a:defRPr sz="1800">
                <a:solidFill>
                  <a:srgbClr val="EF7C00"/>
                </a:solidFill>
                <a:latin typeface="Calibri"/>
              </a:defRPr>
            </a:pPr>
            <a:r>
              <a:t>7.  Training Pipeline &amp; Results</a:t>
            </a:r>
          </a:p>
          <a:p>
            <a:pPr>
              <a:spcAft>
                <a:spcPts val="1000"/>
              </a:spcAft>
              <a:defRPr sz="1800">
                <a:solidFill>
                  <a:srgbClr val="EF7C00"/>
                </a:solidFill>
                <a:latin typeface="Calibri"/>
              </a:defRPr>
            </a:pPr>
            <a:r>
              <a:t>8.  Technology Stack</a:t>
            </a:r>
          </a:p>
          <a:p>
            <a:pPr>
              <a:spcAft>
                <a:spcPts val="1000"/>
              </a:spcAft>
              <a:defRPr sz="1800">
                <a:solidFill>
                  <a:srgbClr val="EF7C00"/>
                </a:solidFill>
                <a:latin typeface="Calibri"/>
              </a:defRPr>
            </a:pPr>
            <a:r>
              <a:t>9.  Live Demo</a:t>
            </a:r>
          </a:p>
          <a:p>
            <a:pPr>
              <a:spcAft>
                <a:spcPts val="1000"/>
              </a:spcAft>
              <a:defRPr sz="1800">
                <a:solidFill>
                  <a:srgbClr val="EF7C00"/>
                </a:solidFill>
                <a:latin typeface="Calibri"/>
              </a:defRPr>
            </a:pPr>
            <a:r>
              <a:t>10. Deployment (Docker + AWS)</a:t>
            </a:r>
          </a:p>
          <a:p>
            <a:pPr>
              <a:spcAft>
                <a:spcPts val="1000"/>
              </a:spcAft>
              <a:defRPr sz="1800">
                <a:solidFill>
                  <a:srgbClr val="EF7C00"/>
                </a:solidFill>
                <a:latin typeface="Calibri"/>
              </a:defRPr>
            </a:pPr>
            <a:r>
              <a:t>11. Challenges &amp; Solutions</a:t>
            </a:r>
          </a:p>
          <a:p>
            <a:pPr>
              <a:spcAft>
                <a:spcPts val="1000"/>
              </a:spcAft>
              <a:defRPr sz="1800">
                <a:solidFill>
                  <a:srgbClr val="EF7C00"/>
                </a:solidFill>
                <a:latin typeface="Calibri"/>
              </a:defRPr>
            </a:pPr>
            <a:r>
              <a:t>12. Future Work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1887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EF7C00"/>
                </a:solidFill>
                <a:latin typeface="Calibri"/>
              </a:defRPr>
            </a:pPr>
            <a:r>
              <a:t>•  Screen recordings contain rich multimodal information (text, UI elements, visual patterns, user interactions) but are opaque to automated analysis</a:t>
            </a:r>
          </a:p>
          <a:p>
            <a:pPr>
              <a:spcAft>
                <a:spcPts val="1600"/>
              </a:spcAft>
              <a:defRPr sz="1700">
                <a:solidFill>
                  <a:srgbClr val="EF7C00"/>
                </a:solidFill>
                <a:latin typeface="Calibri"/>
              </a:defRPr>
            </a:pPr>
            <a:r>
              <a:t>•  Manually reviewing hours of screen activity recordings is time-consuming and error-prone</a:t>
            </a:r>
          </a:p>
          <a:p>
            <a:pPr>
              <a:spcAft>
                <a:spcPts val="1600"/>
              </a:spcAft>
              <a:defRPr sz="1700">
                <a:solidFill>
                  <a:srgbClr val="EF7C00"/>
                </a:solidFill>
                <a:latin typeface="Calibri"/>
              </a:defRPr>
            </a:pPr>
            <a:r>
              <a:t>•  Existing video classification approaches focus on natural video scenes, not screen activity patterns</a:t>
            </a:r>
          </a:p>
          <a:p>
            <a:pPr>
              <a:spcAft>
                <a:spcPts val="1600"/>
              </a:spcAft>
              <a:defRPr sz="1700">
                <a:solidFill>
                  <a:srgbClr val="EF7C00"/>
                </a:solidFill>
                <a:latin typeface="Calibri"/>
              </a:defRPr>
            </a:pPr>
            <a:r>
              <a:t>•  No unified framework combines OCR, UI detection, visual analysis, and interaction tracking for screen recordings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389120"/>
            <a:ext cx="9144000" cy="109728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How can we automatically classify and understand screen activity</a:t>
            </a:r>
            <a:br/>
            <a:r>
              <a:t>from video recordings using multimodal pattern recognition?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188720"/>
            <a:ext cx="457200" cy="4572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7C00"/>
                </a:solidFill>
                <a:latin typeface="Calibri"/>
              </a:defRPr>
            </a:pPr>
            <a:r>
              <a:t>Build a multimodal feature extraction pipeline combining OCR, UI detection, visual analysis, and interaction tracking into a unified 150-dimensional feature vector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103120"/>
            <a:ext cx="457200" cy="4572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7C00"/>
                </a:solidFill>
                <a:latin typeface="Calibri"/>
              </a:defRPr>
            </a:pPr>
            <a:r>
              <a:t>Implement and benchmark 14 classification models across 3 tiers: Classical ML, Deep Learning, and Ensemble methods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017520"/>
            <a:ext cx="457200" cy="4572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7C00"/>
                </a:solidFill>
                <a:latin typeface="Calibri"/>
              </a:defRPr>
            </a:pPr>
            <a:r>
              <a:t>Develop an end-to-end web application for video upload, analysis, and interactive model comparison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3931920"/>
            <a:ext cx="457200" cy="4572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7C00"/>
                </a:solidFill>
                <a:latin typeface="Calibri"/>
              </a:defRPr>
            </a:pPr>
            <a:r>
              <a:t>Train and evaluate on the CUA-Suite dataset (7,021 tasks, ~48 GB) for real-world screen activity classification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846320"/>
            <a:ext cx="457200" cy="4572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846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7C00"/>
                </a:solidFill>
                <a:latin typeface="Calibri"/>
              </a:defRPr>
            </a:pPr>
            <a:r>
              <a:t>Deploy as a containerized microservice architecture using Docker and AWS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371600"/>
            <a:ext cx="2286000" cy="10972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Upload</a:t>
            </a:r>
            <a:br/>
            <a:r>
              <a:t>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6459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1371600"/>
            <a:ext cx="2286000" cy="109728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Feature</a:t>
            </a:r>
            <a:br/>
            <a:r>
              <a:t>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6459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371600"/>
            <a:ext cx="2286000" cy="109728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14 Classifiers</a:t>
            </a:r>
            <a:br/>
            <a:r>
              <a:t>(3 Tiers)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6459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371600"/>
            <a:ext cx="2286000" cy="10972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Model</a:t>
            </a:r>
            <a:br/>
            <a:r>
              <a:t>Comparison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200400"/>
            <a:ext cx="3108960" cy="13716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Frontend</a:t>
            </a:r>
            <a:br/>
            <a:r>
              <a:t>React + TypeScript + Vite</a:t>
            </a:r>
            <a:br/>
            <a:r>
              <a:t>Port 5173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200400"/>
            <a:ext cx="3108960" cy="13716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Backend</a:t>
            </a:r>
            <a:br/>
            <a:r>
              <a:t>FastAPI + ML Pipeline</a:t>
            </a:r>
            <a:br/>
            <a:r>
              <a:t>Port 8000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3200400"/>
            <a:ext cx="3108960" cy="1371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Database</a:t>
            </a:r>
            <a:br/>
            <a:r>
              <a:t>PostgreSQL 16 + pgvector</a:t>
            </a:r>
            <a:br/>
            <a:r>
              <a:t>Port 5434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Docker Compose orchestrates all 3 services  |  SQLite for local dev, PostgreSQL for production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Feature Extraction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4 parallel extractors produce a unified 150-dimensional feature vector per video segment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645920"/>
            <a:ext cx="2468880" cy="10972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OCR Features</a:t>
            </a:r>
            <a:br/>
            <a:r>
              <a:t>50 dimensions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EasyOCR + Tesseract</a:t>
            </a:r>
            <a:br/>
            <a:r>
              <a:t>TF-IDF vectorization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645920"/>
            <a:ext cx="2468880" cy="109728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UI Detection</a:t>
            </a:r>
            <a:br/>
            <a:r>
              <a:t>30 dimensions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834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YOLOv8 nano</a:t>
            </a:r>
            <a:br/>
            <a:r>
              <a:t>12 UI element classes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45920"/>
            <a:ext cx="2468880" cy="109728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Visual Features</a:t>
            </a:r>
            <a:br/>
            <a:r>
              <a:t>40 dimensions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34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OpenCV</a:t>
            </a:r>
            <a:br/>
            <a:r>
              <a:t>Color, edge, texture, layout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645920"/>
            <a:ext cx="2468880" cy="10972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Interaction</a:t>
            </a:r>
            <a:br/>
            <a:r>
              <a:t>30 dimensions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834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Action log parsing</a:t>
            </a:r>
            <a:br/>
            <a:r>
              <a:t>8 action 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↓              ↓              ↓              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4114800"/>
            <a:ext cx="6400800" cy="73152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Concatenated 150-dim Feature 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120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[0-49] OCR  |  [50-79] UI Elements  |  [80-119] Visual  |  [120-149] Interaction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Feature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OCR &amp; UI Detection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188720"/>
            <a:ext cx="4846320" cy="5486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OCR Features — 50 dimensions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28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Primary: EasyOCR (GPU-optional)</a:t>
            </a:r>
          </a:p>
          <a:p>
            <a:pPr>
              <a:spcAft>
                <a:spcPts val="6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Fallback: Tesseract (when confidence &lt; 0.3)</a:t>
            </a:r>
          </a:p>
          <a:p>
            <a:pPr>
              <a:spcAft>
                <a:spcPts val="6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TF-IDF vectorization (max_features=50)</a:t>
            </a:r>
          </a:p>
          <a:p>
            <a:pPr>
              <a:spcAft>
                <a:spcPts val="6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English stop words removal</a:t>
            </a:r>
          </a:p>
          <a:p>
            <a:pPr>
              <a:spcAft>
                <a:spcPts val="6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Extracts text from video keyframes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188720"/>
            <a:ext cx="4846320" cy="54864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UI Detection — 30 dimensions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8288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Model: YOLOv8n (nano), conf &gt; 0.25</a:t>
            </a:r>
          </a:p>
          <a:p>
            <a:pPr>
              <a:spcAft>
                <a:spcPts val="4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12 UI classes: button, text_field, menu,</a:t>
            </a:r>
          </a:p>
          <a:p>
            <a:pPr>
              <a:spcAft>
                <a:spcPts val="4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    dropdown, toolbar, sidebar, tab, dialog,</a:t>
            </a:r>
          </a:p>
          <a:p>
            <a:pPr>
              <a:spcAft>
                <a:spcPts val="4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    terminal, icon, scroll_bar, status_bar</a:t>
            </a:r>
          </a:p>
          <a:p>
            <a:pPr>
              <a:spcAft>
                <a:spcPts val="4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[0:12]  Element type distribution</a:t>
            </a:r>
          </a:p>
          <a:p>
            <a:pPr>
              <a:spcAft>
                <a:spcPts val="4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[12:20] Spatial layout stats</a:t>
            </a:r>
          </a:p>
          <a:p>
            <a:pPr>
              <a:spcAft>
                <a:spcPts val="4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[20:24] Detection confidence stats</a:t>
            </a:r>
          </a:p>
          <a:p>
            <a:pPr>
              <a:spcAft>
                <a:spcPts val="4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[24:30] UI complexity metrics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Feature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Visual &amp; Interaction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188720"/>
            <a:ext cx="4846320" cy="5486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Visual Features — 40 dimensions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28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[0:18]  Color histogram (6 bins x 3 RGB)</a:t>
            </a:r>
          </a:p>
          <a:p>
            <a:pPr>
              <a:spcAft>
                <a:spcPts val="6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[18:21] Edge density (Canny + Sobel)</a:t>
            </a:r>
          </a:p>
          <a:p>
            <a:pPr>
              <a:spcAft>
                <a:spcPts val="6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[21:27] Texture (Gabor filters, 3 orientations)</a:t>
            </a:r>
          </a:p>
          <a:p>
            <a:pPr>
              <a:spcAft>
                <a:spcPts val="6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[27:32] Scene (intensity, saturation, brightness)</a:t>
            </a:r>
          </a:p>
          <a:p>
            <a:pPr>
              <a:spcAft>
                <a:spcPts val="6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[32:40] Layout (2x2 quadrant grid analysis)</a:t>
            </a:r>
          </a:p>
          <a:p>
            <a:pPr>
              <a:spcAft>
                <a:spcPts val="6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Averaged across all keyframes per segment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188720"/>
            <a:ext cx="4846320" cy="5486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Interaction Features — 30 dimensions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8288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8 action types: CLICK, MOVE_TO, TYPING,</a:t>
            </a:r>
          </a:p>
          <a:p>
            <a:pPr>
              <a:spcAft>
                <a:spcPts val="4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    DRAG_TO, HOTKEY, PRESS, MOUSE_DOWN/UP</a:t>
            </a:r>
          </a:p>
          <a:p>
            <a:pPr>
              <a:spcAft>
                <a:spcPts val="4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[0:8]   Action frequency distribution</a:t>
            </a:r>
          </a:p>
          <a:p>
            <a:pPr>
              <a:spcAft>
                <a:spcPts val="4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[8:12]  Click position statistics</a:t>
            </a:r>
          </a:p>
          <a:p>
            <a:pPr>
              <a:spcAft>
                <a:spcPts val="4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[12:18] Temporal metrics (duration, speed)</a:t>
            </a:r>
          </a:p>
          <a:p>
            <a:pPr>
              <a:spcAft>
                <a:spcPts val="4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[18:24] Mouse movement analysis</a:t>
            </a:r>
          </a:p>
          <a:p>
            <a:pPr>
              <a:spcAft>
                <a:spcPts val="4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[24:28] Typing behavior metrics</a:t>
            </a:r>
          </a:p>
          <a:p>
            <a:pPr>
              <a:spcAft>
                <a:spcPts val="4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[28:30] Keyboard shortcut frequency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Classification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14 Models, 3 Tiers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188720"/>
            <a:ext cx="3474720" cy="5486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Tier 1 — Classical ML (7 models)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•  SVM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48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•  Naive Bayes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•  Decision 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788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•  Random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108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•  KNN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429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•  XGBoost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749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•  LightGBM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1188720"/>
            <a:ext cx="3200400" cy="5486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Tier 2 — Deep Learning (4)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828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•  MLP (Multi-Layer Perceptron)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148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•  CNN-1D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•  LSTM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788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•  Transformer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1188720"/>
            <a:ext cx="3474720" cy="5486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Tier 3 — Ensemble (3 models)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7C00"/>
                </a:solidFill>
                <a:latin typeface="Calibri"/>
              </a:defRPr>
            </a:pPr>
            <a:r>
              <a:t>•  Voting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103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Soft voting: SVM + RF + MLP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7C00"/>
                </a:solidFill>
                <a:latin typeface="Calibri"/>
              </a:defRPr>
            </a:pPr>
            <a:r>
              <a:t>•  Stacking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651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Base: SVM + RF + MLP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2926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7C00"/>
                </a:solidFill>
                <a:latin typeface="Calibri"/>
              </a:defRPr>
            </a:pPr>
            <a:r>
              <a:t>•  Late 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200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Branches: SVM + RF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4754880"/>
            <a:ext cx="9144000" cy="73152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F7C00"/>
                </a:solidFill>
              </a:defRPr>
            </a:pPr>
            <a:r>
              <a:t>All 14 models run on the same 150-dim feature vector and produce comparable predictions with confidence scores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CUA-Suite (VideoCUA)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188720"/>
            <a:ext cx="2286000" cy="109728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280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F7C00"/>
                </a:solidFill>
                <a:latin typeface="Calibri"/>
              </a:defRPr>
            </a:pPr>
            <a:r>
              <a:t>7,021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Tasks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40" y="1188720"/>
            <a:ext cx="2286000" cy="109728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1280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F7C00"/>
                </a:solidFill>
                <a:latin typeface="Calibri"/>
              </a:defRPr>
            </a:pPr>
            <a:r>
              <a:t>6,991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Videos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2286000" cy="109728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280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F7C00"/>
                </a:solidFill>
                <a:latin typeface="Calibri"/>
              </a:defRPr>
            </a:pPr>
            <a:r>
              <a:t>~48 GB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Total Size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188720"/>
            <a:ext cx="2286000" cy="109728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280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F7C00"/>
                </a:solidFill>
                <a:latin typeface="Calibri"/>
              </a:defRPr>
            </a:pPr>
            <a:r>
              <a:t>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License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Source: ServiceNow/VideoCUA on HuggingFace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10 Activity Labels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20" y="3566160"/>
            <a:ext cx="2011680" cy="4572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git_operations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3566160"/>
            <a:ext cx="2011680" cy="4572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docker_workflow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77840" y="3566160"/>
            <a:ext cx="2011680" cy="4572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kubernetes_ops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3566160"/>
            <a:ext cx="2011680" cy="4572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terraform_iac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66960" y="3566160"/>
            <a:ext cx="2011680" cy="4572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aws_console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8720" y="4160520"/>
            <a:ext cx="2011680" cy="4572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jenkins_ci_cd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4160520"/>
            <a:ext cx="2011680" cy="4572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coding_editing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7840" y="4160520"/>
            <a:ext cx="2011680" cy="4572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debugging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4160520"/>
            <a:ext cx="2011680" cy="4572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documentation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6960" y="4160520"/>
            <a:ext cx="2011680" cy="4572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other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Labels derived from task instructions via keyword matching in dataset_loader.py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Training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1737360" cy="4572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1. 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Scan dataset directory</a:t>
            </a:r>
            <a:br/>
            <a:r>
              <a:t>(nested dirs, .zip, .jsonl)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417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39" y="1371600"/>
            <a:ext cx="1737360" cy="4572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2. Split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19202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80/20 train/test</a:t>
            </a:r>
            <a:br/>
            <a:r>
              <a:t>stratified by 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399" y="1417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8" y="1371600"/>
            <a:ext cx="1737360" cy="4572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3. Extract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8" y="19202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150-dim features</a:t>
            </a:r>
            <a:br/>
            <a:r>
              <a:t>via FeatureAssembler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18" y="1417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77" y="1371600"/>
            <a:ext cx="1737360" cy="4572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4. Augment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17" y="19202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5x augmentation if</a:t>
            </a:r>
            <a:br/>
            <a:r>
              <a:t>&lt; 100 training samples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37" y="1417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596" y="1371600"/>
            <a:ext cx="1737360" cy="4572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5. Train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36" y="19202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All 14 models</a:t>
            </a:r>
            <a:br/>
            <a:r>
              <a:t>sequentially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56" y="1417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15" y="1371600"/>
            <a:ext cx="1737360" cy="4572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6. Evaluate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55" y="19202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Accuracy, F1-macro</a:t>
            </a:r>
            <a:br/>
            <a:r>
              <a:t>latency, training time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8720" y="3200400"/>
            <a:ext cx="9601200" cy="64008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8A745"/>
                </a:solidFill>
              </a:defRPr>
            </a:pPr>
            <a:r>
              <a:t>python -m app.train --dataset-root ./dataset --model-dir ./models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Sample Results (80-task subset)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4572000"/>
            <a:ext cx="365760" cy="32004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45720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4572000"/>
            <a:ext cx="2011680" cy="32004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0" y="4572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4572000"/>
            <a:ext cx="1097280" cy="32004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4572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Tier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4572000"/>
            <a:ext cx="1371600" cy="32004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0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4572000"/>
            <a:ext cx="1371600" cy="32004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F1 Macro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4572000"/>
            <a:ext cx="1371600" cy="32004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Latency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4892040"/>
            <a:ext cx="365760" cy="32004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28800" y="48920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7C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94560" y="4892040"/>
            <a:ext cx="2011680" cy="32004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94560" y="4892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7C00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4892040"/>
            <a:ext cx="1097280" cy="32004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06240" y="4892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7C00"/>
                </a:solidFill>
                <a:latin typeface="Calibri"/>
              </a:defRPr>
            </a:pPr>
            <a:r>
              <a:t>Tier 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0" y="4892040"/>
            <a:ext cx="1371600" cy="32004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0" y="4892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0.8491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75120" y="4892040"/>
            <a:ext cx="1371600" cy="32004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0" y="4892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0.6583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46720" y="4892040"/>
            <a:ext cx="1371600" cy="32004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6720" y="4892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7C00"/>
                </a:solidFill>
                <a:latin typeface="Calibri"/>
              </a:defRPr>
            </a:pPr>
            <a:r>
              <a:t>27.6ms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0" y="5212080"/>
            <a:ext cx="365760" cy="32004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828800" y="52120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7C0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94560" y="5212080"/>
            <a:ext cx="2011680" cy="32004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94560" y="5212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7C00"/>
                </a:solidFill>
                <a:latin typeface="Calibri"/>
              </a:defRPr>
            </a:pPr>
            <a:r>
              <a:t>Decision Tree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5212080"/>
            <a:ext cx="1097280" cy="32004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06240" y="5212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7C00"/>
                </a:solidFill>
                <a:latin typeface="Calibri"/>
              </a:defRPr>
            </a:pPr>
            <a:r>
              <a:t>Tier 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03520" y="5212080"/>
            <a:ext cx="1371600" cy="32004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03520" y="5212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0.8868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75120" y="5212080"/>
            <a:ext cx="1371600" cy="32004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75120" y="5212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0.5808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46720" y="5212080"/>
            <a:ext cx="1371600" cy="32004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46720" y="5212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0.2ms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0" y="5532120"/>
            <a:ext cx="365760" cy="32004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828800" y="5532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7C0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194560" y="5532120"/>
            <a:ext cx="2011680" cy="32004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94560" y="5532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7C00"/>
                </a:solidFill>
                <a:latin typeface="Calibri"/>
              </a:defRPr>
            </a:pPr>
            <a:r>
              <a:t>SVM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06240" y="5532120"/>
            <a:ext cx="1097280" cy="32004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06240" y="5532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7C00"/>
                </a:solidFill>
                <a:latin typeface="Calibri"/>
              </a:defRPr>
            </a:pPr>
            <a:r>
              <a:t>Tier 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303520" y="5532120"/>
            <a:ext cx="1371600" cy="32004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03520" y="5532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0.7925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75120" y="5532120"/>
            <a:ext cx="1371600" cy="32004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75120" y="5532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0.4964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46720" y="5532120"/>
            <a:ext cx="1371600" cy="32004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46720" y="5532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7C00"/>
                </a:solidFill>
                <a:latin typeface="Calibri"/>
              </a:defRPr>
            </a:pPr>
            <a:r>
              <a:t>1.5ms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188720"/>
            <a:ext cx="3474720" cy="4572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Backend (Python 3.11)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3736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F7C00"/>
                </a:solidFill>
                <a:latin typeface="Calibri"/>
              </a:defRPr>
            </a:pPr>
            <a:r>
              <a:t>•  FastAPI + Uvicorn</a:t>
            </a:r>
          </a:p>
          <a:p>
            <a:pPr>
              <a:spcAft>
                <a:spcPts val="400"/>
              </a:spcAft>
              <a:defRPr sz="1300">
                <a:solidFill>
                  <a:srgbClr val="EF7C00"/>
                </a:solidFill>
                <a:latin typeface="Calibri"/>
              </a:defRPr>
            </a:pPr>
            <a:r>
              <a:t>•  PyTorch (Deep Learning)</a:t>
            </a:r>
          </a:p>
          <a:p>
            <a:pPr>
              <a:spcAft>
                <a:spcPts val="400"/>
              </a:spcAft>
              <a:defRPr sz="1300">
                <a:solidFill>
                  <a:srgbClr val="EF7C00"/>
                </a:solidFill>
                <a:latin typeface="Calibri"/>
              </a:defRPr>
            </a:pPr>
            <a:r>
              <a:t>•  scikit-learn, XGBoost, LightGBM</a:t>
            </a:r>
          </a:p>
          <a:p>
            <a:pPr>
              <a:spcAft>
                <a:spcPts val="400"/>
              </a:spcAft>
              <a:defRPr sz="1300">
                <a:solidFill>
                  <a:srgbClr val="EF7C00"/>
                </a:solidFill>
                <a:latin typeface="Calibri"/>
              </a:defRPr>
            </a:pPr>
            <a:r>
              <a:t>•  OpenCV (Computer Vision)</a:t>
            </a:r>
          </a:p>
          <a:p>
            <a:pPr>
              <a:spcAft>
                <a:spcPts val="400"/>
              </a:spcAft>
              <a:defRPr sz="1300">
                <a:solidFill>
                  <a:srgbClr val="EF7C00"/>
                </a:solidFill>
                <a:latin typeface="Calibri"/>
              </a:defRPr>
            </a:pPr>
            <a:r>
              <a:t>•  EasyOCR + Tesseract (OCR)</a:t>
            </a:r>
          </a:p>
          <a:p>
            <a:pPr>
              <a:spcAft>
                <a:spcPts val="400"/>
              </a:spcAft>
              <a:defRPr sz="1300">
                <a:solidFill>
                  <a:srgbClr val="EF7C00"/>
                </a:solidFill>
                <a:latin typeface="Calibri"/>
              </a:defRPr>
            </a:pPr>
            <a:r>
              <a:t>•  Ultralytics YOLOv8 (UI Detection)</a:t>
            </a:r>
          </a:p>
          <a:p>
            <a:pPr>
              <a:spcAft>
                <a:spcPts val="400"/>
              </a:spcAft>
              <a:defRPr sz="1300">
                <a:solidFill>
                  <a:srgbClr val="EF7C00"/>
                </a:solidFill>
                <a:latin typeface="Calibri"/>
              </a:defRPr>
            </a:pPr>
            <a:r>
              <a:t>•  SQLAlchemy async + Pydantic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188720"/>
            <a:ext cx="3017520" cy="4572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7373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F7C00"/>
                </a:solidFill>
                <a:latin typeface="Calibri"/>
              </a:defRPr>
            </a:pPr>
            <a:r>
              <a:t>•  React + TypeScript</a:t>
            </a:r>
          </a:p>
          <a:p>
            <a:pPr>
              <a:spcAft>
                <a:spcPts val="400"/>
              </a:spcAft>
              <a:defRPr sz="1300">
                <a:solidFill>
                  <a:srgbClr val="EF7C00"/>
                </a:solidFill>
                <a:latin typeface="Calibri"/>
              </a:defRPr>
            </a:pPr>
            <a:r>
              <a:t>•  Vite (build tool)</a:t>
            </a:r>
          </a:p>
          <a:p>
            <a:pPr>
              <a:spcAft>
                <a:spcPts val="400"/>
              </a:spcAft>
              <a:defRPr sz="1300">
                <a:solidFill>
                  <a:srgbClr val="EF7C00"/>
                </a:solidFill>
                <a:latin typeface="Calibri"/>
              </a:defRPr>
            </a:pPr>
            <a:r>
              <a:t>•  nginx (production)</a:t>
            </a:r>
          </a:p>
          <a:p>
            <a:pPr>
              <a:spcAft>
                <a:spcPts val="400"/>
              </a:spcAft>
              <a:defRPr sz="1300">
                <a:solidFill>
                  <a:srgbClr val="EF7C00"/>
                </a:solidFill>
                <a:latin typeface="Calibri"/>
              </a:defRPr>
            </a:pPr>
            <a:r>
              <a:t>•  Model comparison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188720"/>
            <a:ext cx="3474720" cy="4572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7373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F7C00"/>
                </a:solidFill>
                <a:latin typeface="Calibri"/>
              </a:defRPr>
            </a:pPr>
            <a:r>
              <a:t>•  Docker Compose (3 services)</a:t>
            </a:r>
          </a:p>
          <a:p>
            <a:pPr>
              <a:spcAft>
                <a:spcPts val="400"/>
              </a:spcAft>
              <a:defRPr sz="1300">
                <a:solidFill>
                  <a:srgbClr val="EF7C00"/>
                </a:solidFill>
                <a:latin typeface="Calibri"/>
              </a:defRPr>
            </a:pPr>
            <a:r>
              <a:t>•  PostgreSQL 16 + pgvector</a:t>
            </a:r>
          </a:p>
          <a:p>
            <a:pPr>
              <a:spcAft>
                <a:spcPts val="400"/>
              </a:spcAft>
              <a:defRPr sz="1300">
                <a:solidFill>
                  <a:srgbClr val="EF7C00"/>
                </a:solidFill>
                <a:latin typeface="Calibri"/>
              </a:defRPr>
            </a:pPr>
            <a:r>
              <a:t>•  Terraform (IaC)</a:t>
            </a:r>
          </a:p>
          <a:p>
            <a:pPr>
              <a:spcAft>
                <a:spcPts val="400"/>
              </a:spcAft>
              <a:defRPr sz="1300">
                <a:solidFill>
                  <a:srgbClr val="EF7C00"/>
                </a:solidFill>
                <a:latin typeface="Calibri"/>
              </a:defRPr>
            </a:pPr>
            <a:r>
              <a:t>•  AWS EC2 (training)</a:t>
            </a:r>
          </a:p>
          <a:p>
            <a:pPr>
              <a:spcAft>
                <a:spcPts val="400"/>
              </a:spcAft>
              <a:defRPr sz="1300">
                <a:solidFill>
                  <a:srgbClr val="EF7C00"/>
                </a:solidFill>
                <a:latin typeface="Calibri"/>
              </a:defRPr>
            </a:pPr>
            <a:r>
              <a:t>•  HuggingFace Hub (dataset)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3108960"/>
            <a:ext cx="3017520" cy="45720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Dev &amp;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6576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F7C00"/>
                </a:solidFill>
                <a:latin typeface="Calibri"/>
              </a:defRPr>
            </a:pPr>
            <a:r>
              <a:t>•  pytest + pytest-asyncio</a:t>
            </a:r>
          </a:p>
          <a:p>
            <a:pPr>
              <a:spcAft>
                <a:spcPts val="400"/>
              </a:spcAft>
              <a:defRPr sz="1300">
                <a:solidFill>
                  <a:srgbClr val="EF7C00"/>
                </a:solidFill>
                <a:latin typeface="Calibri"/>
              </a:defRPr>
            </a:pPr>
            <a:r>
              <a:t>•  ruff (linting), mypy (typing)</a:t>
            </a:r>
          </a:p>
          <a:p>
            <a:pPr>
              <a:spcAft>
                <a:spcPts val="400"/>
              </a:spcAft>
              <a:defRPr sz="1300">
                <a:solidFill>
                  <a:srgbClr val="EF7C00"/>
                </a:solidFill>
                <a:latin typeface="Calibri"/>
              </a:defRPr>
            </a:pPr>
            <a:r>
              <a:t>•  Alembic (migrations)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F7C00"/>
                </a:solidFill>
                <a:latin typeface="Calibri"/>
              </a:defRPr>
            </a:pPr>
            <a:r>
              <a:t>Upload a screen recording  →  Feature extraction  →  14 classifiers  → 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http://localhost:5173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Upload &amp; Analysis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371600"/>
            <a:ext cx="2560320" cy="16459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Drop MP4/MOV/WebM</a:t>
            </a:r>
            <a:br/>
            <a:r>
              <a:t>screen recording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371600"/>
            <a:ext cx="2560320" cy="164592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Extract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OCR + YOLO + OpenCV</a:t>
            </a:r>
            <a:br/>
            <a:r>
              <a:t>+ Action parsing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371600"/>
            <a:ext cx="2560320" cy="164592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Classify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All 14 models run</a:t>
            </a:r>
            <a:br/>
            <a:r>
              <a:t>on 150-dim vector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371600"/>
            <a:ext cx="2560320" cy="16459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Compare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Ranked table with</a:t>
            </a:r>
            <a:br/>
            <a:r>
              <a:t>confidence &amp; 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Calibri"/>
              </a:defRPr>
            </a:pPr>
            <a:r>
              <a:t>Progress bar shows real-time status: extracting frames → running OCR → detecting UI → analyzing visuals → reading interactions → classifying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4389120"/>
            <a:ext cx="7315200" cy="13716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[Insert screenshot of the results page here]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Deployment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188720"/>
            <a:ext cx="5029200" cy="5486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Docker Compose — Local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288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3 services: frontend, backend, database</a:t>
            </a:r>
          </a:p>
          <a:p>
            <a:pPr>
              <a:spcAft>
                <a:spcPts val="6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Backend: 6 GB memory limit for ML models</a:t>
            </a:r>
          </a:p>
          <a:p>
            <a:pPr>
              <a:spcAft>
                <a:spcPts val="6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PostgreSQL 16 + pgvector for embeddings</a:t>
            </a:r>
          </a:p>
          <a:p>
            <a:pPr>
              <a:spcAft>
                <a:spcPts val="6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Dataset mounted as read-only volume</a:t>
            </a:r>
          </a:p>
          <a:p>
            <a:pPr>
              <a:spcAft>
                <a:spcPts val="6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Models persisted in named volume</a:t>
            </a:r>
          </a:p>
          <a:p>
            <a:pPr>
              <a:spcAft>
                <a:spcPts val="6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Single command: docker compose up --build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188720"/>
            <a:ext cx="4846320" cy="54864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AWS EC2 — Training &amp; 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82880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Instance: t3.xlarge (4 vCPU, 16 GB RAM)</a:t>
            </a:r>
          </a:p>
          <a:p>
            <a:pPr>
              <a:spcAft>
                <a:spcPts val="6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Storage: 100 GB EBS (gp3)</a:t>
            </a:r>
          </a:p>
          <a:p>
            <a:pPr>
              <a:spcAft>
                <a:spcPts val="6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AMI: Ubuntu 24.04</a:t>
            </a:r>
          </a:p>
          <a:p>
            <a:pPr>
              <a:spcAft>
                <a:spcPts val="6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Terraform IaC for resource provisioning</a:t>
            </a:r>
          </a:p>
          <a:p>
            <a:pPr>
              <a:spcAft>
                <a:spcPts val="6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All resources tagged: Project=video2knowledge</a:t>
            </a:r>
          </a:p>
          <a:p>
            <a:pPr>
              <a:spcAft>
                <a:spcPts val="600"/>
              </a:spcAft>
              <a:defRPr sz="1400">
                <a:solidFill>
                  <a:srgbClr val="EF7C00"/>
                </a:solidFill>
                <a:latin typeface="Calibri"/>
              </a:defRPr>
            </a:pPr>
            <a:r>
              <a:t>•  Estimated training cost: ~$1.50-2.00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Dataset → Docker Volume Mapping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4846320"/>
            <a:ext cx="9601200" cy="73152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8A745"/>
                </a:solidFill>
              </a:defRPr>
            </a:pPr>
            <a:r>
              <a:t>Host: ./dataset/VideoCUA/  ──volume (ro)──▶  Container: /app/dataset/</a:t>
            </a:r>
            <a:br/>
            <a:r>
              <a:t>Host: ./models/            ──volume (rw)──▶  Container: /app/models/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Challenges &amp;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188720"/>
            <a:ext cx="2286000" cy="457200"/>
          </a:xfrm>
          <a:prstGeom prst="roundRect">
            <a:avLst/>
          </a:prstGeom>
          <a:solidFill>
            <a:srgbClr val="802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macOS OpenMP Crash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7C00"/>
                </a:solidFill>
                <a:latin typeface="Calibri"/>
              </a:defRPr>
            </a:pPr>
            <a:r>
              <a:t>YOLO + PyTorch conflict on macOS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188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A745"/>
                </a:solidFill>
                <a:latin typeface="Calibri"/>
              </a:defRPr>
            </a:pPr>
            <a:r>
              <a:t>Auto-detect OS; fallback to synthetic features locally, real extraction in Docker/Linux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2286000"/>
            <a:ext cx="2286000" cy="457200"/>
          </a:xfrm>
          <a:prstGeom prst="roundRect">
            <a:avLst/>
          </a:prstGeom>
          <a:solidFill>
            <a:srgbClr val="802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Large Dataset (48 GB)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7C00"/>
                </a:solidFill>
                <a:latin typeface="Calibri"/>
              </a:defRPr>
            </a:pPr>
            <a:r>
              <a:t>Cannot fit in memory or train locally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286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A745"/>
                </a:solidFill>
                <a:latin typeface="Calibri"/>
              </a:defRPr>
            </a:pPr>
            <a:r>
              <a:t>Streaming dataset loader; AWS EC2 for cloud training; Google Colab as free alternative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3383280"/>
            <a:ext cx="2286000" cy="457200"/>
          </a:xfrm>
          <a:prstGeom prst="roundRect">
            <a:avLst/>
          </a:prstGeom>
          <a:solidFill>
            <a:srgbClr val="802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Slow CPU Inference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7C00"/>
                </a:solidFill>
                <a:latin typeface="Calibri"/>
              </a:defRPr>
            </a:pPr>
            <a:r>
              <a:t>YOLO on CPU takes minutes per 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3832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A745"/>
                </a:solidFill>
                <a:latin typeface="Calibri"/>
              </a:defRPr>
            </a:pPr>
            <a:r>
              <a:t>Batched frame processing; pin_memory disabled on CPU; GPU support via Docker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4480560"/>
            <a:ext cx="2286000" cy="457200"/>
          </a:xfrm>
          <a:prstGeom prst="roundRect">
            <a:avLst/>
          </a:prstGeom>
          <a:solidFill>
            <a:srgbClr val="802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Class Imbalance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480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7C00"/>
                </a:solidFill>
                <a:latin typeface="Calibri"/>
              </a:defRPr>
            </a:pPr>
            <a:r>
              <a:t>Uneven activity label distribution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4805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A745"/>
                </a:solidFill>
                <a:latin typeface="Calibri"/>
              </a:defRPr>
            </a:pPr>
            <a:r>
              <a:t>Stratified train/test split; 5x augmentation for datasets &lt; 100 samples; F1-macro as primary metric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188720"/>
            <a:ext cx="73152" cy="64008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RAG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508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Add retrieval-augmented generation for knowledge extraction from classified video segments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2057400"/>
            <a:ext cx="73152" cy="64008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MLflow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3774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Experiment tracking, model versioning, and automated model selection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2926080"/>
            <a:ext cx="73152" cy="64008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GPU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2461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CUDA-accelerated inference for real-time video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3794760"/>
            <a:ext cx="73152" cy="64008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3794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Additional Datasets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114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Extend beyond CUA-Suite to cover more diverse screen activity patterns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4663440"/>
            <a:ext cx="73152" cy="64008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Active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9834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Iterative model improvement with user feedback on misclassified segments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F7C00"/>
                </a:solidFill>
                <a:latin typeface="Calibri"/>
              </a:defRPr>
            </a:pPr>
            <a:r>
              <a:t>✓  Built a multimodal feature extraction pipeline (150-dim vector from 4 modalities)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F7C00"/>
                </a:solidFill>
                <a:latin typeface="Calibri"/>
              </a:defRPr>
            </a:pPr>
            <a:r>
              <a:t>✓  Implemented 14 classification models across 3 tiers with benchmarking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F7C00"/>
                </a:solidFill>
                <a:latin typeface="Calibri"/>
              </a:defRPr>
            </a:pPr>
            <a:r>
              <a:t>✓  Developed a full-stack web application for video analysis and model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F7C00"/>
                </a:solidFill>
                <a:latin typeface="Calibri"/>
              </a:defRPr>
            </a:pPr>
            <a:r>
              <a:t>✓  Containerized with Docker and provisioned AWS infrastructure with Terraform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F7C00"/>
                </a:solidFill>
                <a:latin typeface="Calibri"/>
              </a:defRPr>
            </a:pPr>
            <a:r>
              <a:t>✓  Validated on CUA-Suite dataset with 10 activity classes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Key Numbers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0" y="4937760"/>
            <a:ext cx="2011680" cy="9144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4983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349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  <a:br/>
            <a:r>
              <a:t>Dimensions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4937760"/>
            <a:ext cx="2011680" cy="9144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4983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5349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Classification</a:t>
            </a:r>
            <a:br/>
            <a:r>
              <a:t>Models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937760"/>
            <a:ext cx="2011680" cy="9144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4983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349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  <a:br/>
            <a:r>
              <a:t>Modalities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4937760"/>
            <a:ext cx="2011680" cy="9144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4983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5349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Activity</a:t>
            </a:r>
            <a:br/>
            <a:r>
              <a:t>Classes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F7C00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Muneeswaran Muthaiah  |  muthaiah_muneeswaran@u.nus.edu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github.com/laxmi1707/PatternRecognSystem-Video2Text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