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58" dt="2026-09-26T11:29:17.6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Video2Knowledge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A Multimodal Pattern Recognition Framework for</a:t>
            </a:r>
            <a:br/>
            <a:r>
              <a:t>Screen Activity Understanding and Knowledge Extraction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rPr lang="en-GB" dirty="0"/>
              <a:t>Practice Project Group 21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4663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  <a:latin typeface="Calibri"/>
              </a:defRPr>
            </a:pPr>
            <a:r>
              <a:t>M.Tech in Artificial Intelligence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  <a:latin typeface="Calibri"/>
              </a:defRPr>
            </a:pPr>
            <a:r>
              <a:t>National University of Singapore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Pattern Recognition Systems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144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1.  Problem Statement &amp; Motivation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2.  Objectives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3.  System Architecture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4.  Feature Extraction Pipeline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5.  Classification Models (3 Tiers, 14 Models)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6.  Dataset — CUA-Suite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7.  Training Pipeline &amp; Results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8.  Technology Stack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9.  Live Demo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10. Deployment (Docker + AWS)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11. Challenges &amp; Solutions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12. Future Work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2D2D2D"/>
                </a:solidFill>
                <a:latin typeface="Calibri"/>
              </a:defRPr>
            </a:pPr>
            <a:r>
              <a:t>•  Screen recordings contain rich multimodal information (text, UI elements, visual patterns, user interactions) but are opaque to automated analysis</a:t>
            </a:r>
          </a:p>
          <a:p>
            <a:pPr>
              <a:spcAft>
                <a:spcPts val="1600"/>
              </a:spcAft>
              <a:defRPr sz="1700">
                <a:solidFill>
                  <a:srgbClr val="2D2D2D"/>
                </a:solidFill>
                <a:latin typeface="Calibri"/>
              </a:defRPr>
            </a:pPr>
            <a:r>
              <a:t>•  Manually reviewing hours of screen activity recordings is time-consuming and error-prone</a:t>
            </a:r>
          </a:p>
          <a:p>
            <a:pPr>
              <a:spcAft>
                <a:spcPts val="1600"/>
              </a:spcAft>
              <a:defRPr sz="1700">
                <a:solidFill>
                  <a:srgbClr val="2D2D2D"/>
                </a:solidFill>
                <a:latin typeface="Calibri"/>
              </a:defRPr>
            </a:pPr>
            <a:r>
              <a:t>•  Existing video classification approaches focus on natural video scenes, not screen activity patterns</a:t>
            </a:r>
          </a:p>
          <a:p>
            <a:pPr>
              <a:spcAft>
                <a:spcPts val="1600"/>
              </a:spcAft>
              <a:defRPr sz="1700">
                <a:solidFill>
                  <a:srgbClr val="2D2D2D"/>
                </a:solidFill>
                <a:latin typeface="Calibri"/>
              </a:defRPr>
            </a:pPr>
            <a:r>
              <a:t>•  No unified framework combines OCR, UI detection, visual analysis, and interaction tracking for screen recordings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572000"/>
            <a:ext cx="9144000" cy="10972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007ACC"/>
                </a:solidFill>
              </a:defRPr>
            </a:pPr>
            <a:r>
              <a:t>How can we automatically classify and understand screen activity</a:t>
            </a:r>
            <a:br/>
            <a:r>
              <a:t>from video recordings using multimodal pattern recognition?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4572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2D2D"/>
                </a:solidFill>
                <a:latin typeface="Calibri"/>
              </a:defRPr>
            </a:pPr>
            <a:r>
              <a:t>Build a multimodal feature extraction pipeline combining OCR, UI detection, visual analysis, and interaction tracking into a unified 150-dimensional feature vector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286000"/>
            <a:ext cx="4572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2860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2D2D"/>
                </a:solidFill>
                <a:latin typeface="Calibri"/>
              </a:defRPr>
            </a:pPr>
            <a:r>
              <a:t>Implement and benchmark 14 classification models across 3 tiers: Classical ML, Deep Learning, and Ensemble methods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200400"/>
            <a:ext cx="4572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004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2D2D"/>
                </a:solidFill>
                <a:latin typeface="Calibri"/>
              </a:defRPr>
            </a:pPr>
            <a:r>
              <a:t>Develop an end-to-end web application for video upload, analysis, and interactive model comparison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114800"/>
            <a:ext cx="4572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4114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2D2D"/>
                </a:solidFill>
                <a:latin typeface="Calibri"/>
              </a:defRPr>
            </a:pPr>
            <a:r>
              <a:t>Train and evaluate on the CUA-Suite dataset (7,021 tasks, ~48 GB) for real-world screen activity classification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029200"/>
            <a:ext cx="4572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50292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2D2D"/>
                </a:solidFill>
                <a:latin typeface="Calibri"/>
              </a:defRPr>
            </a:pPr>
            <a:r>
              <a:t>Deploy as a containerized microservice architecture using Docker and AWS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286000" cy="10972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Upload</a:t>
            </a:r>
            <a:br/>
            <a:r>
              <a:t>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9202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645920"/>
            <a:ext cx="2286000" cy="109728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Feature</a:t>
            </a:r>
            <a:br/>
            <a:r>
              <a:t>Extraction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9202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2286000" cy="109728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14 Classifiers</a:t>
            </a:r>
            <a:br/>
            <a:r>
              <a:t>(3 Tiers)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9202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1645920"/>
            <a:ext cx="2286000" cy="10972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Model</a:t>
            </a:r>
            <a:br/>
            <a:r>
              <a:t>Comparison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474720"/>
            <a:ext cx="3108960" cy="13716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Frontend</a:t>
            </a:r>
            <a:br/>
            <a:r>
              <a:t>React + TypeScript + Vite</a:t>
            </a:r>
            <a:br/>
            <a:r>
              <a:t>Port 5173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3474720"/>
            <a:ext cx="3108960" cy="137160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Backend</a:t>
            </a:r>
            <a:br/>
            <a:r>
              <a:t>FastAPI + ML Pipeline</a:t>
            </a:r>
            <a:br/>
            <a:r>
              <a:t>Port 8000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3474720"/>
            <a:ext cx="3108960" cy="13716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Database</a:t>
            </a:r>
            <a:br/>
            <a:r>
              <a:t>PostgreSQL 16 + pgvector</a:t>
            </a:r>
            <a:br/>
            <a:r>
              <a:t>Port 5434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Docker Compose orchestrates all 3 services  |  SQLite for local dev, PostgreSQL for production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Feature Extraction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4 parallel extractors produce a unified 150-dimensional feature vector per video segment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2651760" cy="10972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OCR Features</a:t>
            </a:r>
            <a:br/>
            <a:r>
              <a:t>50 dimensions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EasyOCR + Tesseract</a:t>
            </a:r>
            <a:br/>
            <a:r>
              <a:t>TF-IDF vectorization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828800"/>
            <a:ext cx="2651760" cy="109728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UI Detection</a:t>
            </a:r>
            <a:br/>
            <a:r>
              <a:t>30 dimensions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301752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YOLOv8 nano</a:t>
            </a:r>
            <a:br/>
            <a:r>
              <a:t>12 UI element classes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2651760" cy="109728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Visual Features</a:t>
            </a:r>
            <a:br/>
            <a:r>
              <a:t>40 dimensions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01752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OpenCV</a:t>
            </a:r>
            <a:br/>
            <a:r>
              <a:t>Color, edge, texture, layout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98280" y="1828800"/>
            <a:ext cx="2651760" cy="10972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Interaction</a:t>
            </a:r>
            <a:br/>
            <a:r>
              <a:t>30 dimensions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20" y="301752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Action log parsing</a:t>
            </a:r>
            <a:br/>
            <a:r>
              <a:t>8 action types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8404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D2D2D"/>
                </a:solidFill>
                <a:latin typeface="Calibri"/>
              </a:defRPr>
            </a:pPr>
            <a:r>
              <a:t>↓              ↓              ↓              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4389120"/>
            <a:ext cx="6400800" cy="73152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Concatenated 150-dim Feature Vector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[0-49] OCR  |  [50-79] UI Elements  |  [80-119] Visual  |  [120-149] Interaction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Feature Details: OCR &amp; UI Detection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5486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OCR Features — 50 dimensions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Primary: EasyOCR (GPU-optional)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Fallback: Tesseract (when confidence &lt; 0.3)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TF-IDF vectorization (max_features=50)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English stop words removal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Extracts text from video keyframes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5486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UI Detection — 30 dimensions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01168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Model: YOLOv8n (nano), conf &gt; 0.25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12 UI classes: button, text_field, menu,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    dropdown, toolbar, sidebar, tab, dialog,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    terminal, icon, scroll_bar, status_bar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[0:12]  Element type distribution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[12:20] Spatial layout stats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[20:24] Detection confidence stats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[24:30] UI complexity metrics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Feature Details: Visual &amp; Interaction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5486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Visual Features — 40 dimensions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[0:18]  Color histogram (6 bins x 3 RGB)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[18:21] Edge density (Canny + Sobel)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[21:27] Texture (Gabor filters, 3 orientations)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[27:32] Scene (intensity, saturation, brightness)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[32:40] Layout (2x2 quadrant grid analysis)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Averaged across all keyframes per segment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5486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Interaction Features — 30 dimensions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01168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8 action types: CLICK, MOVE_TO, TYPING,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    DRAG_TO, HOTKEY, PRESS, MOUSE_DOWN/UP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[0:8]   Action frequency distribution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[8:12]  Click position statistics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[12:18] Temporal metrics (duration, speed)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[18:24] Mouse movement analysis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[24:28] Typing behavior metrics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[28:30] Keyboard shortcut frequency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Classification Models — 14 Models, 3 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5486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Tier 1 — Classical ML (7 models)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•  SVM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•  Naive Bayes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•  Decision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•  Random Forest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•  KNN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11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•  XGBoost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•  LightGBM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71600"/>
            <a:ext cx="3200400" cy="5486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Tier 2 — Deep Learning (4)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0116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•  MLP (Multi-Layer Perceptron)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3317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•  CNN-1D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651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•  LSTM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9718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•  Transformer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371600"/>
            <a:ext cx="3657600" cy="5486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Tier 3 — Ensemble (3 models)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11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•  Voting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Soft voting: SVM + RF + MLP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560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•  Stacking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834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Base: SVM + RF + MLP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1089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•  Late Fusion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3832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Branches: SVM + RF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71600" y="5029200"/>
            <a:ext cx="9144000" cy="73152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0">
                <a:solidFill>
                  <a:srgbClr val="F57C00"/>
                </a:solidFill>
              </a:defRPr>
            </a:pPr>
            <a:r>
              <a:t>All 14 models run on the same 150-dim feature vector and produce comparable predictions with confidence scores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Dataset — CUA-Suite (VideoCUA)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468880" cy="10972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ACC"/>
                </a:solidFill>
                <a:latin typeface="Calibri"/>
              </a:defRPr>
            </a:pPr>
            <a:r>
              <a:t>7,021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Tasks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371600"/>
            <a:ext cx="2468880" cy="10972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66160" y="14630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ACC"/>
                </a:solidFill>
                <a:latin typeface="Calibri"/>
              </a:defRPr>
            </a:pPr>
            <a:r>
              <a:t>6,991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9202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Videos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371600"/>
            <a:ext cx="2468880" cy="10972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ACC"/>
                </a:solidFill>
                <a:latin typeface="Calibri"/>
              </a:defRPr>
            </a:pPr>
            <a:r>
              <a:t>~48 GB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202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Total Size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1371600"/>
            <a:ext cx="2468880" cy="10972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14630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ACC"/>
                </a:solidFill>
                <a:latin typeface="Calibri"/>
              </a:defRPr>
            </a:pPr>
            <a:r>
              <a:t>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19202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License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Source: ServiceNow/VideoCUA on HuggingFace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10 Activity Labels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40480"/>
            <a:ext cx="201168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git_operations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26080" y="3840480"/>
            <a:ext cx="201168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docker_workflow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3840480"/>
            <a:ext cx="201168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kubernetes_ops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3840480"/>
            <a:ext cx="201168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terraform_iac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3840480"/>
            <a:ext cx="201168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aws_console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434840"/>
            <a:ext cx="201168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jenkins_ci_cd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26080" y="4434840"/>
            <a:ext cx="201168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coding_editing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0640" y="4434840"/>
            <a:ext cx="201168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debugging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4434840"/>
            <a:ext cx="201168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documentation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09760" y="4434840"/>
            <a:ext cx="201168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other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Labels derived from task instructions via keyword matching in dataset_loader.py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Training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274320" y="1645920"/>
            <a:ext cx="173736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1. Discover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1945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Scan dataset directory</a:t>
            </a:r>
            <a:br/>
            <a:r>
              <a:t>(nested dirs, .zip, .jsonl)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691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80" y="1645920"/>
            <a:ext cx="173736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2. Split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1945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80/20 train/test</a:t>
            </a:r>
            <a:br/>
            <a:r>
              <a:t>stratified by task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40" y="1691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645920"/>
            <a:ext cx="173736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3. Extract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1945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150-dim features</a:t>
            </a:r>
            <a:br/>
            <a:r>
              <a:t>via FeatureAssembler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691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645920"/>
            <a:ext cx="173736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4. Augment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1945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5x augmentation if</a:t>
            </a:r>
            <a:br/>
            <a:r>
              <a:t>&lt; 100 training samples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1691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645920"/>
            <a:ext cx="173736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5. 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945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All 14 models</a:t>
            </a:r>
            <a:br/>
            <a:r>
              <a:t>sequentially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1691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04120" y="1645920"/>
            <a:ext cx="173736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6. Evaluate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5560" y="21945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Accuracy, F1-macro</a:t>
            </a:r>
            <a:br/>
            <a:r>
              <a:t>latency, training 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3474720"/>
            <a:ext cx="10058400" cy="6400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0">
                <a:solidFill>
                  <a:srgbClr val="28A745"/>
                </a:solidFill>
              </a:defRPr>
            </a:pPr>
            <a:r>
              <a:t>python -m app.train --dataset-root ./dataset --model-dir ./models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Sample Results (80-task subset)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8463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#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846320"/>
            <a:ext cx="365760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71600" y="48463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#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48463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37360" y="4846320"/>
            <a:ext cx="2011680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737360" y="48463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4846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Tier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4846320"/>
            <a:ext cx="1097280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749040" y="4846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Tier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48463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4846320"/>
            <a:ext cx="1371600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0" y="48463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48463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F1 Macro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4846320"/>
            <a:ext cx="1371600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217920" y="48463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F1 Macro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48463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Latency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89520" y="4846320"/>
            <a:ext cx="1371600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89520" y="48463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Latency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51663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37360" y="5166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49040" y="51663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Tier 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46320" y="51663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0.8491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51663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0.6583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9520" y="51663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27.6ms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486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37360" y="5486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Decision Tree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49040" y="54864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Tier 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5486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0.8868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486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0.5808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89520" y="5486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0.2ms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71600" y="58064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37360" y="5806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SVM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40" y="5806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Tier 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46320" y="5806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0.7925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0" y="5806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0.4964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89520" y="5806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1.5ms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6576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Backend (Python 3.11)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FastAPI + Uvicorn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PyTorch (Deep Learning)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scikit-learn, XGBoost, LightGBM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OpenCV (Computer Vision)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EasyOCR + Tesseract (OCR)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Ultralytics YOLOv8 (UI Detection)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SQLAlchemy async + Pydantic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200400" cy="45720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92024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React + TypeScript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Vite (build tool)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nginx (production)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Model comparison 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657600" cy="4572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92024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Docker Compose (3 services)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PostgreSQL 16 + pgvector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Terraform (IaC)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AWS EC2 (training)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HuggingFace Hub (dataset)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291840"/>
            <a:ext cx="320040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Dev &amp; Testing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84048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pytest + pytest-asyncio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ruff (linting), mypy (typing)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 Alembic (migrations)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  <a:latin typeface="Calibri"/>
              </a:defRPr>
            </a:pPr>
            <a:r>
              <a:t>Upload a screen recording  →  Feature extraction  →  14 classifiers  →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7ACC"/>
                </a:solidFill>
                <a:latin typeface="Calibri"/>
              </a:defRPr>
            </a:pPr>
            <a:r>
              <a:t>http://localhost:5173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Demo — Upload &amp; Analysis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560320" cy="16459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Upload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Drop MP4/MOV/WebM</a:t>
            </a:r>
            <a:br/>
            <a:r>
              <a:t>screen recording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7560" y="1645920"/>
            <a:ext cx="2560320" cy="164592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Extract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25603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OCR + YOLO + OpenCV</a:t>
            </a:r>
            <a:br/>
            <a:r>
              <a:t>+ Action parsing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2560320" cy="16459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Classify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All 14 models run</a:t>
            </a:r>
            <a:br/>
            <a:r>
              <a:t>on 150-dim vector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8280" y="1645920"/>
            <a:ext cx="2560320" cy="16459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Compare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25603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Ranked table with</a:t>
            </a:r>
            <a:br/>
            <a:r>
              <a:t>confidence &amp; 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66666"/>
                </a:solidFill>
                <a:latin typeface="Calibri"/>
              </a:defRPr>
            </a:pPr>
            <a:r>
              <a:t>Progress bar shows real-time status: extracting frames → running OCR → detecting UI → analyzing visuals → reading interactions → classifying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4572000"/>
            <a:ext cx="7315200" cy="1371600"/>
          </a:xfrm>
          <a:prstGeom prst="round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0">
                <a:solidFill>
                  <a:srgbClr val="666666"/>
                </a:solidFill>
              </a:defRPr>
            </a:pPr>
            <a:r>
              <a:t>[Insert screenshot of the results page here]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Deployment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5486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Docker Compose — Local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3 services: frontend, backend, database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Backend: 6 GB memory limit for ML models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PostgreSQL 16 + pgvector for embeddings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Dataset mounted as read-only volume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Models persisted in named volume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Single command: docker compose up --build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5486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AWS EC2 — Training &amp;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0116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Instance: t3.xlarge (4 vCPU, 16 GB RAM)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Storage: 100 GB EBS (gp3)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AMI: Ubuntu 24.04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Terraform IaC for resource provisioning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All resources tagged: Project=video2knowledge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Estimated training cost: ~$1.50-2.00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Dataset → Docker Volume Mapping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029200"/>
            <a:ext cx="10058400" cy="73152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28A745"/>
                </a:solidFill>
              </a:defRPr>
            </a:pPr>
            <a:r>
              <a:t>Host: ./dataset/VideoCUA/  ──volume (ro)──▶  Container: /app/dataset/</a:t>
            </a:r>
            <a:br/>
            <a:r>
              <a:t>Host: ./models/            ──volume (rw)──▶  Container: /app/models/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Challenges &amp; Solutions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286000" cy="4572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macOS OpenMP Crash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YOLO + PyTorch conflict on macOS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3716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8A745"/>
                </a:solidFill>
                <a:latin typeface="Calibri"/>
              </a:defRPr>
            </a:pPr>
            <a:r>
              <a:t>Auto-detect OS; fallback to synthetic features locally, real extraction in Docker/Linux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2286000" cy="4572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Large Dataset (48 GB)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688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Cannot fit in memory or train locally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4688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8A745"/>
                </a:solidFill>
                <a:latin typeface="Calibri"/>
              </a:defRPr>
            </a:pPr>
            <a:r>
              <a:t>Streaming dataset loader; AWS EC2 for cloud training; Google Colab as free alternative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2286000" cy="4572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Slow CPU Inference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566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YOLO on CPU takes minutes per video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5661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8A745"/>
                </a:solidFill>
                <a:latin typeface="Calibri"/>
              </a:defRPr>
            </a:pPr>
            <a:r>
              <a:t>Batched frame processing; pin_memory disabled on CPU; GPU support via Docker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2286000" cy="4572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Class Imbalance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6634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Uneven activity label distribution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66344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8A745"/>
                </a:solidFill>
                <a:latin typeface="Calibri"/>
              </a:defRPr>
            </a:pPr>
            <a:r>
              <a:t>Stratified train/test split; 5x augmentation for datasets &lt; 100 samples; F1-macro as primary metric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73152" cy="6400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RAG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91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Add retrieval-augmented generation for knowledge extraction from classified video segments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73152" cy="6400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MLflow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560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Experiment tracking, model versioning, and automated model selection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73152" cy="6400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3108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GPU Optimization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429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CUDA-accelerated inference for real-time video analysis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40"/>
            <a:ext cx="73152" cy="6400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3977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Additional Datasets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297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Extend beyond CUA-Suite to cover more diverse screen activity patterns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46320"/>
            <a:ext cx="73152" cy="6400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4846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Active Learning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166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Iterative model improvement with user feedback on misclassified segments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✓  Built a multimodal feature extraction pipeline (150-dim vector from 4 modalities)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✓  Implemented 14 classification models across 3 tiers with benchmarking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✓  Developed a full-stack web application for video analysis and model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383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✓  Containerized with Docker and provisioned AWS infrastructure with Terraform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023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Calibri"/>
              </a:defRPr>
            </a:pPr>
            <a:r>
              <a:t>✓  Validated on CUA-Suite dataset with 10 activity classes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Key Numbers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212080"/>
            <a:ext cx="2011680" cy="10972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71600" y="5303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150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669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Feature</a:t>
            </a:r>
            <a:br/>
            <a:r>
              <a:t>Dimensions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0" y="5212080"/>
            <a:ext cx="2011680" cy="10972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49040" y="5303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5669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Classification</a:t>
            </a:r>
            <a:br/>
            <a:r>
              <a:t>Models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212080"/>
            <a:ext cx="2011680" cy="10972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0" y="5303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669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Feature</a:t>
            </a:r>
            <a:br/>
            <a:r>
              <a:t>Modalities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5212080"/>
            <a:ext cx="2011680" cy="10972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03920" y="5303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5669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Activity</a:t>
            </a:r>
            <a:br/>
            <a:r>
              <a:t>Classes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CCCCCC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  <a:latin typeface="Calibri"/>
              </a:defRPr>
            </a:pPr>
            <a:r>
              <a:t>Muneeswaran Muthaiah  |  muthaiah_muneeswaran@u.nus.edu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7ACC"/>
                </a:solidFill>
                <a:latin typeface="Calibri"/>
              </a:defRPr>
            </a:pPr>
            <a:r>
              <a:t>github.com/laxmi1707/PatternRecognSystem-Video2Text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19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8</cp:revision>
  <dcterms:created xsi:type="dcterms:W3CDTF">2013-01-27T09:14:16Z</dcterms:created>
  <dcterms:modified xsi:type="dcterms:W3CDTF">2026-09-26T11:30:13Z</dcterms:modified>
  <cp:category/>
</cp:coreProperties>
</file>