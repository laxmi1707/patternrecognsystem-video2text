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NUS ISS Practice Module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Requirements Mapping — How Video2Knowledge meets all 4 project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5029200"/>
            <a:ext cx="1645920" cy="8229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Supervised</a:t>
            </a:r>
            <a:br/>
            <a:r>
              <a:t>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5029200"/>
            <a:ext cx="1645920" cy="8229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ML / Deep</a:t>
            </a:r>
            <a:br/>
            <a:r>
              <a:t>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5029200"/>
            <a:ext cx="1645920" cy="8229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Hybrid /</a:t>
            </a:r>
            <a:br/>
            <a:r>
              <a:t>Ensemble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59" y="5029200"/>
            <a:ext cx="1645920" cy="8229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Intelligent</a:t>
            </a:r>
            <a:br/>
            <a:r>
              <a:t>Sensing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Must Demonstrate At Least 3 of 4 Aspects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Oval 8"/>
          <p:cNvSpPr/>
          <p:nvPr/>
        </p:nvSpPr>
        <p:spPr>
          <a:xfrm>
            <a:off x="1188720" y="1188720"/>
            <a:ext cx="457200" cy="4572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234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F7C00"/>
                </a:solidFill>
                <a:latin typeface="Calibri"/>
              </a:defRPr>
            </a:pPr>
            <a:r>
              <a:t>Supervised learning / unsupervised learning scenarios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1965960"/>
            <a:ext cx="457200" cy="4572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0116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F7C00"/>
                </a:solidFill>
                <a:latin typeface="Calibri"/>
              </a:defRPr>
            </a:pPr>
            <a:r>
              <a:t>Machine learning / Deep learning techniques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2743200"/>
            <a:ext cx="457200" cy="4572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88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F7C00"/>
                </a:solidFill>
                <a:latin typeface="Calibri"/>
              </a:defRPr>
            </a:pPr>
            <a:r>
              <a:t>Hybrid machine learning / Ensemble approach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520440"/>
            <a:ext cx="457200" cy="4572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5661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F7C00"/>
                </a:solidFill>
                <a:latin typeface="Calibri"/>
              </a:defRPr>
            </a:pPr>
            <a:r>
              <a:t>Intelligent sensing / sense making techniques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4389120"/>
            <a:ext cx="8534095" cy="7315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Video2Knowledge covers ALL 4 aspects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39496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A practical application demonstrating pattern recognition and ML techniques to solve a real-world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1. Supervised Learning / Unsupervised Learning Scenarios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1E8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What Supervised Learning Means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645920"/>
            <a:ext cx="5029200" cy="9144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• Models learn from LABELED examples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• Input: 150-dim feature vector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• Output: 1 of 9 activity labels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43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Training Process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200400"/>
            <a:ext cx="5029200" cy="20116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9,514 labeled videos from CUA-Suite dataset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Labels: git_operations, docker_workflow,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  kubernetes_ops, aws_console, jenkins_ci_cd,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  coding_editing, debugging, documentation, other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80/20 stratified train/test split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  (7,685 train / 1,924 test)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model.fit(X_train, y_train) → predict → evaluate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Calibri"/>
              </a:defRPr>
            </a:pPr>
            <a:r>
              <a:t>All 14 Models Use Supervised Learning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1645920"/>
            <a:ext cx="457200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1 — Classical ML (7 models)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057400"/>
            <a:ext cx="4572000" cy="502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SVM, Naive Bayes, Decision Tree,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Random Forest, KNN, XGBoost, LightGBM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2697480"/>
            <a:ext cx="4572000" cy="3657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2 — Deep Learning (4 models)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108960"/>
            <a:ext cx="4572000" cy="502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MLP, CNN-1D, LSTM, Transformer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749040"/>
            <a:ext cx="457200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3 — Ensemble (3 models)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160520"/>
            <a:ext cx="4572000" cy="502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Voting, Stacking, Late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206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Where in the code: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48056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train.py: clf.fit(X_train, y_train)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ml_service.py: clf.predict(features)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dataset_loader.py: derive_activity_label() assigns labels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2. Machine Learning / Deep Learning Techniques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45720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Machine Learning  —  Tier 1 (7 Models)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783080"/>
            <a:ext cx="4572000" cy="24688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SVM (Support Vector Machine)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Naive Bayes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Decision Tree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Random Forest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KNN (K-Nearest Neighbors)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XGBoost (Gradient Boosting)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LightGBM (Gradient Boosting)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4389120"/>
            <a:ext cx="320040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scikit-learn library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188720"/>
            <a:ext cx="4572000" cy="4572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Deep Learning  —  Tier 2 (4 Models)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1783080"/>
            <a:ext cx="4572000" cy="24688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MLP (Multi-Layer Perceptron)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   3 fully-connected layers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CNN-1D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   Convolutional filters on feature sequences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LSTM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   Recurrent network with memory gates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• Transformer</a:t>
            </a:r>
          </a:p>
          <a:p>
            <a:pPr algn="l">
              <a:spcAft>
                <a:spcPts val="200"/>
              </a:spcAft>
              <a:defRPr sz="1500">
                <a:solidFill>
                  <a:srgbClr val="EF7C00"/>
                </a:solidFill>
                <a:latin typeface="Calibri"/>
              </a:defRPr>
            </a:pPr>
            <a:r>
              <a:t>   Self-attention mechanism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4389120"/>
            <a:ext cx="3200400" cy="4114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PyTorch framework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188720"/>
            <a:ext cx="36576" cy="3657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Where in the code: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3492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classifiers/tier1/*.py: 7 classical ML implementations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classifiers/tier2/*.py: 4 PyTorch neural networks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Each model: fit(), predict(), save(), load()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3. Hybrid Machine Learning / Ensemble Approach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F42C1"/>
                </a:solidFill>
                <a:latin typeface="Calibri"/>
              </a:defRPr>
            </a:pPr>
            <a:r>
              <a:t>Tier 3 — 3 Ensemble Models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645920"/>
            <a:ext cx="320040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Voting Ensemble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2148840"/>
            <a:ext cx="320040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Combines SVM + Random Forest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+ MLP predictions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Soft voting: averages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probability outputs from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all 3 base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645920"/>
            <a:ext cx="32004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Stacking Ensemble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148840"/>
            <a:ext cx="320040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SVM + RF + MLP produce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probability outputs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Logistic Regression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meta-learner combines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stacked probabilities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45920"/>
            <a:ext cx="3200400" cy="4114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Late Fusion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48840"/>
            <a:ext cx="320040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SVM on text features +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RF on visual features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Meta-learner fuses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modality-specific</a:t>
            </a:r>
          </a:p>
          <a:p>
            <a:pPr algn="ctr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prediction branches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840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F42C1"/>
                </a:solidFill>
                <a:latin typeface="Calibri"/>
              </a:defRPr>
            </a:pPr>
            <a:r>
              <a:t>Hybrid = Combines Classical ML (Tier 1) + Deep Learning (Tier 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4297680"/>
            <a:ext cx="22860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1: Classical 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4297680"/>
            <a:ext cx="2286000" cy="4572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2: Deep Learning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434840"/>
            <a:ext cx="9144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251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297680"/>
            <a:ext cx="256032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3: Ensemble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8720" y="5029200"/>
            <a:ext cx="96012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Key Insight: Stacking achieved the BEST F1 score (0.292) across all 14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Where in the code: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943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classifiers/tier3/voting.py: soft voting over 3 base models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classifiers/tier3/stacking.py: meta-learner on stacked probabilities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onsolas"/>
              </a:defRPr>
            </a:pPr>
            <a:r>
              <a:t>classifiers/tier3/late_fusion.py: modality-specific branches + fusion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4. Intelligent Sensing / Sense Making Techniques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502920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OCR Sensing  (EasyOCR + Tesseract)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1645920"/>
            <a:ext cx="5029200" cy="146304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"Reads text from screen recordings"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TF-IDF vectorization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Fallback OCR pipeline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Text extraction from video frames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→ 50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188720"/>
            <a:ext cx="50292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UI Sensing  (YOLOv8)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45920"/>
            <a:ext cx="5029200" cy="146304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"Detects UI elements on screen"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Object detection: buttons, terminals,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  menus, dialogs, tabs, sidebars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→ 30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3383280"/>
            <a:ext cx="5029200" cy="4114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Visual Sensing  (OpenCV)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3840480"/>
            <a:ext cx="5029200" cy="146304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"Analyzes visual patterns"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Color histograms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Edge detection, texture analysis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Layout analysis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→ 40 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383280"/>
            <a:ext cx="5029200" cy="4114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Behavioral Sensing  (Action Log Parser)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840480"/>
            <a:ext cx="5029200" cy="146304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"Understands user behavior"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Mouse clicks, typing patterns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Keyboard shortcuts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• Movement analysis</a:t>
            </a:r>
          </a:p>
          <a:p>
            <a:pPr algn="l">
              <a:spcAft>
                <a:spcPts val="200"/>
              </a:spcAft>
              <a:defRPr sz="1300">
                <a:solidFill>
                  <a:srgbClr val="EF7C00"/>
                </a:solidFill>
                <a:latin typeface="Calibri"/>
              </a:defRPr>
            </a:pPr>
            <a:r>
              <a:t>→ 30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5349240"/>
            <a:ext cx="10058400" cy="4114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Sense Making: 4 modalities fused into 150-dim multimodal representation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806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Pattern recognition transforms raw video into structured 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806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Output: classified activity labels + workflow step descriptions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Complete Requirements Coverage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188720"/>
            <a:ext cx="50292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Supervised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691640"/>
            <a:ext cx="5029200" cy="155448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9,514 labeled videos from CUA-Suite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14 trained models (all supervised)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F1-macro evaluation metric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80/20 stratified train/test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188720"/>
            <a:ext cx="5029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ML / Deep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691640"/>
            <a:ext cx="5029200" cy="15544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7 classical ML models (scikit-learn)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4 neural network models (PyTorch)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SVM, RF, KNN, XGBoost, LightGBM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MLP, CNN-1D, LSTM, Transformer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566160"/>
            <a:ext cx="50292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Hybrid / Ensemble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4069080"/>
            <a:ext cx="5029200" cy="155448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3 ensemble methods in Tier 3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Voting, Stacking, Late Fusion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Combines Tier 1 + Tier 2 models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Meta-learning / probability fusion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3566160"/>
            <a:ext cx="5029200" cy="4572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Intelligent Sensing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069080"/>
            <a:ext cx="5029200" cy="15544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4 modalities: OCR, YOLO, OpenCV, Actions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150-dim multimodal feature vector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TF-IDF, object detection, histograms</a:t>
            </a:r>
          </a:p>
          <a:p>
            <a:pPr algn="l">
              <a:spcAft>
                <a:spcPts val="200"/>
              </a:spcAft>
              <a:defRPr sz="1400">
                <a:solidFill>
                  <a:srgbClr val="EF7C00"/>
                </a:solidFill>
                <a:latin typeface="Calibri"/>
              </a:defRPr>
            </a:pPr>
            <a:r>
              <a:t>✓ Behavioral analysis + fusion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623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7C00"/>
                </a:solidFill>
                <a:latin typeface="Calibri"/>
              </a:defRPr>
            </a:pPr>
            <a:r>
              <a:t>Real-world application: Screen Activity Classification from Video Recordings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  <a:latin typeface="Calibri"/>
              </a:defRPr>
            </a:pPr>
            <a:r>
              <a:t>Full-stack implementation: React frontend, FastAPI backend, Docker deployment, AWS 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