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1280160"/>
            <a:ext cx="4876495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Video2Knowledge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BBCCDD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Calibri"/>
              </a:defRPr>
            </a:pPr>
            <a:r>
              <a:t>Senior Solution Architecture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A Multimodal Pattern Recognition Framework for</a:t>
            </a:r>
            <a:br/>
            <a:r>
              <a:t>Screen Activity Understanding and Knowledge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760720"/>
            <a:ext cx="4876495" cy="25400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Muneeswaran Muthaiah  |  NUS ISS  |  Pattern Recognition Systems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Solution Overview — Context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C4 Model  |  Level 1: System Context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94560"/>
            <a:ext cx="1280160" cy="12801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👤</a:t>
            </a:r>
            <a:br/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Uploads screen recordings,</a:t>
            </a:r>
            <a:br/>
            <a:r>
              <a:t>views analysis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828800" cy="9144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CUA-Suite</a:t>
            </a:r>
            <a:br/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532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9,514 training videos</a:t>
            </a:r>
            <a:br/>
            <a:r>
              <a:t>from HuggingFace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280160"/>
            <a:ext cx="5029200" cy="4754880"/>
          </a:xfrm>
          <a:prstGeom prst="rect">
            <a:avLst/>
          </a:prstGeom>
          <a:solidFill>
            <a:srgbClr val="E3F2FD"/>
          </a:solidFill>
          <a:ln w="31750">
            <a:solidFill>
              <a:srgbClr val="007A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17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Video2Knowledge System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920240"/>
            <a:ext cx="4114800" cy="34747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1945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Multimodal Pattern Recognition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9748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Classifies screen activities from video recordings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Extracts 150-dim multimodal feature vectors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Compares 14 ML models across 3 tiers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Generates knowledge artifacts (SOP, Runbook)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Tech: React + FastAPI + PostgreSQL + PyTorch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Infrastructure: Docker Compose + AWS EC2 GPU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194560"/>
            <a:ext cx="1828800" cy="109728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AWS EC2</a:t>
            </a:r>
            <a:br/>
            <a:r>
              <a:t>g4dn.xlarge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GPU training</a:t>
            </a:r>
            <a:br/>
            <a:r>
              <a:t>infrastructure (T4)</a:t>
            </a:r>
          </a:p>
        </p:txBody>
      </p:sp>
      <p:sp>
        <p:nvSpPr>
          <p:cNvPr id="16" name="Can 15"/>
          <p:cNvSpPr/>
          <p:nvPr/>
        </p:nvSpPr>
        <p:spPr>
          <a:xfrm>
            <a:off x="2194560" y="2468880"/>
            <a:ext cx="1097280" cy="274320"/>
          </a:xfrm>
          <a:prstGeom prst="can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699"/>
                </a:solidFill>
                <a:latin typeface="Calibri"/>
              </a:defRPr>
            </a:pPr>
            <a:r>
              <a:t>uploads video</a:t>
            </a:r>
          </a:p>
        </p:txBody>
      </p:sp>
      <p:sp>
        <p:nvSpPr>
          <p:cNvPr id="18" name="Can 17"/>
          <p:cNvSpPr/>
          <p:nvPr/>
        </p:nvSpPr>
        <p:spPr>
          <a:xfrm>
            <a:off x="2194560" y="3200400"/>
            <a:ext cx="1097280" cy="274320"/>
          </a:xfrm>
          <a:prstGeom prst="can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474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E7B34"/>
                </a:solidFill>
                <a:latin typeface="Calibri"/>
              </a:defRPr>
            </a:pPr>
            <a:r>
              <a:t>← classification results</a:t>
            </a:r>
          </a:p>
        </p:txBody>
      </p:sp>
      <p:sp>
        <p:nvSpPr>
          <p:cNvPr id="20" name="Can 19"/>
          <p:cNvSpPr/>
          <p:nvPr/>
        </p:nvSpPr>
        <p:spPr>
          <a:xfrm>
            <a:off x="2468880" y="4663440"/>
            <a:ext cx="914400" cy="228600"/>
          </a:xfrm>
          <a:prstGeom prst="can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4389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66666"/>
                </a:solidFill>
                <a:latin typeface="Calibri"/>
              </a:defRPr>
            </a:pPr>
            <a:r>
              <a:t>training data</a:t>
            </a:r>
          </a:p>
        </p:txBody>
      </p:sp>
      <p:sp>
        <p:nvSpPr>
          <p:cNvPr id="22" name="Can 21"/>
          <p:cNvSpPr/>
          <p:nvPr/>
        </p:nvSpPr>
        <p:spPr>
          <a:xfrm>
            <a:off x="8686800" y="2560320"/>
            <a:ext cx="822960" cy="228600"/>
          </a:xfrm>
          <a:prstGeom prst="can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240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46300"/>
                </a:solidFill>
                <a:latin typeface="Calibri"/>
              </a:defRPr>
            </a:pPr>
            <a:r>
              <a:t>training ↔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Container Architecture (Docker Compose)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C4 Model  |  Level 2: Container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557784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24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  <a:latin typeface="Calibri"/>
              </a:defRPr>
            </a:pPr>
            <a:r>
              <a:t>🐋  Docker Compose Boundary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200400" cy="4754880"/>
          </a:xfrm>
          <a:prstGeom prst="rect">
            <a:avLst/>
          </a:prstGeom>
          <a:solidFill>
            <a:srgbClr val="E3F2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20040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  |  Port 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699"/>
                </a:solidFill>
                <a:latin typeface="Calibri"/>
              </a:defRPr>
            </a:pPr>
            <a:r>
              <a:t>React 18 + TypeScript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Runtime: nginx (prod) / Vite dev server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Components: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UploadPage — drag &amp; drop upload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AnalyzingProgress — real-time progress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VideoResults — classification display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ModelComparison — 14-model table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Services: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analysisService.ts — REST client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React Query — cache + polling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Image: node:20-alpine (build)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     nginx:alpine (production)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931920" cy="4754880"/>
          </a:xfrm>
          <a:prstGeom prst="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93192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627632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Backend  |  Port 8000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0312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6300"/>
                </a:solidFill>
                <a:latin typeface="Calibri"/>
              </a:defRPr>
            </a:pPr>
            <a:r>
              <a:t>FastAPI + ML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688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Base Image: NVIDIA CUDA 12.4 (runtime)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Sub-components: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API Layer — FastAPI routers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Video Processor — frame extraction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Feature Assembler — 4-modality fusion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ML Service — 14 model management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Libraries: PyTorch, scikit-learn, XGBoost,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LightGBM, EasyOCR, YOLOv8, OpenCV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Volumes: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./dataset → /app/dataset (ro)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./models → /app/models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554480"/>
            <a:ext cx="2834640" cy="4754880"/>
          </a:xfrm>
          <a:prstGeom prst="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554480"/>
            <a:ext cx="283464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6276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Database  |  Port 5434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7B34"/>
                </a:solidFill>
                <a:latin typeface="Calibri"/>
              </a:defRPr>
            </a:pPr>
            <a:r>
              <a:t>PostgreSQL 16 + pgvector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46888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Tables: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videos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analysis_jobs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classification_results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• model_evaluations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Extensions: pgvector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Volume: pgdata (named)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Driver: SQLAlchemy async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+ asyncpg</a:t>
            </a:r>
          </a:p>
        </p:txBody>
      </p:sp>
      <p:sp>
        <p:nvSpPr>
          <p:cNvPr id="22" name="Can 21"/>
          <p:cNvSpPr/>
          <p:nvPr/>
        </p:nvSpPr>
        <p:spPr>
          <a:xfrm>
            <a:off x="3886200" y="3474720"/>
            <a:ext cx="365760" cy="228600"/>
          </a:xfrm>
          <a:prstGeom prst="can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3200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699"/>
                </a:solidFill>
                <a:latin typeface="Calibri"/>
              </a:defRPr>
            </a:pPr>
            <a:r>
              <a:t>HTTP REST</a:t>
            </a:r>
          </a:p>
        </p:txBody>
      </p:sp>
      <p:sp>
        <p:nvSpPr>
          <p:cNvPr id="24" name="Can 23"/>
          <p:cNvSpPr/>
          <p:nvPr/>
        </p:nvSpPr>
        <p:spPr>
          <a:xfrm>
            <a:off x="8275320" y="3474720"/>
            <a:ext cx="365760" cy="228600"/>
          </a:xfrm>
          <a:prstGeom prst="can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3200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46300"/>
                </a:solidFill>
                <a:latin typeface="Calibri"/>
              </a:defRPr>
            </a:pPr>
            <a:r>
              <a:t>SQLAlchemy async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Backend Component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Layered Architecture  |  Separation of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1143000"/>
          </a:xfrm>
          <a:prstGeom prst="rect">
            <a:avLst/>
          </a:prstGeom>
          <a:solidFill>
            <a:srgbClr val="E3F2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API Layer (FastAPI Routers)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260604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73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routers/videos.py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292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POST /upload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GET /list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60604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73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routers/jobs.py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7292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POST /run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GET /progress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GET /results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260604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73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routers/knowledge.py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7292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POST /sop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POST /runbook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1371600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19" y="1371600"/>
            <a:ext cx="260604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1473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routers/evaluation.py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17292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GET /models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POST /evaluate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760720" y="2212848"/>
            <a:ext cx="320040" cy="256032"/>
          </a:xfrm>
          <a:prstGeom prst="down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487168"/>
            <a:ext cx="11247120" cy="1143000"/>
          </a:xfrm>
          <a:prstGeom prst="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532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  <a:latin typeface="Calibri"/>
              </a:defRPr>
            </a:pPr>
            <a:r>
              <a:t>Service Layer (Business Logic)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2807208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2807208"/>
            <a:ext cx="260604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90880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classification_service.py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1648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Pipeline orchestrator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Coordinates all stages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2807208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2807208"/>
            <a:ext cx="260604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290880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ml_service.py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1648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Model management (singleton)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Load / predict / compare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2807208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2807208"/>
            <a:ext cx="260604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290880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job_service.py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1648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Job status tracking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Progress reporting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19" y="2807208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19" y="2807208"/>
            <a:ext cx="260604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59" y="290880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video_service.py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59" y="316484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Video file management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Metadata persistence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5760720" y="3648456"/>
            <a:ext cx="320040" cy="256032"/>
          </a:xfrm>
          <a:prstGeom prst="down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922776"/>
            <a:ext cx="11247120" cy="1143000"/>
          </a:xfrm>
          <a:prstGeom prst="rect">
            <a:avLst/>
          </a:prstGeom>
          <a:solidFill>
            <a:srgbClr val="F3E5F5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968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2C1"/>
                </a:solidFill>
                <a:latin typeface="Calibri"/>
              </a:defRPr>
            </a:pPr>
            <a:r>
              <a:t>Pipeline Layer (Feature Extraction)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242816"/>
            <a:ext cx="35204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" y="4242816"/>
            <a:ext cx="3520440" cy="508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34441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  <a:latin typeface="Calibri"/>
              </a:defRPr>
            </a:pPr>
            <a:r>
              <a:t>video_processor.py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460044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Segment extraction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Keyframe sampling @ 1fps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15968" y="4242816"/>
            <a:ext cx="35204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15968" y="4242816"/>
            <a:ext cx="3520440" cy="508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07408" y="434441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  <a:latin typeface="Calibri"/>
              </a:defRPr>
            </a:pPr>
            <a:r>
              <a:t>feature_assembler.py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7408" y="460044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4-modality fusion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→ 150-dim feature vector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37576" y="4242816"/>
            <a:ext cx="35204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37576" y="4242816"/>
            <a:ext cx="3520440" cy="508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29016" y="434441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  <a:latin typeface="Calibri"/>
              </a:defRPr>
            </a:pPr>
            <a:r>
              <a:t>temporal_encoder.py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29016" y="460044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Sequence encoding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Time-series features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5760720" y="5084064"/>
            <a:ext cx="320040" cy="256032"/>
          </a:xfrm>
          <a:prstGeom prst="downArrow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5358384"/>
            <a:ext cx="11247120" cy="1325880"/>
          </a:xfrm>
          <a:prstGeom prst="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5404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A745"/>
                </a:solidFill>
                <a:latin typeface="Calibri"/>
              </a:defRPr>
            </a:pPr>
            <a:r>
              <a:t>ML Layer (Classification Models)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5678424"/>
            <a:ext cx="2066543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" y="5678424"/>
            <a:ext cx="2066543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5780024"/>
            <a:ext cx="1883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base.py / registry.py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6036056"/>
            <a:ext cx="18836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BaseClassifier interface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ModelRegistry singleton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825496" y="5678424"/>
            <a:ext cx="2066543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25496" y="5678424"/>
            <a:ext cx="2066543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16936" y="5780024"/>
            <a:ext cx="1883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config.py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16936" y="6036056"/>
            <a:ext cx="18836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MLConfig parameters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ACTIVITY_LABELS (9 classes)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56632" y="5678424"/>
            <a:ext cx="2066543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056632" y="5678424"/>
            <a:ext cx="2066543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48072" y="5780024"/>
            <a:ext cx="1883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classifiers/tier1/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48072" y="6036056"/>
            <a:ext cx="18836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7 classical ML models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SVM, NB, DT, RF, KNN, XGB, LGBM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87768" y="5678424"/>
            <a:ext cx="2066543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87768" y="5678424"/>
            <a:ext cx="2066543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79208" y="5780024"/>
            <a:ext cx="1883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classifiers/tier2/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79208" y="6036056"/>
            <a:ext cx="18836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 deep learning models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MLP, CNN-1D, LSTM, Transformer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18904" y="5678424"/>
            <a:ext cx="2066543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18904" y="5678424"/>
            <a:ext cx="2066543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10344" y="5780024"/>
            <a:ext cx="1883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classifiers/tier3/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10344" y="6036056"/>
            <a:ext cx="18836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 ensemble models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Voting, Stacking, Late Fusion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Multimodal Feature Extraction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4 Parallel Extractors  |  150-Dimensional Feature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1463040" cy="822960"/>
          </a:xfrm>
          <a:prstGeom prst="round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  <a:br/>
            <a:r>
              <a:t>.mp4 + .json</a:t>
            </a:r>
          </a:p>
        </p:txBody>
      </p:sp>
      <p:sp>
        <p:nvSpPr>
          <p:cNvPr id="6" name="Can 5"/>
          <p:cNvSpPr/>
          <p:nvPr/>
        </p:nvSpPr>
        <p:spPr>
          <a:xfrm>
            <a:off x="1783080" y="1371600"/>
            <a:ext cx="320040" cy="182880"/>
          </a:xfrm>
          <a:prstGeom prst="can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0" y="1005840"/>
            <a:ext cx="2011680" cy="1005840"/>
          </a:xfrm>
          <a:prstGeom prst="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051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VideoProcessor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280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extract_frames() @ 1fps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cluster_actions() 2s gaps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2D2D2D"/>
                </a:solidFill>
                <a:latin typeface="Calibri"/>
              </a:defRPr>
            </a:pPr>
            <a:r>
              <a:t>extract_segments() → SegmentData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017520" y="2057400"/>
            <a:ext cx="274320" cy="228600"/>
          </a:xfrm>
          <a:prstGeom prst="down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3317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4 Parallel Feature Extractors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2788920" cy="3291840"/>
          </a:xfrm>
          <a:prstGeom prst="rect">
            <a:avLst/>
          </a:prstGeom>
          <a:solidFill>
            <a:srgbClr val="E3F2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06040"/>
            <a:ext cx="2788920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651760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A: OCR Extractor  |  50-dim  [0:50]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71800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EasyOCR (GPU-accelerated)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→ TextRegion(text, bbox, conf)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Tesseract fallback (conf &lt; 0.3)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TF-IDF Vectorizer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max_features = 50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→ 50-dimensional vector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Feature Index: [0 : 50]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606040"/>
            <a:ext cx="2788920" cy="3291840"/>
          </a:xfrm>
          <a:prstGeom prst="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2606040"/>
            <a:ext cx="2788920" cy="3200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651760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B: UI Detector  |  30-dim  [50:80]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71800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YOLOv8 nano (conf &gt; 0.25)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→ UIElement(class, bbox, conf)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12 UI classes: button, text_field,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menu, dropdown, toolbar, sidebar,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tab, dialog, terminal, icon,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scroll_bar, status_bar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[0:12] counts  [12:20] spatial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[20:24] conf   [24:30] complexity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Feature Index: [50 : 80]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606040"/>
            <a:ext cx="2788920" cy="3291840"/>
          </a:xfrm>
          <a:prstGeom prst="rect">
            <a:avLst/>
          </a:prstGeom>
          <a:solidFill>
            <a:srgbClr val="F3E5F5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606040"/>
            <a:ext cx="2788920" cy="3200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651760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C: Visual Features  |  40-dim  [80:120]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71800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Color histogram (6 bins x 3 RGB = 18)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Edge density (Canny + Sobel = 3)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Texture (Gabor 3x2 = 6)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Scene stats (5)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Layout 2x2 grid (8)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→ 40-dimensional vector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Feature Index: [80 : 120]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606040"/>
            <a:ext cx="2788920" cy="3291840"/>
          </a:xfrm>
          <a:prstGeom prst="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2606040"/>
            <a:ext cx="2788920" cy="3200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2651760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D: Interaction  |  30-dim  [120:150]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71800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8 action types: CLICK, MOVE_TO,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TYPING, DRAG_TO, HOTKEY, PRESS,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MOUSE_DOWN, MOUSE_UP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[0:8] frequency  [8:12] position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[12:18] temporal [18:24] mouse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[24:28] typing   [28:30] keyboard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1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Feature Index: [120 : 150]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035040"/>
            <a:ext cx="8686800" cy="36576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Concatenation → 150-dim Feature Vector  |  [0:50] + [50:80] + [80:120] + [120:150]</a:t>
            </a:r>
          </a:p>
        </p:txBody>
      </p:sp>
      <p:sp>
        <p:nvSpPr>
          <p:cNvPr id="29" name="Can 28"/>
          <p:cNvSpPr/>
          <p:nvPr/>
        </p:nvSpPr>
        <p:spPr>
          <a:xfrm>
            <a:off x="9052560" y="6080760"/>
            <a:ext cx="548640" cy="228600"/>
          </a:xfrm>
          <a:prstGeom prst="can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92640" y="5989320"/>
            <a:ext cx="219456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→ Classification (14 models)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3-Tier Classification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14 Models  |  Classical ML + Deep Learning + Ensemble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371600" cy="548640"/>
          </a:xfrm>
          <a:prstGeom prst="round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150-dim</a:t>
            </a:r>
            <a:br/>
            <a:r>
              <a:t>Feature Vector</a:t>
            </a:r>
          </a:p>
        </p:txBody>
      </p:sp>
      <p:sp>
        <p:nvSpPr>
          <p:cNvPr id="6" name="Can 5"/>
          <p:cNvSpPr/>
          <p:nvPr/>
        </p:nvSpPr>
        <p:spPr>
          <a:xfrm>
            <a:off x="1691640" y="1298448"/>
            <a:ext cx="320040" cy="182880"/>
          </a:xfrm>
          <a:prstGeom prst="can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0" y="1005840"/>
            <a:ext cx="4114800" cy="1828800"/>
          </a:xfrm>
          <a:prstGeom prst="rect">
            <a:avLst/>
          </a:prstGeom>
          <a:solidFill>
            <a:srgbClr val="E3F2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005840"/>
            <a:ext cx="4114800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0515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Tier 1 — Classical ML (scikit-learn)  |  7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1417320"/>
            <a:ext cx="86868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SVM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86868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86868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417320"/>
            <a:ext cx="86868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1920240"/>
            <a:ext cx="86868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920240"/>
            <a:ext cx="86868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920240"/>
            <a:ext cx="86868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560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5699"/>
                </a:solidFill>
                <a:latin typeface="Calibri"/>
              </a:defRPr>
            </a:pPr>
            <a:r>
              <a:t>Output: PredictionResult(labels, probabilities, latency_ms) → 9-class probability vector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3017520"/>
            <a:ext cx="4114800" cy="1554480"/>
          </a:xfrm>
          <a:prstGeom prst="rect">
            <a:avLst/>
          </a:prstGeom>
          <a:solidFill>
            <a:srgbClr val="F3E5F5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4560" y="3017520"/>
            <a:ext cx="4114800" cy="3200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30632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Tier 2 — Deep Learning (PyTorch)  |  4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3429000"/>
            <a:ext cx="868680" cy="4114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8862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7339A"/>
                </a:solidFill>
                <a:latin typeface="Calibri"/>
              </a:defRPr>
            </a:pPr>
            <a:r>
              <a:t>150→256→128→9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3429000"/>
            <a:ext cx="868680" cy="4114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CNN-1D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8862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7339A"/>
                </a:solidFill>
                <a:latin typeface="Calibri"/>
              </a:defRPr>
            </a:pPr>
            <a:r>
              <a:t>Conv1d filters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429000"/>
            <a:ext cx="868680" cy="4114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LSTM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8862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7339A"/>
                </a:solidFill>
                <a:latin typeface="Calibri"/>
              </a:defRPr>
            </a:pPr>
            <a:r>
              <a:t>(10,15) h=64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9240" y="3429000"/>
            <a:ext cx="868680" cy="4114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Transformer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8862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7339A"/>
                </a:solidFill>
                <a:latin typeface="Calibri"/>
              </a:defRPr>
            </a:pPr>
            <a:r>
              <a:t>Self-attn Q/K/V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1005840"/>
            <a:ext cx="4846320" cy="3566160"/>
          </a:xfrm>
          <a:prstGeom prst="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1005840"/>
            <a:ext cx="4846320" cy="3200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1051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Tier 3 — Ensemble (Hybrid)  |  3 models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1463040"/>
            <a:ext cx="128016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Voting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1508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7B34"/>
                </a:solidFill>
                <a:latin typeface="Calibri"/>
              </a:defRPr>
            </a:pPr>
            <a:r>
              <a:t>average(SVM + RF + MLP probabilities)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5160" y="2468880"/>
            <a:ext cx="128016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514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7B34"/>
                </a:solidFill>
                <a:latin typeface="Calibri"/>
              </a:defRPr>
            </a:pPr>
            <a:r>
              <a:t>[SVM_proba + RF_proba + MLP_proba]</a:t>
            </a:r>
            <a:br/>
            <a:r>
              <a:t>→ LogisticRegression → 9 classes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95160" y="3474720"/>
            <a:ext cx="128016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Late Fusion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520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7B34"/>
                </a:solidFill>
                <a:latin typeface="Calibri"/>
              </a:defRPr>
            </a:pPr>
            <a:r>
              <a:t>SVM(features[0:75]) + RF(features[75:150])</a:t>
            </a:r>
            <a:br/>
            <a:r>
              <a:t>→ LogisticRegression → 9 classes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1645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Calibri"/>
              </a:defRPr>
            </a:pPr>
            <a:r>
              <a:t>feeds</a:t>
            </a:r>
            <a:br/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474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Calibri"/>
              </a:defRPr>
            </a:pPr>
            <a:r>
              <a:t>feeds</a:t>
            </a:r>
            <a:br/>
            <a: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846320"/>
            <a:ext cx="11430000" cy="45720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Output: Best model selected by highest avg confidence  →  Activity Label (1 of 9 classes)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440680"/>
            <a:ext cx="118872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using web browser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54480" y="5440680"/>
            <a:ext cx="118872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using text editor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34640" y="5440680"/>
            <a:ext cx="118872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using terminal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799" y="5440680"/>
            <a:ext cx="118872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navigating file system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94960" y="5440680"/>
            <a:ext cx="118872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using spreadsheet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5440680"/>
            <a:ext cx="118872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using communication app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79" y="5440680"/>
            <a:ext cx="118872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installing software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39" y="5440680"/>
            <a:ext cx="118872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using media player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15600" y="5440680"/>
            <a:ext cx="118872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D2D2D"/>
                </a:solidFill>
                <a:latin typeface="Calibri"/>
              </a:defRPr>
            </a:pPr>
            <a:r>
              <a:t>using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End-to-End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Request Lifecycle  |  Upload → Analysis →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109728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drops video</a:t>
            </a:r>
          </a:p>
        </p:txBody>
      </p:sp>
      <p:sp>
        <p:nvSpPr>
          <p:cNvPr id="6" name="Up Arrow Callout 5"/>
          <p:cNvSpPr/>
          <p:nvPr/>
        </p:nvSpPr>
        <p:spPr>
          <a:xfrm>
            <a:off x="1417320" y="1234440"/>
            <a:ext cx="274320" cy="22860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051560"/>
            <a:ext cx="146304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Browser</a:t>
            </a:r>
            <a:br/>
            <a:r>
              <a:t>POST /videos/upload</a:t>
            </a:r>
          </a:p>
        </p:txBody>
      </p:sp>
      <p:sp>
        <p:nvSpPr>
          <p:cNvPr id="8" name="Up Arrow Callout 7"/>
          <p:cNvSpPr/>
          <p:nvPr/>
        </p:nvSpPr>
        <p:spPr>
          <a:xfrm>
            <a:off x="3246120" y="1234440"/>
            <a:ext cx="274320" cy="22860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1051560"/>
            <a:ext cx="1645920" cy="6400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Save file</a:t>
            </a:r>
            <a:br/>
            <a:r>
              <a:t>Create job → {job_id}</a:t>
            </a:r>
          </a:p>
        </p:txBody>
      </p:sp>
      <p:sp>
        <p:nvSpPr>
          <p:cNvPr id="10" name="Up Arrow Callout 9"/>
          <p:cNvSpPr/>
          <p:nvPr/>
        </p:nvSpPr>
        <p:spPr>
          <a:xfrm>
            <a:off x="5257800" y="1234440"/>
            <a:ext cx="274320" cy="22860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0" y="1051560"/>
            <a:ext cx="164592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POST /jobs/{id}/run</a:t>
            </a:r>
            <a:br/>
            <a:r>
              <a:t>→ {status: processing}</a:t>
            </a:r>
          </a:p>
        </p:txBody>
      </p:sp>
      <p:sp>
        <p:nvSpPr>
          <p:cNvPr id="12" name="Up Arrow Callout 11"/>
          <p:cNvSpPr/>
          <p:nvPr/>
        </p:nvSpPr>
        <p:spPr>
          <a:xfrm>
            <a:off x="7269480" y="1234440"/>
            <a:ext cx="274320" cy="22860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1051560"/>
            <a:ext cx="192024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Poll GET /jobs/{id}</a:t>
            </a:r>
            <a:br/>
            <a:r>
              <a:t>every 1s → progress_pct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9555480" y="1234440"/>
            <a:ext cx="274320" cy="22860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1051560"/>
            <a:ext cx="201168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Completed →</a:t>
            </a:r>
            <a:br/>
            <a:r>
              <a:t>GET /jobs/{id}/results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20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Background Processing Pipeline (runs asynchronously after POST /jobs/{id}/run)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240280"/>
            <a:ext cx="1783080" cy="6400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video.mp4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2084832" y="2423160"/>
            <a:ext cx="13716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40280" y="2240280"/>
            <a:ext cx="1783080" cy="6400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VideoProcessor</a:t>
            </a:r>
            <a:br/>
            <a:r>
              <a:t>→ SegmentData[]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4050792" y="2423160"/>
            <a:ext cx="13716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06240" y="2240280"/>
            <a:ext cx="1783080" cy="6400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FeatureAssembler</a:t>
            </a:r>
            <a:br/>
            <a:r>
              <a:t>→ (n, 150) matrix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6016752" y="2423160"/>
            <a:ext cx="13716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199" y="2240280"/>
            <a:ext cx="178308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_classify_all_models</a:t>
            </a:r>
            <a:br/>
            <a:r>
              <a:t>→ 14 x PredictionResult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7982711" y="2423160"/>
            <a:ext cx="13716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2240280"/>
            <a:ext cx="178308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ClassificationResult</a:t>
            </a:r>
            <a:br/>
            <a:r>
              <a:t>saved to DB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9948672" y="2423160"/>
            <a:ext cx="13716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04120" y="2240280"/>
            <a:ext cx="178308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Job status</a:t>
            </a:r>
            <a:br/>
            <a:r>
              <a:t>→ completed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108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Response: JobResultsResponse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429000"/>
            <a:ext cx="3657600" cy="59436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  <a:br/>
            <a:r>
              <a:t>[ClassificationResult[]]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429000"/>
            <a:ext cx="3657600" cy="5943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model_comparison</a:t>
            </a:r>
            <a:br/>
            <a:r>
              <a:t>[14 models with metrics]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429000"/>
            <a:ext cx="3657600" cy="5943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best_model</a:t>
            </a:r>
            <a:br/>
            <a:r>
              <a:t>[highest avg confidence]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251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Browser Renders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57200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57200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67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ModelComparison 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929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14 models ranked by accuracy, F1, latency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457200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572000"/>
            <a:ext cx="2743200" cy="508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467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  <a:latin typeface="Calibri"/>
              </a:defRPr>
            </a:pPr>
            <a:r>
              <a:t>WorkflowSteps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929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Classified activity sequence with icons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457200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572000"/>
            <a:ext cx="27432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67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Video Player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929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Synchronized playback with annotations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457200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52560" y="4572000"/>
            <a:ext cx="274320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467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Knowledge Artifacts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929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Generated SOP / Runbook (optional)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Model Training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CUA-Suite Dataset  |  Feature Extraction  |  14 Models  | 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ACC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34440"/>
            <a:ext cx="2103120" cy="7772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CUA-Suite</a:t>
            </a:r>
            <a:br/>
            <a:r>
              <a:t>(HuggingFace)</a:t>
            </a:r>
          </a:p>
        </p:txBody>
      </p:sp>
      <p:sp>
        <p:nvSpPr>
          <p:cNvPr id="7" name="Up Arrow Callout 6"/>
          <p:cNvSpPr/>
          <p:nvPr/>
        </p:nvSpPr>
        <p:spPr>
          <a:xfrm>
            <a:off x="2404872" y="1490472"/>
            <a:ext cx="18288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06040" y="1234440"/>
            <a:ext cx="2103120" cy="7772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Download</a:t>
            </a:r>
            <a:br/>
            <a:r>
              <a:t>87 zip files</a:t>
            </a:r>
          </a:p>
        </p:txBody>
      </p:sp>
      <p:sp>
        <p:nvSpPr>
          <p:cNvPr id="9" name="Up Arrow Callout 8"/>
          <p:cNvSpPr/>
          <p:nvPr/>
        </p:nvSpPr>
        <p:spPr>
          <a:xfrm>
            <a:off x="4736592" y="1490472"/>
            <a:ext cx="18288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0" y="1234440"/>
            <a:ext cx="2103120" cy="7772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Extract</a:t>
            </a:r>
            <a:br/>
            <a:r>
              <a:t>9,514 video tasks</a:t>
            </a:r>
            <a:br/>
            <a:r>
              <a:t>+ action_log.json</a:t>
            </a:r>
          </a:p>
        </p:txBody>
      </p:sp>
      <p:sp>
        <p:nvSpPr>
          <p:cNvPr id="11" name="Up Arrow Callout 10"/>
          <p:cNvSpPr/>
          <p:nvPr/>
        </p:nvSpPr>
        <p:spPr>
          <a:xfrm>
            <a:off x="7068312" y="1490472"/>
            <a:ext cx="18288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69479" y="1234440"/>
            <a:ext cx="2103120" cy="7772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dataset_loader.py</a:t>
            </a:r>
            <a:br/>
            <a:r>
              <a:t>discover_tasks()</a:t>
            </a:r>
            <a:br/>
            <a:r>
              <a:t>→ TaskMetadata[]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9400031" y="1490472"/>
            <a:ext cx="18288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0" y="1234440"/>
            <a:ext cx="2103120" cy="7772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task_level_split</a:t>
            </a:r>
            <a:br/>
            <a:r>
              <a:t>80/20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148840"/>
            <a:ext cx="274320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Train: 7,685 samples → X_train(7685, 150), y_train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148840"/>
            <a:ext cx="2743200" cy="5029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Test: 1,924 samples → X_test(1924, 150), y_test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Label remapping → 9 contiguous classes  |  Augmentation if &lt; 100 samples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834640" y="2697480"/>
            <a:ext cx="274320" cy="228600"/>
          </a:xfrm>
          <a:prstGeom prst="downArrow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971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7C00"/>
                </a:solidFill>
                <a:latin typeface="Calibri"/>
              </a:defRPr>
            </a:pPr>
            <a:r>
              <a:t>TRAINING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200400"/>
            <a:ext cx="2560320" cy="9144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FeatureAssembler</a:t>
            </a:r>
            <a:br/>
            <a:r>
              <a:t>build_dataset()</a:t>
            </a:r>
            <a:br/>
            <a:r>
              <a:t>X(7685, 150), y(7685,)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2880360" y="3520440"/>
            <a:ext cx="18288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0400" y="3200400"/>
            <a:ext cx="237744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Tier 1: 7 Classical: SVM, NB, DT, RF, KNN,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794760"/>
            <a:ext cx="237744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Tier 2: 4 Deep Learning: MLP, CNN-1D,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4389120"/>
            <a:ext cx="237744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Tier 3: 3 Ensemble: Voting, Stacking,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5623560" y="3520440"/>
            <a:ext cx="18288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0" y="3200400"/>
            <a:ext cx="2286000" cy="9144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clf.fit(X_train, y_train)</a:t>
            </a:r>
            <a:br/>
            <a:r>
              <a:t>clf.save(models/{name}.pkl)</a:t>
            </a:r>
            <a:br/>
            <a:r>
              <a:t>→ 14 .pkl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251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480560"/>
            <a:ext cx="256032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clf.predict(X_test)</a:t>
            </a:r>
            <a:br/>
            <a:r>
              <a:t>→ accuracy, F1-macro, latency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2880360" y="4663440"/>
            <a:ext cx="18288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00400" y="4480560"/>
            <a:ext cx="2743200" cy="6400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Comparison Table</a:t>
            </a:r>
            <a:br/>
            <a:r>
              <a:t>14 models ranked by metrics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5989320" y="4663440"/>
            <a:ext cx="182880" cy="182880"/>
          </a:xfrm>
          <a:prstGeom prst="upArrowCallou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4480560"/>
            <a:ext cx="2286000" cy="640080"/>
          </a:xfrm>
          <a:prstGeom prst="round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Output: 14 .pkl files</a:t>
            </a:r>
            <a:br/>
            <a:r>
              <a:t>+ comparison 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1234440"/>
            <a:ext cx="2926080" cy="3886200"/>
          </a:xfrm>
          <a:prstGeom prst="rect">
            <a:avLst/>
          </a:prstGeom>
          <a:solidFill>
            <a:srgbClr val="FFF8E1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0" y="1234440"/>
            <a:ext cx="2926080" cy="3200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1645920"/>
            <a:ext cx="26517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AWS EC2 g4dn.xlarge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• NVIDIA T4 GPU (16 GB)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• 4 vCPU, 16 GB RAM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• 125 GB gp3 SSD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Terraform IaC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• VPC + Subnet + IGW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• Security Group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• EC2 + EBS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• All tagged: Project=v2k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Docker Compose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+ docker-compose.gpu.yml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2D2D2D"/>
                </a:solidFill>
                <a:latin typeface="Calibri"/>
              </a:defRPr>
            </a:pPr>
            <a:r>
              <a:t>  (NVIDIA runtime)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Local Development  |  AWS Production/Training  |  Model Transfer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40233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61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Local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Platform: macOS / Linux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Launch: docker compose up --build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Database: SQLite (local) or PostgreSQL (Docker)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Compute: CPU-only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macOS synthetic features fallback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No GPU required for inference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Fast Mode (default):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5 models (SVM, RF, MLP, Voting, Stacking)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~30 seconds per video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Uses pre-trained .pkl files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Full Mode (optional):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14 models, may retrain if needed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Longer processing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5394960" cy="4023360"/>
          </a:xfrm>
          <a:prstGeom prst="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097280"/>
            <a:ext cx="5394960" cy="4114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612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AWS Production /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Instance: EC2 g4dn.xlarge (T4 GPU)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Launch: docker compose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+ docker-compose.gpu.yml (NVIDIA runtime)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Database: PostgreSQL 16 + pgvector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Compute: GPU-accelerated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EasyOCR on CUDA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YOLOv8 on CUDA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PyTorch models on GPU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Full Mode: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14 models with real video features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• Real OCR + YOLO detection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Terraform IaC: all resources tagged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D2D2D"/>
                </a:solidFill>
                <a:latin typeface="Calibri"/>
              </a:defRPr>
            </a:pPr>
            <a:r>
              <a:t>  Project = video2knowledge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94960"/>
            <a:ext cx="11430000" cy="548640"/>
          </a:xfrm>
          <a:prstGeom prst="rect">
            <a:avLst/>
          </a:prstGeom>
          <a:solidFill>
            <a:srgbClr val="1B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468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 Transfer: Train on AWS (GPU) → .pkl files → Copy locally → Used for inference (CPU)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solidFill>
            <a:srgbClr val="FDE8EA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3545"/>
                </a:solidFill>
                <a:latin typeface="Calibri"/>
              </a:defRPr>
            </a:pPr>
            <a:r>
              <a:t>🔒  Security: Security group allows SSH (22), API (8000), Frontend (5173) from user IP only  |  Private key auth  |  Tagged resources  |  gp3 encrypted EBS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