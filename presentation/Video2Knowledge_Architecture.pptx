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Video2Knowledge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System Architecture — Senior Solution Architecture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Muneeswaran Muthaiah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A Multimodal Pattern Recognition Framework for</a:t>
            </a:r>
            <a:br/>
            <a:r>
              <a:t>Screen Activity Understanding and Knowledge 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NUS ISS  |  Pattern Recognition Systems  |  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Overview — Context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C4 Model  |  Level 1: System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Oval 9"/>
          <p:cNvSpPr/>
          <p:nvPr/>
        </p:nvSpPr>
        <p:spPr>
          <a:xfrm>
            <a:off x="1188720" y="2194560"/>
            <a:ext cx="1280160" cy="128016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👤</a:t>
            </a:r>
            <a:br/>
            <a: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Uploads screen recordings,</a:t>
            </a:r>
            <a:br/>
            <a:r>
              <a:t>views analysis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4572000"/>
            <a:ext cx="1828800" cy="91440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CUA-Suite</a:t>
            </a:r>
            <a:br/>
            <a:r>
              <a:t>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532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9,514 training videos</a:t>
            </a:r>
            <a:br/>
            <a:r>
              <a:t>from HuggingFace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280160"/>
            <a:ext cx="5029200" cy="4754880"/>
          </a:xfrm>
          <a:prstGeom prst="rect">
            <a:avLst/>
          </a:prstGeom>
          <a:solidFill>
            <a:srgbClr val="E8F4FD"/>
          </a:solidFill>
          <a:ln w="31750">
            <a:solidFill>
              <a:srgbClr val="007A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4173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Calibri"/>
              </a:defRPr>
            </a:pPr>
            <a:r>
              <a:t>Video2Knowledge System Boundary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920240"/>
            <a:ext cx="4114800" cy="34747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94560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Multimodal Pattern Recognition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69748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  <a:r>
              <a:t>Classifies screen activities from video recordings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  <a:r>
              <a:t>Extracts 150-dim multimodal feature vectors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  <a:r>
              <a:t>Compares 14 ML models across 3 tiers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  <a:r>
              <a:t>Generates knowledge artifacts (SOP, Runbook)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</a:p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  <a:r>
              <a:t>Tech: React + FastAPI + PostgreSQL + PyTorch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DDEEFF"/>
                </a:solidFill>
                <a:latin typeface="Calibri"/>
              </a:defRPr>
            </a:pPr>
            <a:r>
              <a:t>Infrastructure: Docker Compose + AWS EC2 GPU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2194560"/>
            <a:ext cx="1828800" cy="1097280"/>
          </a:xfrm>
          <a:prstGeom prst="round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AWS EC2</a:t>
            </a:r>
            <a:br/>
            <a:r>
              <a:t>g4dn.xlarge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GPU training</a:t>
            </a:r>
            <a:br/>
            <a:r>
              <a:t>infrastructure (T4)</a:t>
            </a:r>
          </a:p>
        </p:txBody>
      </p:sp>
      <p:sp>
        <p:nvSpPr>
          <p:cNvPr id="21" name="Can 20"/>
          <p:cNvSpPr/>
          <p:nvPr/>
        </p:nvSpPr>
        <p:spPr>
          <a:xfrm>
            <a:off x="2651760" y="2468880"/>
            <a:ext cx="1097280" cy="274320"/>
          </a:xfrm>
          <a:prstGeom prst="can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0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5699"/>
                </a:solidFill>
                <a:latin typeface="Calibri"/>
              </a:defRPr>
            </a:pPr>
            <a:r>
              <a:t>uploads video</a:t>
            </a:r>
          </a:p>
        </p:txBody>
      </p:sp>
      <p:sp>
        <p:nvSpPr>
          <p:cNvPr id="23" name="Can 22"/>
          <p:cNvSpPr/>
          <p:nvPr/>
        </p:nvSpPr>
        <p:spPr>
          <a:xfrm>
            <a:off x="2651760" y="3200400"/>
            <a:ext cx="1097280" cy="274320"/>
          </a:xfrm>
          <a:prstGeom prst="can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1E7B34"/>
                </a:solidFill>
                <a:latin typeface="Calibri"/>
              </a:defRPr>
            </a:pPr>
            <a:r>
              <a:t>← classification results</a:t>
            </a:r>
          </a:p>
        </p:txBody>
      </p:sp>
      <p:sp>
        <p:nvSpPr>
          <p:cNvPr id="25" name="Can 24"/>
          <p:cNvSpPr/>
          <p:nvPr/>
        </p:nvSpPr>
        <p:spPr>
          <a:xfrm>
            <a:off x="3200400" y="4663440"/>
            <a:ext cx="640080" cy="228600"/>
          </a:xfrm>
          <a:prstGeom prst="can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CCCCCC"/>
                </a:solidFill>
                <a:latin typeface="Calibri"/>
              </a:defRPr>
            </a:pPr>
            <a:r>
              <a:t>training data</a:t>
            </a:r>
          </a:p>
        </p:txBody>
      </p:sp>
      <p:sp>
        <p:nvSpPr>
          <p:cNvPr id="27" name="Can 26"/>
          <p:cNvSpPr/>
          <p:nvPr/>
        </p:nvSpPr>
        <p:spPr>
          <a:xfrm>
            <a:off x="9052560" y="2560320"/>
            <a:ext cx="457200" cy="228600"/>
          </a:xfrm>
          <a:prstGeom prst="can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2240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C46300"/>
                </a:solidFill>
                <a:latin typeface="Calibri"/>
              </a:defRPr>
            </a:pPr>
            <a:r>
              <a:t>training ↔ models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Container Architecture (Docker Compose)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C4 Model  |  Level 2: Container Diagram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188720"/>
            <a:ext cx="10515600" cy="5394960"/>
          </a:xfrm>
          <a:prstGeom prst="rect">
            <a:avLst/>
          </a:prstGeom>
          <a:solidFill>
            <a:srgbClr val="002A55"/>
          </a:solidFill>
          <a:ln w="254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2618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CCCCC"/>
                </a:solidFill>
                <a:latin typeface="Calibri"/>
              </a:defRPr>
            </a:pPr>
            <a:r>
              <a:t>🐋  Docker Compose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554480"/>
            <a:ext cx="3017520" cy="475488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1554480"/>
            <a:ext cx="30175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162763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Frontend  |  Port 5173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5699"/>
                </a:solidFill>
                <a:latin typeface="Calibri"/>
              </a:defRPr>
            </a:pPr>
            <a:r>
              <a:t>React 18 + TypeScript + 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46888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Runtime: nginx (prod) / Vite dev server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Components: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UploadPage — drag &amp; drop upload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AnalyzingProgress — real-time progress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VideoResults — classification display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ModelComparison — 14-model table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Services: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analysisService.ts — REST client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React Query — cache + polling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Image: node:20-alpine (build)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     nginx:alpine (production)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554480"/>
            <a:ext cx="3474720" cy="4754880"/>
          </a:xfrm>
          <a:prstGeom prst="rect">
            <a:avLst/>
          </a:prstGeom>
          <a:solidFill>
            <a:srgbClr val="FEF3E2"/>
          </a:solidFill>
          <a:ln w="25400">
            <a:solidFill>
              <a:srgbClr val="EF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46320" y="1554480"/>
            <a:ext cx="3474720" cy="5029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627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Backend  |  Port 8000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6300"/>
                </a:solidFill>
                <a:latin typeface="Calibri"/>
              </a:defRPr>
            </a:pPr>
            <a:r>
              <a:t>FastAPI + ML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Base Image: NVIDIA CUDA 12.4 (runtime)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Sub-components: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API Layer — FastAPI routers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Video Processor — frame extraction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Feature Assembler — 4-modality fusion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ML Service — 14 model management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Libraries: PyTorch, scikit-learn, XGBoost,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LightGBM, EasyOCR, YOLOv8, OpenCV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Volumes: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./dataset → /app/dataset (ro)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./models → /app/models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1554480"/>
            <a:ext cx="2834640" cy="4754880"/>
          </a:xfrm>
          <a:prstGeom prst="rect">
            <a:avLst/>
          </a:prstGeom>
          <a:solidFill>
            <a:srgbClr val="E6F9ED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554480"/>
            <a:ext cx="2834640" cy="5029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6276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Database  |  Port 5434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103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7B34"/>
                </a:solidFill>
                <a:latin typeface="Calibri"/>
              </a:defRPr>
            </a:pPr>
            <a:r>
              <a:t>PostgreSQL 16 + pgvector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24688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Tables: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videos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analysis_jobs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classification_results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• model_evaluations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Extensions: pgvector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Volume: pgdata (named)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Driver: SQLAlchemy async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+ asyncpg</a:t>
            </a:r>
          </a:p>
        </p:txBody>
      </p:sp>
      <p:sp>
        <p:nvSpPr>
          <p:cNvPr id="27" name="Can 26"/>
          <p:cNvSpPr/>
          <p:nvPr/>
        </p:nvSpPr>
        <p:spPr>
          <a:xfrm>
            <a:off x="4526280" y="3474720"/>
            <a:ext cx="274320" cy="228600"/>
          </a:xfrm>
          <a:prstGeom prst="can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3200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5699"/>
                </a:solidFill>
                <a:latin typeface="Calibri"/>
              </a:defRPr>
            </a:pPr>
            <a:r>
              <a:t>HTTP REST</a:t>
            </a:r>
          </a:p>
        </p:txBody>
      </p:sp>
      <p:sp>
        <p:nvSpPr>
          <p:cNvPr id="29" name="Can 28"/>
          <p:cNvSpPr/>
          <p:nvPr/>
        </p:nvSpPr>
        <p:spPr>
          <a:xfrm>
            <a:off x="8366760" y="3474720"/>
            <a:ext cx="274320" cy="228600"/>
          </a:xfrm>
          <a:prstGeom prst="can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79" y="3200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C46300"/>
                </a:solidFill>
                <a:latin typeface="Calibri"/>
              </a:defRPr>
            </a:pPr>
            <a:r>
              <a:t>SQLAlchemy async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Backend Component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Layered Architecture  |  Separation of Concerns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188720"/>
            <a:ext cx="10515600" cy="114300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234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API Layer (FastAPI Routers)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508760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508760"/>
            <a:ext cx="242316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16103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routers/videos.py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866392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POST /upload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GET /list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1508760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04488" y="1508760"/>
            <a:ext cx="242316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5928" y="16103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routers/jobs.py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5928" y="1866392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POST /run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GET /progress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GET /results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3096" y="1508760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83096" y="1508760"/>
            <a:ext cx="242316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16103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routers/knowledge.py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1866392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POST /sop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POST /runbook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61703" y="1508760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61703" y="1508760"/>
            <a:ext cx="242316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3" y="16103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routers/evaluation.py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1866392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GET /models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POST /evaluate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6217920" y="2350008"/>
            <a:ext cx="320040" cy="256032"/>
          </a:xfrm>
          <a:prstGeom prst="down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" y="2624328"/>
            <a:ext cx="10515600" cy="1143000"/>
          </a:xfrm>
          <a:prstGeom prst="rect">
            <a:avLst/>
          </a:prstGeom>
          <a:solidFill>
            <a:srgbClr val="FEF3E2"/>
          </a:solidFill>
          <a:ln w="25400">
            <a:solidFill>
              <a:srgbClr val="EF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26700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Service Layer (Business Logic)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5880" y="2944368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25880" y="2944368"/>
            <a:ext cx="2423160" cy="5080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17320" y="304596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classification_service.py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3302000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Pipeline orchestrator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Coordinates all stages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4488" y="2944368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04488" y="2944368"/>
            <a:ext cx="2423160" cy="5080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95928" y="304596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ml_service.py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95928" y="3302000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Model management (singleton)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Load / predict / compare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3096" y="2944368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83096" y="2944368"/>
            <a:ext cx="2423160" cy="5080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74536" y="304596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job_service.py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4536" y="3302000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Job status tracking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Progress reporting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61703" y="2944368"/>
            <a:ext cx="2423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1703" y="2944368"/>
            <a:ext cx="2423160" cy="5080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53143" y="304596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video_service.py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53143" y="3302000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Video file management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Metadata persistence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6217920" y="3785615"/>
            <a:ext cx="320040" cy="256032"/>
          </a:xfrm>
          <a:prstGeom prst="downArrow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88720" y="4059936"/>
            <a:ext cx="10515600" cy="1143000"/>
          </a:xfrm>
          <a:prstGeom prst="rect">
            <a:avLst/>
          </a:prstGeom>
          <a:solidFill>
            <a:srgbClr val="F0EBF9"/>
          </a:solidFill>
          <a:ln w="254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41056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F42C1"/>
                </a:solidFill>
                <a:latin typeface="Calibri"/>
              </a:defRPr>
            </a:pPr>
            <a:r>
              <a:t>Pipeline Layer (Feature Extraction)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25880" y="4379976"/>
            <a:ext cx="32461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25880" y="4379976"/>
            <a:ext cx="3246120" cy="508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17320" y="448157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  <a:latin typeface="Calibri"/>
              </a:defRPr>
            </a:pPr>
            <a:r>
              <a:t>video_processor.py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17320" y="4737608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Segment extraction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Keyframe sampling @ 1fps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82312" y="4379976"/>
            <a:ext cx="32461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82312" y="4379976"/>
            <a:ext cx="3246120" cy="508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73752" y="448157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  <a:latin typeface="Calibri"/>
              </a:defRPr>
            </a:pPr>
            <a:r>
              <a:t>feature_assembler.py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73752" y="4737608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4-modality fusion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→ 150-dim feature vector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38744" y="4379976"/>
            <a:ext cx="32461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38744" y="4379976"/>
            <a:ext cx="3246120" cy="508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0184" y="448157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  <a:latin typeface="Calibri"/>
              </a:defRPr>
            </a:pPr>
            <a:r>
              <a:t>temporal_encoder.py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0184" y="4737608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Sequence encoding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Time-series features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217920" y="5221224"/>
            <a:ext cx="320040" cy="256032"/>
          </a:xfrm>
          <a:prstGeom prst="downArrow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88720" y="5495544"/>
            <a:ext cx="10515600" cy="1097280"/>
          </a:xfrm>
          <a:prstGeom prst="rect">
            <a:avLst/>
          </a:prstGeom>
          <a:solidFill>
            <a:srgbClr val="E6F9ED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25880" y="55412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A745"/>
                </a:solidFill>
                <a:latin typeface="Calibri"/>
              </a:defRPr>
            </a:pPr>
            <a:r>
              <a:t>ML Layer (Classification Models)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325880" y="5815584"/>
            <a:ext cx="19202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25880" y="5815584"/>
            <a:ext cx="19202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17320" y="5917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base.py / registry.py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17320" y="61732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BaseClassifier interface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ModelRegistry singleton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392423" y="5815584"/>
            <a:ext cx="19202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392423" y="5815584"/>
            <a:ext cx="19202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83863" y="5917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config.py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83863" y="61732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MLConfig parameters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ACTIVITY_LABELS (9 classes)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58967" y="5815584"/>
            <a:ext cx="19202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58967" y="5815584"/>
            <a:ext cx="19202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50407" y="5917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classifiers/tier1/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7" y="61732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7 classical ML models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SVM, NB, DT, RF, KNN, XGB, LGBM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25511" y="5815584"/>
            <a:ext cx="19202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25511" y="5815584"/>
            <a:ext cx="19202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16951" y="5917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classifiers/tier2/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16951" y="61732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4 deep learning models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MLP, CNN-1D, LSTM, Transformer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592055" y="5815584"/>
            <a:ext cx="19202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92055" y="5815584"/>
            <a:ext cx="19202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83495" y="5917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classifiers/tier3/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83495" y="61732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3 ensemble models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Voting, Stacking, Late Fusion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Multimodal Feature Extraction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4 Parallel Extractors  |  150-Dimensional Feature Vector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463040" cy="822960"/>
          </a:xfrm>
          <a:prstGeom prst="round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Input</a:t>
            </a:r>
            <a:br/>
            <a:r>
              <a:t>.mp4 + .json</a:t>
            </a:r>
          </a:p>
        </p:txBody>
      </p:sp>
      <p:sp>
        <p:nvSpPr>
          <p:cNvPr id="11" name="Can 10"/>
          <p:cNvSpPr/>
          <p:nvPr/>
        </p:nvSpPr>
        <p:spPr>
          <a:xfrm>
            <a:off x="2697480" y="1463040"/>
            <a:ext cx="320040" cy="182880"/>
          </a:xfrm>
          <a:prstGeom prst="can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08960" y="1097280"/>
            <a:ext cx="2011680" cy="1005840"/>
          </a:xfrm>
          <a:prstGeom prst="rect">
            <a:avLst/>
          </a:prstGeom>
          <a:solidFill>
            <a:srgbClr val="FEF3E2"/>
          </a:solidFill>
          <a:ln w="25400">
            <a:solidFill>
              <a:srgbClr val="EF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1430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VideoProcessor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3716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extract_frames() @ 1fps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cluster_actions() 2s gaps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extract_segments() → SegmentData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931920" y="2148840"/>
            <a:ext cx="274320" cy="228600"/>
          </a:xfrm>
          <a:prstGeom prst="downArrow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4 Parallel Feature Extractors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697480"/>
            <a:ext cx="2560320" cy="320040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2697480"/>
            <a:ext cx="256032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27432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A: OCR Extractor  |  50-dim  [0:50]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0632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EasyOCR (GPU-accelerated)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→ TextRegion(text, bbox, conf)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Tesseract fallback (conf &lt; 0.3)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TF-IDF Vectorizer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max_features = 50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→ 50-dimensional vector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Feature Index: [0 : 50]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6200" y="2697480"/>
            <a:ext cx="2560320" cy="3200400"/>
          </a:xfrm>
          <a:prstGeom prst="rect">
            <a:avLst/>
          </a:prstGeom>
          <a:solidFill>
            <a:srgbClr val="FEF3E2"/>
          </a:solidFill>
          <a:ln w="25400">
            <a:solidFill>
              <a:srgbClr val="EF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86200" y="2697480"/>
            <a:ext cx="2560320" cy="32004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27432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B: UI Detector  |  30-dim  [50:80]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30632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YOLOv8 nano (conf &gt; 0.25)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→ UIElement(class, bbox, conf)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12 UI classes: button, text_field,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menu, dropdown, toolbar, sidebar,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tab, dialog, terminal, icon,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scroll_bar, status_bar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[0:12] counts  [12:20] spatial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[20:24] conf   [24:30] complexity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Feature Index: [50 : 80]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697480"/>
            <a:ext cx="2560320" cy="3200400"/>
          </a:xfrm>
          <a:prstGeom prst="rect">
            <a:avLst/>
          </a:prstGeom>
          <a:solidFill>
            <a:srgbClr val="F0EBF9"/>
          </a:solidFill>
          <a:ln w="254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697480"/>
            <a:ext cx="2560320" cy="32004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27432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C: Visual Features  |  40-dim  [80:120]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0632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Color histogram (6 bins x 3 RGB = 18)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Edge density (Canny + Sobel = 3)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Texture (Gabor 3x2 = 6)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Scene stats (5)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Layout 2x2 grid (8)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→ 40-dimensional vector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Feature Index: [80 : 120]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2697480"/>
            <a:ext cx="2560320" cy="3200400"/>
          </a:xfrm>
          <a:prstGeom prst="rect">
            <a:avLst/>
          </a:prstGeom>
          <a:solidFill>
            <a:srgbClr val="E6F9ED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2697480"/>
            <a:ext cx="2560320" cy="3200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27432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D: Interaction  |  30-dim  [120:150]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30632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8 action types: CLICK, MOVE_TO,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TYPING, DRAG_TO, HOTKEY, PRESS,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MOUSE_DOWN, MOUSE_UP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[0:8] frequency  [8:12] position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[12:18] temporal [18:24] mouse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[24:28] typing   [28:30] keyboard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1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Feature Index: [120 : 150]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" y="6035040"/>
            <a:ext cx="8229600" cy="365760"/>
          </a:xfrm>
          <a:prstGeom prst="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Concatenation → 150-dim Feature Vector  |  [0:50] + [50:80] + [80:120] + [120:150]</a:t>
            </a:r>
          </a:p>
        </p:txBody>
      </p:sp>
      <p:sp>
        <p:nvSpPr>
          <p:cNvPr id="34" name="Can 33"/>
          <p:cNvSpPr/>
          <p:nvPr/>
        </p:nvSpPr>
        <p:spPr>
          <a:xfrm>
            <a:off x="9509760" y="6080760"/>
            <a:ext cx="457200" cy="228600"/>
          </a:xfrm>
          <a:prstGeom prst="can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012680" y="5989320"/>
            <a:ext cx="18288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→ Classification (14 models)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3-Tier Classification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14 Models  |  Classical ML + Deep Learning + Ensemble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371600" cy="548640"/>
          </a:xfrm>
          <a:prstGeom prst="round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150-dim</a:t>
            </a:r>
            <a:br/>
            <a:r>
              <a:t>Feature Vector</a:t>
            </a:r>
          </a:p>
        </p:txBody>
      </p:sp>
      <p:sp>
        <p:nvSpPr>
          <p:cNvPr id="11" name="Can 10"/>
          <p:cNvSpPr/>
          <p:nvPr/>
        </p:nvSpPr>
        <p:spPr>
          <a:xfrm>
            <a:off x="2606040" y="1298448"/>
            <a:ext cx="320040" cy="182880"/>
          </a:xfrm>
          <a:prstGeom prst="can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08960" y="1005840"/>
            <a:ext cx="3657600" cy="182880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005840"/>
            <a:ext cx="365760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05156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Tier 1 — Classical ML (scikit-learn)  |  7 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1732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141732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NB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0056" y="141732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7024" y="141732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192024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KNN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3088" y="192024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XGBoost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0056" y="1920240"/>
            <a:ext cx="777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56032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5699"/>
                </a:solidFill>
                <a:latin typeface="Calibri"/>
              </a:defRPr>
            </a:pPr>
            <a:r>
              <a:t>Output: PredictionResult(labels, probabilities, latency_ms) → 9-class probability vector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3017520"/>
            <a:ext cx="3657600" cy="1554480"/>
          </a:xfrm>
          <a:prstGeom prst="rect">
            <a:avLst/>
          </a:prstGeom>
          <a:solidFill>
            <a:srgbClr val="F0EBF9"/>
          </a:solidFill>
          <a:ln w="254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08960" y="3017520"/>
            <a:ext cx="3657600" cy="32004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30632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Tier 2 — Deep Learning (PyTorch)  |  4 models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6120" y="3429000"/>
            <a:ext cx="777240" cy="4114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MLP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88620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57339A"/>
                </a:solidFill>
                <a:latin typeface="Calibri"/>
              </a:defRPr>
            </a:pPr>
            <a:r>
              <a:t>150→256→128→9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33088" y="3429000"/>
            <a:ext cx="777240" cy="4114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CNN-1D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88620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57339A"/>
                </a:solidFill>
                <a:latin typeface="Calibri"/>
              </a:defRPr>
            </a:pPr>
            <a:r>
              <a:t>Conv1d filters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0056" y="3429000"/>
            <a:ext cx="777240" cy="4114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LSTM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4336" y="388620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57339A"/>
                </a:solidFill>
                <a:latin typeface="Calibri"/>
              </a:defRPr>
            </a:pPr>
            <a:r>
              <a:t>(10,15) h=64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07024" y="3429000"/>
            <a:ext cx="777240" cy="4114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61304" y="388620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57339A"/>
                </a:solidFill>
                <a:latin typeface="Calibri"/>
              </a:defRPr>
            </a:pPr>
            <a:r>
              <a:t>Self-attn Q/K/V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1005840"/>
            <a:ext cx="4572000" cy="3566160"/>
          </a:xfrm>
          <a:prstGeom prst="rect">
            <a:avLst/>
          </a:prstGeom>
          <a:solidFill>
            <a:srgbClr val="E6F9ED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0" y="1005840"/>
            <a:ext cx="4572000" cy="3200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10515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Tier 3 — Ensemble (Hybrid)  |  3 models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69480" y="1463040"/>
            <a:ext cx="128016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Voting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15087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7B34"/>
                </a:solidFill>
                <a:latin typeface="Calibri"/>
              </a:defRPr>
            </a:pPr>
            <a:r>
              <a:t>average(SVM + RF + MLP probabilities)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69480" y="2468880"/>
            <a:ext cx="128016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5146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7B34"/>
                </a:solidFill>
                <a:latin typeface="Calibri"/>
              </a:defRPr>
            </a:pPr>
            <a:r>
              <a:t>[SVM_proba + RF_proba + MLP_proba]</a:t>
            </a:r>
            <a:br/>
            <a:r>
              <a:t>→ LogisticRegression → 9 classes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69480" y="3474720"/>
            <a:ext cx="128016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Late Fusion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520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7B34"/>
                </a:solidFill>
                <a:latin typeface="Calibri"/>
              </a:defRPr>
            </a:pPr>
            <a:r>
              <a:t>SVM(features[0:75]) + RF(features[75:150])</a:t>
            </a:r>
            <a:br/>
            <a:r>
              <a:t>→ LogisticRegression → 9 classes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1645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CCCCCC"/>
                </a:solidFill>
                <a:latin typeface="Calibri"/>
              </a:defRPr>
            </a:pPr>
            <a:r>
              <a:t>feeds</a:t>
            </a:r>
            <a:br/>
            <a: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3474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CCCCCC"/>
                </a:solidFill>
                <a:latin typeface="Calibri"/>
              </a:defRPr>
            </a:pPr>
            <a:r>
              <a:t>feeds</a:t>
            </a:r>
            <a:br/>
            <a: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88720" y="4846320"/>
            <a:ext cx="10515600" cy="45720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Output: Best model selected by highest avg confidence  →  Activity Label (1 of 9 classes)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8872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web browser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7744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text editor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terminal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5488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navigating file system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spreadsheet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communication app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2104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installing software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6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media player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98480" y="5440680"/>
            <a:ext cx="1097280" cy="3657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EF7C00"/>
                </a:solidFill>
              </a:defRPr>
            </a:pPr>
            <a:r>
              <a:t>using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End-to-End Data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Request Lifecycle  |  Upload → Analysis →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09728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User</a:t>
            </a:r>
            <a:br/>
            <a:r>
              <a:t>drops video</a:t>
            </a:r>
          </a:p>
        </p:txBody>
      </p:sp>
      <p:sp>
        <p:nvSpPr>
          <p:cNvPr id="11" name="Up Arrow Callout 10"/>
          <p:cNvSpPr/>
          <p:nvPr/>
        </p:nvSpPr>
        <p:spPr>
          <a:xfrm>
            <a:off x="2331720" y="1371600"/>
            <a:ext cx="228600" cy="22860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188720"/>
            <a:ext cx="137160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Browser</a:t>
            </a:r>
            <a:br/>
            <a:r>
              <a:t>POST /videos/upload</a:t>
            </a:r>
          </a:p>
        </p:txBody>
      </p:sp>
      <p:sp>
        <p:nvSpPr>
          <p:cNvPr id="13" name="Up Arrow Callout 12"/>
          <p:cNvSpPr/>
          <p:nvPr/>
        </p:nvSpPr>
        <p:spPr>
          <a:xfrm>
            <a:off x="4023360" y="1371600"/>
            <a:ext cx="228600" cy="22860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1188720"/>
            <a:ext cx="1554480" cy="6400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Save file</a:t>
            </a:r>
            <a:br/>
            <a:r>
              <a:t>Create job → {job_id}</a:t>
            </a:r>
          </a:p>
        </p:txBody>
      </p:sp>
      <p:sp>
        <p:nvSpPr>
          <p:cNvPr id="15" name="Up Arrow Callout 14"/>
          <p:cNvSpPr/>
          <p:nvPr/>
        </p:nvSpPr>
        <p:spPr>
          <a:xfrm>
            <a:off x="5897880" y="1371600"/>
            <a:ext cx="228600" cy="22860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188720"/>
            <a:ext cx="155448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POST /jobs/{id}/run</a:t>
            </a:r>
            <a:br/>
            <a:r>
              <a:t>→ {status: processing}</a:t>
            </a:r>
          </a:p>
        </p:txBody>
      </p:sp>
      <p:sp>
        <p:nvSpPr>
          <p:cNvPr id="17" name="Up Arrow Callout 16"/>
          <p:cNvSpPr/>
          <p:nvPr/>
        </p:nvSpPr>
        <p:spPr>
          <a:xfrm>
            <a:off x="7772400" y="1371600"/>
            <a:ext cx="228600" cy="22860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1188720"/>
            <a:ext cx="173736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Poll GET /jobs/{id}</a:t>
            </a:r>
            <a:br/>
            <a:r>
              <a:t>every 1s → progress_pct</a:t>
            </a:r>
          </a:p>
        </p:txBody>
      </p:sp>
      <p:sp>
        <p:nvSpPr>
          <p:cNvPr id="19" name="Up Arrow Callout 18"/>
          <p:cNvSpPr/>
          <p:nvPr/>
        </p:nvSpPr>
        <p:spPr>
          <a:xfrm>
            <a:off x="9829800" y="1371600"/>
            <a:ext cx="228600" cy="22860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04120" y="1188720"/>
            <a:ext cx="164592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Completed →</a:t>
            </a:r>
            <a:br/>
            <a:r>
              <a:t>GET /jobs/{id}/results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011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Background Processing Pipeline (runs asynchronously after POST /jobs/{id}/run)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2331720"/>
            <a:ext cx="1645920" cy="64008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video.mp4</a:t>
            </a:r>
          </a:p>
        </p:txBody>
      </p:sp>
      <p:sp>
        <p:nvSpPr>
          <p:cNvPr id="23" name="Up Arrow Callout 22"/>
          <p:cNvSpPr/>
          <p:nvPr/>
        </p:nvSpPr>
        <p:spPr>
          <a:xfrm>
            <a:off x="2862072" y="2514600"/>
            <a:ext cx="9144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2331720"/>
            <a:ext cx="1645920" cy="6400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VideoProcessor</a:t>
            </a:r>
            <a:br/>
            <a:r>
              <a:t>→ SegmentData[]</a:t>
            </a:r>
          </a:p>
        </p:txBody>
      </p:sp>
      <p:sp>
        <p:nvSpPr>
          <p:cNvPr id="25" name="Up Arrow Callout 24"/>
          <p:cNvSpPr/>
          <p:nvPr/>
        </p:nvSpPr>
        <p:spPr>
          <a:xfrm>
            <a:off x="4645152" y="2514600"/>
            <a:ext cx="9144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2331720"/>
            <a:ext cx="164592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FeatureAssembler</a:t>
            </a:r>
            <a:br/>
            <a:r>
              <a:t>→ (n, 150) matrix</a:t>
            </a:r>
          </a:p>
        </p:txBody>
      </p:sp>
      <p:sp>
        <p:nvSpPr>
          <p:cNvPr id="27" name="Up Arrow Callout 26"/>
          <p:cNvSpPr/>
          <p:nvPr/>
        </p:nvSpPr>
        <p:spPr>
          <a:xfrm>
            <a:off x="6428232" y="2514600"/>
            <a:ext cx="9144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37960" y="2331720"/>
            <a:ext cx="164592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_classify_all_models</a:t>
            </a:r>
            <a:br/>
            <a:r>
              <a:t>→ 14 x PredictionResult</a:t>
            </a:r>
          </a:p>
        </p:txBody>
      </p:sp>
      <p:sp>
        <p:nvSpPr>
          <p:cNvPr id="29" name="Up Arrow Callout 28"/>
          <p:cNvSpPr/>
          <p:nvPr/>
        </p:nvSpPr>
        <p:spPr>
          <a:xfrm>
            <a:off x="8211312" y="2514600"/>
            <a:ext cx="9144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0" y="2331720"/>
            <a:ext cx="164592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ClassificationResult</a:t>
            </a:r>
            <a:br/>
            <a:r>
              <a:t>saved to DB</a:t>
            </a:r>
          </a:p>
        </p:txBody>
      </p:sp>
      <p:sp>
        <p:nvSpPr>
          <p:cNvPr id="31" name="Up Arrow Callout 30"/>
          <p:cNvSpPr/>
          <p:nvPr/>
        </p:nvSpPr>
        <p:spPr>
          <a:xfrm>
            <a:off x="9994392" y="2514600"/>
            <a:ext cx="9144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04120" y="2331720"/>
            <a:ext cx="164592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Job status</a:t>
            </a:r>
            <a:br/>
            <a:r>
              <a:t>→ 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2004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Response: JobResultsResponse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3520440"/>
            <a:ext cx="3383280" cy="5943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results</a:t>
            </a:r>
            <a:br/>
            <a:r>
              <a:t>[ClassificationResult[]]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0" y="3520440"/>
            <a:ext cx="3383280" cy="5943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model_comparison</a:t>
            </a:r>
            <a:br/>
            <a:r>
              <a:t>[14 models with metrics]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520440"/>
            <a:ext cx="3383280" cy="5943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best_model</a:t>
            </a:r>
            <a:br/>
            <a:r>
              <a:t>[highest avg confidence]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3434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Browser Renders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466344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" y="4663440"/>
            <a:ext cx="246888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0" y="4765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ModelComparison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50210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14 models ranked by accuracy, F1, latency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40480" y="466344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0" y="4663440"/>
            <a:ext cx="2468880" cy="508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765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  <a:latin typeface="Calibri"/>
              </a:defRPr>
            </a:pPr>
            <a:r>
              <a:t>WorkflowSteps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31920" y="50210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Classified activity sequence with icons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92240" y="466344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2240" y="4663440"/>
            <a:ext cx="2468880" cy="5080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4765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Video Player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50210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Synchronized playback with annotations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3999" y="466344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3999" y="4663440"/>
            <a:ext cx="246888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39" y="4765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Knowledge Artifacts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39" y="50210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Generated SOP / Runbook (optional)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Model Training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CUA-Suite Dataset  |  Feature Extraction  |  14 Models  | 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417320"/>
            <a:ext cx="1920240" cy="77724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CUA-Suite</a:t>
            </a:r>
            <a:br/>
            <a:r>
              <a:t>(HuggingFace)</a:t>
            </a:r>
          </a:p>
        </p:txBody>
      </p:sp>
      <p:sp>
        <p:nvSpPr>
          <p:cNvPr id="12" name="Up Arrow Callout 11"/>
          <p:cNvSpPr/>
          <p:nvPr/>
        </p:nvSpPr>
        <p:spPr>
          <a:xfrm>
            <a:off x="3136392" y="1673352"/>
            <a:ext cx="13716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1417320"/>
            <a:ext cx="1920240" cy="7772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87 zip files</a:t>
            </a:r>
          </a:p>
        </p:txBody>
      </p:sp>
      <p:sp>
        <p:nvSpPr>
          <p:cNvPr id="14" name="Up Arrow Callout 13"/>
          <p:cNvSpPr/>
          <p:nvPr/>
        </p:nvSpPr>
        <p:spPr>
          <a:xfrm>
            <a:off x="5239512" y="1673352"/>
            <a:ext cx="13716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94960" y="1417320"/>
            <a:ext cx="1920240" cy="7772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Extract</a:t>
            </a:r>
            <a:br/>
            <a:r>
              <a:t>9,514 video tasks</a:t>
            </a:r>
            <a:br/>
            <a:r>
              <a:t>+ action_log.json</a:t>
            </a:r>
          </a:p>
        </p:txBody>
      </p:sp>
      <p:sp>
        <p:nvSpPr>
          <p:cNvPr id="16" name="Up Arrow Callout 15"/>
          <p:cNvSpPr/>
          <p:nvPr/>
        </p:nvSpPr>
        <p:spPr>
          <a:xfrm>
            <a:off x="7342632" y="1673352"/>
            <a:ext cx="13716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79" y="1417320"/>
            <a:ext cx="1920240" cy="7772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dataset_loader.py</a:t>
            </a:r>
            <a:br/>
            <a:r>
              <a:t>discover_tasks()</a:t>
            </a:r>
            <a:br/>
            <a:r>
              <a:t>→ TaskMetadata[]</a:t>
            </a:r>
          </a:p>
        </p:txBody>
      </p:sp>
      <p:sp>
        <p:nvSpPr>
          <p:cNvPr id="18" name="Up Arrow Callout 17"/>
          <p:cNvSpPr/>
          <p:nvPr/>
        </p:nvSpPr>
        <p:spPr>
          <a:xfrm>
            <a:off x="9445751" y="1673352"/>
            <a:ext cx="13716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01200" y="1417320"/>
            <a:ext cx="1920240" cy="7772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task_level_split</a:t>
            </a:r>
            <a:br/>
            <a:r>
              <a:t>80/20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8720" y="2331720"/>
            <a:ext cx="256032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Train: 7,685 samples → X_train(7685, 150), y_train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2331720"/>
            <a:ext cx="2560320" cy="5029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Test: 1,924 samples → X_test(1924, 150), y_test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423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Label remapping → 9 contiguous classes  |  Augmentation if &lt; 100 samples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3566160" y="2880360"/>
            <a:ext cx="274320" cy="228600"/>
          </a:xfrm>
          <a:prstGeom prst="downArrow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154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TRAINING PIPELINE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3383280"/>
            <a:ext cx="2286000" cy="9144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FeatureAssembler</a:t>
            </a:r>
            <a:br/>
            <a:r>
              <a:t>build_dataset()</a:t>
            </a:r>
            <a:br/>
            <a:r>
              <a:t>X(7685, 150), y(7685,)</a:t>
            </a:r>
          </a:p>
        </p:txBody>
      </p:sp>
      <p:sp>
        <p:nvSpPr>
          <p:cNvPr id="26" name="Up Arrow Callout 25"/>
          <p:cNvSpPr/>
          <p:nvPr/>
        </p:nvSpPr>
        <p:spPr>
          <a:xfrm>
            <a:off x="3520440" y="3703320"/>
            <a:ext cx="18288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40480" y="3383280"/>
            <a:ext cx="219456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 1: 7 Classical: SVM, NB, DT, RF, KNN,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0" y="3977640"/>
            <a:ext cx="219456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 2: 4 Deep Learning: MLP, CNN-1D,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4572000"/>
            <a:ext cx="219456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 3: 3 Ensemble: Voting, Stacking,</a:t>
            </a:r>
          </a:p>
        </p:txBody>
      </p:sp>
      <p:sp>
        <p:nvSpPr>
          <p:cNvPr id="30" name="Up Arrow Callout 29"/>
          <p:cNvSpPr/>
          <p:nvPr/>
        </p:nvSpPr>
        <p:spPr>
          <a:xfrm>
            <a:off x="6080760" y="3703320"/>
            <a:ext cx="18288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383280"/>
            <a:ext cx="210312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clf.fit(X_train, y_train)</a:t>
            </a:r>
            <a:br/>
            <a:r>
              <a:t>clf.save(models/{name}.pkl)</a:t>
            </a:r>
            <a:br/>
            <a:r>
              <a:t>→ 14 .pkl 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434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88720" y="4663440"/>
            <a:ext cx="228600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clf.predict(X_test)</a:t>
            </a:r>
            <a:br/>
            <a:r>
              <a:t>→ accuracy, F1-macro, latency</a:t>
            </a:r>
          </a:p>
        </p:txBody>
      </p:sp>
      <p:sp>
        <p:nvSpPr>
          <p:cNvPr id="34" name="Up Arrow Callout 33"/>
          <p:cNvSpPr/>
          <p:nvPr/>
        </p:nvSpPr>
        <p:spPr>
          <a:xfrm>
            <a:off x="3520440" y="4846320"/>
            <a:ext cx="18288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40480" y="4663440"/>
            <a:ext cx="246888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Comparison Table</a:t>
            </a:r>
            <a:br/>
            <a:r>
              <a:t>14 models ranked by metrics</a:t>
            </a:r>
          </a:p>
        </p:txBody>
      </p:sp>
      <p:sp>
        <p:nvSpPr>
          <p:cNvPr id="36" name="Up Arrow Callout 35"/>
          <p:cNvSpPr/>
          <p:nvPr/>
        </p:nvSpPr>
        <p:spPr>
          <a:xfrm>
            <a:off x="6355080" y="4846320"/>
            <a:ext cx="182880" cy="182880"/>
          </a:xfrm>
          <a:prstGeom prst="upArrowCallou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675120" y="4663440"/>
            <a:ext cx="2103120" cy="640080"/>
          </a:xfrm>
          <a:prstGeom prst="round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Output: 14 .pkl files</a:t>
            </a:r>
            <a:br/>
            <a:r>
              <a:t>+ comparison table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1417320"/>
            <a:ext cx="2560320" cy="38862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417320"/>
            <a:ext cx="2560320" cy="3200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0" y="14630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1828800"/>
            <a:ext cx="228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AWS EC2 g4dn.xlarge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NVIDIA T4 GPU (16 GB)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4 vCPU, 16 GB RAM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125 GB gp3 SSD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Terraform IaC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VPC + Subnet + IGW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Security Group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EC2 + EBS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• All tagged: Project=v2k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Docker Compose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+ docker-compose.gpu.yml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  (NVIDIA runtime)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Deployment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Local Development  |  AWS Production/Training  |  Model Transfer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188720"/>
            <a:ext cx="4846320" cy="402336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720" y="1188720"/>
            <a:ext cx="4846320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2527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Local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9164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Platform: macOS / Linux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Launch: docker compose up --build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Database: SQLite (local) or PostgreSQL (Docker)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Compute: CPU-only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macOS synthetic features fallback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No GPU required for inference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Fast Mode (default):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5 models (SVM, RF, MLP, Voting, Stacking)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~30 seconds per video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Uses pre-trained .pkl files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Full Mode (optional):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14 models, may retrain if needed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Longer processing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188720"/>
            <a:ext cx="5029200" cy="4023360"/>
          </a:xfrm>
          <a:prstGeom prst="rect">
            <a:avLst/>
          </a:prstGeom>
          <a:solidFill>
            <a:srgbClr val="FEF3E2"/>
          </a:solidFill>
          <a:ln w="25400">
            <a:solidFill>
              <a:srgbClr val="EF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252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AWS Production /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9164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Instance: EC2 g4dn.xlarge (T4 GPU)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Launch: docker compose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+ docker-compose.gpu.yml (NVIDIA runtime)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Database: PostgreSQL 16 + pgvector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Compute: GPU-accelerated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EasyOCR on CUDA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YOLOv8 on CUDA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PyTorch models on GPU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Full Mode: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14 models with real video features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• Real OCR + YOLO detection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Terraform IaC: all resources tagged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  Project = video2knowledge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394960"/>
            <a:ext cx="10241280" cy="548640"/>
          </a:xfrm>
          <a:prstGeom prst="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46811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 Transfer: Train on AWS (GPU) → .pkl files → Copy locally → Used for inference (CPU)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6035040"/>
            <a:ext cx="10241280" cy="548640"/>
          </a:xfrm>
          <a:prstGeom prst="rect">
            <a:avLst/>
          </a:prstGeom>
          <a:solidFill>
            <a:srgbClr val="FDE8EA"/>
          </a:solidFill>
          <a:ln w="25400">
            <a:solidFill>
              <a:srgbClr val="CC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C2233"/>
                </a:solidFill>
                <a:latin typeface="Calibri"/>
              </a:defRPr>
            </a:pPr>
            <a:r>
              <a:t>🔒  Security: Security group allows SSH (22), API (8000), Frontend (5173) from user IP only  |  Private key auth  |  Tagged resources  |  gp3 encrypted EBS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