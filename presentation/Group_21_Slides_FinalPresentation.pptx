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9" r:id="rId4"/>
    <p:sldId id="260" r:id="rId5"/>
    <p:sldId id="261" r:id="rId6"/>
    <p:sldId id="262" r:id="rId7"/>
    <p:sldId id="263" r:id="rId8"/>
    <p:sldId id="265" r:id="rId9"/>
    <p:sldId id="264" r:id="rId10"/>
    <p:sldId id="266" r:id="rId11"/>
    <p:sldId id="267" r:id="rId12"/>
    <p:sldId id="268" r:id="rId13"/>
    <p:sldId id="269" r:id="rId14"/>
    <p:sldId id="270" r:id="rId15"/>
    <p:sldId id="271" r:id="rId16"/>
    <p:sldId id="272" r:id="rId17"/>
    <p:sldId id="273" r:id="rId18"/>
    <p:sldId id="258" r:id="rId19"/>
    <p:sldId id="274" r:id="rId20"/>
    <p:sldId id="275" r:id="rId21"/>
    <p:sldId id="276" r:id="rId22"/>
    <p:sldId id="277" r:id="rId23"/>
    <p:sldId id="278" r:id="rId2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101" y="33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4092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complete TRACE architecture. Read it left to right, top to bottom.</a:t>
            </a:r>
          </a:p>
          <a:p>
            <a:endParaRPr/>
          </a:p>
          <a:p>
            <a:r>
              <a:t>Row 1 is the data plane: raw video and action logs come in on the left, flow through pre-processing, then feature extraction splits into six parallel modalities, feeds activity labels and a strict train-test split strategy on the right.</a:t>
            </a:r>
          </a:p>
          <a:p>
            <a:endParaRPr/>
          </a:p>
          <a:p>
            <a:r>
              <a:t>Row 2 is the classification plane: the full one thousand three hundred and ninety one dimension feature vector enters the Multi-Tier Classifier. Tier 1 is classical ML, three scikit learn models. Tier 2 is deep learning, four Pie Torch models. Tier 3 is ensemble, voting and late fusion.</a:t>
            </a:r>
          </a:p>
          <a:p>
            <a:endParaRPr/>
          </a:p>
          <a:p>
            <a:r>
              <a:t>Row 3 is the output plane: evaluation metrics on the left, workflow recognition in the centre, knowledge generation, S O P and runbook, on the right.</a:t>
            </a:r>
          </a:p>
          <a:p>
            <a:endParaRPr/>
          </a:p>
          <a:p>
            <a:r>
              <a:t>The bottom strip is the infrastructure layer: FastAPI, PostgreSQL with P G vector, React, Docker, A W S, E C S, S three, GitHub Actions, and M L flow.</a:t>
            </a:r>
          </a:p>
          <a:p>
            <a:endParaRPr/>
          </a:p>
          <a:p>
            <a:r>
              <a:t>Every colour in this diagram is intentional. Orange is Tier 1 and data flow. Cyan is Tier 2 and feature engineering. Purple is Tier 3 ensemble. Green is evaluation. The infrastructure strip is intentionally muted because it is a commodity layer.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summarises how we responded to the professor's feedback from our September presentation.</a:t>
            </a:r>
          </a:p>
          <a:p>
            <a:endParaRPr/>
          </a:p>
          <a:p>
            <a:r>
              <a:t>We received five pieces of feedback. First, thirteen models was too many, the evaluation logic was hard to follow. We narrowed to six, with one to two models per tier, each directly mapped to a research question.</a:t>
            </a:r>
          </a:p>
          <a:p>
            <a:endParaRPr/>
          </a:p>
          <a:p>
            <a:r>
              <a:t>Second, our scope was too ambitious. We moved Level 3 hierarchy and L L M generation to future work and focused the M V P on activity classification.</a:t>
            </a:r>
          </a:p>
          <a:p>
            <a:endParaRPr/>
          </a:p>
          <a:p>
            <a:r>
              <a:t>Third, our diagram conflated training and inference. We separated them into two clear flows: data to fit to pickle for training, and video to features to predict for inference.</a:t>
            </a:r>
          </a:p>
          <a:p>
            <a:endParaRPr/>
          </a:p>
          <a:p>
            <a:r>
              <a:t>Fourth, the professor asked us to show the dataset and class distribution before the model design. We reordered accordingly.</a:t>
            </a:r>
          </a:p>
          <a:p>
            <a:endParaRPr/>
          </a:p>
          <a:p>
            <a:r>
              <a:t>Fifth, the link between feature modalities and classifiers was unclear. We added an explicit mapping table.</a:t>
            </a:r>
          </a:p>
          <a:p>
            <a:endParaRPr/>
          </a:p>
          <a:p>
            <a:r>
              <a:t>The result: a tighter, more defensible scope with rigorous evaluation across six models.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phases: raw recordings in, features extracted, six models trained, results measured. One command runs the whole pipeline end to end.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hundred and seventy seven expert task recordings across eight apps. V S Code and Open Shot dominate, so we use Macro F one, not accuracy, to treat every class equally.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cardinal rule: split at task level, never frame level. Frames from the same recording must never appear in both training and test.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O C R, Yolo widgets, and action log timing are extracted per task and concatenated into a single one thousand three hundred and ninety one dimensional vector, the input to every classifier.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tiers, all on the same feature vector. Classical scikit-learn in tier one, Pie Torch in tier two, ensembles in tier three combining all base outputs.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Radial Basis Function kernel maps our one thousand three hundred and ninety one dimensional vector into a higher space where eight activity classes become linearly separable. Our strongest classical single-model baseline.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professor asked us to narrow scope, so we picked six models that cover all three tiers and answer all three research questions with no overlap.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Random Forest votes across a hundred diverse trees. Decision Tree grows a single interpretable tree where every prediction has a clear if-else path.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hidden layers, Ray Lu, dropout, Adam optimiser. The em el pee is our sole tier two representative in the six selected models.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Soft voting averages probability distributions from all four base models and picks the highest. No extra training. Best Macro F one overall at zero point eight eight four.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Accuracy is misleading here because V S Code alone is forty percent of the data. Macro F one weights every class equally, regardless of size.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Tier three Voting tops all six. Classical Random Forest beats em el pee here, small datasets favour engineered features over deep learning.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six models are dot pickle files. The backend loads from local disk or syncs from S three at startup. Inference is one in-memory call.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walkthrough covers three things: how TRACE analyses a screen recording and turns it into an SOP, how the system is deployed and shipped on AWS, and the technologies behind each layer.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user uploads a screen recording, TRACE cuts it into short segments, following the logged actions when an action log comes with it. For each segment it extracts the on-screen text with OCR, the UI elements with YOLO and image features with EfficientNet. Six trained models (SVM, KNN, Random Forest, CNN1D, LSTM and a Stacking ensemble) then label every segment with an activity, and the system compares them and shows the result from the most reliable one. From these results TRACE generates an SOP, a step-by-step guide that lists each action and what appeared on screen after it. When the report is generated, an anomaly check scans the on-screen text and the commands typed in each segment and flags risky operations such as rm -rf, DROP TABLE or sudo for review.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runs from the React web app at the top, through a FastAPI backend in Python, down to AWS hosting and the build pipeline. The three green rows are the pattern-recognition core: computer vision reads the screen (OCR, UI detection and CNN image features), the classical, deep and ensemble models recognise the activity, and the knowledge layer turns the results into SOPs and flags risky commands. Live results are kept in SQLite inside the container; PostgreSQL is used only in local development.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runs on AWS in the Singapore region. The React frontend is hosted on AWS Amplify, and the FastAPI backend runs as a Docker container on ECS Fargate with 2 vCPU and 8 GB of memory. Every API call goes over HTTPS to CloudFront, which forwards it to an Application Load Balancer and from there to the Fargate task. The load balancer only accepts traffic from CloudFront and the task only from the load balancer, so nothing reaches the backend directly. At startup the task pulls its image from Amazon ECR, loads the trained classifiers from a private S3 bucket, and sends its logs to CloudWatch. Analysis results are stored in SQLite inside the container, so they reset whenever a new version is deployed.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automated with GitHub Actions. Every push to main that changes the backend is linted and tested first, and a failure stops the deploy. The workflow then builds a CPU-only Docker image, pushes it to Amazon ECR tagged with the commit, and tells ECS to start a new task from it and drain the old one. GitHub gets access to AWS through short-lived OIDC credentials, so no AWS keys are stored in the repository. The frontend is built separately by Amplify, and all the AWS infrastructure is defined in Terraform. A deploy takes about 12 minutes.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group of challenges came from the data. The dataset is 48 GB, too large to hold in memory or train on a laptop, so we wrote a streaming loader and trained on AWS EC2, with Google Colab as a free alternative. Even so, each full training run takes 12 to 15 hours. The dataset also came with no activity labels: the activity field was null in all 4,963 rows, so we wrote our own mapping from each app to an activity. Our first version left 72% of the samples as “other”. Refining the mapping brought that down to about 15%, and version 3, with more than 130 mappings and 4 new classes, brought it under 1%. Each refinement meant retraining, at 10 to 12 hours a run. The data was also imbalanced: VSCode and OpenShot made up about 65% of the local tasks. We used stratified splits, 5× augmentation for classes with fewer than 100 samples, and macro-F1 instead of plain accuracy as the main metric. Finally, screen OCR is noisy: EasyOCR and Tesseract are trained on scanned documents with plain backgrounds, and they struggle with panels, overlapping windows, gradients and anti-aliased fonts. So the models rely more on the CNN image features from EfficientNet-B0 and on detected UI elements than on raw OCR text.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group of challenges came from running the pipeline. Our duplicate-frame check first compared whole-screen averages, so a single new terminal line didn’t count as a change: our risk test video was read on only 2 of its 24 keyframes. The check now counts changed pixels instead. We also dropped Tesseract, because it read terminal text worse than EasyOCR. Fargate brought its own limits: the image is CPU-only, SQLite inside the task means we can run only one task, there are cold starts, and the first job had to download the CNN weights. We baked the weights into the image, added a warm-up at startup, and cache features by the video’s hash, so the same video is never processed twice. Analysis was also too slow for a live demo. We now share one EasyOCR reader across jobs, batch the OCR calls, reuse text for frames that haven’t changed, cache features by video hash, and pre-warm the demo videos.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there are five directions. First, a retrieval-augmented generation pipeline, so the knowledge in classified segments can be searched and reused. Second, MLflow, for experiment tracking and model versioning: today we upload trained models to S3 by hand and point the backend at a new location each time, and that release step can be automated. Third, GPU inference with CUDA, for near real-time analysis. Fourth, more data: the CUA-Suite dataset is quite constrained, so to recognise cases like the AWS or Azure consoles we need to train on recordings of them, and of other widely used apps. And fifth, better SOPs and OCR: EasyOCR reads scanned documents far better than screens, so better screen OCR would directly improve the SOP steps, along with more polished SOP wording.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body">
    <p:bg>
      <p:bgPr>
        <a:solidFill>
          <a:srgbClr val="0A2A5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589" y="1132840"/>
            <a:ext cx="10563648" cy="467360"/>
          </a:xfrm>
          <a:prstGeom prst="rect">
            <a:avLst/>
          </a:prstGeom>
          <a:noFill/>
          <a:ln/>
        </p:spPr>
        <p:txBody>
          <a:bodyPr wrap="square" lIns="0" tIns="0" rIns="0" bIns="0" rtlCol="0" anchor="t"/>
          <a:lstStyle>
            <a:lvl1pPr marL="0" indent="0" algn="l">
              <a:lnSpc>
                <a:spcPct val="115000"/>
              </a:lnSpc>
              <a:buNone/>
              <a:defRPr lang="en-US" sz="3199" dirty="0">
                <a:solidFill>
                  <a:srgbClr val="F4F8FC"/>
                </a:solidFill>
                <a:latin typeface="Carlito" pitchFamily="34" charset="0"/>
                <a:ea typeface="Carlito" pitchFamily="34" charset="-122"/>
                <a:cs typeface="Carlito" pitchFamily="34" charset="-120"/>
              </a:defRPr>
            </a:lvl1pPr>
          </a:lstStyle>
          <a:p>
            <a:pPr marL="0" indent="0" algn="l">
              <a:lnSpc>
                <a:spcPct val="115000"/>
              </a:lnSpc>
              <a:buNone/>
            </a:pPr>
            <a:endParaRPr lang="en-US" sz="3199" dirty="0"/>
          </a:p>
        </p:txBody>
      </p:sp>
      <p:sp>
        <p:nvSpPr>
          <p:cNvPr id="3" name="Text Placeholder 2"/>
          <p:cNvSpPr>
            <a:spLocks noGrp="1"/>
          </p:cNvSpPr>
          <p:nvPr>
            <p:ph type="body" idx="101"/>
          </p:nvPr>
        </p:nvSpPr>
        <p:spPr>
          <a:xfrm>
            <a:off x="812589" y="1905000"/>
            <a:ext cx="10563648" cy="4140200"/>
          </a:xfrm>
          <a:prstGeom prst="rect">
            <a:avLst/>
          </a:prstGeom>
          <a:noFill/>
          <a:ln/>
        </p:spPr>
        <p:txBody>
          <a:bodyPr wrap="square" lIns="0" tIns="0" rIns="0" bIns="0" rtlCol="0" anchor="t"/>
          <a:lstStyle>
            <a:lvl1pPr marL="0" indent="0" algn="l">
              <a:lnSpc>
                <a:spcPct val="140000"/>
              </a:lnSpc>
              <a:buNone/>
              <a:defRPr lang="en-US" sz="1600" dirty="0">
                <a:solidFill>
                  <a:srgbClr val="F4F8FC"/>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3098042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98448" cy="9144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09728"/>
            <a:ext cx="11247120" cy="530352"/>
          </a:xfrm>
          <a:prstGeom prst="rect">
            <a:avLst/>
          </a:prstGeom>
          <a:noFill/>
        </p:spPr>
        <p:txBody>
          <a:bodyPr wrap="square">
            <a:spAutoFit/>
          </a:bodyPr>
          <a:lstStyle/>
          <a:p>
            <a:pPr algn="l"/>
            <a:r>
              <a:rPr sz="2600" b="1" i="0">
                <a:solidFill>
                  <a:srgbClr val="F5A800"/>
                </a:solidFill>
              </a:rPr>
              <a:t>TRACE  —  System Architecture Overview</a:t>
            </a:r>
          </a:p>
        </p:txBody>
      </p:sp>
      <p:sp>
        <p:nvSpPr>
          <p:cNvPr id="5" name="TextBox 4"/>
          <p:cNvSpPr txBox="1"/>
          <p:nvPr/>
        </p:nvSpPr>
        <p:spPr>
          <a:xfrm>
            <a:off x="457200" y="640080"/>
            <a:ext cx="11247120" cy="329184"/>
          </a:xfrm>
          <a:prstGeom prst="rect">
            <a:avLst/>
          </a:prstGeom>
          <a:noFill/>
        </p:spPr>
        <p:txBody>
          <a:bodyPr wrap="square">
            <a:spAutoFit/>
          </a:bodyPr>
          <a:lstStyle/>
          <a:p>
            <a:pPr algn="l"/>
            <a:r>
              <a:rPr sz="1100" b="0" i="0">
                <a:solidFill>
                  <a:srgbClr val="C9DAEE"/>
                </a:solidFill>
              </a:rPr>
              <a:t>Five layers — each with a single responsibility and a well-defined contract</a:t>
            </a:r>
          </a:p>
        </p:txBody>
      </p:sp>
      <p:sp>
        <p:nvSpPr>
          <p:cNvPr id="6" name="Rectangle 5"/>
          <p:cNvSpPr/>
          <p:nvPr/>
        </p:nvSpPr>
        <p:spPr>
          <a:xfrm>
            <a:off x="0" y="6784848"/>
            <a:ext cx="12188952" cy="73152"/>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TRACE_Architecture.png"/>
          <p:cNvPicPr>
            <a:picLocks noChangeAspect="1"/>
          </p:cNvPicPr>
          <p:nvPr/>
        </p:nvPicPr>
        <p:blipFill>
          <a:blip r:embed="rId3"/>
          <a:stretch>
            <a:fillRect/>
          </a:stretch>
        </p:blipFill>
        <p:spPr>
          <a:xfrm>
            <a:off x="274320" y="960120"/>
            <a:ext cx="11640312" cy="5623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Acting on Feedback — From Breadth to Depth</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Sep 30: First presentation feedback → Oct 2026: MVP scope implemented</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332412" y="1344168"/>
            <a:ext cx="8503920" cy="274320"/>
          </a:xfrm>
          <a:prstGeom prst="roundRect">
            <a:avLst/>
          </a:prstGeom>
          <a:solidFill>
            <a:srgbClr val="1A3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61012" y="1389888"/>
            <a:ext cx="2194560" cy="201168"/>
          </a:xfrm>
          <a:prstGeom prst="rect">
            <a:avLst/>
          </a:prstGeom>
          <a:noFill/>
        </p:spPr>
        <p:txBody>
          <a:bodyPr wrap="square">
            <a:spAutoFit/>
          </a:bodyPr>
          <a:lstStyle/>
          <a:p>
            <a:pPr algn="l">
              <a:defRPr sz="900" b="0">
                <a:solidFill>
                  <a:srgbClr val="CCCCCC"/>
                </a:solidFill>
                <a:latin typeface="Calibri"/>
              </a:defRPr>
            </a:pPr>
            <a:r>
              <a:t>Sep 30 — First Presentation</a:t>
            </a:r>
          </a:p>
        </p:txBody>
      </p:sp>
      <p:sp>
        <p:nvSpPr>
          <p:cNvPr id="12" name="TextBox 11"/>
          <p:cNvSpPr txBox="1"/>
          <p:nvPr/>
        </p:nvSpPr>
        <p:spPr>
          <a:xfrm>
            <a:off x="4487092" y="1389888"/>
            <a:ext cx="2194560" cy="201168"/>
          </a:xfrm>
          <a:prstGeom prst="rect">
            <a:avLst/>
          </a:prstGeom>
          <a:noFill/>
        </p:spPr>
        <p:txBody>
          <a:bodyPr wrap="square">
            <a:spAutoFit/>
          </a:bodyPr>
          <a:lstStyle/>
          <a:p>
            <a:pPr algn="l">
              <a:defRPr sz="900" b="1">
                <a:solidFill>
                  <a:srgbClr val="FFFFFF"/>
                </a:solidFill>
                <a:latin typeface="Calibri"/>
              </a:defRPr>
            </a:pPr>
            <a:r>
              <a:t>→</a:t>
            </a:r>
          </a:p>
        </p:txBody>
      </p:sp>
      <p:sp>
        <p:nvSpPr>
          <p:cNvPr id="13" name="TextBox 12"/>
          <p:cNvSpPr txBox="1"/>
          <p:nvPr/>
        </p:nvSpPr>
        <p:spPr>
          <a:xfrm>
            <a:off x="4944292" y="1389888"/>
            <a:ext cx="2194560" cy="201168"/>
          </a:xfrm>
          <a:prstGeom prst="rect">
            <a:avLst/>
          </a:prstGeom>
          <a:noFill/>
        </p:spPr>
        <p:txBody>
          <a:bodyPr wrap="square">
            <a:spAutoFit/>
          </a:bodyPr>
          <a:lstStyle/>
          <a:p>
            <a:pPr algn="l">
              <a:defRPr sz="900" b="0">
                <a:solidFill>
                  <a:srgbClr val="FFC107"/>
                </a:solidFill>
                <a:latin typeface="Calibri"/>
              </a:defRPr>
            </a:pPr>
            <a:r>
              <a:t>Professor Feedback Received</a:t>
            </a:r>
          </a:p>
        </p:txBody>
      </p:sp>
      <p:sp>
        <p:nvSpPr>
          <p:cNvPr id="14" name="TextBox 13"/>
          <p:cNvSpPr txBox="1"/>
          <p:nvPr/>
        </p:nvSpPr>
        <p:spPr>
          <a:xfrm>
            <a:off x="7321732" y="1389888"/>
            <a:ext cx="2194560" cy="201168"/>
          </a:xfrm>
          <a:prstGeom prst="rect">
            <a:avLst/>
          </a:prstGeom>
          <a:noFill/>
        </p:spPr>
        <p:txBody>
          <a:bodyPr wrap="square">
            <a:spAutoFit/>
          </a:bodyPr>
          <a:lstStyle/>
          <a:p>
            <a:pPr algn="l">
              <a:defRPr sz="900" b="1">
                <a:solidFill>
                  <a:srgbClr val="FFFFFF"/>
                </a:solidFill>
                <a:latin typeface="Calibri"/>
              </a:defRPr>
            </a:pPr>
            <a:r>
              <a:t>→</a:t>
            </a:r>
          </a:p>
        </p:txBody>
      </p:sp>
      <p:sp>
        <p:nvSpPr>
          <p:cNvPr id="15" name="TextBox 14"/>
          <p:cNvSpPr txBox="1"/>
          <p:nvPr/>
        </p:nvSpPr>
        <p:spPr>
          <a:xfrm>
            <a:off x="7778932" y="1389888"/>
            <a:ext cx="2194560" cy="201168"/>
          </a:xfrm>
          <a:prstGeom prst="rect">
            <a:avLst/>
          </a:prstGeom>
          <a:noFill/>
        </p:spPr>
        <p:txBody>
          <a:bodyPr wrap="square">
            <a:spAutoFit/>
          </a:bodyPr>
          <a:lstStyle/>
          <a:p>
            <a:pPr algn="l">
              <a:defRPr sz="900" b="0">
                <a:solidFill>
                  <a:srgbClr val="28A745"/>
                </a:solidFill>
                <a:latin typeface="Calibri"/>
              </a:defRPr>
            </a:pPr>
            <a:r>
              <a:t>Oct 2026 — MVP Implemented</a:t>
            </a:r>
          </a:p>
        </p:txBody>
      </p:sp>
      <p:sp>
        <p:nvSpPr>
          <p:cNvPr id="16" name="Rounded Rectangle 15"/>
          <p:cNvSpPr/>
          <p:nvPr/>
        </p:nvSpPr>
        <p:spPr>
          <a:xfrm>
            <a:off x="4258492" y="1691640"/>
            <a:ext cx="2651760" cy="438912"/>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04212" y="1737360"/>
            <a:ext cx="914400" cy="320040"/>
          </a:xfrm>
          <a:prstGeom prst="rect">
            <a:avLst/>
          </a:prstGeom>
          <a:noFill/>
        </p:spPr>
        <p:txBody>
          <a:bodyPr wrap="square">
            <a:spAutoFit/>
          </a:bodyPr>
          <a:lstStyle/>
          <a:p>
            <a:pPr algn="ctr">
              <a:defRPr sz="1300" b="1">
                <a:solidFill>
                  <a:srgbClr val="CC2233"/>
                </a:solidFill>
                <a:latin typeface="Calibri"/>
              </a:defRPr>
            </a:pPr>
            <a:r>
              <a:t>13 models</a:t>
            </a:r>
          </a:p>
        </p:txBody>
      </p:sp>
      <p:sp>
        <p:nvSpPr>
          <p:cNvPr id="18" name="TextBox 17"/>
          <p:cNvSpPr txBox="1"/>
          <p:nvPr/>
        </p:nvSpPr>
        <p:spPr>
          <a:xfrm>
            <a:off x="5172892" y="1737360"/>
            <a:ext cx="457200" cy="320040"/>
          </a:xfrm>
          <a:prstGeom prst="rect">
            <a:avLst/>
          </a:prstGeom>
          <a:noFill/>
        </p:spPr>
        <p:txBody>
          <a:bodyPr wrap="square">
            <a:spAutoFit/>
          </a:bodyPr>
          <a:lstStyle/>
          <a:p>
            <a:pPr algn="ctr">
              <a:defRPr sz="1800" b="1">
                <a:solidFill>
                  <a:srgbClr val="FFFFFF"/>
                </a:solidFill>
                <a:latin typeface="Calibri"/>
              </a:defRPr>
            </a:pPr>
            <a:r>
              <a:t>→</a:t>
            </a:r>
          </a:p>
        </p:txBody>
      </p:sp>
      <p:sp>
        <p:nvSpPr>
          <p:cNvPr id="19" name="TextBox 18"/>
          <p:cNvSpPr txBox="1"/>
          <p:nvPr/>
        </p:nvSpPr>
        <p:spPr>
          <a:xfrm>
            <a:off x="5584372" y="1737360"/>
            <a:ext cx="1188720" cy="320040"/>
          </a:xfrm>
          <a:prstGeom prst="rect">
            <a:avLst/>
          </a:prstGeom>
          <a:noFill/>
        </p:spPr>
        <p:txBody>
          <a:bodyPr wrap="square">
            <a:spAutoFit/>
          </a:bodyPr>
          <a:lstStyle/>
          <a:p>
            <a:pPr algn="ctr">
              <a:defRPr sz="1300" b="1">
                <a:solidFill>
                  <a:srgbClr val="28A745"/>
                </a:solidFill>
                <a:latin typeface="Calibri"/>
              </a:defRPr>
            </a:pPr>
            <a:r>
              <a:t>6 models</a:t>
            </a:r>
          </a:p>
        </p:txBody>
      </p:sp>
      <p:sp>
        <p:nvSpPr>
          <p:cNvPr id="20" name="Rounded Rectangle 19"/>
          <p:cNvSpPr/>
          <p:nvPr/>
        </p:nvSpPr>
        <p:spPr>
          <a:xfrm>
            <a:off x="1332412" y="2121408"/>
            <a:ext cx="3977639" cy="329184"/>
          </a:xfrm>
          <a:prstGeom prst="roundRect">
            <a:avLst/>
          </a:prstGeom>
          <a:solidFill>
            <a:srgbClr val="B5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  BEFORE — Professor Feedback  (Sep 30)</a:t>
            </a:r>
          </a:p>
        </p:txBody>
      </p:sp>
      <p:sp>
        <p:nvSpPr>
          <p:cNvPr id="21" name="Rounded Rectangle 20"/>
          <p:cNvSpPr/>
          <p:nvPr/>
        </p:nvSpPr>
        <p:spPr>
          <a:xfrm>
            <a:off x="5675812" y="2121408"/>
            <a:ext cx="3977639" cy="329184"/>
          </a:xfrm>
          <a:prstGeom prst="roundRect">
            <a:avLst/>
          </a:prstGeom>
          <a:solidFill>
            <a:srgbClr val="147A3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  AFTER — Team Response  (Oct 2026)</a:t>
            </a:r>
          </a:p>
        </p:txBody>
      </p:sp>
      <p:sp>
        <p:nvSpPr>
          <p:cNvPr id="22" name="Rounded Rectangle 21"/>
          <p:cNvSpPr/>
          <p:nvPr/>
        </p:nvSpPr>
        <p:spPr>
          <a:xfrm>
            <a:off x="1332412" y="2450592"/>
            <a:ext cx="3977639" cy="3401568"/>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675812" y="2450592"/>
            <a:ext cx="3977639" cy="340156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423852" y="2505456"/>
            <a:ext cx="256032" cy="256032"/>
          </a:xfrm>
          <a:prstGeom prst="roundRect">
            <a:avLst/>
          </a:prstGeom>
          <a:solidFill>
            <a:srgbClr val="B5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1</a:t>
            </a:r>
          </a:p>
        </p:txBody>
      </p:sp>
      <p:sp>
        <p:nvSpPr>
          <p:cNvPr id="25" name="TextBox 24"/>
          <p:cNvSpPr txBox="1"/>
          <p:nvPr/>
        </p:nvSpPr>
        <p:spPr>
          <a:xfrm>
            <a:off x="1753036" y="2459736"/>
            <a:ext cx="3502151" cy="219456"/>
          </a:xfrm>
          <a:prstGeom prst="rect">
            <a:avLst/>
          </a:prstGeom>
          <a:noFill/>
        </p:spPr>
        <p:txBody>
          <a:bodyPr wrap="square">
            <a:spAutoFit/>
          </a:bodyPr>
          <a:lstStyle/>
          <a:p>
            <a:pPr algn="l">
              <a:defRPr sz="1000" b="1">
                <a:solidFill>
                  <a:srgbClr val="B51C1C"/>
                </a:solidFill>
                <a:latin typeface="Calibri"/>
              </a:defRPr>
            </a:pPr>
            <a:r>
              <a:t>Too many models</a:t>
            </a:r>
          </a:p>
        </p:txBody>
      </p:sp>
      <p:sp>
        <p:nvSpPr>
          <p:cNvPr id="26" name="TextBox 25"/>
          <p:cNvSpPr txBox="1"/>
          <p:nvPr/>
        </p:nvSpPr>
        <p:spPr>
          <a:xfrm>
            <a:off x="1753036" y="2679192"/>
            <a:ext cx="3502151" cy="237744"/>
          </a:xfrm>
          <a:prstGeom prst="rect">
            <a:avLst/>
          </a:prstGeom>
          <a:noFill/>
        </p:spPr>
        <p:txBody>
          <a:bodyPr wrap="square">
            <a:spAutoFit/>
          </a:bodyPr>
          <a:lstStyle/>
          <a:p>
            <a:pPr algn="l">
              <a:defRPr sz="900" b="0">
                <a:solidFill>
                  <a:srgbClr val="002A55"/>
                </a:solidFill>
                <a:latin typeface="Calibri"/>
              </a:defRPr>
            </a:pPr>
            <a:r>
              <a:t>13+ classifiers at once — audience cannot follow the logic.</a:t>
            </a:r>
          </a:p>
        </p:txBody>
      </p:sp>
      <p:sp>
        <p:nvSpPr>
          <p:cNvPr id="27" name="Rounded Rectangle 26"/>
          <p:cNvSpPr/>
          <p:nvPr/>
        </p:nvSpPr>
        <p:spPr>
          <a:xfrm>
            <a:off x="5767252" y="2505456"/>
            <a:ext cx="256032" cy="256032"/>
          </a:xfrm>
          <a:prstGeom prst="roundRect">
            <a:avLst/>
          </a:prstGeom>
          <a:solidFill>
            <a:srgbClr val="147A3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1</a:t>
            </a:r>
          </a:p>
        </p:txBody>
      </p:sp>
      <p:sp>
        <p:nvSpPr>
          <p:cNvPr id="28" name="TextBox 27"/>
          <p:cNvSpPr txBox="1"/>
          <p:nvPr/>
        </p:nvSpPr>
        <p:spPr>
          <a:xfrm>
            <a:off x="6096436" y="2459736"/>
            <a:ext cx="3502151" cy="219456"/>
          </a:xfrm>
          <a:prstGeom prst="rect">
            <a:avLst/>
          </a:prstGeom>
          <a:noFill/>
        </p:spPr>
        <p:txBody>
          <a:bodyPr wrap="square">
            <a:spAutoFit/>
          </a:bodyPr>
          <a:lstStyle/>
          <a:p>
            <a:pPr algn="l">
              <a:defRPr sz="1000" b="1">
                <a:solidFill>
                  <a:srgbClr val="147A3A"/>
                </a:solidFill>
                <a:latin typeface="Calibri"/>
              </a:defRPr>
            </a:pPr>
            <a:r>
              <a:t>Narrowed to 6 representative models</a:t>
            </a:r>
          </a:p>
        </p:txBody>
      </p:sp>
      <p:sp>
        <p:nvSpPr>
          <p:cNvPr id="29" name="TextBox 28"/>
          <p:cNvSpPr txBox="1"/>
          <p:nvPr/>
        </p:nvSpPr>
        <p:spPr>
          <a:xfrm>
            <a:off x="6096436" y="2679192"/>
            <a:ext cx="3502151" cy="237744"/>
          </a:xfrm>
          <a:prstGeom prst="rect">
            <a:avLst/>
          </a:prstGeom>
          <a:noFill/>
        </p:spPr>
        <p:txBody>
          <a:bodyPr wrap="square">
            <a:spAutoFit/>
          </a:bodyPr>
          <a:lstStyle/>
          <a:p>
            <a:pPr algn="l">
              <a:defRPr sz="900" b="0">
                <a:solidFill>
                  <a:srgbClr val="002A55"/>
                </a:solidFill>
                <a:latin typeface="Calibri"/>
              </a:defRPr>
            </a:pPr>
            <a:r>
              <a:t>1–2 per tier, each mapped to a research question.</a:t>
            </a:r>
          </a:p>
        </p:txBody>
      </p:sp>
      <p:sp>
        <p:nvSpPr>
          <p:cNvPr id="30" name="Rounded Rectangle 29"/>
          <p:cNvSpPr/>
          <p:nvPr/>
        </p:nvSpPr>
        <p:spPr>
          <a:xfrm>
            <a:off x="1423852" y="3099816"/>
            <a:ext cx="256032" cy="256032"/>
          </a:xfrm>
          <a:prstGeom prst="roundRect">
            <a:avLst/>
          </a:prstGeom>
          <a:solidFill>
            <a:srgbClr val="B5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2</a:t>
            </a:r>
          </a:p>
        </p:txBody>
      </p:sp>
      <p:sp>
        <p:nvSpPr>
          <p:cNvPr id="31" name="TextBox 30"/>
          <p:cNvSpPr txBox="1"/>
          <p:nvPr/>
        </p:nvSpPr>
        <p:spPr>
          <a:xfrm>
            <a:off x="1753036" y="3054096"/>
            <a:ext cx="3502151" cy="219456"/>
          </a:xfrm>
          <a:prstGeom prst="rect">
            <a:avLst/>
          </a:prstGeom>
          <a:noFill/>
        </p:spPr>
        <p:txBody>
          <a:bodyPr wrap="square">
            <a:spAutoFit/>
          </a:bodyPr>
          <a:lstStyle/>
          <a:p>
            <a:pPr algn="l">
              <a:defRPr sz="1000" b="1">
                <a:solidFill>
                  <a:srgbClr val="B51C1C"/>
                </a:solidFill>
                <a:latin typeface="Calibri"/>
              </a:defRPr>
            </a:pPr>
            <a:r>
              <a:t>Scope too ambitious</a:t>
            </a:r>
          </a:p>
        </p:txBody>
      </p:sp>
      <p:sp>
        <p:nvSpPr>
          <p:cNvPr id="32" name="TextBox 31"/>
          <p:cNvSpPr txBox="1"/>
          <p:nvPr/>
        </p:nvSpPr>
        <p:spPr>
          <a:xfrm>
            <a:off x="1753036" y="3273552"/>
            <a:ext cx="3502151" cy="237744"/>
          </a:xfrm>
          <a:prstGeom prst="rect">
            <a:avLst/>
          </a:prstGeom>
          <a:noFill/>
        </p:spPr>
        <p:txBody>
          <a:bodyPr wrap="square">
            <a:spAutoFit/>
          </a:bodyPr>
          <a:lstStyle/>
          <a:p>
            <a:pPr algn="l">
              <a:defRPr sz="900" b="0">
                <a:solidFill>
                  <a:srgbClr val="002A55"/>
                </a:solidFill>
                <a:latin typeface="Calibri"/>
              </a:defRPr>
            </a:pPr>
            <a:r>
              <a:t>4-level hierarchy + LLM generation not feasible in one semester.</a:t>
            </a:r>
          </a:p>
        </p:txBody>
      </p:sp>
      <p:sp>
        <p:nvSpPr>
          <p:cNvPr id="33" name="Rounded Rectangle 32"/>
          <p:cNvSpPr/>
          <p:nvPr/>
        </p:nvSpPr>
        <p:spPr>
          <a:xfrm>
            <a:off x="5767252" y="3099816"/>
            <a:ext cx="256032" cy="256032"/>
          </a:xfrm>
          <a:prstGeom prst="roundRect">
            <a:avLst/>
          </a:prstGeom>
          <a:solidFill>
            <a:srgbClr val="147A3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2</a:t>
            </a:r>
          </a:p>
        </p:txBody>
      </p:sp>
      <p:sp>
        <p:nvSpPr>
          <p:cNvPr id="34" name="TextBox 33"/>
          <p:cNvSpPr txBox="1"/>
          <p:nvPr/>
        </p:nvSpPr>
        <p:spPr>
          <a:xfrm>
            <a:off x="6096436" y="3054096"/>
            <a:ext cx="3502151" cy="219456"/>
          </a:xfrm>
          <a:prstGeom prst="rect">
            <a:avLst/>
          </a:prstGeom>
          <a:noFill/>
        </p:spPr>
        <p:txBody>
          <a:bodyPr wrap="square">
            <a:spAutoFit/>
          </a:bodyPr>
          <a:lstStyle/>
          <a:p>
            <a:pPr algn="l">
              <a:defRPr sz="1000" b="1">
                <a:solidFill>
                  <a:srgbClr val="147A3A"/>
                </a:solidFill>
                <a:latin typeface="Calibri"/>
              </a:defRPr>
            </a:pPr>
            <a:r>
              <a:t>Activity classification only (MVP)</a:t>
            </a:r>
          </a:p>
        </p:txBody>
      </p:sp>
      <p:sp>
        <p:nvSpPr>
          <p:cNvPr id="35" name="TextBox 34"/>
          <p:cNvSpPr txBox="1"/>
          <p:nvPr/>
        </p:nvSpPr>
        <p:spPr>
          <a:xfrm>
            <a:off x="6096436" y="3273552"/>
            <a:ext cx="3502151" cy="237744"/>
          </a:xfrm>
          <a:prstGeom prst="rect">
            <a:avLst/>
          </a:prstGeom>
          <a:noFill/>
        </p:spPr>
        <p:txBody>
          <a:bodyPr wrap="square">
            <a:spAutoFit/>
          </a:bodyPr>
          <a:lstStyle/>
          <a:p>
            <a:pPr algn="l">
              <a:defRPr sz="900" b="0">
                <a:solidFill>
                  <a:srgbClr val="002A55"/>
                </a:solidFill>
                <a:latin typeface="Calibri"/>
              </a:defRPr>
            </a:pPr>
            <a:r>
              <a:t>Level 3 &amp; LLM generation moved to future work.</a:t>
            </a:r>
          </a:p>
        </p:txBody>
      </p:sp>
      <p:sp>
        <p:nvSpPr>
          <p:cNvPr id="36" name="Rounded Rectangle 35"/>
          <p:cNvSpPr/>
          <p:nvPr/>
        </p:nvSpPr>
        <p:spPr>
          <a:xfrm>
            <a:off x="1423852" y="3694176"/>
            <a:ext cx="256032" cy="256032"/>
          </a:xfrm>
          <a:prstGeom prst="roundRect">
            <a:avLst/>
          </a:prstGeom>
          <a:solidFill>
            <a:srgbClr val="B5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3</a:t>
            </a:r>
          </a:p>
        </p:txBody>
      </p:sp>
      <p:sp>
        <p:nvSpPr>
          <p:cNvPr id="37" name="TextBox 36"/>
          <p:cNvSpPr txBox="1"/>
          <p:nvPr/>
        </p:nvSpPr>
        <p:spPr>
          <a:xfrm>
            <a:off x="1753036" y="3648456"/>
            <a:ext cx="3502151" cy="219456"/>
          </a:xfrm>
          <a:prstGeom prst="rect">
            <a:avLst/>
          </a:prstGeom>
          <a:noFill/>
        </p:spPr>
        <p:txBody>
          <a:bodyPr wrap="square">
            <a:spAutoFit/>
          </a:bodyPr>
          <a:lstStyle/>
          <a:p>
            <a:pPr algn="l">
              <a:defRPr sz="1000" b="1">
                <a:solidFill>
                  <a:srgbClr val="B51C1C"/>
                </a:solidFill>
                <a:latin typeface="Calibri"/>
              </a:defRPr>
            </a:pPr>
            <a:r>
              <a:t>Training ≠ Inference</a:t>
            </a:r>
          </a:p>
        </p:txBody>
      </p:sp>
      <p:sp>
        <p:nvSpPr>
          <p:cNvPr id="38" name="TextBox 37"/>
          <p:cNvSpPr txBox="1"/>
          <p:nvPr/>
        </p:nvSpPr>
        <p:spPr>
          <a:xfrm>
            <a:off x="1753036" y="3867912"/>
            <a:ext cx="3502151" cy="237744"/>
          </a:xfrm>
          <a:prstGeom prst="rect">
            <a:avLst/>
          </a:prstGeom>
          <a:noFill/>
        </p:spPr>
        <p:txBody>
          <a:bodyPr wrap="square">
            <a:spAutoFit/>
          </a:bodyPr>
          <a:lstStyle/>
          <a:p>
            <a:pPr algn="l">
              <a:defRPr sz="900" b="0">
                <a:solidFill>
                  <a:srgbClr val="002A55"/>
                </a:solidFill>
                <a:latin typeface="Calibri"/>
              </a:defRPr>
            </a:pPr>
            <a:r>
              <a:t>Diagram conflated training and inference pipelines.</a:t>
            </a:r>
          </a:p>
        </p:txBody>
      </p:sp>
      <p:sp>
        <p:nvSpPr>
          <p:cNvPr id="39" name="Rounded Rectangle 38"/>
          <p:cNvSpPr/>
          <p:nvPr/>
        </p:nvSpPr>
        <p:spPr>
          <a:xfrm>
            <a:off x="5767252" y="3694176"/>
            <a:ext cx="256032" cy="256032"/>
          </a:xfrm>
          <a:prstGeom prst="roundRect">
            <a:avLst/>
          </a:prstGeom>
          <a:solidFill>
            <a:srgbClr val="147A3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3</a:t>
            </a:r>
          </a:p>
        </p:txBody>
      </p:sp>
      <p:sp>
        <p:nvSpPr>
          <p:cNvPr id="40" name="TextBox 39"/>
          <p:cNvSpPr txBox="1"/>
          <p:nvPr/>
        </p:nvSpPr>
        <p:spPr>
          <a:xfrm>
            <a:off x="6096436" y="3648456"/>
            <a:ext cx="3502151" cy="219456"/>
          </a:xfrm>
          <a:prstGeom prst="rect">
            <a:avLst/>
          </a:prstGeom>
          <a:noFill/>
        </p:spPr>
        <p:txBody>
          <a:bodyPr wrap="square">
            <a:spAutoFit/>
          </a:bodyPr>
          <a:lstStyle/>
          <a:p>
            <a:pPr algn="l">
              <a:defRPr sz="1000" b="1">
                <a:solidFill>
                  <a:srgbClr val="147A3A"/>
                </a:solidFill>
                <a:latin typeface="Calibri"/>
              </a:defRPr>
            </a:pPr>
            <a:r>
              <a:t>Separated train vs. inference</a:t>
            </a:r>
          </a:p>
        </p:txBody>
      </p:sp>
      <p:sp>
        <p:nvSpPr>
          <p:cNvPr id="41" name="TextBox 40"/>
          <p:cNvSpPr txBox="1"/>
          <p:nvPr/>
        </p:nvSpPr>
        <p:spPr>
          <a:xfrm>
            <a:off x="6096436" y="3867912"/>
            <a:ext cx="3502151" cy="237744"/>
          </a:xfrm>
          <a:prstGeom prst="rect">
            <a:avLst/>
          </a:prstGeom>
          <a:noFill/>
        </p:spPr>
        <p:txBody>
          <a:bodyPr wrap="square">
            <a:spAutoFit/>
          </a:bodyPr>
          <a:lstStyle/>
          <a:p>
            <a:pPr algn="l">
              <a:defRPr sz="900" b="0">
                <a:solidFill>
                  <a:srgbClr val="002A55"/>
                </a:solidFill>
                <a:latin typeface="Calibri"/>
              </a:defRPr>
            </a:pPr>
            <a:r>
              <a:t>Two diagrams: data→fit→.pkl | video→features→predict.</a:t>
            </a:r>
          </a:p>
        </p:txBody>
      </p:sp>
      <p:sp>
        <p:nvSpPr>
          <p:cNvPr id="42" name="Rounded Rectangle 41"/>
          <p:cNvSpPr/>
          <p:nvPr/>
        </p:nvSpPr>
        <p:spPr>
          <a:xfrm>
            <a:off x="1423852" y="4288536"/>
            <a:ext cx="256032" cy="256032"/>
          </a:xfrm>
          <a:prstGeom prst="roundRect">
            <a:avLst/>
          </a:prstGeom>
          <a:solidFill>
            <a:srgbClr val="B5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4</a:t>
            </a:r>
          </a:p>
        </p:txBody>
      </p:sp>
      <p:sp>
        <p:nvSpPr>
          <p:cNvPr id="43" name="TextBox 42"/>
          <p:cNvSpPr txBox="1"/>
          <p:nvPr/>
        </p:nvSpPr>
        <p:spPr>
          <a:xfrm>
            <a:off x="1753036" y="4242816"/>
            <a:ext cx="3502151" cy="219456"/>
          </a:xfrm>
          <a:prstGeom prst="rect">
            <a:avLst/>
          </a:prstGeom>
          <a:noFill/>
        </p:spPr>
        <p:txBody>
          <a:bodyPr wrap="square">
            <a:spAutoFit/>
          </a:bodyPr>
          <a:lstStyle/>
          <a:p>
            <a:pPr algn="l">
              <a:defRPr sz="1000" b="1">
                <a:solidFill>
                  <a:srgbClr val="B51C1C"/>
                </a:solidFill>
                <a:latin typeface="Calibri"/>
              </a:defRPr>
            </a:pPr>
            <a:r>
              <a:t>Dataset must come first</a:t>
            </a:r>
          </a:p>
        </p:txBody>
      </p:sp>
      <p:sp>
        <p:nvSpPr>
          <p:cNvPr id="44" name="TextBox 43"/>
          <p:cNvSpPr txBox="1"/>
          <p:nvPr/>
        </p:nvSpPr>
        <p:spPr>
          <a:xfrm>
            <a:off x="1753036" y="4462272"/>
            <a:ext cx="3502151" cy="237744"/>
          </a:xfrm>
          <a:prstGeom prst="rect">
            <a:avLst/>
          </a:prstGeom>
          <a:noFill/>
        </p:spPr>
        <p:txBody>
          <a:bodyPr wrap="square">
            <a:spAutoFit/>
          </a:bodyPr>
          <a:lstStyle/>
          <a:p>
            <a:pPr algn="l">
              <a:defRPr sz="900" b="0">
                <a:solidFill>
                  <a:srgbClr val="002A55"/>
                </a:solidFill>
                <a:latin typeface="Calibri"/>
              </a:defRPr>
            </a:pPr>
            <a:r>
              <a:t>Class distribution must precede model descriptions.</a:t>
            </a:r>
          </a:p>
        </p:txBody>
      </p:sp>
      <p:sp>
        <p:nvSpPr>
          <p:cNvPr id="45" name="Rounded Rectangle 44"/>
          <p:cNvSpPr/>
          <p:nvPr/>
        </p:nvSpPr>
        <p:spPr>
          <a:xfrm>
            <a:off x="5767252" y="4288536"/>
            <a:ext cx="256032" cy="256032"/>
          </a:xfrm>
          <a:prstGeom prst="roundRect">
            <a:avLst/>
          </a:prstGeom>
          <a:solidFill>
            <a:srgbClr val="147A3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4</a:t>
            </a:r>
          </a:p>
        </p:txBody>
      </p:sp>
      <p:sp>
        <p:nvSpPr>
          <p:cNvPr id="46" name="TextBox 45"/>
          <p:cNvSpPr txBox="1"/>
          <p:nvPr/>
        </p:nvSpPr>
        <p:spPr>
          <a:xfrm>
            <a:off x="6096436" y="4242816"/>
            <a:ext cx="3502151" cy="219456"/>
          </a:xfrm>
          <a:prstGeom prst="rect">
            <a:avLst/>
          </a:prstGeom>
          <a:noFill/>
        </p:spPr>
        <p:txBody>
          <a:bodyPr wrap="square">
            <a:spAutoFit/>
          </a:bodyPr>
          <a:lstStyle/>
          <a:p>
            <a:pPr algn="l">
              <a:defRPr sz="1000" b="1">
                <a:solidFill>
                  <a:srgbClr val="147A3A"/>
                </a:solidFill>
                <a:latin typeface="Calibri"/>
              </a:defRPr>
            </a:pPr>
            <a:r>
              <a:t>Reordered presentation</a:t>
            </a:r>
          </a:p>
        </p:txBody>
      </p:sp>
      <p:sp>
        <p:nvSpPr>
          <p:cNvPr id="47" name="TextBox 46"/>
          <p:cNvSpPr txBox="1"/>
          <p:nvPr/>
        </p:nvSpPr>
        <p:spPr>
          <a:xfrm>
            <a:off x="6096436" y="4462272"/>
            <a:ext cx="3502151" cy="237744"/>
          </a:xfrm>
          <a:prstGeom prst="rect">
            <a:avLst/>
          </a:prstGeom>
          <a:noFill/>
        </p:spPr>
        <p:txBody>
          <a:bodyPr wrap="square">
            <a:spAutoFit/>
          </a:bodyPr>
          <a:lstStyle/>
          <a:p>
            <a:pPr algn="l">
              <a:defRPr sz="900" b="0">
                <a:solidFill>
                  <a:srgbClr val="002A55"/>
                </a:solidFill>
                <a:latin typeface="Calibri"/>
              </a:defRPr>
            </a:pPr>
            <a:r>
              <a:t>Dataset + class distribution shown before model design.</a:t>
            </a:r>
          </a:p>
        </p:txBody>
      </p:sp>
      <p:sp>
        <p:nvSpPr>
          <p:cNvPr id="48" name="Rounded Rectangle 47"/>
          <p:cNvSpPr/>
          <p:nvPr/>
        </p:nvSpPr>
        <p:spPr>
          <a:xfrm>
            <a:off x="1423852" y="4882896"/>
            <a:ext cx="256032" cy="256032"/>
          </a:xfrm>
          <a:prstGeom prst="roundRect">
            <a:avLst/>
          </a:prstGeom>
          <a:solidFill>
            <a:srgbClr val="B51C1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5</a:t>
            </a:r>
          </a:p>
        </p:txBody>
      </p:sp>
      <p:sp>
        <p:nvSpPr>
          <p:cNvPr id="49" name="TextBox 48"/>
          <p:cNvSpPr txBox="1"/>
          <p:nvPr/>
        </p:nvSpPr>
        <p:spPr>
          <a:xfrm>
            <a:off x="1753036" y="4837176"/>
            <a:ext cx="3502151" cy="219456"/>
          </a:xfrm>
          <a:prstGeom prst="rect">
            <a:avLst/>
          </a:prstGeom>
          <a:noFill/>
        </p:spPr>
        <p:txBody>
          <a:bodyPr wrap="square">
            <a:spAutoFit/>
          </a:bodyPr>
          <a:lstStyle/>
          <a:p>
            <a:pPr algn="l">
              <a:defRPr sz="1000" b="1">
                <a:solidFill>
                  <a:srgbClr val="B51C1C"/>
                </a:solidFill>
                <a:latin typeface="Calibri"/>
              </a:defRPr>
            </a:pPr>
            <a:r>
              <a:t>Feature → Model mapping unclear</a:t>
            </a:r>
          </a:p>
        </p:txBody>
      </p:sp>
      <p:sp>
        <p:nvSpPr>
          <p:cNvPr id="50" name="TextBox 49"/>
          <p:cNvSpPr txBox="1"/>
          <p:nvPr/>
        </p:nvSpPr>
        <p:spPr>
          <a:xfrm>
            <a:off x="1753036" y="5056632"/>
            <a:ext cx="3502151" cy="237744"/>
          </a:xfrm>
          <a:prstGeom prst="rect">
            <a:avLst/>
          </a:prstGeom>
          <a:noFill/>
        </p:spPr>
        <p:txBody>
          <a:bodyPr wrap="square">
            <a:spAutoFit/>
          </a:bodyPr>
          <a:lstStyle/>
          <a:p>
            <a:pPr algn="l">
              <a:defRPr sz="900" b="0">
                <a:solidFill>
                  <a:srgbClr val="002A55"/>
                </a:solidFill>
                <a:latin typeface="Calibri"/>
              </a:defRPr>
            </a:pPr>
            <a:r>
              <a:t>No explicit link: modality → feature columns → classifier.</a:t>
            </a:r>
          </a:p>
        </p:txBody>
      </p:sp>
      <p:sp>
        <p:nvSpPr>
          <p:cNvPr id="51" name="Rounded Rectangle 50"/>
          <p:cNvSpPr/>
          <p:nvPr/>
        </p:nvSpPr>
        <p:spPr>
          <a:xfrm>
            <a:off x="5767252" y="4882896"/>
            <a:ext cx="256032" cy="256032"/>
          </a:xfrm>
          <a:prstGeom prst="roundRect">
            <a:avLst/>
          </a:prstGeom>
          <a:solidFill>
            <a:srgbClr val="147A3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FFFFFF"/>
                </a:solidFill>
              </a:defRPr>
            </a:pPr>
            <a:r>
              <a:t>5</a:t>
            </a:r>
          </a:p>
        </p:txBody>
      </p:sp>
      <p:sp>
        <p:nvSpPr>
          <p:cNvPr id="52" name="TextBox 51"/>
          <p:cNvSpPr txBox="1"/>
          <p:nvPr/>
        </p:nvSpPr>
        <p:spPr>
          <a:xfrm>
            <a:off x="6096436" y="4837176"/>
            <a:ext cx="3502151" cy="219456"/>
          </a:xfrm>
          <a:prstGeom prst="rect">
            <a:avLst/>
          </a:prstGeom>
          <a:noFill/>
        </p:spPr>
        <p:txBody>
          <a:bodyPr wrap="square">
            <a:spAutoFit/>
          </a:bodyPr>
          <a:lstStyle/>
          <a:p>
            <a:pPr algn="l">
              <a:defRPr sz="1000" b="1">
                <a:solidFill>
                  <a:srgbClr val="147A3A"/>
                </a:solidFill>
                <a:latin typeface="Calibri"/>
              </a:defRPr>
            </a:pPr>
            <a:r>
              <a:t>Explicit feature → model table added</a:t>
            </a:r>
          </a:p>
        </p:txBody>
      </p:sp>
      <p:sp>
        <p:nvSpPr>
          <p:cNvPr id="53" name="TextBox 52"/>
          <p:cNvSpPr txBox="1"/>
          <p:nvPr/>
        </p:nvSpPr>
        <p:spPr>
          <a:xfrm>
            <a:off x="6096436" y="5056632"/>
            <a:ext cx="3502151" cy="237744"/>
          </a:xfrm>
          <a:prstGeom prst="rect">
            <a:avLst/>
          </a:prstGeom>
          <a:noFill/>
        </p:spPr>
        <p:txBody>
          <a:bodyPr wrap="square">
            <a:spAutoFit/>
          </a:bodyPr>
          <a:lstStyle/>
          <a:p>
            <a:pPr algn="l">
              <a:defRPr sz="900" b="0">
                <a:solidFill>
                  <a:srgbClr val="002A55"/>
                </a:solidFill>
                <a:latin typeface="Calibri"/>
              </a:defRPr>
            </a:pPr>
            <a:r>
              <a:t>EfficientNet/EasyOCR/YOLO/action-log → classifiers.</a:t>
            </a:r>
          </a:p>
        </p:txBody>
      </p:sp>
      <p:sp>
        <p:nvSpPr>
          <p:cNvPr id="54" name="TextBox 53"/>
          <p:cNvSpPr txBox="1"/>
          <p:nvPr/>
        </p:nvSpPr>
        <p:spPr>
          <a:xfrm>
            <a:off x="5291764" y="3794760"/>
            <a:ext cx="402336" cy="402336"/>
          </a:xfrm>
          <a:prstGeom prst="rect">
            <a:avLst/>
          </a:prstGeom>
          <a:noFill/>
        </p:spPr>
        <p:txBody>
          <a:bodyPr wrap="square">
            <a:spAutoFit/>
          </a:bodyPr>
          <a:lstStyle/>
          <a:p>
            <a:pPr algn="ctr">
              <a:defRPr sz="3400" b="1">
                <a:solidFill>
                  <a:srgbClr val="FFC107"/>
                </a:solidFill>
                <a:latin typeface="Calibri"/>
              </a:defRPr>
            </a:pPr>
            <a:r>
              <a:t>⇒</a:t>
            </a:r>
          </a:p>
        </p:txBody>
      </p:sp>
      <p:sp>
        <p:nvSpPr>
          <p:cNvPr id="55" name="Rounded Rectangle 54"/>
          <p:cNvSpPr/>
          <p:nvPr/>
        </p:nvSpPr>
        <p:spPr>
          <a:xfrm>
            <a:off x="1332412" y="5925312"/>
            <a:ext cx="8503920" cy="2743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515292" y="5961888"/>
            <a:ext cx="8138160" cy="219456"/>
          </a:xfrm>
          <a:prstGeom prst="rect">
            <a:avLst/>
          </a:prstGeom>
          <a:noFill/>
        </p:spPr>
        <p:txBody>
          <a:bodyPr wrap="square">
            <a:spAutoFit/>
          </a:bodyPr>
          <a:lstStyle/>
          <a:p>
            <a:pPr algn="l">
              <a:defRPr sz="1000" b="1">
                <a:solidFill>
                  <a:srgbClr val="FFFFFF"/>
                </a:solidFill>
                <a:latin typeface="Calibri"/>
              </a:defRPr>
            </a:pPr>
            <a:r>
              <a:t>Result: Focused scope → rigorous evaluation → 6 models, 3 research questions, F1 Macro 0.884 — presented Oct 30.</a:t>
            </a:r>
          </a:p>
        </p:txBody>
      </p:sp>
      <p:sp>
        <p:nvSpPr>
          <p:cNvPr id="57" name="Rectangle 56"/>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59" name="Rectangle 58"/>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0" name="Picture 59" descr="nus_iss_logo_transparent.png"/>
          <p:cNvPicPr>
            <a:picLocks noChangeAspect="1"/>
          </p:cNvPicPr>
          <p:nvPr/>
        </p:nvPicPr>
        <p:blipFill>
          <a:blip r:embed="rId3"/>
          <a:stretch>
            <a:fillRect/>
          </a:stretch>
        </p:blipFill>
        <p:spPr>
          <a:xfrm>
            <a:off x="9555480" y="82296"/>
            <a:ext cx="2514600" cy="5852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Training Overview — 4 Phases</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End-to-end pipeline: raw VideoCUA dataset → trained .pkl classifiers</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188720" y="1554480"/>
            <a:ext cx="201168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Phase 1</a:t>
            </a:r>
          </a:p>
        </p:txBody>
      </p:sp>
      <p:sp>
        <p:nvSpPr>
          <p:cNvPr id="11" name="Rounded Rectangle 10"/>
          <p:cNvSpPr/>
          <p:nvPr/>
        </p:nvSpPr>
        <p:spPr>
          <a:xfrm>
            <a:off x="1188720" y="1920240"/>
            <a:ext cx="2011680" cy="30175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80160" y="2011680"/>
            <a:ext cx="1828800" cy="274320"/>
          </a:xfrm>
          <a:prstGeom prst="rect">
            <a:avLst/>
          </a:prstGeom>
          <a:noFill/>
        </p:spPr>
        <p:txBody>
          <a:bodyPr wrap="square">
            <a:spAutoFit/>
          </a:bodyPr>
          <a:lstStyle/>
          <a:p>
            <a:pPr algn="l">
              <a:spcAft>
                <a:spcPts val="600"/>
              </a:spcAft>
              <a:defRPr sz="1300" b="1">
                <a:solidFill>
                  <a:srgbClr val="007ACC"/>
                </a:solidFill>
                <a:latin typeface="Calibri"/>
              </a:defRPr>
            </a:pPr>
            <a:r>
              <a:t>Data Preparation</a:t>
            </a:r>
          </a:p>
        </p:txBody>
      </p:sp>
      <p:sp>
        <p:nvSpPr>
          <p:cNvPr id="13" name="TextBox 12"/>
          <p:cNvSpPr txBox="1"/>
          <p:nvPr/>
        </p:nvSpPr>
        <p:spPr>
          <a:xfrm>
            <a:off x="1280160" y="2377440"/>
            <a:ext cx="1828800" cy="2286000"/>
          </a:xfrm>
          <a:prstGeom prst="rect">
            <a:avLst/>
          </a:prstGeom>
          <a:noFill/>
        </p:spPr>
        <p:txBody>
          <a:bodyPr wrap="square">
            <a:spAutoFit/>
          </a:bodyPr>
          <a:lstStyle/>
          <a:p>
            <a:pPr algn="l">
              <a:spcAft>
                <a:spcPts val="600"/>
              </a:spcAft>
              <a:defRPr sz="1100" b="0">
                <a:solidFill>
                  <a:srgbClr val="002A55"/>
                </a:solidFill>
                <a:latin typeface="Calibri"/>
              </a:defRPr>
            </a:pPr>
            <a:r>
              <a:t>277 tasks · 8 apps</a:t>
            </a:r>
          </a:p>
          <a:p>
            <a:pPr algn="l">
              <a:spcAft>
                <a:spcPts val="600"/>
              </a:spcAft>
              <a:defRPr sz="1100" b="0">
                <a:solidFill>
                  <a:srgbClr val="002A55"/>
                </a:solidFill>
                <a:latin typeface="Calibri"/>
              </a:defRPr>
            </a:pPr>
            <a:r>
              <a:t>80% train / 20% test</a:t>
            </a:r>
          </a:p>
          <a:p>
            <a:pPr algn="l">
              <a:spcAft>
                <a:spcPts val="600"/>
              </a:spcAft>
              <a:defRPr sz="1100" b="0">
                <a:solidFill>
                  <a:srgbClr val="002A55"/>
                </a:solidFill>
                <a:latin typeface="Calibri"/>
              </a:defRPr>
            </a:pPr>
            <a:r>
              <a:t>Stratified by app label</a:t>
            </a:r>
          </a:p>
        </p:txBody>
      </p:sp>
      <p:sp>
        <p:nvSpPr>
          <p:cNvPr id="14" name="TextBox 13"/>
          <p:cNvSpPr txBox="1"/>
          <p:nvPr/>
        </p:nvSpPr>
        <p:spPr>
          <a:xfrm>
            <a:off x="3154680" y="2926080"/>
            <a:ext cx="365760" cy="365760"/>
          </a:xfrm>
          <a:prstGeom prst="rect">
            <a:avLst/>
          </a:prstGeom>
          <a:noFill/>
        </p:spPr>
        <p:txBody>
          <a:bodyPr wrap="square">
            <a:spAutoFit/>
          </a:bodyPr>
          <a:lstStyle/>
          <a:p>
            <a:pPr algn="ctr">
              <a:defRPr sz="1800" b="1">
                <a:solidFill>
                  <a:srgbClr val="007ACC"/>
                </a:solidFill>
                <a:latin typeface="Calibri"/>
              </a:defRPr>
            </a:pPr>
            <a:r>
              <a:t>→</a:t>
            </a:r>
          </a:p>
        </p:txBody>
      </p:sp>
      <p:sp>
        <p:nvSpPr>
          <p:cNvPr id="15" name="Rounded Rectangle 14"/>
          <p:cNvSpPr/>
          <p:nvPr/>
        </p:nvSpPr>
        <p:spPr>
          <a:xfrm>
            <a:off x="3337560" y="1554480"/>
            <a:ext cx="201168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Phase 2</a:t>
            </a:r>
          </a:p>
        </p:txBody>
      </p:sp>
      <p:sp>
        <p:nvSpPr>
          <p:cNvPr id="16" name="Rounded Rectangle 15"/>
          <p:cNvSpPr/>
          <p:nvPr/>
        </p:nvSpPr>
        <p:spPr>
          <a:xfrm>
            <a:off x="3337560" y="1920240"/>
            <a:ext cx="2011680" cy="301752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29000" y="2011680"/>
            <a:ext cx="1828800" cy="274320"/>
          </a:xfrm>
          <a:prstGeom prst="rect">
            <a:avLst/>
          </a:prstGeom>
          <a:noFill/>
        </p:spPr>
        <p:txBody>
          <a:bodyPr wrap="square">
            <a:spAutoFit/>
          </a:bodyPr>
          <a:lstStyle/>
          <a:p>
            <a:pPr algn="l">
              <a:spcAft>
                <a:spcPts val="600"/>
              </a:spcAft>
              <a:defRPr sz="1300" b="1">
                <a:solidFill>
                  <a:srgbClr val="28A745"/>
                </a:solidFill>
                <a:latin typeface="Calibri"/>
              </a:defRPr>
            </a:pPr>
            <a:r>
              <a:t>Feature Extraction</a:t>
            </a:r>
          </a:p>
        </p:txBody>
      </p:sp>
      <p:sp>
        <p:nvSpPr>
          <p:cNvPr id="18" name="TextBox 17"/>
          <p:cNvSpPr txBox="1"/>
          <p:nvPr/>
        </p:nvSpPr>
        <p:spPr>
          <a:xfrm>
            <a:off x="3429000" y="2377440"/>
            <a:ext cx="1828800" cy="2286000"/>
          </a:xfrm>
          <a:prstGeom prst="rect">
            <a:avLst/>
          </a:prstGeom>
          <a:noFill/>
        </p:spPr>
        <p:txBody>
          <a:bodyPr wrap="square">
            <a:spAutoFit/>
          </a:bodyPr>
          <a:lstStyle/>
          <a:p>
            <a:pPr algn="l">
              <a:spcAft>
                <a:spcPts val="600"/>
              </a:spcAft>
              <a:defRPr sz="1100" b="0">
                <a:solidFill>
                  <a:srgbClr val="002A55"/>
                </a:solidFill>
                <a:latin typeface="Calibri"/>
              </a:defRPr>
            </a:pPr>
            <a:r>
              <a:t>Video frames + action logs</a:t>
            </a:r>
          </a:p>
          <a:p>
            <a:pPr algn="l">
              <a:spcAft>
                <a:spcPts val="600"/>
              </a:spcAft>
              <a:defRPr sz="1100" b="0">
                <a:solidFill>
                  <a:srgbClr val="002A55"/>
                </a:solidFill>
                <a:latin typeface="Calibri"/>
              </a:defRPr>
            </a:pPr>
            <a:r>
              <a:t>→ 1,391-dim feature vector</a:t>
            </a:r>
          </a:p>
          <a:p>
            <a:pPr algn="l">
              <a:spcAft>
                <a:spcPts val="600"/>
              </a:spcAft>
              <a:defRPr sz="1100" b="0">
                <a:solidFill>
                  <a:srgbClr val="002A55"/>
                </a:solidFill>
                <a:latin typeface="Calibri"/>
              </a:defRPr>
            </a:pPr>
            <a:r>
              <a:t>per task</a:t>
            </a:r>
          </a:p>
        </p:txBody>
      </p:sp>
      <p:sp>
        <p:nvSpPr>
          <p:cNvPr id="19" name="TextBox 18"/>
          <p:cNvSpPr txBox="1"/>
          <p:nvPr/>
        </p:nvSpPr>
        <p:spPr>
          <a:xfrm>
            <a:off x="5303520" y="2926080"/>
            <a:ext cx="365760" cy="365760"/>
          </a:xfrm>
          <a:prstGeom prst="rect">
            <a:avLst/>
          </a:prstGeom>
          <a:noFill/>
        </p:spPr>
        <p:txBody>
          <a:bodyPr wrap="square">
            <a:spAutoFit/>
          </a:bodyPr>
          <a:lstStyle/>
          <a:p>
            <a:pPr algn="ctr">
              <a:defRPr sz="1800" b="1">
                <a:solidFill>
                  <a:srgbClr val="28A745"/>
                </a:solidFill>
                <a:latin typeface="Calibri"/>
              </a:defRPr>
            </a:pPr>
            <a:r>
              <a:t>→</a:t>
            </a:r>
          </a:p>
        </p:txBody>
      </p:sp>
      <p:sp>
        <p:nvSpPr>
          <p:cNvPr id="20" name="Rounded Rectangle 19"/>
          <p:cNvSpPr/>
          <p:nvPr/>
        </p:nvSpPr>
        <p:spPr>
          <a:xfrm>
            <a:off x="5486400" y="1554480"/>
            <a:ext cx="201168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Phase 3</a:t>
            </a:r>
          </a:p>
        </p:txBody>
      </p:sp>
      <p:sp>
        <p:nvSpPr>
          <p:cNvPr id="21" name="Rounded Rectangle 20"/>
          <p:cNvSpPr/>
          <p:nvPr/>
        </p:nvSpPr>
        <p:spPr>
          <a:xfrm>
            <a:off x="5486400" y="1920240"/>
            <a:ext cx="2011680" cy="301752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77840" y="2011680"/>
            <a:ext cx="1828800" cy="274320"/>
          </a:xfrm>
          <a:prstGeom prst="rect">
            <a:avLst/>
          </a:prstGeom>
          <a:noFill/>
        </p:spPr>
        <p:txBody>
          <a:bodyPr wrap="square">
            <a:spAutoFit/>
          </a:bodyPr>
          <a:lstStyle/>
          <a:p>
            <a:pPr algn="l">
              <a:spcAft>
                <a:spcPts val="600"/>
              </a:spcAft>
              <a:defRPr sz="1300" b="1">
                <a:solidFill>
                  <a:srgbClr val="EF7C00"/>
                </a:solidFill>
                <a:latin typeface="Calibri"/>
              </a:defRPr>
            </a:pPr>
            <a:r>
              <a:t>Model Training</a:t>
            </a:r>
          </a:p>
        </p:txBody>
      </p:sp>
      <p:sp>
        <p:nvSpPr>
          <p:cNvPr id="23" name="TextBox 22"/>
          <p:cNvSpPr txBox="1"/>
          <p:nvPr/>
        </p:nvSpPr>
        <p:spPr>
          <a:xfrm>
            <a:off x="5577840" y="2377440"/>
            <a:ext cx="1828800" cy="2286000"/>
          </a:xfrm>
          <a:prstGeom prst="rect">
            <a:avLst/>
          </a:prstGeom>
          <a:noFill/>
        </p:spPr>
        <p:txBody>
          <a:bodyPr wrap="square">
            <a:spAutoFit/>
          </a:bodyPr>
          <a:lstStyle/>
          <a:p>
            <a:pPr algn="l">
              <a:spcAft>
                <a:spcPts val="600"/>
              </a:spcAft>
              <a:defRPr sz="1100" b="0">
                <a:solidFill>
                  <a:srgbClr val="002A55"/>
                </a:solidFill>
                <a:latin typeface="Calibri"/>
              </a:defRPr>
            </a:pPr>
            <a:r>
              <a:t>13 classifiers trained</a:t>
            </a:r>
          </a:p>
          <a:p>
            <a:pPr algn="l">
              <a:spcAft>
                <a:spcPts val="600"/>
              </a:spcAft>
              <a:defRPr sz="1100" b="0">
                <a:solidFill>
                  <a:srgbClr val="002A55"/>
                </a:solidFill>
                <a:latin typeface="Calibri"/>
              </a:defRPr>
            </a:pPr>
            <a:r>
              <a:t>on feature matrix</a:t>
            </a:r>
          </a:p>
          <a:p>
            <a:pPr algn="l">
              <a:spcAft>
                <a:spcPts val="600"/>
              </a:spcAft>
              <a:defRPr sz="1100" b="0">
                <a:solidFill>
                  <a:srgbClr val="002A55"/>
                </a:solidFill>
                <a:latin typeface="Calibri"/>
              </a:defRPr>
            </a:pPr>
            <a:r>
              <a:t>(Tier 1 → 2 → 3)</a:t>
            </a:r>
          </a:p>
        </p:txBody>
      </p:sp>
      <p:sp>
        <p:nvSpPr>
          <p:cNvPr id="24" name="TextBox 23"/>
          <p:cNvSpPr txBox="1"/>
          <p:nvPr/>
        </p:nvSpPr>
        <p:spPr>
          <a:xfrm>
            <a:off x="7452360" y="2926080"/>
            <a:ext cx="365760" cy="365760"/>
          </a:xfrm>
          <a:prstGeom prst="rect">
            <a:avLst/>
          </a:prstGeom>
          <a:noFill/>
        </p:spPr>
        <p:txBody>
          <a:bodyPr wrap="square">
            <a:spAutoFit/>
          </a:bodyPr>
          <a:lstStyle/>
          <a:p>
            <a:pPr algn="ctr">
              <a:defRPr sz="1800" b="1">
                <a:solidFill>
                  <a:srgbClr val="EF7C00"/>
                </a:solidFill>
                <a:latin typeface="Calibri"/>
              </a:defRPr>
            </a:pPr>
            <a:r>
              <a:t>→</a:t>
            </a:r>
          </a:p>
        </p:txBody>
      </p:sp>
      <p:sp>
        <p:nvSpPr>
          <p:cNvPr id="25" name="Rounded Rectangle 24"/>
          <p:cNvSpPr/>
          <p:nvPr/>
        </p:nvSpPr>
        <p:spPr>
          <a:xfrm>
            <a:off x="7635240" y="1554480"/>
            <a:ext cx="2011680" cy="32004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Phase 4</a:t>
            </a:r>
          </a:p>
        </p:txBody>
      </p:sp>
      <p:sp>
        <p:nvSpPr>
          <p:cNvPr id="26" name="Rounded Rectangle 25"/>
          <p:cNvSpPr/>
          <p:nvPr/>
        </p:nvSpPr>
        <p:spPr>
          <a:xfrm>
            <a:off x="7635240" y="1920240"/>
            <a:ext cx="2011680" cy="301752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26680" y="2011680"/>
            <a:ext cx="1828800" cy="274320"/>
          </a:xfrm>
          <a:prstGeom prst="rect">
            <a:avLst/>
          </a:prstGeom>
          <a:noFill/>
        </p:spPr>
        <p:txBody>
          <a:bodyPr wrap="square">
            <a:spAutoFit/>
          </a:bodyPr>
          <a:lstStyle/>
          <a:p>
            <a:pPr algn="l">
              <a:spcAft>
                <a:spcPts val="600"/>
              </a:spcAft>
              <a:defRPr sz="1300" b="1">
                <a:solidFill>
                  <a:srgbClr val="6F42C1"/>
                </a:solidFill>
                <a:latin typeface="Calibri"/>
              </a:defRPr>
            </a:pPr>
            <a:r>
              <a:t>Evaluation</a:t>
            </a:r>
          </a:p>
        </p:txBody>
      </p:sp>
      <p:sp>
        <p:nvSpPr>
          <p:cNvPr id="28" name="TextBox 27"/>
          <p:cNvSpPr txBox="1"/>
          <p:nvPr/>
        </p:nvSpPr>
        <p:spPr>
          <a:xfrm>
            <a:off x="7726680" y="2377440"/>
            <a:ext cx="1828800" cy="2286000"/>
          </a:xfrm>
          <a:prstGeom prst="rect">
            <a:avLst/>
          </a:prstGeom>
          <a:noFill/>
        </p:spPr>
        <p:txBody>
          <a:bodyPr wrap="square">
            <a:spAutoFit/>
          </a:bodyPr>
          <a:lstStyle/>
          <a:p>
            <a:pPr algn="l">
              <a:spcAft>
                <a:spcPts val="600"/>
              </a:spcAft>
              <a:defRPr sz="1100" b="0">
                <a:solidFill>
                  <a:srgbClr val="002A55"/>
                </a:solidFill>
                <a:latin typeface="Calibri"/>
              </a:defRPr>
            </a:pPr>
            <a:r>
              <a:t>Test set → F1 Macro</a:t>
            </a:r>
          </a:p>
          <a:p>
            <a:pPr algn="l">
              <a:spcAft>
                <a:spcPts val="600"/>
              </a:spcAft>
              <a:defRPr sz="1100" b="0">
                <a:solidFill>
                  <a:srgbClr val="002A55"/>
                </a:solidFill>
                <a:latin typeface="Calibri"/>
              </a:defRPr>
            </a:pPr>
            <a:r>
              <a:t>→ Confusion matrix</a:t>
            </a:r>
          </a:p>
          <a:p>
            <a:pPr algn="l">
              <a:spcAft>
                <a:spcPts val="600"/>
              </a:spcAft>
              <a:defRPr sz="1100" b="0">
                <a:solidFill>
                  <a:srgbClr val="002A55"/>
                </a:solidFill>
                <a:latin typeface="Calibri"/>
              </a:defRPr>
            </a:pPr>
            <a:r>
              <a:t>→ Best = Voting 0.884</a:t>
            </a:r>
          </a:p>
        </p:txBody>
      </p:sp>
      <p:sp>
        <p:nvSpPr>
          <p:cNvPr id="29" name="Rounded Rectangle 28"/>
          <p:cNvSpPr/>
          <p:nvPr/>
        </p:nvSpPr>
        <p:spPr>
          <a:xfrm>
            <a:off x="1188720" y="5029200"/>
            <a:ext cx="841248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25880" y="5120640"/>
            <a:ext cx="8138160" cy="548640"/>
          </a:xfrm>
          <a:prstGeom prst="rect">
            <a:avLst/>
          </a:prstGeom>
          <a:noFill/>
        </p:spPr>
        <p:txBody>
          <a:bodyPr wrap="square">
            <a:spAutoFit/>
          </a:bodyPr>
          <a:lstStyle/>
          <a:p>
            <a:pPr algn="l">
              <a:spcAft>
                <a:spcPts val="200"/>
              </a:spcAft>
              <a:defRPr sz="1000" b="0">
                <a:solidFill>
                  <a:srgbClr val="28A745"/>
                </a:solidFill>
                <a:latin typeface="Courier New"/>
              </a:defRPr>
            </a:pPr>
            <a:r>
              <a:t>$ python -m app.train --dataset-root ./dataset --model-dir ./models</a:t>
            </a:r>
          </a:p>
          <a:p>
            <a:pPr algn="l">
              <a:spcAft>
                <a:spcPts val="200"/>
              </a:spcAft>
              <a:defRPr sz="1000" b="0">
                <a:solidFill>
                  <a:srgbClr val="28A745"/>
                </a:solidFill>
                <a:latin typeface="Courier New"/>
              </a:defRPr>
            </a:pPr>
            <a:r>
              <a:t># Trains all 13 models, evaluates on held-out test set, logs to MLflow</a:t>
            </a:r>
          </a:p>
        </p:txBody>
      </p:sp>
      <p:sp>
        <p:nvSpPr>
          <p:cNvPr id="31" name="Rectangle 30"/>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33" name="Rectangle 32"/>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nus_iss_logo_transparent.png"/>
          <p:cNvPicPr>
            <a:picLocks noChangeAspect="1"/>
          </p:cNvPicPr>
          <p:nvPr/>
        </p:nvPicPr>
        <p:blipFill>
          <a:blip r:embed="rId3"/>
          <a:stretch>
            <a:fillRect/>
          </a:stretch>
        </p:blipFill>
        <p:spPr>
          <a:xfrm>
            <a:off x="9555480" y="82296"/>
            <a:ext cx="2514600" cy="5852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Step 1 — Dataset &amp; Activity Labels</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VideoCUA subset: 277 expert desktop task recordings across 8 apps</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280160" y="1554480"/>
            <a:ext cx="182880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App</a:t>
            </a:r>
          </a:p>
        </p:txBody>
      </p:sp>
      <p:sp>
        <p:nvSpPr>
          <p:cNvPr id="11" name="Rounded Rectangle 10"/>
          <p:cNvSpPr/>
          <p:nvPr/>
        </p:nvSpPr>
        <p:spPr>
          <a:xfrm>
            <a:off x="3108960" y="1554480"/>
            <a:ext cx="82296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Tasks</a:t>
            </a:r>
          </a:p>
        </p:txBody>
      </p:sp>
      <p:sp>
        <p:nvSpPr>
          <p:cNvPr id="12" name="Rounded Rectangle 11"/>
          <p:cNvSpPr/>
          <p:nvPr/>
        </p:nvSpPr>
        <p:spPr>
          <a:xfrm>
            <a:off x="3931920" y="1554480"/>
            <a:ext cx="201168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Activity Label</a:t>
            </a:r>
          </a:p>
        </p:txBody>
      </p:sp>
      <p:sp>
        <p:nvSpPr>
          <p:cNvPr id="13" name="Rounded Rectangle 12"/>
          <p:cNvSpPr/>
          <p:nvPr/>
        </p:nvSpPr>
        <p:spPr>
          <a:xfrm>
            <a:off x="1280160" y="1847088"/>
            <a:ext cx="182880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VSCode</a:t>
            </a:r>
          </a:p>
        </p:txBody>
      </p:sp>
      <p:sp>
        <p:nvSpPr>
          <p:cNvPr id="14" name="Rounded Rectangle 13"/>
          <p:cNvSpPr/>
          <p:nvPr/>
        </p:nvSpPr>
        <p:spPr>
          <a:xfrm>
            <a:off x="3108960" y="1847088"/>
            <a:ext cx="82296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106</a:t>
            </a:r>
          </a:p>
        </p:txBody>
      </p:sp>
      <p:sp>
        <p:nvSpPr>
          <p:cNvPr id="15" name="Rounded Rectangle 14"/>
          <p:cNvSpPr/>
          <p:nvPr/>
        </p:nvSpPr>
        <p:spPr>
          <a:xfrm>
            <a:off x="3931920" y="1847088"/>
            <a:ext cx="201168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coding_editing</a:t>
            </a:r>
          </a:p>
        </p:txBody>
      </p:sp>
      <p:sp>
        <p:nvSpPr>
          <p:cNvPr id="16" name="Rounded Rectangle 15"/>
          <p:cNvSpPr/>
          <p:nvPr/>
        </p:nvSpPr>
        <p:spPr>
          <a:xfrm>
            <a:off x="1280160" y="2139696"/>
            <a:ext cx="182880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OpenShot</a:t>
            </a:r>
          </a:p>
        </p:txBody>
      </p:sp>
      <p:sp>
        <p:nvSpPr>
          <p:cNvPr id="17" name="Rounded Rectangle 16"/>
          <p:cNvSpPr/>
          <p:nvPr/>
        </p:nvSpPr>
        <p:spPr>
          <a:xfrm>
            <a:off x="3108960" y="2139696"/>
            <a:ext cx="82296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75</a:t>
            </a:r>
          </a:p>
        </p:txBody>
      </p:sp>
      <p:sp>
        <p:nvSpPr>
          <p:cNvPr id="18" name="Rounded Rectangle 17"/>
          <p:cNvSpPr/>
          <p:nvPr/>
        </p:nvSpPr>
        <p:spPr>
          <a:xfrm>
            <a:off x="3931920" y="2139696"/>
            <a:ext cx="201168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media_editing</a:t>
            </a:r>
          </a:p>
        </p:txBody>
      </p:sp>
      <p:sp>
        <p:nvSpPr>
          <p:cNvPr id="19" name="Rounded Rectangle 18"/>
          <p:cNvSpPr/>
          <p:nvPr/>
        </p:nvSpPr>
        <p:spPr>
          <a:xfrm>
            <a:off x="1280160" y="2432304"/>
            <a:ext cx="182880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IntelliJ IDEA</a:t>
            </a:r>
          </a:p>
        </p:txBody>
      </p:sp>
      <p:sp>
        <p:nvSpPr>
          <p:cNvPr id="20" name="Rounded Rectangle 19"/>
          <p:cNvSpPr/>
          <p:nvPr/>
        </p:nvSpPr>
        <p:spPr>
          <a:xfrm>
            <a:off x="3108960" y="2432304"/>
            <a:ext cx="82296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46</a:t>
            </a:r>
          </a:p>
        </p:txBody>
      </p:sp>
      <p:sp>
        <p:nvSpPr>
          <p:cNvPr id="21" name="Rounded Rectangle 20"/>
          <p:cNvSpPr/>
          <p:nvPr/>
        </p:nvSpPr>
        <p:spPr>
          <a:xfrm>
            <a:off x="3931920" y="2432304"/>
            <a:ext cx="201168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coding_editing</a:t>
            </a:r>
          </a:p>
        </p:txBody>
      </p:sp>
      <p:sp>
        <p:nvSpPr>
          <p:cNvPr id="22" name="Rounded Rectangle 21"/>
          <p:cNvSpPr/>
          <p:nvPr/>
        </p:nvSpPr>
        <p:spPr>
          <a:xfrm>
            <a:off x="1280160" y="2724912"/>
            <a:ext cx="182880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draw.io</a:t>
            </a:r>
          </a:p>
        </p:txBody>
      </p:sp>
      <p:sp>
        <p:nvSpPr>
          <p:cNvPr id="23" name="Rounded Rectangle 22"/>
          <p:cNvSpPr/>
          <p:nvPr/>
        </p:nvSpPr>
        <p:spPr>
          <a:xfrm>
            <a:off x="3108960" y="2724912"/>
            <a:ext cx="82296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10</a:t>
            </a:r>
          </a:p>
        </p:txBody>
      </p:sp>
      <p:sp>
        <p:nvSpPr>
          <p:cNvPr id="24" name="Rounded Rectangle 23"/>
          <p:cNvSpPr/>
          <p:nvPr/>
        </p:nvSpPr>
        <p:spPr>
          <a:xfrm>
            <a:off x="3931920" y="2724912"/>
            <a:ext cx="201168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diagram_design</a:t>
            </a:r>
          </a:p>
        </p:txBody>
      </p:sp>
      <p:sp>
        <p:nvSpPr>
          <p:cNvPr id="25" name="Rounded Rectangle 24"/>
          <p:cNvSpPr/>
          <p:nvPr/>
        </p:nvSpPr>
        <p:spPr>
          <a:xfrm>
            <a:off x="1280160" y="3017520"/>
            <a:ext cx="182880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Bash</a:t>
            </a:r>
          </a:p>
        </p:txBody>
      </p:sp>
      <p:sp>
        <p:nvSpPr>
          <p:cNvPr id="26" name="Rounded Rectangle 25"/>
          <p:cNvSpPr/>
          <p:nvPr/>
        </p:nvSpPr>
        <p:spPr>
          <a:xfrm>
            <a:off x="3108960" y="3017520"/>
            <a:ext cx="82296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10</a:t>
            </a:r>
          </a:p>
        </p:txBody>
      </p:sp>
      <p:sp>
        <p:nvSpPr>
          <p:cNvPr id="27" name="Rounded Rectangle 26"/>
          <p:cNvSpPr/>
          <p:nvPr/>
        </p:nvSpPr>
        <p:spPr>
          <a:xfrm>
            <a:off x="3931920" y="3017520"/>
            <a:ext cx="201168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terminal_ops</a:t>
            </a:r>
          </a:p>
        </p:txBody>
      </p:sp>
      <p:sp>
        <p:nvSpPr>
          <p:cNvPr id="28" name="Rounded Rectangle 27"/>
          <p:cNvSpPr/>
          <p:nvPr/>
        </p:nvSpPr>
        <p:spPr>
          <a:xfrm>
            <a:off x="1280160" y="3310128"/>
            <a:ext cx="182880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Chromium</a:t>
            </a:r>
          </a:p>
        </p:txBody>
      </p:sp>
      <p:sp>
        <p:nvSpPr>
          <p:cNvPr id="29" name="Rounded Rectangle 28"/>
          <p:cNvSpPr/>
          <p:nvPr/>
        </p:nvSpPr>
        <p:spPr>
          <a:xfrm>
            <a:off x="3108960" y="3310128"/>
            <a:ext cx="82296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10</a:t>
            </a:r>
          </a:p>
        </p:txBody>
      </p:sp>
      <p:sp>
        <p:nvSpPr>
          <p:cNvPr id="30" name="Rounded Rectangle 29"/>
          <p:cNvSpPr/>
          <p:nvPr/>
        </p:nvSpPr>
        <p:spPr>
          <a:xfrm>
            <a:off x="3931920" y="3310128"/>
            <a:ext cx="201168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web_browsing</a:t>
            </a:r>
          </a:p>
        </p:txBody>
      </p:sp>
      <p:sp>
        <p:nvSpPr>
          <p:cNvPr id="31" name="Rounded Rectangle 30"/>
          <p:cNvSpPr/>
          <p:nvPr/>
        </p:nvSpPr>
        <p:spPr>
          <a:xfrm>
            <a:off x="1280160" y="3602736"/>
            <a:ext cx="182880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Eclipse</a:t>
            </a:r>
          </a:p>
        </p:txBody>
      </p:sp>
      <p:sp>
        <p:nvSpPr>
          <p:cNvPr id="32" name="Rounded Rectangle 31"/>
          <p:cNvSpPr/>
          <p:nvPr/>
        </p:nvSpPr>
        <p:spPr>
          <a:xfrm>
            <a:off x="3108960" y="3602736"/>
            <a:ext cx="82296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10</a:t>
            </a:r>
          </a:p>
        </p:txBody>
      </p:sp>
      <p:sp>
        <p:nvSpPr>
          <p:cNvPr id="33" name="Rounded Rectangle 32"/>
          <p:cNvSpPr/>
          <p:nvPr/>
        </p:nvSpPr>
        <p:spPr>
          <a:xfrm>
            <a:off x="3931920" y="3602736"/>
            <a:ext cx="2011680" cy="2743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coding_editing</a:t>
            </a:r>
          </a:p>
        </p:txBody>
      </p:sp>
      <p:sp>
        <p:nvSpPr>
          <p:cNvPr id="34" name="Rounded Rectangle 33"/>
          <p:cNvSpPr/>
          <p:nvPr/>
        </p:nvSpPr>
        <p:spPr>
          <a:xfrm>
            <a:off x="1280160" y="3895344"/>
            <a:ext cx="182880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Mozilla Firefox</a:t>
            </a:r>
          </a:p>
        </p:txBody>
      </p:sp>
      <p:sp>
        <p:nvSpPr>
          <p:cNvPr id="35" name="Rounded Rectangle 34"/>
          <p:cNvSpPr/>
          <p:nvPr/>
        </p:nvSpPr>
        <p:spPr>
          <a:xfrm>
            <a:off x="3108960" y="3895344"/>
            <a:ext cx="82296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10</a:t>
            </a:r>
          </a:p>
        </p:txBody>
      </p:sp>
      <p:sp>
        <p:nvSpPr>
          <p:cNvPr id="36" name="Rounded Rectangle 35"/>
          <p:cNvSpPr/>
          <p:nvPr/>
        </p:nvSpPr>
        <p:spPr>
          <a:xfrm>
            <a:off x="3931920" y="3895344"/>
            <a:ext cx="2011680" cy="27432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0">
                <a:solidFill>
                  <a:srgbClr val="002A55"/>
                </a:solidFill>
              </a:defRPr>
            </a:pPr>
            <a:r>
              <a:t>web_browsing</a:t>
            </a:r>
          </a:p>
        </p:txBody>
      </p:sp>
      <p:sp>
        <p:nvSpPr>
          <p:cNvPr id="37" name="Rounded Rectangle 36"/>
          <p:cNvSpPr/>
          <p:nvPr/>
        </p:nvSpPr>
        <p:spPr>
          <a:xfrm>
            <a:off x="7299962" y="1554480"/>
            <a:ext cx="3566160" cy="420624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482842" y="1691640"/>
            <a:ext cx="1371600" cy="320040"/>
          </a:xfrm>
          <a:prstGeom prst="rect">
            <a:avLst/>
          </a:prstGeom>
          <a:noFill/>
        </p:spPr>
        <p:txBody>
          <a:bodyPr wrap="square">
            <a:spAutoFit/>
          </a:bodyPr>
          <a:lstStyle/>
          <a:p>
            <a:pPr algn="l">
              <a:defRPr sz="1100" b="1">
                <a:solidFill>
                  <a:srgbClr val="003D7C"/>
                </a:solidFill>
                <a:latin typeface="Calibri"/>
              </a:defRPr>
            </a:pPr>
            <a:r>
              <a:t>Total tasks:</a:t>
            </a:r>
          </a:p>
        </p:txBody>
      </p:sp>
      <p:sp>
        <p:nvSpPr>
          <p:cNvPr id="39" name="TextBox 38"/>
          <p:cNvSpPr txBox="1"/>
          <p:nvPr/>
        </p:nvSpPr>
        <p:spPr>
          <a:xfrm>
            <a:off x="8854442" y="1691640"/>
            <a:ext cx="1920240" cy="320040"/>
          </a:xfrm>
          <a:prstGeom prst="rect">
            <a:avLst/>
          </a:prstGeom>
          <a:noFill/>
        </p:spPr>
        <p:txBody>
          <a:bodyPr wrap="square">
            <a:spAutoFit/>
          </a:bodyPr>
          <a:lstStyle/>
          <a:p>
            <a:pPr algn="l">
              <a:defRPr sz="1100" b="0">
                <a:solidFill>
                  <a:srgbClr val="002A55"/>
                </a:solidFill>
                <a:latin typeface="Calibri"/>
              </a:defRPr>
            </a:pPr>
            <a:r>
              <a:t>277</a:t>
            </a:r>
          </a:p>
        </p:txBody>
      </p:sp>
      <p:sp>
        <p:nvSpPr>
          <p:cNvPr id="40" name="TextBox 39"/>
          <p:cNvSpPr txBox="1"/>
          <p:nvPr/>
        </p:nvSpPr>
        <p:spPr>
          <a:xfrm>
            <a:off x="7482842" y="2103120"/>
            <a:ext cx="1371600" cy="320040"/>
          </a:xfrm>
          <a:prstGeom prst="rect">
            <a:avLst/>
          </a:prstGeom>
          <a:noFill/>
        </p:spPr>
        <p:txBody>
          <a:bodyPr wrap="square">
            <a:spAutoFit/>
          </a:bodyPr>
          <a:lstStyle/>
          <a:p>
            <a:pPr algn="l">
              <a:defRPr sz="1100" b="1">
                <a:solidFill>
                  <a:srgbClr val="003D7C"/>
                </a:solidFill>
                <a:latin typeface="Calibri"/>
              </a:defRPr>
            </a:pPr>
            <a:r>
              <a:t>Apps:</a:t>
            </a:r>
          </a:p>
        </p:txBody>
      </p:sp>
      <p:sp>
        <p:nvSpPr>
          <p:cNvPr id="41" name="TextBox 40"/>
          <p:cNvSpPr txBox="1"/>
          <p:nvPr/>
        </p:nvSpPr>
        <p:spPr>
          <a:xfrm>
            <a:off x="8854442" y="2103120"/>
            <a:ext cx="1920240" cy="320040"/>
          </a:xfrm>
          <a:prstGeom prst="rect">
            <a:avLst/>
          </a:prstGeom>
          <a:noFill/>
        </p:spPr>
        <p:txBody>
          <a:bodyPr wrap="square">
            <a:spAutoFit/>
          </a:bodyPr>
          <a:lstStyle/>
          <a:p>
            <a:pPr algn="l">
              <a:defRPr sz="1100" b="0">
                <a:solidFill>
                  <a:srgbClr val="002A55"/>
                </a:solidFill>
                <a:latin typeface="Calibri"/>
              </a:defRPr>
            </a:pPr>
            <a:r>
              <a:t>8</a:t>
            </a:r>
          </a:p>
        </p:txBody>
      </p:sp>
      <p:sp>
        <p:nvSpPr>
          <p:cNvPr id="42" name="TextBox 41"/>
          <p:cNvSpPr txBox="1"/>
          <p:nvPr/>
        </p:nvSpPr>
        <p:spPr>
          <a:xfrm>
            <a:off x="7482842" y="2514600"/>
            <a:ext cx="1371600" cy="320040"/>
          </a:xfrm>
          <a:prstGeom prst="rect">
            <a:avLst/>
          </a:prstGeom>
          <a:noFill/>
        </p:spPr>
        <p:txBody>
          <a:bodyPr wrap="square">
            <a:spAutoFit/>
          </a:bodyPr>
          <a:lstStyle/>
          <a:p>
            <a:pPr algn="l">
              <a:defRPr sz="1100" b="1">
                <a:solidFill>
                  <a:srgbClr val="003D7C"/>
                </a:solidFill>
                <a:latin typeface="Calibri"/>
              </a:defRPr>
            </a:pPr>
            <a:r>
              <a:t>Duration range:</a:t>
            </a:r>
          </a:p>
        </p:txBody>
      </p:sp>
      <p:sp>
        <p:nvSpPr>
          <p:cNvPr id="43" name="TextBox 42"/>
          <p:cNvSpPr txBox="1"/>
          <p:nvPr/>
        </p:nvSpPr>
        <p:spPr>
          <a:xfrm>
            <a:off x="8854442" y="2514600"/>
            <a:ext cx="1920240" cy="320040"/>
          </a:xfrm>
          <a:prstGeom prst="rect">
            <a:avLst/>
          </a:prstGeom>
          <a:noFill/>
        </p:spPr>
        <p:txBody>
          <a:bodyPr wrap="square">
            <a:spAutoFit/>
          </a:bodyPr>
          <a:lstStyle/>
          <a:p>
            <a:pPr algn="l">
              <a:defRPr sz="1100" b="0">
                <a:solidFill>
                  <a:srgbClr val="002A55"/>
                </a:solidFill>
                <a:latin typeface="Calibri"/>
              </a:defRPr>
            </a:pPr>
            <a:r>
              <a:t>3.7 s – 117 s</a:t>
            </a:r>
          </a:p>
        </p:txBody>
      </p:sp>
      <p:sp>
        <p:nvSpPr>
          <p:cNvPr id="44" name="TextBox 43"/>
          <p:cNvSpPr txBox="1"/>
          <p:nvPr/>
        </p:nvSpPr>
        <p:spPr>
          <a:xfrm>
            <a:off x="7482842" y="2926080"/>
            <a:ext cx="1371600" cy="320040"/>
          </a:xfrm>
          <a:prstGeom prst="rect">
            <a:avLst/>
          </a:prstGeom>
          <a:noFill/>
        </p:spPr>
        <p:txBody>
          <a:bodyPr wrap="square">
            <a:spAutoFit/>
          </a:bodyPr>
          <a:lstStyle/>
          <a:p>
            <a:pPr algn="l">
              <a:defRPr sz="1100" b="1">
                <a:solidFill>
                  <a:srgbClr val="003D7C"/>
                </a:solidFill>
                <a:latin typeface="Calibri"/>
              </a:defRPr>
            </a:pPr>
            <a:r>
              <a:t>Mean duration:</a:t>
            </a:r>
          </a:p>
        </p:txBody>
      </p:sp>
      <p:sp>
        <p:nvSpPr>
          <p:cNvPr id="45" name="TextBox 44"/>
          <p:cNvSpPr txBox="1"/>
          <p:nvPr/>
        </p:nvSpPr>
        <p:spPr>
          <a:xfrm>
            <a:off x="8854442" y="2926080"/>
            <a:ext cx="1920240" cy="320040"/>
          </a:xfrm>
          <a:prstGeom prst="rect">
            <a:avLst/>
          </a:prstGeom>
          <a:noFill/>
        </p:spPr>
        <p:txBody>
          <a:bodyPr wrap="square">
            <a:spAutoFit/>
          </a:bodyPr>
          <a:lstStyle/>
          <a:p>
            <a:pPr algn="l">
              <a:defRPr sz="1100" b="0">
                <a:solidFill>
                  <a:srgbClr val="002A55"/>
                </a:solidFill>
                <a:latin typeface="Calibri"/>
              </a:defRPr>
            </a:pPr>
            <a:r>
              <a:t>~18 s</a:t>
            </a:r>
          </a:p>
        </p:txBody>
      </p:sp>
      <p:sp>
        <p:nvSpPr>
          <p:cNvPr id="46" name="TextBox 45"/>
          <p:cNvSpPr txBox="1"/>
          <p:nvPr/>
        </p:nvSpPr>
        <p:spPr>
          <a:xfrm>
            <a:off x="7482842" y="3337560"/>
            <a:ext cx="1371600" cy="320040"/>
          </a:xfrm>
          <a:prstGeom prst="rect">
            <a:avLst/>
          </a:prstGeom>
          <a:noFill/>
        </p:spPr>
        <p:txBody>
          <a:bodyPr wrap="square">
            <a:spAutoFit/>
          </a:bodyPr>
          <a:lstStyle/>
          <a:p>
            <a:pPr algn="l">
              <a:defRPr sz="1100" b="1">
                <a:solidFill>
                  <a:srgbClr val="003D7C"/>
                </a:solidFill>
                <a:latin typeface="Calibri"/>
              </a:defRPr>
            </a:pPr>
            <a:r>
              <a:t>Total size:</a:t>
            </a:r>
          </a:p>
        </p:txBody>
      </p:sp>
      <p:sp>
        <p:nvSpPr>
          <p:cNvPr id="47" name="TextBox 46"/>
          <p:cNvSpPr txBox="1"/>
          <p:nvPr/>
        </p:nvSpPr>
        <p:spPr>
          <a:xfrm>
            <a:off x="8854442" y="3337560"/>
            <a:ext cx="1920240" cy="320040"/>
          </a:xfrm>
          <a:prstGeom prst="rect">
            <a:avLst/>
          </a:prstGeom>
          <a:noFill/>
        </p:spPr>
        <p:txBody>
          <a:bodyPr wrap="square">
            <a:spAutoFit/>
          </a:bodyPr>
          <a:lstStyle/>
          <a:p>
            <a:pPr algn="l">
              <a:defRPr sz="1100" b="0">
                <a:solidFill>
                  <a:srgbClr val="002A55"/>
                </a:solidFill>
                <a:latin typeface="Calibri"/>
              </a:defRPr>
            </a:pPr>
            <a:r>
              <a:t>~2.3 GB</a:t>
            </a:r>
          </a:p>
        </p:txBody>
      </p:sp>
      <p:sp>
        <p:nvSpPr>
          <p:cNvPr id="48" name="TextBox 47"/>
          <p:cNvSpPr txBox="1"/>
          <p:nvPr/>
        </p:nvSpPr>
        <p:spPr>
          <a:xfrm>
            <a:off x="7482842" y="3749040"/>
            <a:ext cx="1371600" cy="320040"/>
          </a:xfrm>
          <a:prstGeom prst="rect">
            <a:avLst/>
          </a:prstGeom>
          <a:noFill/>
        </p:spPr>
        <p:txBody>
          <a:bodyPr wrap="square">
            <a:spAutoFit/>
          </a:bodyPr>
          <a:lstStyle/>
          <a:p>
            <a:pPr algn="l">
              <a:defRPr sz="1100" b="1">
                <a:solidFill>
                  <a:srgbClr val="003D7C"/>
                </a:solidFill>
                <a:latin typeface="Calibri"/>
              </a:defRPr>
            </a:pPr>
            <a:r>
              <a:t>FPS:</a:t>
            </a:r>
          </a:p>
        </p:txBody>
      </p:sp>
      <p:sp>
        <p:nvSpPr>
          <p:cNvPr id="49" name="TextBox 48"/>
          <p:cNvSpPr txBox="1"/>
          <p:nvPr/>
        </p:nvSpPr>
        <p:spPr>
          <a:xfrm>
            <a:off x="8854442" y="3749040"/>
            <a:ext cx="1920240" cy="320040"/>
          </a:xfrm>
          <a:prstGeom prst="rect">
            <a:avLst/>
          </a:prstGeom>
          <a:noFill/>
        </p:spPr>
        <p:txBody>
          <a:bodyPr wrap="square">
            <a:spAutoFit/>
          </a:bodyPr>
          <a:lstStyle/>
          <a:p>
            <a:pPr algn="l">
              <a:defRPr sz="1100" b="0">
                <a:solidFill>
                  <a:srgbClr val="002A55"/>
                </a:solidFill>
                <a:latin typeface="Calibri"/>
              </a:defRPr>
            </a:pPr>
            <a:r>
              <a:t>30 fps (some 60 fps Retina)</a:t>
            </a:r>
          </a:p>
        </p:txBody>
      </p:sp>
      <p:sp>
        <p:nvSpPr>
          <p:cNvPr id="50" name="TextBox 49"/>
          <p:cNvSpPr txBox="1"/>
          <p:nvPr/>
        </p:nvSpPr>
        <p:spPr>
          <a:xfrm>
            <a:off x="7482842" y="4160520"/>
            <a:ext cx="1371600" cy="320040"/>
          </a:xfrm>
          <a:prstGeom prst="rect">
            <a:avLst/>
          </a:prstGeom>
          <a:noFill/>
        </p:spPr>
        <p:txBody>
          <a:bodyPr wrap="square">
            <a:spAutoFit/>
          </a:bodyPr>
          <a:lstStyle/>
          <a:p>
            <a:pPr algn="l">
              <a:defRPr sz="1100" b="1">
                <a:solidFill>
                  <a:srgbClr val="003D7C"/>
                </a:solidFill>
                <a:latin typeface="Calibri"/>
              </a:defRPr>
            </a:pPr>
            <a:r>
              <a:t>Resolutions:</a:t>
            </a:r>
          </a:p>
        </p:txBody>
      </p:sp>
      <p:sp>
        <p:nvSpPr>
          <p:cNvPr id="51" name="TextBox 50"/>
          <p:cNvSpPr txBox="1"/>
          <p:nvPr/>
        </p:nvSpPr>
        <p:spPr>
          <a:xfrm>
            <a:off x="8854442" y="4160520"/>
            <a:ext cx="1920240" cy="320040"/>
          </a:xfrm>
          <a:prstGeom prst="rect">
            <a:avLst/>
          </a:prstGeom>
          <a:noFill/>
        </p:spPr>
        <p:txBody>
          <a:bodyPr wrap="square">
            <a:spAutoFit/>
          </a:bodyPr>
          <a:lstStyle/>
          <a:p>
            <a:pPr algn="l">
              <a:defRPr sz="1100" b="0">
                <a:solidFill>
                  <a:srgbClr val="002A55"/>
                </a:solidFill>
                <a:latin typeface="Calibri"/>
              </a:defRPr>
            </a:pPr>
            <a:r>
              <a:t>1920×1080 (primary)</a:t>
            </a:r>
          </a:p>
        </p:txBody>
      </p:sp>
      <p:sp>
        <p:nvSpPr>
          <p:cNvPr id="52" name="TextBox 51"/>
          <p:cNvSpPr txBox="1"/>
          <p:nvPr/>
        </p:nvSpPr>
        <p:spPr>
          <a:xfrm>
            <a:off x="7482842" y="4572000"/>
            <a:ext cx="1371600" cy="320040"/>
          </a:xfrm>
          <a:prstGeom prst="rect">
            <a:avLst/>
          </a:prstGeom>
          <a:noFill/>
        </p:spPr>
        <p:txBody>
          <a:bodyPr wrap="square">
            <a:spAutoFit/>
          </a:bodyPr>
          <a:lstStyle/>
          <a:p>
            <a:pPr algn="l">
              <a:defRPr sz="1100" b="1">
                <a:solidFill>
                  <a:srgbClr val="003D7C"/>
                </a:solidFill>
                <a:latin typeface="Calibri"/>
              </a:defRPr>
            </a:pPr>
            <a:r>
              <a:t>Split:</a:t>
            </a:r>
          </a:p>
        </p:txBody>
      </p:sp>
      <p:sp>
        <p:nvSpPr>
          <p:cNvPr id="53" name="TextBox 52"/>
          <p:cNvSpPr txBox="1"/>
          <p:nvPr/>
        </p:nvSpPr>
        <p:spPr>
          <a:xfrm>
            <a:off x="8854442" y="4572000"/>
            <a:ext cx="1920240" cy="320040"/>
          </a:xfrm>
          <a:prstGeom prst="rect">
            <a:avLst/>
          </a:prstGeom>
          <a:noFill/>
        </p:spPr>
        <p:txBody>
          <a:bodyPr wrap="square">
            <a:spAutoFit/>
          </a:bodyPr>
          <a:lstStyle/>
          <a:p>
            <a:pPr algn="l">
              <a:defRPr sz="1100" b="0">
                <a:solidFill>
                  <a:srgbClr val="002A55"/>
                </a:solidFill>
                <a:latin typeface="Calibri"/>
              </a:defRPr>
            </a:pPr>
            <a:r>
              <a:t>80 % train / 20 % test</a:t>
            </a:r>
          </a:p>
        </p:txBody>
      </p:sp>
      <p:sp>
        <p:nvSpPr>
          <p:cNvPr id="54" name="TextBox 53"/>
          <p:cNvSpPr txBox="1"/>
          <p:nvPr/>
        </p:nvSpPr>
        <p:spPr>
          <a:xfrm>
            <a:off x="7482842" y="4983480"/>
            <a:ext cx="1371600" cy="320040"/>
          </a:xfrm>
          <a:prstGeom prst="rect">
            <a:avLst/>
          </a:prstGeom>
          <a:noFill/>
        </p:spPr>
        <p:txBody>
          <a:bodyPr wrap="square">
            <a:spAutoFit/>
          </a:bodyPr>
          <a:lstStyle/>
          <a:p>
            <a:pPr algn="l">
              <a:defRPr sz="1100" b="1">
                <a:solidFill>
                  <a:srgbClr val="003D7C"/>
                </a:solidFill>
                <a:latin typeface="Calibri"/>
              </a:defRPr>
            </a:pPr>
            <a:r>
              <a:t>Stratified by:</a:t>
            </a:r>
          </a:p>
        </p:txBody>
      </p:sp>
      <p:sp>
        <p:nvSpPr>
          <p:cNvPr id="55" name="TextBox 54"/>
          <p:cNvSpPr txBox="1"/>
          <p:nvPr/>
        </p:nvSpPr>
        <p:spPr>
          <a:xfrm>
            <a:off x="8854442" y="4983480"/>
            <a:ext cx="1920240" cy="320040"/>
          </a:xfrm>
          <a:prstGeom prst="rect">
            <a:avLst/>
          </a:prstGeom>
          <a:noFill/>
        </p:spPr>
        <p:txBody>
          <a:bodyPr wrap="square">
            <a:spAutoFit/>
          </a:bodyPr>
          <a:lstStyle/>
          <a:p>
            <a:pPr algn="l">
              <a:defRPr sz="1100" b="0">
                <a:solidFill>
                  <a:srgbClr val="002A55"/>
                </a:solidFill>
                <a:latin typeface="Calibri"/>
              </a:defRPr>
            </a:pPr>
            <a:r>
              <a:t>app → activity label</a:t>
            </a:r>
          </a:p>
        </p:txBody>
      </p:sp>
      <p:sp>
        <p:nvSpPr>
          <p:cNvPr id="56" name="TextBox 55"/>
          <p:cNvSpPr txBox="1"/>
          <p:nvPr/>
        </p:nvSpPr>
        <p:spPr>
          <a:xfrm>
            <a:off x="1280160" y="5029200"/>
            <a:ext cx="8412480" cy="274320"/>
          </a:xfrm>
          <a:prstGeom prst="rect">
            <a:avLst/>
          </a:prstGeom>
          <a:noFill/>
        </p:spPr>
        <p:txBody>
          <a:bodyPr wrap="square">
            <a:spAutoFit/>
          </a:bodyPr>
          <a:lstStyle/>
          <a:p>
            <a:pPr algn="l">
              <a:defRPr sz="1100" b="1">
                <a:solidFill>
                  <a:srgbClr val="CC2233"/>
                </a:solidFill>
                <a:latin typeface="Calibri"/>
              </a:defRPr>
            </a:pPr>
            <a:r>
              <a:t>⚠  Class Imbalance: VSCode (106) + OpenShot (75) = 65% of data → use Macro-F1, not Accuracy</a:t>
            </a:r>
          </a:p>
        </p:txBody>
      </p:sp>
      <p:sp>
        <p:nvSpPr>
          <p:cNvPr id="57" name="Rectangle 56"/>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59" name="Rectangle 58"/>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0" name="Picture 59" descr="nus_iss_logo_transparent.png"/>
          <p:cNvPicPr>
            <a:picLocks noChangeAspect="1"/>
          </p:cNvPicPr>
          <p:nvPr/>
        </p:nvPicPr>
        <p:blipFill>
          <a:blip r:embed="rId3"/>
          <a:stretch>
            <a:fillRect/>
          </a:stretch>
        </p:blipFill>
        <p:spPr>
          <a:xfrm>
            <a:off x="9555480" y="82296"/>
            <a:ext cx="2514600" cy="5852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Step 1b — Train/Test Split &amp; Leakage Prevention</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Splitting at the task/video level — the non-negotiable leakage rule</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249680" y="1394460"/>
            <a:ext cx="5029200" cy="182880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32560" y="1440180"/>
            <a:ext cx="4663440" cy="1737360"/>
          </a:xfrm>
          <a:prstGeom prst="rect">
            <a:avLst/>
          </a:prstGeom>
          <a:noFill/>
        </p:spPr>
        <p:txBody>
          <a:bodyPr wrap="square">
            <a:spAutoFit/>
          </a:bodyPr>
          <a:lstStyle/>
          <a:p>
            <a:pPr algn="l">
              <a:spcAft>
                <a:spcPts val="600"/>
              </a:spcAft>
              <a:defRPr sz="1100" b="0">
                <a:solidFill>
                  <a:srgbClr val="002A55"/>
                </a:solidFill>
                <a:latin typeface="Calibri"/>
              </a:defRPr>
            </a:pPr>
            <a:r>
              <a:t>Stratified Train / Test Split</a:t>
            </a:r>
          </a:p>
          <a:p>
            <a:pPr algn="l">
              <a:spcAft>
                <a:spcPts val="600"/>
              </a:spcAft>
              <a:defRPr sz="1100" b="0">
                <a:solidFill>
                  <a:srgbClr val="002A55"/>
                </a:solidFill>
                <a:latin typeface="Calibri"/>
              </a:defRPr>
            </a:pPr>
            <a:r>
              <a:t>sklearn.model_selection.train_test_split(stratify=y, test_size=0.2, random_state=42)</a:t>
            </a:r>
          </a:p>
          <a:p>
            <a:pPr algn="l">
              <a:spcAft>
                <a:spcPts val="600"/>
              </a:spcAft>
              <a:defRPr sz="1100" b="0">
                <a:solidFill>
                  <a:srgbClr val="002A55"/>
                </a:solidFill>
                <a:latin typeface="Calibri"/>
              </a:defRPr>
            </a:pPr>
            <a:endParaRPr/>
          </a:p>
          <a:p>
            <a:pPr algn="l">
              <a:spcAft>
                <a:spcPts val="600"/>
              </a:spcAft>
              <a:defRPr sz="1100" b="0">
                <a:solidFill>
                  <a:srgbClr val="002A55"/>
                </a:solidFill>
                <a:latin typeface="Calibri"/>
              </a:defRPr>
            </a:pPr>
            <a:r>
              <a:t>277 tasks  →  222 train (80%)  +  55 test (20%)</a:t>
            </a:r>
          </a:p>
          <a:p>
            <a:pPr algn="l">
              <a:spcAft>
                <a:spcPts val="600"/>
              </a:spcAft>
              <a:defRPr sz="1100" b="0">
                <a:solidFill>
                  <a:srgbClr val="002A55"/>
                </a:solidFill>
                <a:latin typeface="Calibri"/>
              </a:defRPr>
            </a:pPr>
            <a:r>
              <a:t>Same label proportions preserved in both splits</a:t>
            </a:r>
          </a:p>
          <a:p>
            <a:pPr algn="l">
              <a:spcAft>
                <a:spcPts val="600"/>
              </a:spcAft>
              <a:defRPr sz="1100" b="0">
                <a:solidFill>
                  <a:srgbClr val="002A55"/>
                </a:solidFill>
                <a:latin typeface="Calibri"/>
              </a:defRPr>
            </a:pPr>
            <a:r>
              <a:t>Ensures test set is representative — minority classes included</a:t>
            </a:r>
          </a:p>
        </p:txBody>
      </p:sp>
      <p:sp>
        <p:nvSpPr>
          <p:cNvPr id="12" name="Rounded Rectangle 11"/>
          <p:cNvSpPr/>
          <p:nvPr/>
        </p:nvSpPr>
        <p:spPr>
          <a:xfrm>
            <a:off x="1249680" y="3360420"/>
            <a:ext cx="5181600" cy="210312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32560" y="3406140"/>
            <a:ext cx="4815840" cy="1492716"/>
          </a:xfrm>
          <a:prstGeom prst="rect">
            <a:avLst/>
          </a:prstGeom>
          <a:noFill/>
        </p:spPr>
        <p:txBody>
          <a:bodyPr wrap="square">
            <a:spAutoFit/>
          </a:bodyPr>
          <a:lstStyle/>
          <a:p>
            <a:pPr algn="l">
              <a:spcAft>
                <a:spcPts val="600"/>
              </a:spcAft>
              <a:defRPr sz="1100" b="0">
                <a:solidFill>
                  <a:srgbClr val="002A55"/>
                </a:solidFill>
                <a:latin typeface="Calibri"/>
              </a:defRPr>
            </a:pPr>
            <a:r>
              <a:t>⚠  Leakage Rule (non-negotiable)</a:t>
            </a:r>
          </a:p>
          <a:p>
            <a:pPr algn="l">
              <a:spcAft>
                <a:spcPts val="600"/>
              </a:spcAft>
              <a:defRPr sz="1100" b="0">
                <a:solidFill>
                  <a:srgbClr val="002A55"/>
                </a:solidFill>
                <a:latin typeface="Calibri"/>
              </a:defRPr>
            </a:pPr>
            <a:endParaRPr/>
          </a:p>
          <a:p>
            <a:pPr algn="l">
              <a:spcAft>
                <a:spcPts val="600"/>
              </a:spcAft>
              <a:defRPr sz="1100" b="0">
                <a:solidFill>
                  <a:srgbClr val="002A55"/>
                </a:solidFill>
                <a:latin typeface="Calibri"/>
              </a:defRPr>
            </a:pPr>
            <a:r>
              <a:t>Split at the TASK level, never at frame/segment level.</a:t>
            </a:r>
          </a:p>
          <a:p>
            <a:pPr algn="l">
              <a:spcAft>
                <a:spcPts val="600"/>
              </a:spcAft>
              <a:defRPr sz="1100" b="0">
                <a:solidFill>
                  <a:srgbClr val="002A55"/>
                </a:solidFill>
                <a:latin typeface="Calibri"/>
              </a:defRPr>
            </a:pPr>
            <a:r>
              <a:t>All frames from task #12345 go entirely into train OR test.</a:t>
            </a:r>
          </a:p>
          <a:p>
            <a:pPr algn="l">
              <a:spcAft>
                <a:spcPts val="600"/>
              </a:spcAft>
              <a:defRPr sz="1100" b="0">
                <a:solidFill>
                  <a:srgbClr val="002A55"/>
                </a:solidFill>
                <a:latin typeface="Calibri"/>
              </a:defRPr>
            </a:pPr>
            <a:r>
              <a:t>If frames from one recording appear in both splits,</a:t>
            </a:r>
          </a:p>
          <a:p>
            <a:pPr algn="l">
              <a:spcAft>
                <a:spcPts val="600"/>
              </a:spcAft>
              <a:defRPr sz="1100" b="0">
                <a:solidFill>
                  <a:srgbClr val="002A55"/>
                </a:solidFill>
                <a:latin typeface="Calibri"/>
              </a:defRPr>
            </a:pPr>
            <a:r>
              <a:t>the model memorises the recording — not the activity.</a:t>
            </a:r>
          </a:p>
        </p:txBody>
      </p:sp>
      <p:sp>
        <p:nvSpPr>
          <p:cNvPr id="14" name="Rounded Rectangle 13"/>
          <p:cNvSpPr/>
          <p:nvPr/>
        </p:nvSpPr>
        <p:spPr>
          <a:xfrm>
            <a:off x="6461760" y="1394460"/>
            <a:ext cx="3291840" cy="182880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44640" y="1440180"/>
            <a:ext cx="3017520" cy="1737360"/>
          </a:xfrm>
          <a:prstGeom prst="rect">
            <a:avLst/>
          </a:prstGeom>
          <a:noFill/>
        </p:spPr>
        <p:txBody>
          <a:bodyPr wrap="square">
            <a:spAutoFit/>
          </a:bodyPr>
          <a:lstStyle/>
          <a:p>
            <a:pPr algn="l">
              <a:spcAft>
                <a:spcPts val="600"/>
              </a:spcAft>
              <a:defRPr sz="1100" b="0">
                <a:solidFill>
                  <a:srgbClr val="002A55"/>
                </a:solidFill>
                <a:latin typeface="Calibri"/>
              </a:defRPr>
            </a:pPr>
            <a:r>
              <a:t>Class Distribution (v3b training set)</a:t>
            </a:r>
          </a:p>
          <a:p>
            <a:pPr algn="l">
              <a:spcAft>
                <a:spcPts val="600"/>
              </a:spcAft>
              <a:defRPr sz="1100" b="0">
                <a:solidFill>
                  <a:srgbClr val="002A55"/>
                </a:solidFill>
                <a:latin typeface="Calibri"/>
              </a:defRPr>
            </a:pPr>
            <a:endParaRPr/>
          </a:p>
          <a:p>
            <a:pPr algn="l">
              <a:spcAft>
                <a:spcPts val="600"/>
              </a:spcAft>
              <a:defRPr sz="1100" b="0">
                <a:solidFill>
                  <a:srgbClr val="002A55"/>
                </a:solidFill>
                <a:latin typeface="Calibri"/>
              </a:defRPr>
            </a:pPr>
            <a:r>
              <a:t>coding_editing    ~65%</a:t>
            </a:r>
          </a:p>
          <a:p>
            <a:pPr algn="l">
              <a:spcAft>
                <a:spcPts val="600"/>
              </a:spcAft>
              <a:defRPr sz="1100" b="0">
                <a:solidFill>
                  <a:srgbClr val="002A55"/>
                </a:solidFill>
                <a:latin typeface="Calibri"/>
              </a:defRPr>
            </a:pPr>
            <a:r>
              <a:t>media_editing     ~27%</a:t>
            </a:r>
          </a:p>
          <a:p>
            <a:pPr algn="l">
              <a:spcAft>
                <a:spcPts val="600"/>
              </a:spcAft>
              <a:defRPr sz="1100" b="0">
                <a:solidFill>
                  <a:srgbClr val="002A55"/>
                </a:solidFill>
                <a:latin typeface="Calibri"/>
              </a:defRPr>
            </a:pPr>
            <a:r>
              <a:t>web_browsing       ~7%</a:t>
            </a:r>
          </a:p>
          <a:p>
            <a:pPr algn="l">
              <a:spcAft>
                <a:spcPts val="600"/>
              </a:spcAft>
              <a:defRPr sz="1100" b="0">
                <a:solidFill>
                  <a:srgbClr val="002A55"/>
                </a:solidFill>
                <a:latin typeface="Calibri"/>
              </a:defRPr>
            </a:pPr>
            <a:r>
              <a:t>terminal_ops       ~1%</a:t>
            </a:r>
          </a:p>
          <a:p>
            <a:pPr algn="l">
              <a:spcAft>
                <a:spcPts val="600"/>
              </a:spcAft>
              <a:defRPr sz="1100" b="0">
                <a:solidFill>
                  <a:srgbClr val="002A55"/>
                </a:solidFill>
                <a:latin typeface="Calibri"/>
              </a:defRPr>
            </a:pPr>
            <a:r>
              <a:t>(others &lt; 1% each)</a:t>
            </a:r>
          </a:p>
        </p:txBody>
      </p:sp>
      <p:sp>
        <p:nvSpPr>
          <p:cNvPr id="16" name="Rounded Rectangle 15"/>
          <p:cNvSpPr/>
          <p:nvPr/>
        </p:nvSpPr>
        <p:spPr>
          <a:xfrm>
            <a:off x="6461760" y="3360420"/>
            <a:ext cx="3413760" cy="210312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44640" y="3406140"/>
            <a:ext cx="3017520" cy="1737360"/>
          </a:xfrm>
          <a:prstGeom prst="rect">
            <a:avLst/>
          </a:prstGeom>
          <a:noFill/>
        </p:spPr>
        <p:txBody>
          <a:bodyPr wrap="square">
            <a:spAutoFit/>
          </a:bodyPr>
          <a:lstStyle/>
          <a:p>
            <a:pPr algn="l">
              <a:spcAft>
                <a:spcPts val="600"/>
              </a:spcAft>
              <a:defRPr sz="1100" b="0">
                <a:solidFill>
                  <a:srgbClr val="002A55"/>
                </a:solidFill>
                <a:latin typeface="Calibri"/>
              </a:defRPr>
            </a:pPr>
            <a:r>
              <a:rPr dirty="0"/>
              <a:t>Data Augmentation</a:t>
            </a:r>
          </a:p>
          <a:p>
            <a:pPr algn="l">
              <a:spcAft>
                <a:spcPts val="600"/>
              </a:spcAft>
              <a:defRPr sz="1100" b="0">
                <a:solidFill>
                  <a:srgbClr val="002A55"/>
                </a:solidFill>
                <a:latin typeface="Calibri"/>
              </a:defRPr>
            </a:pPr>
            <a:endParaRPr dirty="0"/>
          </a:p>
          <a:p>
            <a:pPr algn="l">
              <a:spcAft>
                <a:spcPts val="600"/>
              </a:spcAft>
              <a:defRPr sz="1100" b="0">
                <a:solidFill>
                  <a:srgbClr val="002A55"/>
                </a:solidFill>
                <a:latin typeface="Calibri"/>
              </a:defRPr>
            </a:pPr>
            <a:r>
              <a:rPr dirty="0"/>
              <a:t>Classes with &lt; 100 training samples</a:t>
            </a:r>
          </a:p>
          <a:p>
            <a:pPr algn="l">
              <a:spcAft>
                <a:spcPts val="600"/>
              </a:spcAft>
              <a:defRPr sz="1100" b="0">
                <a:solidFill>
                  <a:srgbClr val="002A55"/>
                </a:solidFill>
                <a:latin typeface="Calibri"/>
              </a:defRPr>
            </a:pPr>
            <a:r>
              <a:rPr dirty="0"/>
              <a:t>receive 5× synthetic augmentation:</a:t>
            </a:r>
          </a:p>
          <a:p>
            <a:pPr algn="l">
              <a:spcAft>
                <a:spcPts val="600"/>
              </a:spcAft>
              <a:defRPr sz="1100" b="0">
                <a:solidFill>
                  <a:srgbClr val="002A55"/>
                </a:solidFill>
                <a:latin typeface="Calibri"/>
              </a:defRPr>
            </a:pPr>
            <a:r>
              <a:rPr dirty="0"/>
              <a:t>  • Gaussian noise on feature values</a:t>
            </a:r>
          </a:p>
          <a:p>
            <a:pPr algn="l">
              <a:spcAft>
                <a:spcPts val="600"/>
              </a:spcAft>
              <a:defRPr sz="1100" b="0">
                <a:solidFill>
                  <a:srgbClr val="002A55"/>
                </a:solidFill>
                <a:latin typeface="Calibri"/>
              </a:defRPr>
            </a:pPr>
            <a:r>
              <a:rPr dirty="0"/>
              <a:t>  • Random feature dropout (10%)</a:t>
            </a:r>
          </a:p>
          <a:p>
            <a:pPr algn="l">
              <a:spcAft>
                <a:spcPts val="600"/>
              </a:spcAft>
              <a:defRPr sz="1100" b="0">
                <a:solidFill>
                  <a:srgbClr val="002A55"/>
                </a:solidFill>
                <a:latin typeface="Calibri"/>
              </a:defRPr>
            </a:pPr>
            <a:r>
              <a:rPr dirty="0"/>
              <a:t>Prevents minority classes from being</a:t>
            </a:r>
          </a:p>
          <a:p>
            <a:pPr algn="l">
              <a:spcAft>
                <a:spcPts val="600"/>
              </a:spcAft>
              <a:defRPr sz="1100" b="0">
                <a:solidFill>
                  <a:srgbClr val="002A55"/>
                </a:solidFill>
                <a:latin typeface="Calibri"/>
              </a:defRPr>
            </a:pPr>
            <a:r>
              <a:rPr dirty="0"/>
              <a:t>ignored during training.</a:t>
            </a:r>
          </a:p>
        </p:txBody>
      </p:sp>
      <p:sp>
        <p:nvSpPr>
          <p:cNvPr id="18" name="Rectangle 1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20" name="Rectangle 19"/>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nus_iss_logo_transparent.png"/>
          <p:cNvPicPr>
            <a:picLocks noChangeAspect="1"/>
          </p:cNvPicPr>
          <p:nvPr/>
        </p:nvPicPr>
        <p:blipFill>
          <a:blip r:embed="rId3"/>
          <a:stretch>
            <a:fillRect/>
          </a:stretch>
        </p:blipFill>
        <p:spPr>
          <a:xfrm>
            <a:off x="9555480" y="82296"/>
            <a:ext cx="2514600" cy="5852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Step 2 — Multimodal Feature Extraction</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1,391-dimensional feature vector fused from 4 independent extractors</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373778" y="1463040"/>
            <a:ext cx="21031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Visual (EfficientNet-B0)</a:t>
            </a:r>
          </a:p>
        </p:txBody>
      </p:sp>
      <p:sp>
        <p:nvSpPr>
          <p:cNvPr id="11" name="Rounded Rectangle 10"/>
          <p:cNvSpPr/>
          <p:nvPr/>
        </p:nvSpPr>
        <p:spPr>
          <a:xfrm>
            <a:off x="1373778" y="1783080"/>
            <a:ext cx="2103120" cy="26517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65218" y="1874519"/>
            <a:ext cx="1920240" cy="347472"/>
          </a:xfrm>
          <a:prstGeom prst="rect">
            <a:avLst/>
          </a:prstGeom>
          <a:noFill/>
        </p:spPr>
        <p:txBody>
          <a:bodyPr wrap="square">
            <a:spAutoFit/>
          </a:bodyPr>
          <a:lstStyle/>
          <a:p>
            <a:pPr algn="l">
              <a:defRPr sz="1000" b="0">
                <a:solidFill>
                  <a:srgbClr val="002A55"/>
                </a:solidFill>
                <a:latin typeface="Calibri"/>
              </a:defRPr>
            </a:pPr>
            <a:r>
              <a:t>CNN pretrained on ImageNet</a:t>
            </a:r>
          </a:p>
        </p:txBody>
      </p:sp>
      <p:sp>
        <p:nvSpPr>
          <p:cNvPr id="13" name="TextBox 12"/>
          <p:cNvSpPr txBox="1"/>
          <p:nvPr/>
        </p:nvSpPr>
        <p:spPr>
          <a:xfrm>
            <a:off x="1465218" y="2258568"/>
            <a:ext cx="1920240" cy="347472"/>
          </a:xfrm>
          <a:prstGeom prst="rect">
            <a:avLst/>
          </a:prstGeom>
          <a:noFill/>
        </p:spPr>
        <p:txBody>
          <a:bodyPr wrap="square">
            <a:spAutoFit/>
          </a:bodyPr>
          <a:lstStyle/>
          <a:p>
            <a:pPr algn="l">
              <a:defRPr sz="1000" b="0">
                <a:solidFill>
                  <a:srgbClr val="002A55"/>
                </a:solidFill>
                <a:latin typeface="Calibri"/>
              </a:defRPr>
            </a:pPr>
            <a:r>
              <a:t>Frames → global avg pool → 1,280-dim</a:t>
            </a:r>
          </a:p>
        </p:txBody>
      </p:sp>
      <p:sp>
        <p:nvSpPr>
          <p:cNvPr id="14" name="TextBox 13"/>
          <p:cNvSpPr txBox="1"/>
          <p:nvPr/>
        </p:nvSpPr>
        <p:spPr>
          <a:xfrm>
            <a:off x="1465218" y="2642615"/>
            <a:ext cx="1920240" cy="347472"/>
          </a:xfrm>
          <a:prstGeom prst="rect">
            <a:avLst/>
          </a:prstGeom>
          <a:noFill/>
        </p:spPr>
        <p:txBody>
          <a:bodyPr wrap="square">
            <a:spAutoFit/>
          </a:bodyPr>
          <a:lstStyle/>
          <a:p>
            <a:pPr algn="l">
              <a:defRPr sz="1000" b="0">
                <a:solidFill>
                  <a:srgbClr val="002A55"/>
                </a:solidFill>
                <a:latin typeface="Calibri"/>
              </a:defRPr>
            </a:pPr>
            <a:r>
              <a:t>Captures UI layout, colour palette,</a:t>
            </a:r>
          </a:p>
        </p:txBody>
      </p:sp>
      <p:sp>
        <p:nvSpPr>
          <p:cNvPr id="15" name="TextBox 14"/>
          <p:cNvSpPr txBox="1"/>
          <p:nvPr/>
        </p:nvSpPr>
        <p:spPr>
          <a:xfrm>
            <a:off x="1465218" y="3026663"/>
            <a:ext cx="1920240" cy="347472"/>
          </a:xfrm>
          <a:prstGeom prst="rect">
            <a:avLst/>
          </a:prstGeom>
          <a:noFill/>
        </p:spPr>
        <p:txBody>
          <a:bodyPr wrap="square">
            <a:spAutoFit/>
          </a:bodyPr>
          <a:lstStyle/>
          <a:p>
            <a:pPr algn="l">
              <a:defRPr sz="1000" b="0">
                <a:solidFill>
                  <a:srgbClr val="002A55"/>
                </a:solidFill>
                <a:latin typeface="Calibri"/>
              </a:defRPr>
            </a:pPr>
            <a:r>
              <a:t>window structure</a:t>
            </a:r>
          </a:p>
        </p:txBody>
      </p:sp>
      <p:sp>
        <p:nvSpPr>
          <p:cNvPr id="16" name="Rounded Rectangle 15"/>
          <p:cNvSpPr/>
          <p:nvPr/>
        </p:nvSpPr>
        <p:spPr>
          <a:xfrm>
            <a:off x="1739538" y="4160520"/>
            <a:ext cx="1371600" cy="2743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1,280 dims</a:t>
            </a:r>
          </a:p>
        </p:txBody>
      </p:sp>
      <p:sp>
        <p:nvSpPr>
          <p:cNvPr id="17" name="Rounded Rectangle 16"/>
          <p:cNvSpPr/>
          <p:nvPr/>
        </p:nvSpPr>
        <p:spPr>
          <a:xfrm>
            <a:off x="3614058" y="1463040"/>
            <a:ext cx="21031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OCR Text (EasyOCR)</a:t>
            </a:r>
          </a:p>
        </p:txBody>
      </p:sp>
      <p:sp>
        <p:nvSpPr>
          <p:cNvPr id="18" name="Rounded Rectangle 17"/>
          <p:cNvSpPr/>
          <p:nvPr/>
        </p:nvSpPr>
        <p:spPr>
          <a:xfrm>
            <a:off x="3614058" y="1783080"/>
            <a:ext cx="2103120" cy="265176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705498" y="1874519"/>
            <a:ext cx="1920240" cy="347472"/>
          </a:xfrm>
          <a:prstGeom prst="rect">
            <a:avLst/>
          </a:prstGeom>
          <a:noFill/>
        </p:spPr>
        <p:txBody>
          <a:bodyPr wrap="square">
            <a:spAutoFit/>
          </a:bodyPr>
          <a:lstStyle/>
          <a:p>
            <a:pPr algn="l">
              <a:defRPr sz="1000" b="0">
                <a:solidFill>
                  <a:srgbClr val="002A55"/>
                </a:solidFill>
                <a:latin typeface="Calibri"/>
              </a:defRPr>
            </a:pPr>
            <a:r>
              <a:t>Text regions detected &amp; extracted</a:t>
            </a:r>
          </a:p>
        </p:txBody>
      </p:sp>
      <p:sp>
        <p:nvSpPr>
          <p:cNvPr id="20" name="TextBox 19"/>
          <p:cNvSpPr txBox="1"/>
          <p:nvPr/>
        </p:nvSpPr>
        <p:spPr>
          <a:xfrm>
            <a:off x="3705498" y="2258568"/>
            <a:ext cx="1920240" cy="347472"/>
          </a:xfrm>
          <a:prstGeom prst="rect">
            <a:avLst/>
          </a:prstGeom>
          <a:noFill/>
        </p:spPr>
        <p:txBody>
          <a:bodyPr wrap="square">
            <a:spAutoFit/>
          </a:bodyPr>
          <a:lstStyle/>
          <a:p>
            <a:pPr algn="l">
              <a:defRPr sz="1000" b="0">
                <a:solidFill>
                  <a:srgbClr val="002A55"/>
                </a:solidFill>
                <a:latin typeface="Calibri"/>
              </a:defRPr>
            </a:pPr>
            <a:r>
              <a:t>TF-IDF on app-keyword vocabulary</a:t>
            </a:r>
          </a:p>
        </p:txBody>
      </p:sp>
      <p:sp>
        <p:nvSpPr>
          <p:cNvPr id="21" name="TextBox 20"/>
          <p:cNvSpPr txBox="1"/>
          <p:nvPr/>
        </p:nvSpPr>
        <p:spPr>
          <a:xfrm>
            <a:off x="3705498" y="2642615"/>
            <a:ext cx="1920240" cy="347472"/>
          </a:xfrm>
          <a:prstGeom prst="rect">
            <a:avLst/>
          </a:prstGeom>
          <a:noFill/>
        </p:spPr>
        <p:txBody>
          <a:bodyPr wrap="square">
            <a:spAutoFit/>
          </a:bodyPr>
          <a:lstStyle/>
          <a:p>
            <a:pPr algn="l">
              <a:defRPr sz="1000" b="0">
                <a:solidFill>
                  <a:srgbClr val="002A55"/>
                </a:solidFill>
                <a:latin typeface="Calibri"/>
              </a:defRPr>
            </a:pPr>
            <a:r>
              <a:t>Identifies IDE names, CLI commands,</a:t>
            </a:r>
          </a:p>
        </p:txBody>
      </p:sp>
      <p:sp>
        <p:nvSpPr>
          <p:cNvPr id="22" name="TextBox 21"/>
          <p:cNvSpPr txBox="1"/>
          <p:nvPr/>
        </p:nvSpPr>
        <p:spPr>
          <a:xfrm>
            <a:off x="3705498" y="3026663"/>
            <a:ext cx="1920240" cy="347472"/>
          </a:xfrm>
          <a:prstGeom prst="rect">
            <a:avLst/>
          </a:prstGeom>
          <a:noFill/>
        </p:spPr>
        <p:txBody>
          <a:bodyPr wrap="square">
            <a:spAutoFit/>
          </a:bodyPr>
          <a:lstStyle/>
          <a:p>
            <a:pPr algn="l">
              <a:defRPr sz="1000" b="0">
                <a:solidFill>
                  <a:srgbClr val="002A55"/>
                </a:solidFill>
                <a:latin typeface="Calibri"/>
              </a:defRPr>
            </a:pPr>
            <a:r>
              <a:t>browser URLs, error messages</a:t>
            </a:r>
          </a:p>
        </p:txBody>
      </p:sp>
      <p:sp>
        <p:nvSpPr>
          <p:cNvPr id="23" name="Rounded Rectangle 22"/>
          <p:cNvSpPr/>
          <p:nvPr/>
        </p:nvSpPr>
        <p:spPr>
          <a:xfrm>
            <a:off x="3979818" y="4160520"/>
            <a:ext cx="1371600" cy="2743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50 dims</a:t>
            </a:r>
          </a:p>
        </p:txBody>
      </p:sp>
      <p:sp>
        <p:nvSpPr>
          <p:cNvPr id="24" name="Rounded Rectangle 23"/>
          <p:cNvSpPr/>
          <p:nvPr/>
        </p:nvSpPr>
        <p:spPr>
          <a:xfrm>
            <a:off x="5854338" y="1463040"/>
            <a:ext cx="210312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UI Objects (YOLO)</a:t>
            </a:r>
          </a:p>
        </p:txBody>
      </p:sp>
      <p:sp>
        <p:nvSpPr>
          <p:cNvPr id="25" name="Rounded Rectangle 24"/>
          <p:cNvSpPr/>
          <p:nvPr/>
        </p:nvSpPr>
        <p:spPr>
          <a:xfrm>
            <a:off x="5854338" y="1783080"/>
            <a:ext cx="2103120" cy="265176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45778" y="1874519"/>
            <a:ext cx="1920240" cy="347472"/>
          </a:xfrm>
          <a:prstGeom prst="rect">
            <a:avLst/>
          </a:prstGeom>
          <a:noFill/>
        </p:spPr>
        <p:txBody>
          <a:bodyPr wrap="square">
            <a:spAutoFit/>
          </a:bodyPr>
          <a:lstStyle/>
          <a:p>
            <a:pPr algn="l">
              <a:defRPr sz="1000" b="0">
                <a:solidFill>
                  <a:srgbClr val="002A55"/>
                </a:solidFill>
                <a:latin typeface="Calibri"/>
              </a:defRPr>
            </a:pPr>
            <a:r>
              <a:t>YOLOv8 detects UI widgets:</a:t>
            </a:r>
          </a:p>
        </p:txBody>
      </p:sp>
      <p:sp>
        <p:nvSpPr>
          <p:cNvPr id="27" name="TextBox 26"/>
          <p:cNvSpPr txBox="1"/>
          <p:nvPr/>
        </p:nvSpPr>
        <p:spPr>
          <a:xfrm>
            <a:off x="5945778" y="2258568"/>
            <a:ext cx="1920240" cy="347472"/>
          </a:xfrm>
          <a:prstGeom prst="rect">
            <a:avLst/>
          </a:prstGeom>
          <a:noFill/>
        </p:spPr>
        <p:txBody>
          <a:bodyPr wrap="square">
            <a:spAutoFit/>
          </a:bodyPr>
          <a:lstStyle/>
          <a:p>
            <a:pPr algn="l">
              <a:defRPr sz="1000" b="0">
                <a:solidFill>
                  <a:srgbClr val="002A55"/>
                </a:solidFill>
                <a:latin typeface="Calibri"/>
              </a:defRPr>
            </a:pPr>
            <a:r>
              <a:t>buttons, menus, text fields,</a:t>
            </a:r>
          </a:p>
        </p:txBody>
      </p:sp>
      <p:sp>
        <p:nvSpPr>
          <p:cNvPr id="28" name="TextBox 27"/>
          <p:cNvSpPr txBox="1"/>
          <p:nvPr/>
        </p:nvSpPr>
        <p:spPr>
          <a:xfrm>
            <a:off x="5945778" y="2642615"/>
            <a:ext cx="1920240" cy="347472"/>
          </a:xfrm>
          <a:prstGeom prst="rect">
            <a:avLst/>
          </a:prstGeom>
          <a:noFill/>
        </p:spPr>
        <p:txBody>
          <a:bodyPr wrap="square">
            <a:spAutoFit/>
          </a:bodyPr>
          <a:lstStyle/>
          <a:p>
            <a:pPr algn="l">
              <a:defRPr sz="1000" b="0">
                <a:solidFill>
                  <a:srgbClr val="002A55"/>
                </a:solidFill>
                <a:latin typeface="Calibri"/>
              </a:defRPr>
            </a:pPr>
            <a:r>
              <a:t>terminal windows</a:t>
            </a:r>
          </a:p>
        </p:txBody>
      </p:sp>
      <p:sp>
        <p:nvSpPr>
          <p:cNvPr id="29" name="TextBox 28"/>
          <p:cNvSpPr txBox="1"/>
          <p:nvPr/>
        </p:nvSpPr>
        <p:spPr>
          <a:xfrm>
            <a:off x="5945778" y="3026663"/>
            <a:ext cx="1920240" cy="347472"/>
          </a:xfrm>
          <a:prstGeom prst="rect">
            <a:avLst/>
          </a:prstGeom>
          <a:noFill/>
        </p:spPr>
        <p:txBody>
          <a:bodyPr wrap="square">
            <a:spAutoFit/>
          </a:bodyPr>
          <a:lstStyle/>
          <a:p>
            <a:pPr algn="l">
              <a:defRPr sz="1000" b="0">
                <a:solidFill>
                  <a:srgbClr val="002A55"/>
                </a:solidFill>
                <a:latin typeface="Calibri"/>
              </a:defRPr>
            </a:pPr>
            <a:r>
              <a:t>Count + position features</a:t>
            </a:r>
          </a:p>
        </p:txBody>
      </p:sp>
      <p:sp>
        <p:nvSpPr>
          <p:cNvPr id="30" name="Rounded Rectangle 29"/>
          <p:cNvSpPr/>
          <p:nvPr/>
        </p:nvSpPr>
        <p:spPr>
          <a:xfrm>
            <a:off x="6220098" y="4160520"/>
            <a:ext cx="1371600" cy="2743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30 dims</a:t>
            </a:r>
          </a:p>
        </p:txBody>
      </p:sp>
      <p:sp>
        <p:nvSpPr>
          <p:cNvPr id="31" name="Rounded Rectangle 30"/>
          <p:cNvSpPr/>
          <p:nvPr/>
        </p:nvSpPr>
        <p:spPr>
          <a:xfrm>
            <a:off x="8094618" y="1463040"/>
            <a:ext cx="2103120" cy="32004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Interaction Stats</a:t>
            </a:r>
          </a:p>
        </p:txBody>
      </p:sp>
      <p:sp>
        <p:nvSpPr>
          <p:cNvPr id="32" name="Rounded Rectangle 31"/>
          <p:cNvSpPr/>
          <p:nvPr/>
        </p:nvSpPr>
        <p:spPr>
          <a:xfrm>
            <a:off x="8094618" y="1783080"/>
            <a:ext cx="2103120" cy="265176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186058" y="1874519"/>
            <a:ext cx="1920240" cy="347472"/>
          </a:xfrm>
          <a:prstGeom prst="rect">
            <a:avLst/>
          </a:prstGeom>
          <a:noFill/>
        </p:spPr>
        <p:txBody>
          <a:bodyPr wrap="square">
            <a:spAutoFit/>
          </a:bodyPr>
          <a:lstStyle/>
          <a:p>
            <a:pPr algn="l">
              <a:defRPr sz="1000" b="0">
                <a:solidFill>
                  <a:srgbClr val="002A55"/>
                </a:solidFill>
                <a:latin typeface="Calibri"/>
              </a:defRPr>
            </a:pPr>
            <a:r>
              <a:t>From action_log.json:</a:t>
            </a:r>
          </a:p>
        </p:txBody>
      </p:sp>
      <p:sp>
        <p:nvSpPr>
          <p:cNvPr id="34" name="TextBox 33"/>
          <p:cNvSpPr txBox="1"/>
          <p:nvPr/>
        </p:nvSpPr>
        <p:spPr>
          <a:xfrm>
            <a:off x="8186058" y="2258568"/>
            <a:ext cx="1920240" cy="347472"/>
          </a:xfrm>
          <a:prstGeom prst="rect">
            <a:avLst/>
          </a:prstGeom>
          <a:noFill/>
        </p:spPr>
        <p:txBody>
          <a:bodyPr wrap="square">
            <a:spAutoFit/>
          </a:bodyPr>
          <a:lstStyle/>
          <a:p>
            <a:pPr algn="l">
              <a:defRPr sz="1000" b="0">
                <a:solidFill>
                  <a:srgbClr val="002A55"/>
                </a:solidFill>
                <a:latin typeface="Calibri"/>
              </a:defRPr>
            </a:pPr>
            <a:r>
              <a:t>click rate, typing rate,</a:t>
            </a:r>
          </a:p>
        </p:txBody>
      </p:sp>
      <p:sp>
        <p:nvSpPr>
          <p:cNvPr id="35" name="TextBox 34"/>
          <p:cNvSpPr txBox="1"/>
          <p:nvPr/>
        </p:nvSpPr>
        <p:spPr>
          <a:xfrm>
            <a:off x="8186058" y="2642615"/>
            <a:ext cx="1920240" cy="347472"/>
          </a:xfrm>
          <a:prstGeom prst="rect">
            <a:avLst/>
          </a:prstGeom>
          <a:noFill/>
        </p:spPr>
        <p:txBody>
          <a:bodyPr wrap="square">
            <a:spAutoFit/>
          </a:bodyPr>
          <a:lstStyle/>
          <a:p>
            <a:pPr algn="l">
              <a:defRPr sz="1000" b="0">
                <a:solidFill>
                  <a:srgbClr val="002A55"/>
                </a:solidFill>
                <a:latin typeface="Calibri"/>
              </a:defRPr>
            </a:pPr>
            <a:r>
              <a:t>mouse travel distance,</a:t>
            </a:r>
          </a:p>
        </p:txBody>
      </p:sp>
      <p:sp>
        <p:nvSpPr>
          <p:cNvPr id="36" name="TextBox 35"/>
          <p:cNvSpPr txBox="1"/>
          <p:nvPr/>
        </p:nvSpPr>
        <p:spPr>
          <a:xfrm>
            <a:off x="8186058" y="3026663"/>
            <a:ext cx="1920240" cy="347472"/>
          </a:xfrm>
          <a:prstGeom prst="rect">
            <a:avLst/>
          </a:prstGeom>
          <a:noFill/>
        </p:spPr>
        <p:txBody>
          <a:bodyPr wrap="square">
            <a:spAutoFit/>
          </a:bodyPr>
          <a:lstStyle/>
          <a:p>
            <a:pPr algn="l">
              <a:defRPr sz="1000" b="0">
                <a:solidFill>
                  <a:srgbClr val="002A55"/>
                </a:solidFill>
                <a:latin typeface="Calibri"/>
              </a:defRPr>
            </a:pPr>
            <a:r>
              <a:t>scroll frequency, hotkey ratio</a:t>
            </a:r>
          </a:p>
        </p:txBody>
      </p:sp>
      <p:sp>
        <p:nvSpPr>
          <p:cNvPr id="37" name="Rounded Rectangle 36"/>
          <p:cNvSpPr/>
          <p:nvPr/>
        </p:nvSpPr>
        <p:spPr>
          <a:xfrm>
            <a:off x="8460378" y="4160520"/>
            <a:ext cx="1371600" cy="2743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30 dims</a:t>
            </a:r>
          </a:p>
        </p:txBody>
      </p:sp>
      <p:sp>
        <p:nvSpPr>
          <p:cNvPr id="38" name="TextBox 37"/>
          <p:cNvSpPr txBox="1"/>
          <p:nvPr/>
        </p:nvSpPr>
        <p:spPr>
          <a:xfrm>
            <a:off x="1373778" y="4572000"/>
            <a:ext cx="8595360" cy="228600"/>
          </a:xfrm>
          <a:prstGeom prst="rect">
            <a:avLst/>
          </a:prstGeom>
          <a:noFill/>
        </p:spPr>
        <p:txBody>
          <a:bodyPr wrap="square">
            <a:spAutoFit/>
          </a:bodyPr>
          <a:lstStyle/>
          <a:p>
            <a:pPr algn="ctr">
              <a:defRPr sz="1300" b="1">
                <a:solidFill>
                  <a:srgbClr val="003D7C"/>
                </a:solidFill>
                <a:latin typeface="Calibri"/>
              </a:defRPr>
            </a:pPr>
            <a:r>
              <a:t>1,280 + 50 + 30 + 30 + 1  =  1,391 dims  →  one row per task (CNN backend)</a:t>
            </a:r>
          </a:p>
        </p:txBody>
      </p:sp>
      <p:sp>
        <p:nvSpPr>
          <p:cNvPr id="39" name="Rounded Rectangle 38"/>
          <p:cNvSpPr/>
          <p:nvPr/>
        </p:nvSpPr>
        <p:spPr>
          <a:xfrm>
            <a:off x="1373778" y="4892040"/>
            <a:ext cx="8595360" cy="77724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510938" y="4983480"/>
            <a:ext cx="8321040" cy="594360"/>
          </a:xfrm>
          <a:prstGeom prst="rect">
            <a:avLst/>
          </a:prstGeom>
          <a:noFill/>
        </p:spPr>
        <p:txBody>
          <a:bodyPr wrap="square">
            <a:spAutoFit/>
          </a:bodyPr>
          <a:lstStyle/>
          <a:p>
            <a:pPr algn="l">
              <a:spcAft>
                <a:spcPts val="200"/>
              </a:spcAft>
              <a:defRPr sz="1000" b="0">
                <a:solidFill>
                  <a:srgbClr val="28A745"/>
                </a:solidFill>
                <a:latin typeface="Courier New"/>
              </a:defRPr>
            </a:pPr>
            <a:r>
              <a:t>X_train.shape = (222, 1391)   # 222 training tasks × 1,391 features</a:t>
            </a:r>
          </a:p>
          <a:p>
            <a:pPr algn="l">
              <a:spcAft>
                <a:spcPts val="200"/>
              </a:spcAft>
              <a:defRPr sz="1000" b="0">
                <a:solidFill>
                  <a:srgbClr val="28A745"/>
                </a:solidFill>
                <a:latin typeface="Courier New"/>
              </a:defRPr>
            </a:pPr>
            <a:r>
              <a:t>y_train.shape = (222,)         # integer class index 0–7</a:t>
            </a:r>
          </a:p>
          <a:p>
            <a:pPr algn="l">
              <a:spcAft>
                <a:spcPts val="200"/>
              </a:spcAft>
              <a:defRPr sz="1000" b="0">
                <a:solidFill>
                  <a:srgbClr val="28A745"/>
                </a:solidFill>
                <a:latin typeface="Courier New"/>
              </a:defRPr>
            </a:pPr>
            <a:r>
              <a:t>X[0] = [0.42, 0.18, ..., 0.03] # one row = one complete task</a:t>
            </a:r>
          </a:p>
        </p:txBody>
      </p:sp>
      <p:sp>
        <p:nvSpPr>
          <p:cNvPr id="41" name="Rectangle 40"/>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43" name="Rectangle 42"/>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nus_iss_logo_transparent.png"/>
          <p:cNvPicPr>
            <a:picLocks noChangeAspect="1"/>
          </p:cNvPicPr>
          <p:nvPr/>
        </p:nvPicPr>
        <p:blipFill>
          <a:blip r:embed="rId3"/>
          <a:stretch>
            <a:fillRect/>
          </a:stretch>
        </p:blipFill>
        <p:spPr>
          <a:xfrm>
            <a:off x="9555480" y="82296"/>
            <a:ext cx="2514600" cy="5852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Step 3 — Three-Tier Classifier Architecture</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14 models trained in parallel; Tier 3 ensembles combine Tier 1 + 2 outputs</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297578" y="1417320"/>
            <a:ext cx="283464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Tier 1 — Classical ML  (7 models)</a:t>
            </a:r>
          </a:p>
        </p:txBody>
      </p:sp>
      <p:sp>
        <p:nvSpPr>
          <p:cNvPr id="11" name="Rounded Rectangle 10"/>
          <p:cNvSpPr/>
          <p:nvPr/>
        </p:nvSpPr>
        <p:spPr>
          <a:xfrm>
            <a:off x="1297578" y="1737360"/>
            <a:ext cx="2834640" cy="3054096"/>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34738" y="1828800"/>
            <a:ext cx="2560320" cy="320040"/>
          </a:xfrm>
          <a:prstGeom prst="rect">
            <a:avLst/>
          </a:prstGeom>
          <a:noFill/>
        </p:spPr>
        <p:txBody>
          <a:bodyPr wrap="square">
            <a:spAutoFit/>
          </a:bodyPr>
          <a:lstStyle/>
          <a:p>
            <a:pPr algn="l">
              <a:defRPr sz="1100" b="0">
                <a:solidFill>
                  <a:srgbClr val="002A55"/>
                </a:solidFill>
                <a:latin typeface="Calibri"/>
              </a:defRPr>
            </a:pPr>
            <a:r>
              <a:t>• SVM (RBF kernel)</a:t>
            </a:r>
          </a:p>
        </p:txBody>
      </p:sp>
      <p:sp>
        <p:nvSpPr>
          <p:cNvPr id="13" name="TextBox 12"/>
          <p:cNvSpPr txBox="1"/>
          <p:nvPr/>
        </p:nvSpPr>
        <p:spPr>
          <a:xfrm>
            <a:off x="1434738" y="2176272"/>
            <a:ext cx="2560320" cy="320040"/>
          </a:xfrm>
          <a:prstGeom prst="rect">
            <a:avLst/>
          </a:prstGeom>
          <a:noFill/>
        </p:spPr>
        <p:txBody>
          <a:bodyPr wrap="square">
            <a:spAutoFit/>
          </a:bodyPr>
          <a:lstStyle/>
          <a:p>
            <a:pPr algn="l">
              <a:defRPr sz="1100" b="0">
                <a:solidFill>
                  <a:srgbClr val="002A55"/>
                </a:solidFill>
                <a:latin typeface="Calibri"/>
              </a:defRPr>
            </a:pPr>
            <a:r>
              <a:t>• Random Forest (100 trees)</a:t>
            </a:r>
          </a:p>
        </p:txBody>
      </p:sp>
      <p:sp>
        <p:nvSpPr>
          <p:cNvPr id="14" name="TextBox 13"/>
          <p:cNvSpPr txBox="1"/>
          <p:nvPr/>
        </p:nvSpPr>
        <p:spPr>
          <a:xfrm>
            <a:off x="1434738" y="2523744"/>
            <a:ext cx="2560320" cy="320040"/>
          </a:xfrm>
          <a:prstGeom prst="rect">
            <a:avLst/>
          </a:prstGeom>
          <a:noFill/>
        </p:spPr>
        <p:txBody>
          <a:bodyPr wrap="square">
            <a:spAutoFit/>
          </a:bodyPr>
          <a:lstStyle/>
          <a:p>
            <a:pPr algn="l">
              <a:defRPr sz="1100" b="0">
                <a:solidFill>
                  <a:srgbClr val="002A55"/>
                </a:solidFill>
                <a:latin typeface="Calibri"/>
              </a:defRPr>
            </a:pPr>
            <a:r>
              <a:t>• Decision Tree</a:t>
            </a:r>
          </a:p>
        </p:txBody>
      </p:sp>
      <p:sp>
        <p:nvSpPr>
          <p:cNvPr id="15" name="TextBox 14"/>
          <p:cNvSpPr txBox="1"/>
          <p:nvPr/>
        </p:nvSpPr>
        <p:spPr>
          <a:xfrm>
            <a:off x="1434738" y="2871216"/>
            <a:ext cx="2560320" cy="320040"/>
          </a:xfrm>
          <a:prstGeom prst="rect">
            <a:avLst/>
          </a:prstGeom>
          <a:noFill/>
        </p:spPr>
        <p:txBody>
          <a:bodyPr wrap="square">
            <a:spAutoFit/>
          </a:bodyPr>
          <a:lstStyle/>
          <a:p>
            <a:pPr algn="l">
              <a:defRPr sz="1100" b="0">
                <a:solidFill>
                  <a:srgbClr val="002A55"/>
                </a:solidFill>
                <a:latin typeface="Calibri"/>
              </a:defRPr>
            </a:pPr>
            <a:r>
              <a:t>• k-NN (k=5)</a:t>
            </a:r>
          </a:p>
        </p:txBody>
      </p:sp>
      <p:sp>
        <p:nvSpPr>
          <p:cNvPr id="16" name="TextBox 15"/>
          <p:cNvSpPr txBox="1"/>
          <p:nvPr/>
        </p:nvSpPr>
        <p:spPr>
          <a:xfrm>
            <a:off x="1434738" y="3218688"/>
            <a:ext cx="2560320" cy="320040"/>
          </a:xfrm>
          <a:prstGeom prst="rect">
            <a:avLst/>
          </a:prstGeom>
          <a:noFill/>
        </p:spPr>
        <p:txBody>
          <a:bodyPr wrap="square">
            <a:spAutoFit/>
          </a:bodyPr>
          <a:lstStyle/>
          <a:p>
            <a:pPr algn="l">
              <a:defRPr sz="1100" b="0">
                <a:solidFill>
                  <a:srgbClr val="002A55"/>
                </a:solidFill>
                <a:latin typeface="Calibri"/>
              </a:defRPr>
            </a:pPr>
            <a:r>
              <a:t>• Naive Bayes (Gaussian)</a:t>
            </a:r>
          </a:p>
        </p:txBody>
      </p:sp>
      <p:sp>
        <p:nvSpPr>
          <p:cNvPr id="17" name="TextBox 16"/>
          <p:cNvSpPr txBox="1"/>
          <p:nvPr/>
        </p:nvSpPr>
        <p:spPr>
          <a:xfrm>
            <a:off x="1434738" y="3566160"/>
            <a:ext cx="2560320" cy="320040"/>
          </a:xfrm>
          <a:prstGeom prst="rect">
            <a:avLst/>
          </a:prstGeom>
          <a:noFill/>
        </p:spPr>
        <p:txBody>
          <a:bodyPr wrap="square">
            <a:spAutoFit/>
          </a:bodyPr>
          <a:lstStyle/>
          <a:p>
            <a:pPr algn="l">
              <a:defRPr sz="1100" b="0">
                <a:solidFill>
                  <a:srgbClr val="002A55"/>
                </a:solidFill>
                <a:latin typeface="Calibri"/>
              </a:defRPr>
            </a:pPr>
            <a:r>
              <a:t>• XGBoost (100 rounds)</a:t>
            </a:r>
          </a:p>
        </p:txBody>
      </p:sp>
      <p:sp>
        <p:nvSpPr>
          <p:cNvPr id="18" name="TextBox 17"/>
          <p:cNvSpPr txBox="1"/>
          <p:nvPr/>
        </p:nvSpPr>
        <p:spPr>
          <a:xfrm>
            <a:off x="1434738" y="3913632"/>
            <a:ext cx="2560320" cy="320040"/>
          </a:xfrm>
          <a:prstGeom prst="rect">
            <a:avLst/>
          </a:prstGeom>
          <a:noFill/>
        </p:spPr>
        <p:txBody>
          <a:bodyPr wrap="square">
            <a:spAutoFit/>
          </a:bodyPr>
          <a:lstStyle/>
          <a:p>
            <a:pPr algn="l">
              <a:defRPr sz="1100" b="0">
                <a:solidFill>
                  <a:srgbClr val="002A55"/>
                </a:solidFill>
                <a:latin typeface="Calibri"/>
              </a:defRPr>
            </a:pPr>
            <a:r>
              <a:t>• LightGBM (100 rounds)</a:t>
            </a:r>
          </a:p>
        </p:txBody>
      </p:sp>
      <p:sp>
        <p:nvSpPr>
          <p:cNvPr id="19" name="TextBox 18"/>
          <p:cNvSpPr txBox="1"/>
          <p:nvPr/>
        </p:nvSpPr>
        <p:spPr>
          <a:xfrm>
            <a:off x="1434738" y="4261104"/>
            <a:ext cx="2560320" cy="320040"/>
          </a:xfrm>
          <a:prstGeom prst="rect">
            <a:avLst/>
          </a:prstGeom>
          <a:noFill/>
        </p:spPr>
        <p:txBody>
          <a:bodyPr wrap="square">
            <a:spAutoFit/>
          </a:bodyPr>
          <a:lstStyle/>
          <a:p>
            <a:pPr algn="l">
              <a:defRPr sz="1100" b="0">
                <a:solidFill>
                  <a:srgbClr val="002A55"/>
                </a:solidFill>
                <a:latin typeface="Calibri"/>
              </a:defRPr>
            </a:pPr>
            <a:endParaRPr/>
          </a:p>
        </p:txBody>
      </p:sp>
      <p:sp>
        <p:nvSpPr>
          <p:cNvPr id="20" name="Rounded Rectangle 19"/>
          <p:cNvSpPr/>
          <p:nvPr/>
        </p:nvSpPr>
        <p:spPr>
          <a:xfrm>
            <a:off x="4315097" y="1417320"/>
            <a:ext cx="283464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Tier 2 — Deep Learning  (4)</a:t>
            </a:r>
          </a:p>
        </p:txBody>
      </p:sp>
      <p:sp>
        <p:nvSpPr>
          <p:cNvPr id="21" name="Rounded Rectangle 20"/>
          <p:cNvSpPr/>
          <p:nvPr/>
        </p:nvSpPr>
        <p:spPr>
          <a:xfrm>
            <a:off x="4315097" y="1737360"/>
            <a:ext cx="2834640" cy="1664208"/>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52257" y="1828800"/>
            <a:ext cx="2560320" cy="320040"/>
          </a:xfrm>
          <a:prstGeom prst="rect">
            <a:avLst/>
          </a:prstGeom>
          <a:noFill/>
        </p:spPr>
        <p:txBody>
          <a:bodyPr wrap="square">
            <a:spAutoFit/>
          </a:bodyPr>
          <a:lstStyle/>
          <a:p>
            <a:pPr algn="l">
              <a:defRPr sz="1100" b="0">
                <a:solidFill>
                  <a:srgbClr val="002A55"/>
                </a:solidFill>
                <a:latin typeface="Calibri"/>
              </a:defRPr>
            </a:pPr>
            <a:r>
              <a:t>• MLP  (1391→128→128→8)</a:t>
            </a:r>
          </a:p>
        </p:txBody>
      </p:sp>
      <p:sp>
        <p:nvSpPr>
          <p:cNvPr id="23" name="TextBox 22"/>
          <p:cNvSpPr txBox="1"/>
          <p:nvPr/>
        </p:nvSpPr>
        <p:spPr>
          <a:xfrm>
            <a:off x="4452257" y="2176272"/>
            <a:ext cx="2560320" cy="320040"/>
          </a:xfrm>
          <a:prstGeom prst="rect">
            <a:avLst/>
          </a:prstGeom>
          <a:noFill/>
        </p:spPr>
        <p:txBody>
          <a:bodyPr wrap="square">
            <a:spAutoFit/>
          </a:bodyPr>
          <a:lstStyle/>
          <a:p>
            <a:pPr algn="l">
              <a:defRPr sz="1100" b="0">
                <a:solidFill>
                  <a:srgbClr val="002A55"/>
                </a:solidFill>
                <a:latin typeface="Calibri"/>
              </a:defRPr>
            </a:pPr>
            <a:r>
              <a:t>• CNN-1D (temporal conv)</a:t>
            </a:r>
          </a:p>
        </p:txBody>
      </p:sp>
      <p:sp>
        <p:nvSpPr>
          <p:cNvPr id="24" name="TextBox 23"/>
          <p:cNvSpPr txBox="1"/>
          <p:nvPr/>
        </p:nvSpPr>
        <p:spPr>
          <a:xfrm>
            <a:off x="4452257" y="2523744"/>
            <a:ext cx="2560320" cy="320040"/>
          </a:xfrm>
          <a:prstGeom prst="rect">
            <a:avLst/>
          </a:prstGeom>
          <a:noFill/>
        </p:spPr>
        <p:txBody>
          <a:bodyPr wrap="square">
            <a:spAutoFit/>
          </a:bodyPr>
          <a:lstStyle/>
          <a:p>
            <a:pPr algn="l">
              <a:defRPr sz="1100" b="0">
                <a:solidFill>
                  <a:srgbClr val="002A55"/>
                </a:solidFill>
                <a:latin typeface="Calibri"/>
              </a:defRPr>
            </a:pPr>
            <a:r>
              <a:t>• LSTM (1 layer)</a:t>
            </a:r>
          </a:p>
        </p:txBody>
      </p:sp>
      <p:sp>
        <p:nvSpPr>
          <p:cNvPr id="25" name="TextBox 24"/>
          <p:cNvSpPr txBox="1"/>
          <p:nvPr/>
        </p:nvSpPr>
        <p:spPr>
          <a:xfrm>
            <a:off x="4452257" y="2871216"/>
            <a:ext cx="2560320" cy="320040"/>
          </a:xfrm>
          <a:prstGeom prst="rect">
            <a:avLst/>
          </a:prstGeom>
          <a:noFill/>
        </p:spPr>
        <p:txBody>
          <a:bodyPr wrap="square">
            <a:spAutoFit/>
          </a:bodyPr>
          <a:lstStyle/>
          <a:p>
            <a:pPr algn="l">
              <a:defRPr sz="1100" b="0">
                <a:solidFill>
                  <a:srgbClr val="002A55"/>
                </a:solidFill>
                <a:latin typeface="Calibri"/>
              </a:defRPr>
            </a:pPr>
            <a:r>
              <a:t>• Transformer (2 heads)</a:t>
            </a:r>
          </a:p>
        </p:txBody>
      </p:sp>
      <p:sp>
        <p:nvSpPr>
          <p:cNvPr id="26" name="Rounded Rectangle 25"/>
          <p:cNvSpPr/>
          <p:nvPr/>
        </p:nvSpPr>
        <p:spPr>
          <a:xfrm>
            <a:off x="7332617" y="1417320"/>
            <a:ext cx="283464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Tier 3 — Ensemble  (3)</a:t>
            </a:r>
          </a:p>
        </p:txBody>
      </p:sp>
      <p:sp>
        <p:nvSpPr>
          <p:cNvPr id="27" name="Rounded Rectangle 26"/>
          <p:cNvSpPr/>
          <p:nvPr/>
        </p:nvSpPr>
        <p:spPr>
          <a:xfrm>
            <a:off x="7332617" y="1737360"/>
            <a:ext cx="2834640" cy="1316736"/>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69777" y="1828800"/>
            <a:ext cx="2560320" cy="320040"/>
          </a:xfrm>
          <a:prstGeom prst="rect">
            <a:avLst/>
          </a:prstGeom>
          <a:noFill/>
        </p:spPr>
        <p:txBody>
          <a:bodyPr wrap="square">
            <a:spAutoFit/>
          </a:bodyPr>
          <a:lstStyle/>
          <a:p>
            <a:pPr algn="l">
              <a:defRPr sz="1100" b="0">
                <a:solidFill>
                  <a:srgbClr val="002A55"/>
                </a:solidFill>
                <a:latin typeface="Calibri"/>
              </a:defRPr>
            </a:pPr>
            <a:r>
              <a:t>• Voting (soft probability avg)</a:t>
            </a:r>
          </a:p>
        </p:txBody>
      </p:sp>
      <p:sp>
        <p:nvSpPr>
          <p:cNvPr id="29" name="TextBox 28"/>
          <p:cNvSpPr txBox="1"/>
          <p:nvPr/>
        </p:nvSpPr>
        <p:spPr>
          <a:xfrm>
            <a:off x="7469777" y="2176272"/>
            <a:ext cx="2560320" cy="320040"/>
          </a:xfrm>
          <a:prstGeom prst="rect">
            <a:avLst/>
          </a:prstGeom>
          <a:noFill/>
        </p:spPr>
        <p:txBody>
          <a:bodyPr wrap="square">
            <a:spAutoFit/>
          </a:bodyPr>
          <a:lstStyle/>
          <a:p>
            <a:pPr algn="l">
              <a:defRPr sz="1100" b="0">
                <a:solidFill>
                  <a:srgbClr val="002A55"/>
                </a:solidFill>
                <a:latin typeface="Calibri"/>
              </a:defRPr>
            </a:pPr>
            <a:r>
              <a:t>• Stacking (meta-learner)</a:t>
            </a:r>
          </a:p>
        </p:txBody>
      </p:sp>
      <p:sp>
        <p:nvSpPr>
          <p:cNvPr id="30" name="TextBox 29"/>
          <p:cNvSpPr txBox="1"/>
          <p:nvPr/>
        </p:nvSpPr>
        <p:spPr>
          <a:xfrm>
            <a:off x="7469777" y="2523744"/>
            <a:ext cx="2560320" cy="320040"/>
          </a:xfrm>
          <a:prstGeom prst="rect">
            <a:avLst/>
          </a:prstGeom>
          <a:noFill/>
        </p:spPr>
        <p:txBody>
          <a:bodyPr wrap="square">
            <a:spAutoFit/>
          </a:bodyPr>
          <a:lstStyle/>
          <a:p>
            <a:pPr algn="l">
              <a:defRPr sz="1100" b="0">
                <a:solidFill>
                  <a:srgbClr val="002A55"/>
                </a:solidFill>
                <a:latin typeface="Calibri"/>
              </a:defRPr>
            </a:pPr>
            <a:r>
              <a:t>• Late Fusion (modality meta-learner)</a:t>
            </a:r>
          </a:p>
        </p:txBody>
      </p:sp>
      <p:sp>
        <p:nvSpPr>
          <p:cNvPr id="31" name="TextBox 30"/>
          <p:cNvSpPr txBox="1"/>
          <p:nvPr/>
        </p:nvSpPr>
        <p:spPr>
          <a:xfrm>
            <a:off x="4086498" y="2834640"/>
            <a:ext cx="365760" cy="320040"/>
          </a:xfrm>
          <a:prstGeom prst="rect">
            <a:avLst/>
          </a:prstGeom>
          <a:noFill/>
        </p:spPr>
        <p:txBody>
          <a:bodyPr wrap="square">
            <a:spAutoFit/>
          </a:bodyPr>
          <a:lstStyle/>
          <a:p>
            <a:pPr algn="ctr">
              <a:defRPr sz="2000" b="1">
                <a:solidFill>
                  <a:srgbClr val="007ACC"/>
                </a:solidFill>
                <a:latin typeface="Calibri"/>
              </a:defRPr>
            </a:pPr>
            <a:r>
              <a:t>→</a:t>
            </a:r>
          </a:p>
        </p:txBody>
      </p:sp>
      <p:sp>
        <p:nvSpPr>
          <p:cNvPr id="32" name="TextBox 31"/>
          <p:cNvSpPr txBox="1"/>
          <p:nvPr/>
        </p:nvSpPr>
        <p:spPr>
          <a:xfrm>
            <a:off x="7104018" y="2834640"/>
            <a:ext cx="365760" cy="320040"/>
          </a:xfrm>
          <a:prstGeom prst="rect">
            <a:avLst/>
          </a:prstGeom>
          <a:noFill/>
        </p:spPr>
        <p:txBody>
          <a:bodyPr wrap="square">
            <a:spAutoFit/>
          </a:bodyPr>
          <a:lstStyle/>
          <a:p>
            <a:pPr algn="ctr">
              <a:defRPr sz="2000" b="1">
                <a:solidFill>
                  <a:srgbClr val="007ACC"/>
                </a:solidFill>
                <a:latin typeface="Calibri"/>
              </a:defRPr>
            </a:pPr>
            <a:r>
              <a:t>→</a:t>
            </a:r>
          </a:p>
        </p:txBody>
      </p:sp>
      <p:sp>
        <p:nvSpPr>
          <p:cNvPr id="33" name="Rounded Rectangle 32"/>
          <p:cNvSpPr/>
          <p:nvPr/>
        </p:nvSpPr>
        <p:spPr>
          <a:xfrm>
            <a:off x="1297578" y="5029200"/>
            <a:ext cx="8595360" cy="59436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480458" y="5074920"/>
            <a:ext cx="8229600" cy="548640"/>
          </a:xfrm>
          <a:prstGeom prst="rect">
            <a:avLst/>
          </a:prstGeom>
          <a:noFill/>
        </p:spPr>
        <p:txBody>
          <a:bodyPr wrap="square">
            <a:spAutoFit/>
          </a:bodyPr>
          <a:lstStyle/>
          <a:p>
            <a:pPr algn="l">
              <a:spcAft>
                <a:spcPts val="600"/>
              </a:spcAft>
              <a:defRPr sz="1100" b="1">
                <a:solidFill>
                  <a:srgbClr val="003D7C"/>
                </a:solidFill>
                <a:latin typeface="Calibri"/>
              </a:defRPr>
            </a:pPr>
            <a:r>
              <a:t>Best Model: Voting Ensemble (Tier 3)  →  F1 Macro 0.884  |  Accuracy 0.891 84 ms</a:t>
            </a:r>
          </a:p>
          <a:p>
            <a:pPr algn="l">
              <a:spcAft>
                <a:spcPts val="600"/>
              </a:spcAft>
              <a:defRPr sz="1100" b="1">
                <a:solidFill>
                  <a:srgbClr val="003D7C"/>
                </a:solidFill>
                <a:latin typeface="Calibri"/>
              </a:defRPr>
            </a:pPr>
            <a:r>
              <a:t>Base models: SVM + Random Forest + XGBoost + MLP (soft probability averaging)</a:t>
            </a:r>
          </a:p>
        </p:txBody>
      </p:sp>
      <p:sp>
        <p:nvSpPr>
          <p:cNvPr id="35" name="Rectangle 34"/>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37" name="Rectangle 36"/>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nus_iss_logo_transparent.png"/>
          <p:cNvPicPr>
            <a:picLocks noChangeAspect="1"/>
          </p:cNvPicPr>
          <p:nvPr/>
        </p:nvPicPr>
        <p:blipFill>
          <a:blip r:embed="rId3"/>
          <a:stretch>
            <a:fillRect/>
          </a:stretch>
        </p:blipFill>
        <p:spPr>
          <a:xfrm>
            <a:off x="9555480" y="82296"/>
            <a:ext cx="2514600" cy="5852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Tier 1 — SVM: Maximum Margin Classifier</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Finds the hyperplane that maximises the gap between classes in 1,391-dim space</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171304" y="1417320"/>
            <a:ext cx="5064472" cy="374904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54184" y="1508760"/>
            <a:ext cx="4663440" cy="228600"/>
          </a:xfrm>
          <a:prstGeom prst="rect">
            <a:avLst/>
          </a:prstGeom>
          <a:noFill/>
        </p:spPr>
        <p:txBody>
          <a:bodyPr wrap="square">
            <a:spAutoFit/>
          </a:bodyPr>
          <a:lstStyle/>
          <a:p>
            <a:pPr algn="l">
              <a:defRPr sz="1100" b="1">
                <a:solidFill>
                  <a:srgbClr val="003D7C"/>
                </a:solidFill>
                <a:latin typeface="Calibri"/>
              </a:defRPr>
            </a:pPr>
            <a:r>
              <a:t>RBF Kernel:  K(x, x') = exp(−γ ‖x − x'‖²)</a:t>
            </a:r>
          </a:p>
        </p:txBody>
      </p:sp>
      <p:sp>
        <p:nvSpPr>
          <p:cNvPr id="12" name="TextBox 11"/>
          <p:cNvSpPr txBox="1"/>
          <p:nvPr/>
        </p:nvSpPr>
        <p:spPr>
          <a:xfrm>
            <a:off x="1354184" y="1755648"/>
            <a:ext cx="466344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13" name="TextBox 12"/>
          <p:cNvSpPr txBox="1"/>
          <p:nvPr/>
        </p:nvSpPr>
        <p:spPr>
          <a:xfrm>
            <a:off x="1354184" y="2002536"/>
            <a:ext cx="4663440" cy="228600"/>
          </a:xfrm>
          <a:prstGeom prst="rect">
            <a:avLst/>
          </a:prstGeom>
          <a:noFill/>
        </p:spPr>
        <p:txBody>
          <a:bodyPr wrap="square">
            <a:spAutoFit/>
          </a:bodyPr>
          <a:lstStyle/>
          <a:p>
            <a:pPr algn="l">
              <a:defRPr sz="1100" b="0">
                <a:solidFill>
                  <a:srgbClr val="002A55"/>
                </a:solidFill>
                <a:latin typeface="Calibri"/>
              </a:defRPr>
            </a:pPr>
            <a:r>
              <a:t>Maps 1,391-dim input to a higher-dimensional</a:t>
            </a:r>
          </a:p>
        </p:txBody>
      </p:sp>
      <p:sp>
        <p:nvSpPr>
          <p:cNvPr id="14" name="TextBox 13"/>
          <p:cNvSpPr txBox="1"/>
          <p:nvPr/>
        </p:nvSpPr>
        <p:spPr>
          <a:xfrm>
            <a:off x="1354184" y="2249424"/>
            <a:ext cx="4663440" cy="228600"/>
          </a:xfrm>
          <a:prstGeom prst="rect">
            <a:avLst/>
          </a:prstGeom>
          <a:noFill/>
        </p:spPr>
        <p:txBody>
          <a:bodyPr wrap="square">
            <a:spAutoFit/>
          </a:bodyPr>
          <a:lstStyle/>
          <a:p>
            <a:pPr algn="l">
              <a:defRPr sz="1100" b="0">
                <a:solidFill>
                  <a:srgbClr val="002A55"/>
                </a:solidFill>
                <a:latin typeface="Calibri"/>
              </a:defRPr>
            </a:pPr>
            <a:r>
              <a:t>Reproducing Kernel Hilbert Space (RKHS) where</a:t>
            </a:r>
          </a:p>
        </p:txBody>
      </p:sp>
      <p:sp>
        <p:nvSpPr>
          <p:cNvPr id="15" name="TextBox 14"/>
          <p:cNvSpPr txBox="1"/>
          <p:nvPr/>
        </p:nvSpPr>
        <p:spPr>
          <a:xfrm>
            <a:off x="1354184" y="2496312"/>
            <a:ext cx="4663440" cy="228600"/>
          </a:xfrm>
          <a:prstGeom prst="rect">
            <a:avLst/>
          </a:prstGeom>
          <a:noFill/>
        </p:spPr>
        <p:txBody>
          <a:bodyPr wrap="square">
            <a:spAutoFit/>
          </a:bodyPr>
          <a:lstStyle/>
          <a:p>
            <a:pPr algn="l">
              <a:defRPr sz="1100" b="0">
                <a:solidFill>
                  <a:srgbClr val="002A55"/>
                </a:solidFill>
                <a:latin typeface="Calibri"/>
              </a:defRPr>
            </a:pPr>
            <a:r>
              <a:t>classes become linearly separable.</a:t>
            </a:r>
          </a:p>
        </p:txBody>
      </p:sp>
      <p:sp>
        <p:nvSpPr>
          <p:cNvPr id="16" name="TextBox 15"/>
          <p:cNvSpPr txBox="1"/>
          <p:nvPr/>
        </p:nvSpPr>
        <p:spPr>
          <a:xfrm>
            <a:off x="1354184" y="2743200"/>
            <a:ext cx="466344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17" name="TextBox 16"/>
          <p:cNvSpPr txBox="1"/>
          <p:nvPr/>
        </p:nvSpPr>
        <p:spPr>
          <a:xfrm>
            <a:off x="1354184" y="2990088"/>
            <a:ext cx="4663440" cy="228600"/>
          </a:xfrm>
          <a:prstGeom prst="rect">
            <a:avLst/>
          </a:prstGeom>
          <a:noFill/>
        </p:spPr>
        <p:txBody>
          <a:bodyPr wrap="square">
            <a:spAutoFit/>
          </a:bodyPr>
          <a:lstStyle/>
          <a:p>
            <a:pPr algn="l">
              <a:defRPr sz="1100" b="1">
                <a:solidFill>
                  <a:srgbClr val="003D7C"/>
                </a:solidFill>
                <a:latin typeface="Calibri"/>
              </a:defRPr>
            </a:pPr>
            <a:r>
              <a:t>Objective:</a:t>
            </a:r>
          </a:p>
        </p:txBody>
      </p:sp>
      <p:sp>
        <p:nvSpPr>
          <p:cNvPr id="18" name="TextBox 17"/>
          <p:cNvSpPr txBox="1"/>
          <p:nvPr/>
        </p:nvSpPr>
        <p:spPr>
          <a:xfrm>
            <a:off x="1354184" y="3236976"/>
            <a:ext cx="4663440" cy="228600"/>
          </a:xfrm>
          <a:prstGeom prst="rect">
            <a:avLst/>
          </a:prstGeom>
          <a:noFill/>
        </p:spPr>
        <p:txBody>
          <a:bodyPr wrap="square">
            <a:spAutoFit/>
          </a:bodyPr>
          <a:lstStyle/>
          <a:p>
            <a:pPr algn="l">
              <a:defRPr sz="1100" b="0">
                <a:solidFill>
                  <a:srgbClr val="002A55"/>
                </a:solidFill>
                <a:latin typeface="Calibri"/>
              </a:defRPr>
            </a:pPr>
            <a:r>
              <a:t>  Maximise margin  2/‖w‖</a:t>
            </a:r>
          </a:p>
        </p:txBody>
      </p:sp>
      <p:sp>
        <p:nvSpPr>
          <p:cNvPr id="19" name="TextBox 18"/>
          <p:cNvSpPr txBox="1"/>
          <p:nvPr/>
        </p:nvSpPr>
        <p:spPr>
          <a:xfrm>
            <a:off x="1354184" y="3483864"/>
            <a:ext cx="4663440" cy="228600"/>
          </a:xfrm>
          <a:prstGeom prst="rect">
            <a:avLst/>
          </a:prstGeom>
          <a:noFill/>
        </p:spPr>
        <p:txBody>
          <a:bodyPr wrap="square">
            <a:spAutoFit/>
          </a:bodyPr>
          <a:lstStyle/>
          <a:p>
            <a:pPr algn="l">
              <a:defRPr sz="1100" b="0">
                <a:solidFill>
                  <a:srgbClr val="002A55"/>
                </a:solidFill>
                <a:latin typeface="Calibri"/>
              </a:defRPr>
            </a:pPr>
            <a:r>
              <a:t>  Subject to: yᵢ(w·xᵢ + b) ≥ 1  ∀ i</a:t>
            </a:r>
          </a:p>
        </p:txBody>
      </p:sp>
      <p:sp>
        <p:nvSpPr>
          <p:cNvPr id="20" name="TextBox 19"/>
          <p:cNvSpPr txBox="1"/>
          <p:nvPr/>
        </p:nvSpPr>
        <p:spPr>
          <a:xfrm>
            <a:off x="1354184" y="3730752"/>
            <a:ext cx="466344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21" name="TextBox 20"/>
          <p:cNvSpPr txBox="1"/>
          <p:nvPr/>
        </p:nvSpPr>
        <p:spPr>
          <a:xfrm>
            <a:off x="1354184" y="3977639"/>
            <a:ext cx="4663440" cy="228600"/>
          </a:xfrm>
          <a:prstGeom prst="rect">
            <a:avLst/>
          </a:prstGeom>
          <a:noFill/>
        </p:spPr>
        <p:txBody>
          <a:bodyPr wrap="square">
            <a:spAutoFit/>
          </a:bodyPr>
          <a:lstStyle/>
          <a:p>
            <a:pPr algn="l">
              <a:defRPr sz="1100" b="1">
                <a:solidFill>
                  <a:srgbClr val="003D7C"/>
                </a:solidFill>
                <a:latin typeface="Calibri"/>
              </a:defRPr>
            </a:pPr>
            <a:r>
              <a:t>Multi-class strategy: One-vs-One</a:t>
            </a:r>
          </a:p>
        </p:txBody>
      </p:sp>
      <p:sp>
        <p:nvSpPr>
          <p:cNvPr id="22" name="TextBox 21"/>
          <p:cNvSpPr txBox="1"/>
          <p:nvPr/>
        </p:nvSpPr>
        <p:spPr>
          <a:xfrm>
            <a:off x="1354184" y="4224528"/>
            <a:ext cx="4663440" cy="228600"/>
          </a:xfrm>
          <a:prstGeom prst="rect">
            <a:avLst/>
          </a:prstGeom>
          <a:noFill/>
        </p:spPr>
        <p:txBody>
          <a:bodyPr wrap="square">
            <a:spAutoFit/>
          </a:bodyPr>
          <a:lstStyle/>
          <a:p>
            <a:pPr algn="l">
              <a:defRPr sz="1100" b="0">
                <a:solidFill>
                  <a:srgbClr val="002A55"/>
                </a:solidFill>
                <a:latin typeface="Calibri"/>
              </a:defRPr>
            </a:pPr>
            <a:r>
              <a:t>  8 classes → 28 binary SVMs</a:t>
            </a:r>
          </a:p>
        </p:txBody>
      </p:sp>
      <p:sp>
        <p:nvSpPr>
          <p:cNvPr id="23" name="TextBox 22"/>
          <p:cNvSpPr txBox="1"/>
          <p:nvPr/>
        </p:nvSpPr>
        <p:spPr>
          <a:xfrm>
            <a:off x="1354184" y="4471416"/>
            <a:ext cx="4663440" cy="228600"/>
          </a:xfrm>
          <a:prstGeom prst="rect">
            <a:avLst/>
          </a:prstGeom>
          <a:noFill/>
        </p:spPr>
        <p:txBody>
          <a:bodyPr wrap="square">
            <a:spAutoFit/>
          </a:bodyPr>
          <a:lstStyle/>
          <a:p>
            <a:pPr algn="l">
              <a:defRPr sz="1100" b="0">
                <a:solidFill>
                  <a:srgbClr val="002A55"/>
                </a:solidFill>
                <a:latin typeface="Calibri"/>
              </a:defRPr>
            </a:pPr>
            <a:r>
              <a:t>  Final class = winner of majority vote</a:t>
            </a:r>
          </a:p>
        </p:txBody>
      </p:sp>
      <p:sp>
        <p:nvSpPr>
          <p:cNvPr id="24" name="TextBox 23"/>
          <p:cNvSpPr txBox="1"/>
          <p:nvPr/>
        </p:nvSpPr>
        <p:spPr>
          <a:xfrm>
            <a:off x="1354184" y="4718304"/>
            <a:ext cx="466344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25" name="TextBox 24"/>
          <p:cNvSpPr txBox="1"/>
          <p:nvPr/>
        </p:nvSpPr>
        <p:spPr>
          <a:xfrm>
            <a:off x="1432560" y="5141664"/>
            <a:ext cx="4663440" cy="261610"/>
          </a:xfrm>
          <a:prstGeom prst="rect">
            <a:avLst/>
          </a:prstGeom>
          <a:noFill/>
        </p:spPr>
        <p:txBody>
          <a:bodyPr wrap="square">
            <a:spAutoFit/>
          </a:bodyPr>
          <a:lstStyle/>
          <a:p>
            <a:pPr algn="l">
              <a:defRPr sz="1100" b="1">
                <a:solidFill>
                  <a:srgbClr val="003D7C"/>
                </a:solidFill>
                <a:latin typeface="Calibri"/>
              </a:defRPr>
            </a:pPr>
            <a:r>
              <a:rPr dirty="0">
                <a:solidFill>
                  <a:schemeClr val="bg2"/>
                </a:solidFill>
              </a:rPr>
              <a:t>Hyperparameters:</a:t>
            </a:r>
          </a:p>
        </p:txBody>
      </p:sp>
      <p:sp>
        <p:nvSpPr>
          <p:cNvPr id="26" name="TextBox 25"/>
          <p:cNvSpPr txBox="1"/>
          <p:nvPr/>
        </p:nvSpPr>
        <p:spPr>
          <a:xfrm>
            <a:off x="1354184" y="5374059"/>
            <a:ext cx="4663440" cy="261610"/>
          </a:xfrm>
          <a:prstGeom prst="rect">
            <a:avLst/>
          </a:prstGeom>
          <a:noFill/>
        </p:spPr>
        <p:txBody>
          <a:bodyPr wrap="square">
            <a:spAutoFit/>
          </a:bodyPr>
          <a:lstStyle/>
          <a:p>
            <a:pPr algn="l">
              <a:defRPr sz="1100" b="0">
                <a:solidFill>
                  <a:srgbClr val="002A55"/>
                </a:solidFill>
                <a:latin typeface="Calibri"/>
              </a:defRPr>
            </a:pPr>
            <a:r>
              <a:rPr dirty="0">
                <a:solidFill>
                  <a:schemeClr val="bg2"/>
                </a:solidFill>
              </a:rPr>
              <a:t>  C = 1.0   (regularisation — default)</a:t>
            </a:r>
          </a:p>
        </p:txBody>
      </p:sp>
      <p:sp>
        <p:nvSpPr>
          <p:cNvPr id="27" name="TextBox 26"/>
          <p:cNvSpPr txBox="1"/>
          <p:nvPr/>
        </p:nvSpPr>
        <p:spPr>
          <a:xfrm>
            <a:off x="1354184" y="5620947"/>
            <a:ext cx="4663440" cy="261610"/>
          </a:xfrm>
          <a:prstGeom prst="rect">
            <a:avLst/>
          </a:prstGeom>
          <a:noFill/>
        </p:spPr>
        <p:txBody>
          <a:bodyPr wrap="square">
            <a:spAutoFit/>
          </a:bodyPr>
          <a:lstStyle/>
          <a:p>
            <a:pPr algn="l">
              <a:defRPr sz="1100" b="0">
                <a:solidFill>
                  <a:srgbClr val="002A55"/>
                </a:solidFill>
                <a:latin typeface="Calibri"/>
              </a:defRPr>
            </a:pPr>
            <a:r>
              <a:rPr dirty="0">
                <a:solidFill>
                  <a:schemeClr val="bg2"/>
                </a:solidFill>
              </a:rPr>
              <a:t>  γ = 'scale'  (RBF bandwidth — default)</a:t>
            </a:r>
          </a:p>
        </p:txBody>
      </p:sp>
      <p:sp>
        <p:nvSpPr>
          <p:cNvPr id="28" name="Rounded Rectangle 27"/>
          <p:cNvSpPr/>
          <p:nvPr/>
        </p:nvSpPr>
        <p:spPr>
          <a:xfrm>
            <a:off x="6383384" y="1417320"/>
            <a:ext cx="3291840" cy="164592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66264" y="1463040"/>
            <a:ext cx="3017520" cy="1554480"/>
          </a:xfrm>
          <a:prstGeom prst="rect">
            <a:avLst/>
          </a:prstGeom>
          <a:noFill/>
        </p:spPr>
        <p:txBody>
          <a:bodyPr wrap="square">
            <a:spAutoFit/>
          </a:bodyPr>
          <a:lstStyle/>
          <a:p>
            <a:pPr algn="l">
              <a:spcAft>
                <a:spcPts val="600"/>
              </a:spcAft>
              <a:defRPr sz="1200" b="0">
                <a:solidFill>
                  <a:srgbClr val="002A55"/>
                </a:solidFill>
                <a:latin typeface="Calibri"/>
              </a:defRPr>
            </a:pPr>
            <a:r>
              <a:t>v3b Results</a:t>
            </a:r>
          </a:p>
          <a:p>
            <a:pPr algn="l">
              <a:spcAft>
                <a:spcPts val="600"/>
              </a:spcAft>
              <a:defRPr sz="1200" b="0">
                <a:solidFill>
                  <a:srgbClr val="002A55"/>
                </a:solidFill>
                <a:latin typeface="Calibri"/>
              </a:defRPr>
            </a:pPr>
            <a:endParaRPr/>
          </a:p>
          <a:p>
            <a:pPr algn="l">
              <a:spcAft>
                <a:spcPts val="600"/>
              </a:spcAft>
              <a:defRPr sz="1200" b="0">
                <a:solidFill>
                  <a:srgbClr val="002A55"/>
                </a:solidFill>
                <a:latin typeface="Calibri"/>
              </a:defRPr>
            </a:pPr>
            <a:r>
              <a:t>F1 Macro:    0.812</a:t>
            </a:r>
          </a:p>
          <a:p>
            <a:pPr algn="l">
              <a:spcAft>
                <a:spcPts val="600"/>
              </a:spcAft>
              <a:defRPr sz="1200" b="0">
                <a:solidFill>
                  <a:srgbClr val="002A55"/>
                </a:solidFill>
                <a:latin typeface="Calibri"/>
              </a:defRPr>
            </a:pPr>
            <a:r>
              <a:t>Accuracy:    0.836</a:t>
            </a:r>
          </a:p>
          <a:p>
            <a:pPr algn="l">
              <a:spcAft>
                <a:spcPts val="600"/>
              </a:spcAft>
              <a:defRPr sz="1200" b="0">
                <a:solidFill>
                  <a:srgbClr val="002A55"/>
                </a:solidFill>
                <a:latin typeface="Calibri"/>
              </a:defRPr>
            </a:pPr>
            <a:r>
              <a:t>Training:   52.6 s</a:t>
            </a:r>
          </a:p>
          <a:p>
            <a:pPr algn="l">
              <a:spcAft>
                <a:spcPts val="600"/>
              </a:spcAft>
              <a:defRPr sz="1200" b="0">
                <a:solidFill>
                  <a:srgbClr val="002A55"/>
                </a:solidFill>
                <a:latin typeface="Calibri"/>
              </a:defRPr>
            </a:pPr>
            <a:r>
              <a:t>Inference:  1,392 ms / batch</a:t>
            </a:r>
          </a:p>
        </p:txBody>
      </p:sp>
      <p:sp>
        <p:nvSpPr>
          <p:cNvPr id="30" name="Rounded Rectangle 29"/>
          <p:cNvSpPr/>
          <p:nvPr/>
        </p:nvSpPr>
        <p:spPr>
          <a:xfrm>
            <a:off x="6383384" y="3200400"/>
            <a:ext cx="3348008" cy="224028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66264" y="3246120"/>
            <a:ext cx="3017520" cy="1828800"/>
          </a:xfrm>
          <a:prstGeom prst="rect">
            <a:avLst/>
          </a:prstGeom>
          <a:noFill/>
        </p:spPr>
        <p:txBody>
          <a:bodyPr wrap="square">
            <a:spAutoFit/>
          </a:bodyPr>
          <a:lstStyle/>
          <a:p>
            <a:pPr algn="l">
              <a:spcAft>
                <a:spcPts val="600"/>
              </a:spcAft>
              <a:defRPr sz="1100" b="0">
                <a:solidFill>
                  <a:srgbClr val="002A55"/>
                </a:solidFill>
                <a:latin typeface="Calibri"/>
              </a:defRPr>
            </a:pPr>
            <a:r>
              <a:t>Why SVM works here</a:t>
            </a:r>
          </a:p>
          <a:p>
            <a:pPr algn="l">
              <a:spcAft>
                <a:spcPts val="600"/>
              </a:spcAft>
              <a:defRPr sz="1100" b="0">
                <a:solidFill>
                  <a:srgbClr val="002A55"/>
                </a:solidFill>
                <a:latin typeface="Calibri"/>
              </a:defRPr>
            </a:pPr>
            <a:endParaRPr/>
          </a:p>
          <a:p>
            <a:pPr algn="l">
              <a:spcAft>
                <a:spcPts val="600"/>
              </a:spcAft>
              <a:defRPr sz="1100" b="0">
                <a:solidFill>
                  <a:srgbClr val="002A55"/>
                </a:solidFill>
                <a:latin typeface="Calibri"/>
              </a:defRPr>
            </a:pPr>
            <a:r>
              <a:t>• High-dimensional (1,391 dims) — SVM</a:t>
            </a:r>
          </a:p>
          <a:p>
            <a:pPr algn="l">
              <a:spcAft>
                <a:spcPts val="600"/>
              </a:spcAft>
              <a:defRPr sz="1100" b="0">
                <a:solidFill>
                  <a:srgbClr val="002A55"/>
                </a:solidFill>
                <a:latin typeface="Calibri"/>
              </a:defRPr>
            </a:pPr>
            <a:r>
              <a:t>  is effective when d &gt;&gt; n</a:t>
            </a:r>
          </a:p>
          <a:p>
            <a:pPr algn="l">
              <a:spcAft>
                <a:spcPts val="600"/>
              </a:spcAft>
              <a:defRPr sz="1100" b="0">
                <a:solidFill>
                  <a:srgbClr val="002A55"/>
                </a:solidFill>
                <a:latin typeface="Calibri"/>
              </a:defRPr>
            </a:pPr>
            <a:r>
              <a:t>• RBF kernel captures non-linear</a:t>
            </a:r>
          </a:p>
          <a:p>
            <a:pPr algn="l">
              <a:spcAft>
                <a:spcPts val="600"/>
              </a:spcAft>
              <a:defRPr sz="1100" b="0">
                <a:solidFill>
                  <a:srgbClr val="002A55"/>
                </a:solidFill>
                <a:latin typeface="Calibri"/>
              </a:defRPr>
            </a:pPr>
            <a:r>
              <a:t>  boundaries between activity types</a:t>
            </a:r>
          </a:p>
          <a:p>
            <a:pPr algn="l">
              <a:spcAft>
                <a:spcPts val="600"/>
              </a:spcAft>
              <a:defRPr sz="1100" b="0">
                <a:solidFill>
                  <a:srgbClr val="002A55"/>
                </a:solidFill>
                <a:latin typeface="Calibri"/>
              </a:defRPr>
            </a:pPr>
            <a:r>
              <a:t>• Support vectors = most informative</a:t>
            </a:r>
          </a:p>
          <a:p>
            <a:pPr algn="l">
              <a:spcAft>
                <a:spcPts val="600"/>
              </a:spcAft>
              <a:defRPr sz="1100" b="0">
                <a:solidFill>
                  <a:srgbClr val="002A55"/>
                </a:solidFill>
                <a:latin typeface="Calibri"/>
              </a:defRPr>
            </a:pPr>
            <a:r>
              <a:t>  task examples at class boundaries</a:t>
            </a:r>
          </a:p>
        </p:txBody>
      </p:sp>
      <p:sp>
        <p:nvSpPr>
          <p:cNvPr id="32" name="Rectangle 31"/>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34" name="Rectangle 33"/>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nus_iss_logo_transparent.png"/>
          <p:cNvPicPr>
            <a:picLocks noChangeAspect="1"/>
          </p:cNvPicPr>
          <p:nvPr/>
        </p:nvPicPr>
        <p:blipFill>
          <a:blip r:embed="rId3"/>
          <a:stretch>
            <a:fillRect/>
          </a:stretch>
        </p:blipFill>
        <p:spPr>
          <a:xfrm>
            <a:off x="9555480" y="82296"/>
            <a:ext cx="2514600" cy="5852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172200"/>
            <a:ext cx="12188952"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400800"/>
            <a:ext cx="7315200" cy="274320"/>
          </a:xfrm>
          <a:prstGeom prst="rect">
            <a:avLst/>
          </a:prstGeom>
          <a:noFill/>
        </p:spPr>
        <p:txBody>
          <a:bodyPr wrap="square">
            <a:spAutoFit/>
          </a:bodyPr>
          <a:lstStyle/>
          <a:p>
            <a:pPr algn="l"/>
            <a:r>
              <a:rPr sz="700" b="0">
                <a:solidFill>
                  <a:srgbClr val="003D7C"/>
                </a:solidFill>
              </a:rPr>
              <a:t>© Copyright National University of Singapore. All Rights Reserved.</a:t>
            </a:r>
          </a:p>
        </p:txBody>
      </p:sp>
      <p:sp>
        <p:nvSpPr>
          <p:cNvPr id="6" name="TextBox 5"/>
          <p:cNvSpPr txBox="1"/>
          <p:nvPr/>
        </p:nvSpPr>
        <p:spPr>
          <a:xfrm>
            <a:off x="1188720" y="91440"/>
            <a:ext cx="9692640" cy="502920"/>
          </a:xfrm>
          <a:prstGeom prst="rect">
            <a:avLst/>
          </a:prstGeom>
          <a:noFill/>
        </p:spPr>
        <p:txBody>
          <a:bodyPr wrap="square">
            <a:spAutoFit/>
          </a:bodyPr>
          <a:lstStyle/>
          <a:p>
            <a:pPr algn="l"/>
            <a:r>
              <a:rPr sz="1600" b="1">
                <a:solidFill>
                  <a:srgbClr val="FFFFFF"/>
                </a:solidFill>
              </a:rPr>
              <a:t>Step 3b — Model Selection after Professor Feedback</a:t>
            </a:r>
          </a:p>
        </p:txBody>
      </p:sp>
      <p:sp>
        <p:nvSpPr>
          <p:cNvPr id="7" name="TextBox 6"/>
          <p:cNvSpPr txBox="1"/>
          <p:nvPr/>
        </p:nvSpPr>
        <p:spPr>
          <a:xfrm>
            <a:off x="1188720" y="548640"/>
            <a:ext cx="9692640" cy="411480"/>
          </a:xfrm>
          <a:prstGeom prst="rect">
            <a:avLst/>
          </a:prstGeom>
          <a:noFill/>
        </p:spPr>
        <p:txBody>
          <a:bodyPr wrap="square">
            <a:spAutoFit/>
          </a:bodyPr>
          <a:lstStyle/>
          <a:p>
            <a:pPr algn="l"/>
            <a:r>
              <a:rPr sz="1000" b="0">
                <a:solidFill>
                  <a:srgbClr val="FFFFFF"/>
                </a:solidFill>
              </a:rPr>
              <a:t>Reduced from 14 → 6 representative models; covers all 3 tiers and all 3 RQs</a:t>
            </a:r>
          </a:p>
        </p:txBody>
      </p:sp>
      <p:sp>
        <p:nvSpPr>
          <p:cNvPr id="8" name="Rectangle 7"/>
          <p:cNvSpPr/>
          <p:nvPr/>
        </p:nvSpPr>
        <p:spPr>
          <a:xfrm>
            <a:off x="1188720" y="1024128"/>
            <a:ext cx="10698480" cy="502920"/>
          </a:xfrm>
          <a:prstGeom prst="rect">
            <a:avLst/>
          </a:prstGeom>
          <a:solidFill>
            <a:srgbClr val="FEF3E2"/>
          </a:solidFill>
          <a:ln w="19050">
            <a:solidFill>
              <a:srgbClr val="EF7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1069848"/>
            <a:ext cx="10515600" cy="420624"/>
          </a:xfrm>
          <a:prstGeom prst="rect">
            <a:avLst/>
          </a:prstGeom>
          <a:noFill/>
        </p:spPr>
        <p:txBody>
          <a:bodyPr wrap="square">
            <a:spAutoFit/>
          </a:bodyPr>
          <a:lstStyle/>
          <a:p>
            <a:pPr algn="l"/>
            <a:r>
              <a:rPr sz="1000" b="1">
                <a:solidFill>
                  <a:srgbClr val="EF7C00"/>
                </a:solidFill>
              </a:rPr>
              <a:t>⚠  Professor Feedback:  Scope is too broad — narrow to a minimum viable set that still answers all three research questions.</a:t>
            </a:r>
          </a:p>
        </p:txBody>
      </p:sp>
      <p:sp>
        <p:nvSpPr>
          <p:cNvPr id="10" name="Rectangle 9"/>
          <p:cNvSpPr/>
          <p:nvPr/>
        </p:nvSpPr>
        <p:spPr>
          <a:xfrm>
            <a:off x="1188720" y="1618488"/>
            <a:ext cx="3291840" cy="292608"/>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61872" y="1655064"/>
            <a:ext cx="3145536" cy="228600"/>
          </a:xfrm>
          <a:prstGeom prst="rect">
            <a:avLst/>
          </a:prstGeom>
          <a:noFill/>
        </p:spPr>
        <p:txBody>
          <a:bodyPr wrap="square">
            <a:spAutoFit/>
          </a:bodyPr>
          <a:lstStyle/>
          <a:p>
            <a:pPr algn="l"/>
            <a:r>
              <a:rPr sz="900" b="1">
                <a:solidFill>
                  <a:srgbClr val="FFFFFF"/>
                </a:solidFill>
              </a:rPr>
              <a:t>Tier 1 — Classical ML</a:t>
            </a:r>
          </a:p>
        </p:txBody>
      </p:sp>
      <p:sp>
        <p:nvSpPr>
          <p:cNvPr id="12" name="TextBox 11"/>
          <p:cNvSpPr txBox="1"/>
          <p:nvPr/>
        </p:nvSpPr>
        <p:spPr>
          <a:xfrm>
            <a:off x="1261872" y="1929384"/>
            <a:ext cx="3145536" cy="201168"/>
          </a:xfrm>
          <a:prstGeom prst="rect">
            <a:avLst/>
          </a:prstGeom>
          <a:noFill/>
        </p:spPr>
        <p:txBody>
          <a:bodyPr wrap="square">
            <a:spAutoFit/>
          </a:bodyPr>
          <a:lstStyle/>
          <a:p>
            <a:pPr algn="l"/>
            <a:r>
              <a:rPr sz="800" b="0">
                <a:solidFill>
                  <a:srgbClr val="007ACC"/>
                </a:solidFill>
              </a:rPr>
              <a:t>3 of 7 selected</a:t>
            </a:r>
          </a:p>
        </p:txBody>
      </p:sp>
      <p:sp>
        <p:nvSpPr>
          <p:cNvPr id="13" name="Rectangle 12"/>
          <p:cNvSpPr/>
          <p:nvPr/>
        </p:nvSpPr>
        <p:spPr>
          <a:xfrm>
            <a:off x="1188720" y="2167128"/>
            <a:ext cx="3291840" cy="256032"/>
          </a:xfrm>
          <a:prstGeom prst="rect">
            <a:avLst/>
          </a:prstGeom>
          <a:solidFill>
            <a:srgbClr val="D1FAE5"/>
          </a:solidFill>
          <a:ln w="1016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34440" y="2185416"/>
            <a:ext cx="182880" cy="219456"/>
          </a:xfrm>
          <a:prstGeom prst="rect">
            <a:avLst/>
          </a:prstGeom>
          <a:noFill/>
        </p:spPr>
        <p:txBody>
          <a:bodyPr wrap="square">
            <a:spAutoFit/>
          </a:bodyPr>
          <a:lstStyle/>
          <a:p>
            <a:pPr algn="l"/>
            <a:r>
              <a:rPr sz="900" b="1">
                <a:solidFill>
                  <a:srgbClr val="28A745"/>
                </a:solidFill>
              </a:rPr>
              <a:t>✓</a:t>
            </a:r>
          </a:p>
        </p:txBody>
      </p:sp>
      <p:sp>
        <p:nvSpPr>
          <p:cNvPr id="15" name="TextBox 14"/>
          <p:cNvSpPr txBox="1"/>
          <p:nvPr/>
        </p:nvSpPr>
        <p:spPr>
          <a:xfrm>
            <a:off x="1417320" y="2185416"/>
            <a:ext cx="3017520" cy="219456"/>
          </a:xfrm>
          <a:prstGeom prst="rect">
            <a:avLst/>
          </a:prstGeom>
          <a:noFill/>
        </p:spPr>
        <p:txBody>
          <a:bodyPr wrap="square">
            <a:spAutoFit/>
          </a:bodyPr>
          <a:lstStyle/>
          <a:p>
            <a:pPr algn="l"/>
            <a:r>
              <a:rPr sz="900" b="0">
                <a:solidFill>
                  <a:srgbClr val="002A55"/>
                </a:solidFill>
              </a:rPr>
              <a:t>SVM</a:t>
            </a:r>
          </a:p>
        </p:txBody>
      </p:sp>
      <p:sp>
        <p:nvSpPr>
          <p:cNvPr id="16" name="Rectangle 15"/>
          <p:cNvSpPr/>
          <p:nvPr/>
        </p:nvSpPr>
        <p:spPr>
          <a:xfrm>
            <a:off x="1188720" y="2459736"/>
            <a:ext cx="3291840" cy="256032"/>
          </a:xfrm>
          <a:prstGeom prst="rect">
            <a:avLst/>
          </a:prstGeom>
          <a:solidFill>
            <a:srgbClr val="D1FAE5"/>
          </a:solidFill>
          <a:ln w="1016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34440" y="2478024"/>
            <a:ext cx="182880" cy="219456"/>
          </a:xfrm>
          <a:prstGeom prst="rect">
            <a:avLst/>
          </a:prstGeom>
          <a:noFill/>
        </p:spPr>
        <p:txBody>
          <a:bodyPr wrap="square">
            <a:spAutoFit/>
          </a:bodyPr>
          <a:lstStyle/>
          <a:p>
            <a:pPr algn="l"/>
            <a:r>
              <a:rPr sz="900" b="1">
                <a:solidFill>
                  <a:srgbClr val="28A745"/>
                </a:solidFill>
              </a:rPr>
              <a:t>✓</a:t>
            </a:r>
          </a:p>
        </p:txBody>
      </p:sp>
      <p:sp>
        <p:nvSpPr>
          <p:cNvPr id="18" name="TextBox 17"/>
          <p:cNvSpPr txBox="1"/>
          <p:nvPr/>
        </p:nvSpPr>
        <p:spPr>
          <a:xfrm>
            <a:off x="1417320" y="2478024"/>
            <a:ext cx="3017520" cy="219456"/>
          </a:xfrm>
          <a:prstGeom prst="rect">
            <a:avLst/>
          </a:prstGeom>
          <a:noFill/>
        </p:spPr>
        <p:txBody>
          <a:bodyPr wrap="square">
            <a:spAutoFit/>
          </a:bodyPr>
          <a:lstStyle/>
          <a:p>
            <a:pPr algn="l"/>
            <a:r>
              <a:rPr sz="900" b="0">
                <a:solidFill>
                  <a:srgbClr val="002A55"/>
                </a:solidFill>
              </a:rPr>
              <a:t>Decision Tree</a:t>
            </a:r>
          </a:p>
        </p:txBody>
      </p:sp>
      <p:sp>
        <p:nvSpPr>
          <p:cNvPr id="19" name="Rectangle 18"/>
          <p:cNvSpPr/>
          <p:nvPr/>
        </p:nvSpPr>
        <p:spPr>
          <a:xfrm>
            <a:off x="1188720" y="2752344"/>
            <a:ext cx="3291840" cy="256032"/>
          </a:xfrm>
          <a:prstGeom prst="rect">
            <a:avLst/>
          </a:prstGeom>
          <a:solidFill>
            <a:srgbClr val="D1FAE5"/>
          </a:solidFill>
          <a:ln w="1016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34440" y="2770632"/>
            <a:ext cx="182880" cy="219456"/>
          </a:xfrm>
          <a:prstGeom prst="rect">
            <a:avLst/>
          </a:prstGeom>
          <a:noFill/>
        </p:spPr>
        <p:txBody>
          <a:bodyPr wrap="square">
            <a:spAutoFit/>
          </a:bodyPr>
          <a:lstStyle/>
          <a:p>
            <a:pPr algn="l"/>
            <a:r>
              <a:rPr sz="900" b="1">
                <a:solidFill>
                  <a:srgbClr val="28A745"/>
                </a:solidFill>
              </a:rPr>
              <a:t>✓</a:t>
            </a:r>
          </a:p>
        </p:txBody>
      </p:sp>
      <p:sp>
        <p:nvSpPr>
          <p:cNvPr id="21" name="TextBox 20"/>
          <p:cNvSpPr txBox="1"/>
          <p:nvPr/>
        </p:nvSpPr>
        <p:spPr>
          <a:xfrm>
            <a:off x="1417320" y="2770632"/>
            <a:ext cx="3017520" cy="219456"/>
          </a:xfrm>
          <a:prstGeom prst="rect">
            <a:avLst/>
          </a:prstGeom>
          <a:noFill/>
        </p:spPr>
        <p:txBody>
          <a:bodyPr wrap="square">
            <a:spAutoFit/>
          </a:bodyPr>
          <a:lstStyle/>
          <a:p>
            <a:pPr algn="l"/>
            <a:r>
              <a:rPr sz="900" b="0">
                <a:solidFill>
                  <a:srgbClr val="002A55"/>
                </a:solidFill>
              </a:rPr>
              <a:t>Random Forest</a:t>
            </a:r>
          </a:p>
        </p:txBody>
      </p:sp>
      <p:sp>
        <p:nvSpPr>
          <p:cNvPr id="22" name="Rectangle 21"/>
          <p:cNvSpPr/>
          <p:nvPr/>
        </p:nvSpPr>
        <p:spPr>
          <a:xfrm>
            <a:off x="1188720" y="3044951"/>
            <a:ext cx="329184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34440" y="3063239"/>
            <a:ext cx="182880" cy="219456"/>
          </a:xfrm>
          <a:prstGeom prst="rect">
            <a:avLst/>
          </a:prstGeom>
          <a:noFill/>
        </p:spPr>
        <p:txBody>
          <a:bodyPr wrap="square">
            <a:spAutoFit/>
          </a:bodyPr>
          <a:lstStyle/>
          <a:p>
            <a:pPr algn="l"/>
            <a:r>
              <a:rPr sz="900" b="1">
                <a:solidFill>
                  <a:srgbClr val="A0AEC0"/>
                </a:solidFill>
              </a:rPr>
              <a:t>✗</a:t>
            </a:r>
          </a:p>
        </p:txBody>
      </p:sp>
      <p:sp>
        <p:nvSpPr>
          <p:cNvPr id="24" name="TextBox 23"/>
          <p:cNvSpPr txBox="1"/>
          <p:nvPr/>
        </p:nvSpPr>
        <p:spPr>
          <a:xfrm>
            <a:off x="1417320" y="3063239"/>
            <a:ext cx="3017520" cy="219456"/>
          </a:xfrm>
          <a:prstGeom prst="rect">
            <a:avLst/>
          </a:prstGeom>
          <a:noFill/>
        </p:spPr>
        <p:txBody>
          <a:bodyPr wrap="square">
            <a:spAutoFit/>
          </a:bodyPr>
          <a:lstStyle/>
          <a:p>
            <a:pPr algn="l"/>
            <a:r>
              <a:rPr sz="900" b="0">
                <a:solidFill>
                  <a:srgbClr val="A0AEC0"/>
                </a:solidFill>
              </a:rPr>
              <a:t>k-NN</a:t>
            </a:r>
          </a:p>
        </p:txBody>
      </p:sp>
      <p:sp>
        <p:nvSpPr>
          <p:cNvPr id="25" name="Rectangle 24"/>
          <p:cNvSpPr/>
          <p:nvPr/>
        </p:nvSpPr>
        <p:spPr>
          <a:xfrm>
            <a:off x="1188720" y="3337559"/>
            <a:ext cx="329184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234440" y="3355847"/>
            <a:ext cx="182880" cy="219456"/>
          </a:xfrm>
          <a:prstGeom prst="rect">
            <a:avLst/>
          </a:prstGeom>
          <a:noFill/>
        </p:spPr>
        <p:txBody>
          <a:bodyPr wrap="square">
            <a:spAutoFit/>
          </a:bodyPr>
          <a:lstStyle/>
          <a:p>
            <a:pPr algn="l"/>
            <a:r>
              <a:rPr sz="900" b="1">
                <a:solidFill>
                  <a:srgbClr val="A0AEC0"/>
                </a:solidFill>
              </a:rPr>
              <a:t>✗</a:t>
            </a:r>
          </a:p>
        </p:txBody>
      </p:sp>
      <p:sp>
        <p:nvSpPr>
          <p:cNvPr id="27" name="TextBox 26"/>
          <p:cNvSpPr txBox="1"/>
          <p:nvPr/>
        </p:nvSpPr>
        <p:spPr>
          <a:xfrm>
            <a:off x="1417320" y="3355847"/>
            <a:ext cx="3017520" cy="219456"/>
          </a:xfrm>
          <a:prstGeom prst="rect">
            <a:avLst/>
          </a:prstGeom>
          <a:noFill/>
        </p:spPr>
        <p:txBody>
          <a:bodyPr wrap="square">
            <a:spAutoFit/>
          </a:bodyPr>
          <a:lstStyle/>
          <a:p>
            <a:pPr algn="l"/>
            <a:r>
              <a:rPr sz="900" b="0">
                <a:solidFill>
                  <a:srgbClr val="A0AEC0"/>
                </a:solidFill>
              </a:rPr>
              <a:t>Naive Bayes</a:t>
            </a:r>
          </a:p>
        </p:txBody>
      </p:sp>
      <p:sp>
        <p:nvSpPr>
          <p:cNvPr id="28" name="Rectangle 27"/>
          <p:cNvSpPr/>
          <p:nvPr/>
        </p:nvSpPr>
        <p:spPr>
          <a:xfrm>
            <a:off x="1188720" y="3630167"/>
            <a:ext cx="329184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234440" y="3648455"/>
            <a:ext cx="182880" cy="219456"/>
          </a:xfrm>
          <a:prstGeom prst="rect">
            <a:avLst/>
          </a:prstGeom>
          <a:noFill/>
        </p:spPr>
        <p:txBody>
          <a:bodyPr wrap="square">
            <a:spAutoFit/>
          </a:bodyPr>
          <a:lstStyle/>
          <a:p>
            <a:pPr algn="l"/>
            <a:r>
              <a:rPr sz="900" b="1">
                <a:solidFill>
                  <a:srgbClr val="A0AEC0"/>
                </a:solidFill>
              </a:rPr>
              <a:t>✗</a:t>
            </a:r>
          </a:p>
        </p:txBody>
      </p:sp>
      <p:sp>
        <p:nvSpPr>
          <p:cNvPr id="30" name="TextBox 29"/>
          <p:cNvSpPr txBox="1"/>
          <p:nvPr/>
        </p:nvSpPr>
        <p:spPr>
          <a:xfrm>
            <a:off x="1417320" y="3648455"/>
            <a:ext cx="3017520" cy="219456"/>
          </a:xfrm>
          <a:prstGeom prst="rect">
            <a:avLst/>
          </a:prstGeom>
          <a:noFill/>
        </p:spPr>
        <p:txBody>
          <a:bodyPr wrap="square">
            <a:spAutoFit/>
          </a:bodyPr>
          <a:lstStyle/>
          <a:p>
            <a:pPr algn="l"/>
            <a:r>
              <a:rPr sz="900" b="0">
                <a:solidFill>
                  <a:srgbClr val="A0AEC0"/>
                </a:solidFill>
              </a:rPr>
              <a:t>XGBoost</a:t>
            </a:r>
          </a:p>
        </p:txBody>
      </p:sp>
      <p:sp>
        <p:nvSpPr>
          <p:cNvPr id="31" name="Rectangle 30"/>
          <p:cNvSpPr/>
          <p:nvPr/>
        </p:nvSpPr>
        <p:spPr>
          <a:xfrm>
            <a:off x="1188720" y="3922775"/>
            <a:ext cx="329184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234440" y="3941063"/>
            <a:ext cx="182880" cy="219456"/>
          </a:xfrm>
          <a:prstGeom prst="rect">
            <a:avLst/>
          </a:prstGeom>
          <a:noFill/>
        </p:spPr>
        <p:txBody>
          <a:bodyPr wrap="square">
            <a:spAutoFit/>
          </a:bodyPr>
          <a:lstStyle/>
          <a:p>
            <a:pPr algn="l"/>
            <a:r>
              <a:rPr sz="900" b="1">
                <a:solidFill>
                  <a:srgbClr val="A0AEC0"/>
                </a:solidFill>
              </a:rPr>
              <a:t>✗</a:t>
            </a:r>
          </a:p>
        </p:txBody>
      </p:sp>
      <p:sp>
        <p:nvSpPr>
          <p:cNvPr id="33" name="TextBox 32"/>
          <p:cNvSpPr txBox="1"/>
          <p:nvPr/>
        </p:nvSpPr>
        <p:spPr>
          <a:xfrm>
            <a:off x="1417320" y="3941063"/>
            <a:ext cx="3017520" cy="219456"/>
          </a:xfrm>
          <a:prstGeom prst="rect">
            <a:avLst/>
          </a:prstGeom>
          <a:noFill/>
        </p:spPr>
        <p:txBody>
          <a:bodyPr wrap="square">
            <a:spAutoFit/>
          </a:bodyPr>
          <a:lstStyle/>
          <a:p>
            <a:pPr algn="l"/>
            <a:r>
              <a:rPr sz="900" b="0">
                <a:solidFill>
                  <a:srgbClr val="A0AEC0"/>
                </a:solidFill>
              </a:rPr>
              <a:t>LightGBM</a:t>
            </a:r>
          </a:p>
        </p:txBody>
      </p:sp>
      <p:sp>
        <p:nvSpPr>
          <p:cNvPr id="34" name="Rectangle 33"/>
          <p:cNvSpPr/>
          <p:nvPr/>
        </p:nvSpPr>
        <p:spPr>
          <a:xfrm>
            <a:off x="4663440" y="1618488"/>
            <a:ext cx="2926080" cy="292608"/>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736592" y="1655064"/>
            <a:ext cx="2779776" cy="228600"/>
          </a:xfrm>
          <a:prstGeom prst="rect">
            <a:avLst/>
          </a:prstGeom>
          <a:noFill/>
        </p:spPr>
        <p:txBody>
          <a:bodyPr wrap="square">
            <a:spAutoFit/>
          </a:bodyPr>
          <a:lstStyle/>
          <a:p>
            <a:pPr algn="l"/>
            <a:r>
              <a:rPr sz="900" b="1">
                <a:solidFill>
                  <a:srgbClr val="FFFFFF"/>
                </a:solidFill>
              </a:rPr>
              <a:t>Tier 2 — Deep Learning</a:t>
            </a:r>
          </a:p>
        </p:txBody>
      </p:sp>
      <p:sp>
        <p:nvSpPr>
          <p:cNvPr id="36" name="TextBox 35"/>
          <p:cNvSpPr txBox="1"/>
          <p:nvPr/>
        </p:nvSpPr>
        <p:spPr>
          <a:xfrm>
            <a:off x="4736592" y="1929384"/>
            <a:ext cx="2779776" cy="201168"/>
          </a:xfrm>
          <a:prstGeom prst="rect">
            <a:avLst/>
          </a:prstGeom>
          <a:noFill/>
        </p:spPr>
        <p:txBody>
          <a:bodyPr wrap="square">
            <a:spAutoFit/>
          </a:bodyPr>
          <a:lstStyle/>
          <a:p>
            <a:pPr algn="l"/>
            <a:r>
              <a:rPr sz="800" b="0">
                <a:solidFill>
                  <a:srgbClr val="6F42C1"/>
                </a:solidFill>
              </a:rPr>
              <a:t>1 of 4 selected</a:t>
            </a:r>
          </a:p>
        </p:txBody>
      </p:sp>
      <p:sp>
        <p:nvSpPr>
          <p:cNvPr id="37" name="Rectangle 36"/>
          <p:cNvSpPr/>
          <p:nvPr/>
        </p:nvSpPr>
        <p:spPr>
          <a:xfrm>
            <a:off x="4663440" y="2167128"/>
            <a:ext cx="2926080" cy="256032"/>
          </a:xfrm>
          <a:prstGeom prst="rect">
            <a:avLst/>
          </a:prstGeom>
          <a:solidFill>
            <a:srgbClr val="D1FAE5"/>
          </a:solidFill>
          <a:ln w="1016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709159" y="2185416"/>
            <a:ext cx="182880" cy="219456"/>
          </a:xfrm>
          <a:prstGeom prst="rect">
            <a:avLst/>
          </a:prstGeom>
          <a:noFill/>
        </p:spPr>
        <p:txBody>
          <a:bodyPr wrap="square">
            <a:spAutoFit/>
          </a:bodyPr>
          <a:lstStyle/>
          <a:p>
            <a:pPr algn="l"/>
            <a:r>
              <a:rPr sz="900" b="1">
                <a:solidFill>
                  <a:srgbClr val="28A745"/>
                </a:solidFill>
              </a:rPr>
              <a:t>✓</a:t>
            </a:r>
          </a:p>
        </p:txBody>
      </p:sp>
      <p:sp>
        <p:nvSpPr>
          <p:cNvPr id="39" name="TextBox 38"/>
          <p:cNvSpPr txBox="1"/>
          <p:nvPr/>
        </p:nvSpPr>
        <p:spPr>
          <a:xfrm>
            <a:off x="4892040" y="2185416"/>
            <a:ext cx="2651760" cy="219456"/>
          </a:xfrm>
          <a:prstGeom prst="rect">
            <a:avLst/>
          </a:prstGeom>
          <a:noFill/>
        </p:spPr>
        <p:txBody>
          <a:bodyPr wrap="square">
            <a:spAutoFit/>
          </a:bodyPr>
          <a:lstStyle/>
          <a:p>
            <a:pPr algn="l"/>
            <a:r>
              <a:rPr sz="900" b="0">
                <a:solidFill>
                  <a:srgbClr val="002A55"/>
                </a:solidFill>
              </a:rPr>
              <a:t>MLP</a:t>
            </a:r>
          </a:p>
        </p:txBody>
      </p:sp>
      <p:sp>
        <p:nvSpPr>
          <p:cNvPr id="40" name="Rectangle 39"/>
          <p:cNvSpPr/>
          <p:nvPr/>
        </p:nvSpPr>
        <p:spPr>
          <a:xfrm>
            <a:off x="4663440" y="2459736"/>
            <a:ext cx="292608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709159" y="2478024"/>
            <a:ext cx="182880" cy="219456"/>
          </a:xfrm>
          <a:prstGeom prst="rect">
            <a:avLst/>
          </a:prstGeom>
          <a:noFill/>
        </p:spPr>
        <p:txBody>
          <a:bodyPr wrap="square">
            <a:spAutoFit/>
          </a:bodyPr>
          <a:lstStyle/>
          <a:p>
            <a:pPr algn="l"/>
            <a:r>
              <a:rPr sz="900" b="1">
                <a:solidFill>
                  <a:srgbClr val="A0AEC0"/>
                </a:solidFill>
              </a:rPr>
              <a:t>✗</a:t>
            </a:r>
          </a:p>
        </p:txBody>
      </p:sp>
      <p:sp>
        <p:nvSpPr>
          <p:cNvPr id="42" name="TextBox 41"/>
          <p:cNvSpPr txBox="1"/>
          <p:nvPr/>
        </p:nvSpPr>
        <p:spPr>
          <a:xfrm>
            <a:off x="4892040" y="2478024"/>
            <a:ext cx="2651760" cy="219456"/>
          </a:xfrm>
          <a:prstGeom prst="rect">
            <a:avLst/>
          </a:prstGeom>
          <a:noFill/>
        </p:spPr>
        <p:txBody>
          <a:bodyPr wrap="square">
            <a:spAutoFit/>
          </a:bodyPr>
          <a:lstStyle/>
          <a:p>
            <a:pPr algn="l"/>
            <a:r>
              <a:rPr sz="900" b="0">
                <a:solidFill>
                  <a:srgbClr val="A0AEC0"/>
                </a:solidFill>
              </a:rPr>
              <a:t>CNN-1D</a:t>
            </a:r>
          </a:p>
        </p:txBody>
      </p:sp>
      <p:sp>
        <p:nvSpPr>
          <p:cNvPr id="43" name="Rectangle 42"/>
          <p:cNvSpPr/>
          <p:nvPr/>
        </p:nvSpPr>
        <p:spPr>
          <a:xfrm>
            <a:off x="4663440" y="2752344"/>
            <a:ext cx="292608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709159" y="2770632"/>
            <a:ext cx="182880" cy="219456"/>
          </a:xfrm>
          <a:prstGeom prst="rect">
            <a:avLst/>
          </a:prstGeom>
          <a:noFill/>
        </p:spPr>
        <p:txBody>
          <a:bodyPr wrap="square">
            <a:spAutoFit/>
          </a:bodyPr>
          <a:lstStyle/>
          <a:p>
            <a:pPr algn="l"/>
            <a:r>
              <a:rPr sz="900" b="1">
                <a:solidFill>
                  <a:srgbClr val="A0AEC0"/>
                </a:solidFill>
              </a:rPr>
              <a:t>✗</a:t>
            </a:r>
          </a:p>
        </p:txBody>
      </p:sp>
      <p:sp>
        <p:nvSpPr>
          <p:cNvPr id="45" name="TextBox 44"/>
          <p:cNvSpPr txBox="1"/>
          <p:nvPr/>
        </p:nvSpPr>
        <p:spPr>
          <a:xfrm>
            <a:off x="4892040" y="2770632"/>
            <a:ext cx="2651760" cy="219456"/>
          </a:xfrm>
          <a:prstGeom prst="rect">
            <a:avLst/>
          </a:prstGeom>
          <a:noFill/>
        </p:spPr>
        <p:txBody>
          <a:bodyPr wrap="square">
            <a:spAutoFit/>
          </a:bodyPr>
          <a:lstStyle/>
          <a:p>
            <a:pPr algn="l"/>
            <a:r>
              <a:rPr sz="900" b="0">
                <a:solidFill>
                  <a:srgbClr val="A0AEC0"/>
                </a:solidFill>
              </a:rPr>
              <a:t>LSTM</a:t>
            </a:r>
          </a:p>
        </p:txBody>
      </p:sp>
      <p:sp>
        <p:nvSpPr>
          <p:cNvPr id="46" name="Rectangle 45"/>
          <p:cNvSpPr/>
          <p:nvPr/>
        </p:nvSpPr>
        <p:spPr>
          <a:xfrm>
            <a:off x="4663440" y="3044951"/>
            <a:ext cx="292608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709159" y="3063239"/>
            <a:ext cx="182880" cy="219456"/>
          </a:xfrm>
          <a:prstGeom prst="rect">
            <a:avLst/>
          </a:prstGeom>
          <a:noFill/>
        </p:spPr>
        <p:txBody>
          <a:bodyPr wrap="square">
            <a:spAutoFit/>
          </a:bodyPr>
          <a:lstStyle/>
          <a:p>
            <a:pPr algn="l"/>
            <a:r>
              <a:rPr sz="900" b="1">
                <a:solidFill>
                  <a:srgbClr val="A0AEC0"/>
                </a:solidFill>
              </a:rPr>
              <a:t>✗</a:t>
            </a:r>
          </a:p>
        </p:txBody>
      </p:sp>
      <p:sp>
        <p:nvSpPr>
          <p:cNvPr id="48" name="TextBox 47"/>
          <p:cNvSpPr txBox="1"/>
          <p:nvPr/>
        </p:nvSpPr>
        <p:spPr>
          <a:xfrm>
            <a:off x="4892040" y="3063239"/>
            <a:ext cx="2651760" cy="219456"/>
          </a:xfrm>
          <a:prstGeom prst="rect">
            <a:avLst/>
          </a:prstGeom>
          <a:noFill/>
        </p:spPr>
        <p:txBody>
          <a:bodyPr wrap="square">
            <a:spAutoFit/>
          </a:bodyPr>
          <a:lstStyle/>
          <a:p>
            <a:pPr algn="l"/>
            <a:r>
              <a:rPr sz="900" b="0">
                <a:solidFill>
                  <a:srgbClr val="A0AEC0"/>
                </a:solidFill>
              </a:rPr>
              <a:t>Transformer</a:t>
            </a:r>
          </a:p>
        </p:txBody>
      </p:sp>
      <p:sp>
        <p:nvSpPr>
          <p:cNvPr id="49" name="Rectangle 48"/>
          <p:cNvSpPr/>
          <p:nvPr/>
        </p:nvSpPr>
        <p:spPr>
          <a:xfrm>
            <a:off x="7772400" y="1618488"/>
            <a:ext cx="4114800" cy="2926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845552" y="1655064"/>
            <a:ext cx="3968496" cy="228600"/>
          </a:xfrm>
          <a:prstGeom prst="rect">
            <a:avLst/>
          </a:prstGeom>
          <a:noFill/>
        </p:spPr>
        <p:txBody>
          <a:bodyPr wrap="square">
            <a:spAutoFit/>
          </a:bodyPr>
          <a:lstStyle/>
          <a:p>
            <a:pPr algn="l"/>
            <a:r>
              <a:rPr sz="900" b="1">
                <a:solidFill>
                  <a:srgbClr val="FFFFFF"/>
                </a:solidFill>
              </a:rPr>
              <a:t>Tier 3 — Ensemble</a:t>
            </a:r>
          </a:p>
        </p:txBody>
      </p:sp>
      <p:sp>
        <p:nvSpPr>
          <p:cNvPr id="51" name="TextBox 50"/>
          <p:cNvSpPr txBox="1"/>
          <p:nvPr/>
        </p:nvSpPr>
        <p:spPr>
          <a:xfrm>
            <a:off x="7845552" y="1929384"/>
            <a:ext cx="3968496" cy="201168"/>
          </a:xfrm>
          <a:prstGeom prst="rect">
            <a:avLst/>
          </a:prstGeom>
          <a:noFill/>
        </p:spPr>
        <p:txBody>
          <a:bodyPr wrap="square">
            <a:spAutoFit/>
          </a:bodyPr>
          <a:lstStyle/>
          <a:p>
            <a:pPr algn="l"/>
            <a:r>
              <a:rPr sz="800" b="0">
                <a:solidFill>
                  <a:srgbClr val="28A745"/>
                </a:solidFill>
              </a:rPr>
              <a:t>2 of 3 selected</a:t>
            </a:r>
          </a:p>
        </p:txBody>
      </p:sp>
      <p:sp>
        <p:nvSpPr>
          <p:cNvPr id="52" name="Rectangle 51"/>
          <p:cNvSpPr/>
          <p:nvPr/>
        </p:nvSpPr>
        <p:spPr>
          <a:xfrm>
            <a:off x="7772400" y="2167128"/>
            <a:ext cx="4114800" cy="256032"/>
          </a:xfrm>
          <a:prstGeom prst="rect">
            <a:avLst/>
          </a:prstGeom>
          <a:solidFill>
            <a:srgbClr val="D1FAE5"/>
          </a:solidFill>
          <a:ln w="1016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818120" y="2185416"/>
            <a:ext cx="182880" cy="219456"/>
          </a:xfrm>
          <a:prstGeom prst="rect">
            <a:avLst/>
          </a:prstGeom>
          <a:noFill/>
        </p:spPr>
        <p:txBody>
          <a:bodyPr wrap="square">
            <a:spAutoFit/>
          </a:bodyPr>
          <a:lstStyle/>
          <a:p>
            <a:pPr algn="l"/>
            <a:r>
              <a:rPr sz="900" b="1">
                <a:solidFill>
                  <a:srgbClr val="28A745"/>
                </a:solidFill>
              </a:rPr>
              <a:t>✓</a:t>
            </a:r>
          </a:p>
        </p:txBody>
      </p:sp>
      <p:sp>
        <p:nvSpPr>
          <p:cNvPr id="54" name="TextBox 53"/>
          <p:cNvSpPr txBox="1"/>
          <p:nvPr/>
        </p:nvSpPr>
        <p:spPr>
          <a:xfrm>
            <a:off x="8001000" y="2185416"/>
            <a:ext cx="3840480" cy="219456"/>
          </a:xfrm>
          <a:prstGeom prst="rect">
            <a:avLst/>
          </a:prstGeom>
          <a:noFill/>
        </p:spPr>
        <p:txBody>
          <a:bodyPr wrap="square">
            <a:spAutoFit/>
          </a:bodyPr>
          <a:lstStyle/>
          <a:p>
            <a:pPr algn="l"/>
            <a:r>
              <a:rPr sz="900" b="0">
                <a:solidFill>
                  <a:srgbClr val="002A55"/>
                </a:solidFill>
              </a:rPr>
              <a:t>Voting</a:t>
            </a:r>
          </a:p>
        </p:txBody>
      </p:sp>
      <p:sp>
        <p:nvSpPr>
          <p:cNvPr id="55" name="Rectangle 54"/>
          <p:cNvSpPr/>
          <p:nvPr/>
        </p:nvSpPr>
        <p:spPr>
          <a:xfrm>
            <a:off x="7772400" y="2459736"/>
            <a:ext cx="4114800" cy="256032"/>
          </a:xfrm>
          <a:prstGeom prst="rect">
            <a:avLst/>
          </a:prstGeom>
          <a:solidFill>
            <a:srgbClr val="D1FAE5"/>
          </a:solidFill>
          <a:ln w="1016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818120" y="2478024"/>
            <a:ext cx="182880" cy="219456"/>
          </a:xfrm>
          <a:prstGeom prst="rect">
            <a:avLst/>
          </a:prstGeom>
          <a:noFill/>
        </p:spPr>
        <p:txBody>
          <a:bodyPr wrap="square">
            <a:spAutoFit/>
          </a:bodyPr>
          <a:lstStyle/>
          <a:p>
            <a:pPr algn="l"/>
            <a:r>
              <a:rPr sz="900" b="1">
                <a:solidFill>
                  <a:srgbClr val="28A745"/>
                </a:solidFill>
              </a:rPr>
              <a:t>✓</a:t>
            </a:r>
          </a:p>
        </p:txBody>
      </p:sp>
      <p:sp>
        <p:nvSpPr>
          <p:cNvPr id="57" name="TextBox 56"/>
          <p:cNvSpPr txBox="1"/>
          <p:nvPr/>
        </p:nvSpPr>
        <p:spPr>
          <a:xfrm>
            <a:off x="8001000" y="2478024"/>
            <a:ext cx="3840480" cy="219456"/>
          </a:xfrm>
          <a:prstGeom prst="rect">
            <a:avLst/>
          </a:prstGeom>
          <a:noFill/>
        </p:spPr>
        <p:txBody>
          <a:bodyPr wrap="square">
            <a:spAutoFit/>
          </a:bodyPr>
          <a:lstStyle/>
          <a:p>
            <a:pPr algn="l"/>
            <a:r>
              <a:rPr sz="900" b="0">
                <a:solidFill>
                  <a:srgbClr val="002A55"/>
                </a:solidFill>
              </a:rPr>
              <a:t>Late Fusion</a:t>
            </a:r>
          </a:p>
        </p:txBody>
      </p:sp>
      <p:sp>
        <p:nvSpPr>
          <p:cNvPr id="58" name="Rectangle 57"/>
          <p:cNvSpPr/>
          <p:nvPr/>
        </p:nvSpPr>
        <p:spPr>
          <a:xfrm>
            <a:off x="7772400" y="2752344"/>
            <a:ext cx="4114800" cy="256032"/>
          </a:xfrm>
          <a:prstGeom prst="rect">
            <a:avLst/>
          </a:prstGeom>
          <a:solidFill>
            <a:srgbClr val="F1F5F9"/>
          </a:solidFill>
          <a:ln w="10160">
            <a:solidFill>
              <a:srgbClr val="A0AE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818120" y="2770632"/>
            <a:ext cx="182880" cy="219456"/>
          </a:xfrm>
          <a:prstGeom prst="rect">
            <a:avLst/>
          </a:prstGeom>
          <a:noFill/>
        </p:spPr>
        <p:txBody>
          <a:bodyPr wrap="square">
            <a:spAutoFit/>
          </a:bodyPr>
          <a:lstStyle/>
          <a:p>
            <a:pPr algn="l"/>
            <a:r>
              <a:rPr sz="900" b="1">
                <a:solidFill>
                  <a:srgbClr val="A0AEC0"/>
                </a:solidFill>
              </a:rPr>
              <a:t>✗</a:t>
            </a:r>
          </a:p>
        </p:txBody>
      </p:sp>
      <p:sp>
        <p:nvSpPr>
          <p:cNvPr id="60" name="TextBox 59"/>
          <p:cNvSpPr txBox="1"/>
          <p:nvPr/>
        </p:nvSpPr>
        <p:spPr>
          <a:xfrm>
            <a:off x="8001000" y="2770632"/>
            <a:ext cx="3840480" cy="219456"/>
          </a:xfrm>
          <a:prstGeom prst="rect">
            <a:avLst/>
          </a:prstGeom>
          <a:noFill/>
        </p:spPr>
        <p:txBody>
          <a:bodyPr wrap="square">
            <a:spAutoFit/>
          </a:bodyPr>
          <a:lstStyle/>
          <a:p>
            <a:pPr algn="l"/>
            <a:r>
              <a:rPr sz="900" b="0">
                <a:solidFill>
                  <a:srgbClr val="A0AEC0"/>
                </a:solidFill>
              </a:rPr>
              <a:t>Stacking</a:t>
            </a:r>
          </a:p>
        </p:txBody>
      </p:sp>
      <p:sp>
        <p:nvSpPr>
          <p:cNvPr id="61" name="Rectangle 60"/>
          <p:cNvSpPr/>
          <p:nvPr/>
        </p:nvSpPr>
        <p:spPr>
          <a:xfrm>
            <a:off x="1188720" y="5230368"/>
            <a:ext cx="10698480" cy="731520"/>
          </a:xfrm>
          <a:prstGeom prst="rect">
            <a:avLst/>
          </a:prstGeom>
          <a:solidFill>
            <a:srgbClr val="EFF6FF"/>
          </a:solidFill>
          <a:ln w="127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325880" y="5276088"/>
            <a:ext cx="10424160" cy="640080"/>
          </a:xfrm>
          <a:prstGeom prst="rect">
            <a:avLst/>
          </a:prstGeom>
          <a:noFill/>
        </p:spPr>
        <p:txBody>
          <a:bodyPr wrap="square">
            <a:spAutoFit/>
          </a:bodyPr>
          <a:lstStyle/>
          <a:p>
            <a:pPr algn="l"/>
            <a:r>
              <a:rPr sz="900" b="0">
                <a:solidFill>
                  <a:srgbClr val="002A55"/>
                </a:solidFill>
              </a:rPr>
              <a:t>RQ coverage of the 6 selected models:
  RQ1 (Classical vs Deep):  SVM, Decision Tree, Random Forest  vs  MLP
  RQ2 (Multimodal fusion):  Late Fusion  →  modality ablation study
  RQ3 (Workflow patterns):  Voting Ensemble output feeds workflow-level LSTM</a:t>
            </a:r>
          </a:p>
        </p:txBody>
      </p:sp>
      <p:sp>
        <p:nvSpPr>
          <p:cNvPr id="63" name="Rectangle 62"/>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4" name="Picture 63" descr="image.png"/>
          <p:cNvPicPr>
            <a:picLocks noChangeAspect="1"/>
          </p:cNvPicPr>
          <p:nvPr/>
        </p:nvPicPr>
        <p:blipFill>
          <a:blip r:embed="rId3"/>
          <a:stretch>
            <a:fillRect/>
          </a:stretch>
        </p:blipFill>
        <p:spPr>
          <a:xfrm>
            <a:off x="9555480" y="82296"/>
            <a:ext cx="2514600" cy="5852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Tier 1 — Random Forest &amp; Decision Tree</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Random Forest (bagging) vs. Decision Tree (single interpretable tree)</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275808" y="1417320"/>
            <a:ext cx="420624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Random Forest — Bagging (Bootstrap Aggregation)</a:t>
            </a:r>
          </a:p>
        </p:txBody>
      </p:sp>
      <p:sp>
        <p:nvSpPr>
          <p:cNvPr id="11" name="Rounded Rectangle 10"/>
          <p:cNvSpPr/>
          <p:nvPr/>
        </p:nvSpPr>
        <p:spPr>
          <a:xfrm>
            <a:off x="1275808" y="1737360"/>
            <a:ext cx="4206240" cy="34747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12968" y="1828800"/>
            <a:ext cx="3931920" cy="228600"/>
          </a:xfrm>
          <a:prstGeom prst="rect">
            <a:avLst/>
          </a:prstGeom>
          <a:noFill/>
        </p:spPr>
        <p:txBody>
          <a:bodyPr wrap="square">
            <a:spAutoFit/>
          </a:bodyPr>
          <a:lstStyle/>
          <a:p>
            <a:pPr algn="l">
              <a:defRPr sz="1100" b="0">
                <a:solidFill>
                  <a:srgbClr val="002A55"/>
                </a:solidFill>
                <a:latin typeface="Calibri"/>
              </a:defRPr>
            </a:pPr>
            <a:r>
              <a:t>100 decision trees, each trained on a</a:t>
            </a:r>
          </a:p>
        </p:txBody>
      </p:sp>
      <p:sp>
        <p:nvSpPr>
          <p:cNvPr id="13" name="TextBox 12"/>
          <p:cNvSpPr txBox="1"/>
          <p:nvPr/>
        </p:nvSpPr>
        <p:spPr>
          <a:xfrm>
            <a:off x="1412968" y="2075688"/>
            <a:ext cx="3931920" cy="228600"/>
          </a:xfrm>
          <a:prstGeom prst="rect">
            <a:avLst/>
          </a:prstGeom>
          <a:noFill/>
        </p:spPr>
        <p:txBody>
          <a:bodyPr wrap="square">
            <a:spAutoFit/>
          </a:bodyPr>
          <a:lstStyle/>
          <a:p>
            <a:pPr algn="l">
              <a:defRPr sz="1100" b="0">
                <a:solidFill>
                  <a:srgbClr val="002A55"/>
                </a:solidFill>
                <a:latin typeface="Calibri"/>
              </a:defRPr>
            </a:pPr>
            <a:r>
              <a:t>random bootstrap sample (sampling with replacement).</a:t>
            </a:r>
          </a:p>
        </p:txBody>
      </p:sp>
      <p:sp>
        <p:nvSpPr>
          <p:cNvPr id="14" name="TextBox 13"/>
          <p:cNvSpPr txBox="1"/>
          <p:nvPr/>
        </p:nvSpPr>
        <p:spPr>
          <a:xfrm>
            <a:off x="1412968" y="2322576"/>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15" name="TextBox 14"/>
          <p:cNvSpPr txBox="1"/>
          <p:nvPr/>
        </p:nvSpPr>
        <p:spPr>
          <a:xfrm>
            <a:off x="1412968" y="2569464"/>
            <a:ext cx="3931920" cy="228600"/>
          </a:xfrm>
          <a:prstGeom prst="rect">
            <a:avLst/>
          </a:prstGeom>
          <a:noFill/>
        </p:spPr>
        <p:txBody>
          <a:bodyPr wrap="square">
            <a:spAutoFit/>
          </a:bodyPr>
          <a:lstStyle/>
          <a:p>
            <a:pPr algn="l">
              <a:defRPr sz="1100" b="0">
                <a:solidFill>
                  <a:srgbClr val="002A55"/>
                </a:solidFill>
                <a:latin typeface="Calibri"/>
              </a:defRPr>
            </a:pPr>
            <a:r>
              <a:t>At each split: only √1391 ≈ 37 random features</a:t>
            </a:r>
          </a:p>
        </p:txBody>
      </p:sp>
      <p:sp>
        <p:nvSpPr>
          <p:cNvPr id="16" name="TextBox 15"/>
          <p:cNvSpPr txBox="1"/>
          <p:nvPr/>
        </p:nvSpPr>
        <p:spPr>
          <a:xfrm>
            <a:off x="1412968" y="2816352"/>
            <a:ext cx="3931920" cy="228600"/>
          </a:xfrm>
          <a:prstGeom prst="rect">
            <a:avLst/>
          </a:prstGeom>
          <a:noFill/>
        </p:spPr>
        <p:txBody>
          <a:bodyPr wrap="square">
            <a:spAutoFit/>
          </a:bodyPr>
          <a:lstStyle/>
          <a:p>
            <a:pPr algn="l">
              <a:defRPr sz="1100" b="0">
                <a:solidFill>
                  <a:srgbClr val="002A55"/>
                </a:solidFill>
                <a:latin typeface="Calibri"/>
              </a:defRPr>
            </a:pPr>
            <a:r>
              <a:t>are considered → decorrelates the trees.</a:t>
            </a:r>
          </a:p>
        </p:txBody>
      </p:sp>
      <p:sp>
        <p:nvSpPr>
          <p:cNvPr id="17" name="TextBox 16"/>
          <p:cNvSpPr txBox="1"/>
          <p:nvPr/>
        </p:nvSpPr>
        <p:spPr>
          <a:xfrm>
            <a:off x="1412968" y="3063240"/>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18" name="TextBox 17"/>
          <p:cNvSpPr txBox="1"/>
          <p:nvPr/>
        </p:nvSpPr>
        <p:spPr>
          <a:xfrm>
            <a:off x="1412968" y="3310128"/>
            <a:ext cx="3931920" cy="228600"/>
          </a:xfrm>
          <a:prstGeom prst="rect">
            <a:avLst/>
          </a:prstGeom>
          <a:noFill/>
        </p:spPr>
        <p:txBody>
          <a:bodyPr wrap="square">
            <a:spAutoFit/>
          </a:bodyPr>
          <a:lstStyle/>
          <a:p>
            <a:pPr algn="l">
              <a:defRPr sz="1100" b="0">
                <a:solidFill>
                  <a:srgbClr val="002A55"/>
                </a:solidFill>
                <a:latin typeface="Calibri"/>
              </a:defRPr>
            </a:pPr>
            <a:r>
              <a:t>Prediction = majority vote of 100 trees:</a:t>
            </a:r>
          </a:p>
        </p:txBody>
      </p:sp>
      <p:sp>
        <p:nvSpPr>
          <p:cNvPr id="19" name="TextBox 18"/>
          <p:cNvSpPr txBox="1"/>
          <p:nvPr/>
        </p:nvSpPr>
        <p:spPr>
          <a:xfrm>
            <a:off x="1412968" y="3557016"/>
            <a:ext cx="3931920" cy="228600"/>
          </a:xfrm>
          <a:prstGeom prst="rect">
            <a:avLst/>
          </a:prstGeom>
          <a:noFill/>
        </p:spPr>
        <p:txBody>
          <a:bodyPr wrap="square">
            <a:spAutoFit/>
          </a:bodyPr>
          <a:lstStyle/>
          <a:p>
            <a:pPr algn="l">
              <a:defRPr sz="1100" b="0">
                <a:solidFill>
                  <a:srgbClr val="002A55"/>
                </a:solidFill>
                <a:latin typeface="Calibri"/>
              </a:defRPr>
            </a:pPr>
            <a:r>
              <a:t>  ŷ = mode { T₁(x), T₂(x), ..., T₁₀₀(x) }</a:t>
            </a:r>
          </a:p>
        </p:txBody>
      </p:sp>
      <p:sp>
        <p:nvSpPr>
          <p:cNvPr id="20" name="TextBox 19"/>
          <p:cNvSpPr txBox="1"/>
          <p:nvPr/>
        </p:nvSpPr>
        <p:spPr>
          <a:xfrm>
            <a:off x="1412968" y="3803904"/>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21" name="TextBox 20"/>
          <p:cNvSpPr txBox="1"/>
          <p:nvPr/>
        </p:nvSpPr>
        <p:spPr>
          <a:xfrm>
            <a:off x="1412968" y="4050791"/>
            <a:ext cx="3931920" cy="228600"/>
          </a:xfrm>
          <a:prstGeom prst="rect">
            <a:avLst/>
          </a:prstGeom>
          <a:noFill/>
        </p:spPr>
        <p:txBody>
          <a:bodyPr wrap="square">
            <a:spAutoFit/>
          </a:bodyPr>
          <a:lstStyle/>
          <a:p>
            <a:pPr algn="l">
              <a:defRPr sz="1100" b="1">
                <a:solidFill>
                  <a:srgbClr val="003D7C"/>
                </a:solidFill>
                <a:latin typeface="Calibri"/>
              </a:defRPr>
            </a:pPr>
            <a:r>
              <a:t>Gini Impurity (split criterion):</a:t>
            </a:r>
          </a:p>
        </p:txBody>
      </p:sp>
      <p:sp>
        <p:nvSpPr>
          <p:cNvPr id="22" name="TextBox 21"/>
          <p:cNvSpPr txBox="1"/>
          <p:nvPr/>
        </p:nvSpPr>
        <p:spPr>
          <a:xfrm>
            <a:off x="1412968" y="4297680"/>
            <a:ext cx="3931920" cy="228600"/>
          </a:xfrm>
          <a:prstGeom prst="rect">
            <a:avLst/>
          </a:prstGeom>
          <a:noFill/>
        </p:spPr>
        <p:txBody>
          <a:bodyPr wrap="square">
            <a:spAutoFit/>
          </a:bodyPr>
          <a:lstStyle/>
          <a:p>
            <a:pPr algn="l">
              <a:defRPr sz="1100" b="0">
                <a:solidFill>
                  <a:srgbClr val="002A55"/>
                </a:solidFill>
                <a:latin typeface="Calibri"/>
              </a:defRPr>
            </a:pPr>
            <a:r>
              <a:t>  Gini = 1 − Σ pᵢ²</a:t>
            </a:r>
          </a:p>
        </p:txBody>
      </p:sp>
      <p:sp>
        <p:nvSpPr>
          <p:cNvPr id="23" name="TextBox 22"/>
          <p:cNvSpPr txBox="1"/>
          <p:nvPr/>
        </p:nvSpPr>
        <p:spPr>
          <a:xfrm>
            <a:off x="1412968" y="4544568"/>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24" name="TextBox 23"/>
          <p:cNvSpPr txBox="1"/>
          <p:nvPr/>
        </p:nvSpPr>
        <p:spPr>
          <a:xfrm>
            <a:off x="1412968" y="4791456"/>
            <a:ext cx="3931920" cy="228600"/>
          </a:xfrm>
          <a:prstGeom prst="rect">
            <a:avLst/>
          </a:prstGeom>
          <a:noFill/>
        </p:spPr>
        <p:txBody>
          <a:bodyPr wrap="square">
            <a:spAutoFit/>
          </a:bodyPr>
          <a:lstStyle/>
          <a:p>
            <a:pPr algn="l">
              <a:defRPr sz="1100" b="1">
                <a:solidFill>
                  <a:srgbClr val="003D7C"/>
                </a:solidFill>
                <a:latin typeface="Calibri"/>
              </a:defRPr>
            </a:pPr>
            <a:r>
              <a:t>v3b:  F1 0.841 | Accuracy 0.855 | 0.8 s train</a:t>
            </a:r>
          </a:p>
        </p:txBody>
      </p:sp>
      <p:sp>
        <p:nvSpPr>
          <p:cNvPr id="26" name="Rounded Rectangle 25"/>
          <p:cNvSpPr/>
          <p:nvPr/>
        </p:nvSpPr>
        <p:spPr>
          <a:xfrm>
            <a:off x="5756368" y="1737360"/>
            <a:ext cx="4206240" cy="347472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893528" y="2322576"/>
            <a:ext cx="3931920" cy="228600"/>
          </a:xfrm>
          <a:prstGeom prst="rect">
            <a:avLst/>
          </a:prstGeom>
          <a:noFill/>
        </p:spPr>
        <p:txBody>
          <a:bodyPr wrap="square">
            <a:spAutoFit/>
          </a:bodyPr>
          <a:lstStyle/>
          <a:p>
            <a:pPr algn="l">
              <a:defRPr sz="1100" b="0">
                <a:solidFill>
                  <a:srgbClr val="002A55"/>
                </a:solidFill>
                <a:latin typeface="Calibri"/>
              </a:defRPr>
            </a:pPr>
            <a:r>
              <a:t>of all previous trees.</a:t>
            </a:r>
          </a:p>
        </p:txBody>
      </p:sp>
      <p:sp>
        <p:nvSpPr>
          <p:cNvPr id="30" name="TextBox 29"/>
          <p:cNvSpPr txBox="1"/>
          <p:nvPr/>
        </p:nvSpPr>
        <p:spPr>
          <a:xfrm>
            <a:off x="5893528" y="2569464"/>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34" name="TextBox 33"/>
          <p:cNvSpPr txBox="1"/>
          <p:nvPr/>
        </p:nvSpPr>
        <p:spPr>
          <a:xfrm>
            <a:off x="5893528" y="3557016"/>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38" name="TextBox 37"/>
          <p:cNvSpPr txBox="1"/>
          <p:nvPr/>
        </p:nvSpPr>
        <p:spPr>
          <a:xfrm>
            <a:off x="5893528" y="4544568"/>
            <a:ext cx="3931920" cy="228600"/>
          </a:xfrm>
          <a:prstGeom prst="rect">
            <a:avLst/>
          </a:prstGeom>
          <a:noFill/>
        </p:spPr>
        <p:txBody>
          <a:bodyPr wrap="square">
            <a:spAutoFit/>
          </a:bodyPr>
          <a:lstStyle/>
          <a:p>
            <a:pPr algn="l">
              <a:defRPr sz="1100" b="0">
                <a:solidFill>
                  <a:srgbClr val="002A55"/>
                </a:solidFill>
                <a:latin typeface="Calibri"/>
              </a:defRPr>
            </a:pPr>
            <a:endParaRPr/>
          </a:p>
        </p:txBody>
      </p:sp>
      <p:sp>
        <p:nvSpPr>
          <p:cNvPr id="40" name="Rectangle 39"/>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42" name="Rectangle 41"/>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nus_iss_logo_transparent.png"/>
          <p:cNvPicPr>
            <a:picLocks noChangeAspect="1"/>
          </p:cNvPicPr>
          <p:nvPr/>
        </p:nvPicPr>
        <p:blipFill>
          <a:blip r:embed="rId3"/>
          <a:stretch>
            <a:fillRect/>
          </a:stretch>
        </p:blipFill>
        <p:spPr>
          <a:xfrm>
            <a:off x="9555480" y="82296"/>
            <a:ext cx="2514600" cy="585216"/>
          </a:xfrm>
          <a:prstGeom prst="rect">
            <a:avLst/>
          </a:prstGeom>
        </p:spPr>
      </p:pic>
      <p:sp>
        <p:nvSpPr>
          <p:cNvPr id="44" name="Rectangle 43"/>
          <p:cNvSpPr/>
          <p:nvPr/>
        </p:nvSpPr>
        <p:spPr>
          <a:xfrm>
            <a:off x="5760720" y="1417320"/>
            <a:ext cx="4206240" cy="3200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760720" y="1417320"/>
            <a:ext cx="4206240" cy="320040"/>
          </a:xfrm>
          <a:prstGeom prst="rect">
            <a:avLst/>
          </a:prstGeom>
          <a:noFill/>
        </p:spPr>
        <p:txBody>
          <a:bodyPr wrap="square">
            <a:spAutoFit/>
          </a:bodyPr>
          <a:lstStyle/>
          <a:p>
            <a:pPr algn="ctr"/>
            <a:r>
              <a:rPr sz="1000" b="1">
                <a:solidFill>
                  <a:srgbClr val="FFFFFF"/>
                </a:solidFill>
              </a:rPr>
              <a:t>Decision Tree</a:t>
            </a:r>
          </a:p>
        </p:txBody>
      </p:sp>
      <p:sp>
        <p:nvSpPr>
          <p:cNvPr id="46" name="Rectangle 45"/>
          <p:cNvSpPr/>
          <p:nvPr/>
        </p:nvSpPr>
        <p:spPr>
          <a:xfrm>
            <a:off x="5760720" y="1737360"/>
            <a:ext cx="4206240" cy="3474720"/>
          </a:xfrm>
          <a:prstGeom prst="rect">
            <a:avLst/>
          </a:prstGeom>
          <a:solidFill>
            <a:srgbClr val="E8F4FD"/>
          </a:solidFill>
          <a:ln w="1016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97880" y="1828800"/>
            <a:ext cx="3931920" cy="228600"/>
          </a:xfrm>
          <a:prstGeom prst="rect">
            <a:avLst/>
          </a:prstGeom>
          <a:noFill/>
        </p:spPr>
        <p:txBody>
          <a:bodyPr wrap="square">
            <a:spAutoFit/>
          </a:bodyPr>
          <a:lstStyle/>
          <a:p>
            <a:pPr algn="l"/>
            <a:r>
              <a:rPr sz="900" b="0">
                <a:solidFill>
                  <a:srgbClr val="002A55"/>
                </a:solidFill>
              </a:rPr>
              <a:t>Single tree via recursive binary splitting.</a:t>
            </a:r>
          </a:p>
        </p:txBody>
      </p:sp>
      <p:sp>
        <p:nvSpPr>
          <p:cNvPr id="48" name="TextBox 47"/>
          <p:cNvSpPr txBox="1"/>
          <p:nvPr/>
        </p:nvSpPr>
        <p:spPr>
          <a:xfrm>
            <a:off x="5897880" y="2057400"/>
            <a:ext cx="3931920" cy="228600"/>
          </a:xfrm>
          <a:prstGeom prst="rect">
            <a:avLst/>
          </a:prstGeom>
          <a:noFill/>
        </p:spPr>
        <p:txBody>
          <a:bodyPr wrap="square">
            <a:spAutoFit/>
          </a:bodyPr>
          <a:lstStyle/>
          <a:p>
            <a:pPr algn="l"/>
            <a:endParaRPr/>
          </a:p>
        </p:txBody>
      </p:sp>
      <p:sp>
        <p:nvSpPr>
          <p:cNvPr id="49" name="TextBox 48"/>
          <p:cNvSpPr txBox="1"/>
          <p:nvPr/>
        </p:nvSpPr>
        <p:spPr>
          <a:xfrm>
            <a:off x="5897880" y="2286000"/>
            <a:ext cx="3931920" cy="228600"/>
          </a:xfrm>
          <a:prstGeom prst="rect">
            <a:avLst/>
          </a:prstGeom>
          <a:noFill/>
        </p:spPr>
        <p:txBody>
          <a:bodyPr wrap="square">
            <a:spAutoFit/>
          </a:bodyPr>
          <a:lstStyle/>
          <a:p>
            <a:pPr algn="l"/>
            <a:r>
              <a:rPr sz="900" b="0">
                <a:solidFill>
                  <a:srgbClr val="002A55"/>
                </a:solidFill>
              </a:rPr>
              <a:t>Split criterion — Gini Impurity:</a:t>
            </a:r>
          </a:p>
        </p:txBody>
      </p:sp>
      <p:sp>
        <p:nvSpPr>
          <p:cNvPr id="50" name="TextBox 49"/>
          <p:cNvSpPr txBox="1"/>
          <p:nvPr/>
        </p:nvSpPr>
        <p:spPr>
          <a:xfrm>
            <a:off x="5897880" y="2514600"/>
            <a:ext cx="3931920" cy="228600"/>
          </a:xfrm>
          <a:prstGeom prst="rect">
            <a:avLst/>
          </a:prstGeom>
          <a:noFill/>
        </p:spPr>
        <p:txBody>
          <a:bodyPr wrap="square">
            <a:spAutoFit/>
          </a:bodyPr>
          <a:lstStyle/>
          <a:p>
            <a:pPr algn="l"/>
            <a:r>
              <a:rPr sz="900" b="0">
                <a:solidFill>
                  <a:srgbClr val="EF7C00"/>
                </a:solidFill>
              </a:rPr>
              <a:t>  Gini(t) = 1 − Σ pᵢ²</a:t>
            </a:r>
          </a:p>
        </p:txBody>
      </p:sp>
      <p:sp>
        <p:nvSpPr>
          <p:cNvPr id="51" name="TextBox 50"/>
          <p:cNvSpPr txBox="1"/>
          <p:nvPr/>
        </p:nvSpPr>
        <p:spPr>
          <a:xfrm>
            <a:off x="5897880" y="2743200"/>
            <a:ext cx="3931920" cy="228600"/>
          </a:xfrm>
          <a:prstGeom prst="rect">
            <a:avLst/>
          </a:prstGeom>
          <a:noFill/>
        </p:spPr>
        <p:txBody>
          <a:bodyPr wrap="square">
            <a:spAutoFit/>
          </a:bodyPr>
          <a:lstStyle/>
          <a:p>
            <a:pPr algn="l"/>
            <a:r>
              <a:rPr sz="900" b="0">
                <a:solidFill>
                  <a:srgbClr val="002A55"/>
                </a:solidFill>
              </a:rPr>
              <a:t>  Pick feature + threshold that minimises</a:t>
            </a:r>
          </a:p>
        </p:txBody>
      </p:sp>
      <p:sp>
        <p:nvSpPr>
          <p:cNvPr id="52" name="TextBox 51"/>
          <p:cNvSpPr txBox="1"/>
          <p:nvPr/>
        </p:nvSpPr>
        <p:spPr>
          <a:xfrm>
            <a:off x="5897880" y="2971800"/>
            <a:ext cx="3931920" cy="228600"/>
          </a:xfrm>
          <a:prstGeom prst="rect">
            <a:avLst/>
          </a:prstGeom>
          <a:noFill/>
        </p:spPr>
        <p:txBody>
          <a:bodyPr wrap="square">
            <a:spAutoFit/>
          </a:bodyPr>
          <a:lstStyle/>
          <a:p>
            <a:pPr algn="l"/>
            <a:r>
              <a:rPr sz="900" b="0">
                <a:solidFill>
                  <a:srgbClr val="002A55"/>
                </a:solidFill>
              </a:rPr>
              <a:t>  weighted Gini of the two child nodes.</a:t>
            </a:r>
          </a:p>
        </p:txBody>
      </p:sp>
      <p:sp>
        <p:nvSpPr>
          <p:cNvPr id="53" name="TextBox 52"/>
          <p:cNvSpPr txBox="1"/>
          <p:nvPr/>
        </p:nvSpPr>
        <p:spPr>
          <a:xfrm>
            <a:off x="5897880" y="3200400"/>
            <a:ext cx="3931920" cy="228600"/>
          </a:xfrm>
          <a:prstGeom prst="rect">
            <a:avLst/>
          </a:prstGeom>
          <a:noFill/>
        </p:spPr>
        <p:txBody>
          <a:bodyPr wrap="square">
            <a:spAutoFit/>
          </a:bodyPr>
          <a:lstStyle/>
          <a:p>
            <a:pPr algn="l"/>
            <a:endParaRPr/>
          </a:p>
        </p:txBody>
      </p:sp>
      <p:sp>
        <p:nvSpPr>
          <p:cNvPr id="54" name="TextBox 53"/>
          <p:cNvSpPr txBox="1"/>
          <p:nvPr/>
        </p:nvSpPr>
        <p:spPr>
          <a:xfrm>
            <a:off x="5897880" y="3429000"/>
            <a:ext cx="3931920" cy="228600"/>
          </a:xfrm>
          <a:prstGeom prst="rect">
            <a:avLst/>
          </a:prstGeom>
          <a:noFill/>
        </p:spPr>
        <p:txBody>
          <a:bodyPr wrap="square">
            <a:spAutoFit/>
          </a:bodyPr>
          <a:lstStyle/>
          <a:p>
            <a:pPr algn="l"/>
            <a:r>
              <a:rPr sz="900" b="0">
                <a:solidFill>
                  <a:srgbClr val="002A55"/>
                </a:solidFill>
              </a:rPr>
              <a:t>Greedy top-down growth; no pruning.</a:t>
            </a:r>
          </a:p>
        </p:txBody>
      </p:sp>
      <p:sp>
        <p:nvSpPr>
          <p:cNvPr id="55" name="TextBox 54"/>
          <p:cNvSpPr txBox="1"/>
          <p:nvPr/>
        </p:nvSpPr>
        <p:spPr>
          <a:xfrm>
            <a:off x="5897880" y="3657600"/>
            <a:ext cx="3931920" cy="228600"/>
          </a:xfrm>
          <a:prstGeom prst="rect">
            <a:avLst/>
          </a:prstGeom>
          <a:noFill/>
        </p:spPr>
        <p:txBody>
          <a:bodyPr wrap="square">
            <a:spAutoFit/>
          </a:bodyPr>
          <a:lstStyle/>
          <a:p>
            <a:pPr algn="l"/>
            <a:r>
              <a:rPr sz="900" b="0">
                <a:solidFill>
                  <a:srgbClr val="002A55"/>
                </a:solidFill>
              </a:rPr>
              <a:t>Low bias, high variance — overfits on</a:t>
            </a:r>
          </a:p>
        </p:txBody>
      </p:sp>
      <p:sp>
        <p:nvSpPr>
          <p:cNvPr id="56" name="TextBox 55"/>
          <p:cNvSpPr txBox="1"/>
          <p:nvPr/>
        </p:nvSpPr>
        <p:spPr>
          <a:xfrm>
            <a:off x="5897880" y="3886200"/>
            <a:ext cx="3931920" cy="228600"/>
          </a:xfrm>
          <a:prstGeom prst="rect">
            <a:avLst/>
          </a:prstGeom>
          <a:noFill/>
        </p:spPr>
        <p:txBody>
          <a:bodyPr wrap="square">
            <a:spAutoFit/>
          </a:bodyPr>
          <a:lstStyle/>
          <a:p>
            <a:pPr algn="l"/>
            <a:r>
              <a:rPr sz="900" b="0">
                <a:solidFill>
                  <a:srgbClr val="002A55"/>
                </a:solidFill>
              </a:rPr>
              <a:t>small datasets.</a:t>
            </a:r>
          </a:p>
        </p:txBody>
      </p:sp>
      <p:sp>
        <p:nvSpPr>
          <p:cNvPr id="57" name="TextBox 56"/>
          <p:cNvSpPr txBox="1"/>
          <p:nvPr/>
        </p:nvSpPr>
        <p:spPr>
          <a:xfrm>
            <a:off x="5897880" y="4114800"/>
            <a:ext cx="3931920" cy="228600"/>
          </a:xfrm>
          <a:prstGeom prst="rect">
            <a:avLst/>
          </a:prstGeom>
          <a:noFill/>
        </p:spPr>
        <p:txBody>
          <a:bodyPr wrap="square">
            <a:spAutoFit/>
          </a:bodyPr>
          <a:lstStyle/>
          <a:p>
            <a:pPr algn="l"/>
            <a:endParaRPr/>
          </a:p>
        </p:txBody>
      </p:sp>
      <p:sp>
        <p:nvSpPr>
          <p:cNvPr id="58" name="TextBox 57"/>
          <p:cNvSpPr txBox="1"/>
          <p:nvPr/>
        </p:nvSpPr>
        <p:spPr>
          <a:xfrm>
            <a:off x="5897880" y="4343400"/>
            <a:ext cx="3931920" cy="228600"/>
          </a:xfrm>
          <a:prstGeom prst="rect">
            <a:avLst/>
          </a:prstGeom>
          <a:noFill/>
        </p:spPr>
        <p:txBody>
          <a:bodyPr wrap="square">
            <a:spAutoFit/>
          </a:bodyPr>
          <a:lstStyle/>
          <a:p>
            <a:pPr algn="l"/>
            <a:r>
              <a:rPr sz="900" b="0">
                <a:solidFill>
                  <a:srgbClr val="002A55"/>
                </a:solidFill>
              </a:rPr>
              <a:t>Strength: fully interpretable — every</a:t>
            </a:r>
          </a:p>
        </p:txBody>
      </p:sp>
      <p:sp>
        <p:nvSpPr>
          <p:cNvPr id="59" name="TextBox 58"/>
          <p:cNvSpPr txBox="1"/>
          <p:nvPr/>
        </p:nvSpPr>
        <p:spPr>
          <a:xfrm>
            <a:off x="5897880" y="4572000"/>
            <a:ext cx="3931920" cy="228600"/>
          </a:xfrm>
          <a:prstGeom prst="rect">
            <a:avLst/>
          </a:prstGeom>
          <a:noFill/>
        </p:spPr>
        <p:txBody>
          <a:bodyPr wrap="square">
            <a:spAutoFit/>
          </a:bodyPr>
          <a:lstStyle/>
          <a:p>
            <a:pPr algn="l"/>
            <a:r>
              <a:rPr sz="900" b="0">
                <a:solidFill>
                  <a:srgbClr val="002A55"/>
                </a:solidFill>
              </a:rPr>
              <a:t>prediction has an explicit if/else path.</a:t>
            </a:r>
          </a:p>
        </p:txBody>
      </p:sp>
      <p:sp>
        <p:nvSpPr>
          <p:cNvPr id="60" name="TextBox 59"/>
          <p:cNvSpPr txBox="1"/>
          <p:nvPr/>
        </p:nvSpPr>
        <p:spPr>
          <a:xfrm>
            <a:off x="5897880" y="4800600"/>
            <a:ext cx="3931920" cy="228600"/>
          </a:xfrm>
          <a:prstGeom prst="rect">
            <a:avLst/>
          </a:prstGeom>
          <a:noFill/>
        </p:spPr>
        <p:txBody>
          <a:bodyPr wrap="square">
            <a:spAutoFit/>
          </a:bodyPr>
          <a:lstStyle/>
          <a:p>
            <a:pPr algn="l"/>
            <a:endParaRPr/>
          </a:p>
        </p:txBody>
      </p:sp>
      <p:sp>
        <p:nvSpPr>
          <p:cNvPr id="61" name="TextBox 60"/>
          <p:cNvSpPr txBox="1"/>
          <p:nvPr/>
        </p:nvSpPr>
        <p:spPr>
          <a:xfrm>
            <a:off x="5897880" y="5029200"/>
            <a:ext cx="3931920" cy="228600"/>
          </a:xfrm>
          <a:prstGeom prst="rect">
            <a:avLst/>
          </a:prstGeom>
          <a:noFill/>
        </p:spPr>
        <p:txBody>
          <a:bodyPr wrap="square">
            <a:spAutoFit/>
          </a:bodyPr>
          <a:lstStyle/>
          <a:p>
            <a:pPr algn="l"/>
            <a:r>
              <a:rPr sz="900" b="0">
                <a:solidFill>
                  <a:srgbClr val="607D8B"/>
                </a:solidFill>
              </a:rPr>
              <a:t>v3b:  F1 0.762 | Accuracy 0.791 | 2 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Tier 2 — MLP: Forward Pass &amp; Backpropagation</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Feed-forward neural network: 1,391 inputs → 8 activity class probabilities</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291046" y="1417320"/>
            <a:ext cx="5029200" cy="3749039"/>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73926" y="1508760"/>
            <a:ext cx="4663440" cy="201168"/>
          </a:xfrm>
          <a:prstGeom prst="rect">
            <a:avLst/>
          </a:prstGeom>
          <a:noFill/>
        </p:spPr>
        <p:txBody>
          <a:bodyPr wrap="square">
            <a:spAutoFit/>
          </a:bodyPr>
          <a:lstStyle/>
          <a:p>
            <a:pPr algn="l">
              <a:defRPr sz="1000" b="1">
                <a:solidFill>
                  <a:srgbClr val="003D7C"/>
                </a:solidFill>
                <a:latin typeface="Calibri"/>
              </a:defRPr>
            </a:pPr>
            <a:r>
              <a:t>Architecture:   1391 → 128 → 128 → 8</a:t>
            </a:r>
          </a:p>
        </p:txBody>
      </p:sp>
      <p:sp>
        <p:nvSpPr>
          <p:cNvPr id="12" name="TextBox 11"/>
          <p:cNvSpPr txBox="1"/>
          <p:nvPr/>
        </p:nvSpPr>
        <p:spPr>
          <a:xfrm>
            <a:off x="1473926" y="1714500"/>
            <a:ext cx="4663440" cy="201168"/>
          </a:xfrm>
          <a:prstGeom prst="rect">
            <a:avLst/>
          </a:prstGeom>
          <a:noFill/>
        </p:spPr>
        <p:txBody>
          <a:bodyPr wrap="square">
            <a:spAutoFit/>
          </a:bodyPr>
          <a:lstStyle/>
          <a:p>
            <a:pPr algn="l">
              <a:defRPr sz="1000" b="0">
                <a:solidFill>
                  <a:srgbClr val="002A55"/>
                </a:solidFill>
                <a:latin typeface="Calibri"/>
              </a:defRPr>
            </a:pPr>
            <a:endParaRPr/>
          </a:p>
        </p:txBody>
      </p:sp>
      <p:sp>
        <p:nvSpPr>
          <p:cNvPr id="13" name="TextBox 12"/>
          <p:cNvSpPr txBox="1"/>
          <p:nvPr/>
        </p:nvSpPr>
        <p:spPr>
          <a:xfrm>
            <a:off x="1473926" y="1920240"/>
            <a:ext cx="4663440" cy="201168"/>
          </a:xfrm>
          <a:prstGeom prst="rect">
            <a:avLst/>
          </a:prstGeom>
          <a:noFill/>
        </p:spPr>
        <p:txBody>
          <a:bodyPr wrap="square">
            <a:spAutoFit/>
          </a:bodyPr>
          <a:lstStyle/>
          <a:p>
            <a:pPr algn="l">
              <a:defRPr sz="1000" b="1">
                <a:solidFill>
                  <a:srgbClr val="003D7C"/>
                </a:solidFill>
                <a:latin typeface="Calibri"/>
              </a:defRPr>
            </a:pPr>
            <a:r>
              <a:t>Forward Pass:</a:t>
            </a:r>
          </a:p>
        </p:txBody>
      </p:sp>
      <p:sp>
        <p:nvSpPr>
          <p:cNvPr id="14" name="TextBox 13"/>
          <p:cNvSpPr txBox="1"/>
          <p:nvPr/>
        </p:nvSpPr>
        <p:spPr>
          <a:xfrm>
            <a:off x="1473926" y="2125980"/>
            <a:ext cx="4663440" cy="201168"/>
          </a:xfrm>
          <a:prstGeom prst="rect">
            <a:avLst/>
          </a:prstGeom>
          <a:noFill/>
        </p:spPr>
        <p:txBody>
          <a:bodyPr wrap="square">
            <a:spAutoFit/>
          </a:bodyPr>
          <a:lstStyle/>
          <a:p>
            <a:pPr algn="l">
              <a:defRPr sz="1000" b="0">
                <a:solidFill>
                  <a:srgbClr val="002A55"/>
                </a:solidFill>
                <a:latin typeface="Calibri"/>
              </a:defRPr>
            </a:pPr>
            <a:r>
              <a:t>  h₁ = ReLU(W₁ · x + b₁)    # 128 neurons</a:t>
            </a:r>
          </a:p>
        </p:txBody>
      </p:sp>
      <p:sp>
        <p:nvSpPr>
          <p:cNvPr id="15" name="TextBox 14"/>
          <p:cNvSpPr txBox="1"/>
          <p:nvPr/>
        </p:nvSpPr>
        <p:spPr>
          <a:xfrm>
            <a:off x="1473926" y="2331720"/>
            <a:ext cx="4663440" cy="201168"/>
          </a:xfrm>
          <a:prstGeom prst="rect">
            <a:avLst/>
          </a:prstGeom>
          <a:noFill/>
        </p:spPr>
        <p:txBody>
          <a:bodyPr wrap="square">
            <a:spAutoFit/>
          </a:bodyPr>
          <a:lstStyle/>
          <a:p>
            <a:pPr algn="l">
              <a:defRPr sz="1000" b="0">
                <a:solidFill>
                  <a:srgbClr val="002A55"/>
                </a:solidFill>
                <a:latin typeface="Calibri"/>
              </a:defRPr>
            </a:pPr>
            <a:r>
              <a:t>  h₂ = ReLU(W₂ · h₁ + b₂)   # 128 neurons</a:t>
            </a:r>
          </a:p>
        </p:txBody>
      </p:sp>
      <p:sp>
        <p:nvSpPr>
          <p:cNvPr id="16" name="TextBox 15"/>
          <p:cNvSpPr txBox="1"/>
          <p:nvPr/>
        </p:nvSpPr>
        <p:spPr>
          <a:xfrm>
            <a:off x="1473926" y="2537460"/>
            <a:ext cx="4663440" cy="201168"/>
          </a:xfrm>
          <a:prstGeom prst="rect">
            <a:avLst/>
          </a:prstGeom>
          <a:noFill/>
        </p:spPr>
        <p:txBody>
          <a:bodyPr wrap="square">
            <a:spAutoFit/>
          </a:bodyPr>
          <a:lstStyle/>
          <a:p>
            <a:pPr algn="l">
              <a:defRPr sz="1000" b="0">
                <a:solidFill>
                  <a:srgbClr val="002A55"/>
                </a:solidFill>
                <a:latin typeface="Calibri"/>
              </a:defRPr>
            </a:pPr>
            <a:r>
              <a:t>  ŷ  = Softmax(W₃ · h₂ + b₃) # 8 class probabilities</a:t>
            </a:r>
          </a:p>
        </p:txBody>
      </p:sp>
      <p:sp>
        <p:nvSpPr>
          <p:cNvPr id="17" name="TextBox 16"/>
          <p:cNvSpPr txBox="1"/>
          <p:nvPr/>
        </p:nvSpPr>
        <p:spPr>
          <a:xfrm>
            <a:off x="1473926" y="2743200"/>
            <a:ext cx="4663440" cy="201168"/>
          </a:xfrm>
          <a:prstGeom prst="rect">
            <a:avLst/>
          </a:prstGeom>
          <a:noFill/>
        </p:spPr>
        <p:txBody>
          <a:bodyPr wrap="square">
            <a:spAutoFit/>
          </a:bodyPr>
          <a:lstStyle/>
          <a:p>
            <a:pPr algn="l">
              <a:defRPr sz="1000" b="0">
                <a:solidFill>
                  <a:srgbClr val="002A55"/>
                </a:solidFill>
                <a:latin typeface="Calibri"/>
              </a:defRPr>
            </a:pPr>
            <a:endParaRPr/>
          </a:p>
        </p:txBody>
      </p:sp>
      <p:sp>
        <p:nvSpPr>
          <p:cNvPr id="18" name="TextBox 17"/>
          <p:cNvSpPr txBox="1"/>
          <p:nvPr/>
        </p:nvSpPr>
        <p:spPr>
          <a:xfrm>
            <a:off x="1473926" y="2948939"/>
            <a:ext cx="4663440" cy="201168"/>
          </a:xfrm>
          <a:prstGeom prst="rect">
            <a:avLst/>
          </a:prstGeom>
          <a:noFill/>
        </p:spPr>
        <p:txBody>
          <a:bodyPr wrap="square">
            <a:spAutoFit/>
          </a:bodyPr>
          <a:lstStyle/>
          <a:p>
            <a:pPr algn="l">
              <a:defRPr sz="1000" b="1">
                <a:solidFill>
                  <a:srgbClr val="003D7C"/>
                </a:solidFill>
                <a:latin typeface="Calibri"/>
              </a:defRPr>
            </a:pPr>
            <a:r>
              <a:t>Loss:  CrossEntropy = −log( predicted prob of true class )</a:t>
            </a:r>
          </a:p>
        </p:txBody>
      </p:sp>
      <p:sp>
        <p:nvSpPr>
          <p:cNvPr id="19" name="TextBox 18"/>
          <p:cNvSpPr txBox="1"/>
          <p:nvPr/>
        </p:nvSpPr>
        <p:spPr>
          <a:xfrm>
            <a:off x="1473926" y="3154680"/>
            <a:ext cx="4663440" cy="201168"/>
          </a:xfrm>
          <a:prstGeom prst="rect">
            <a:avLst/>
          </a:prstGeom>
          <a:noFill/>
        </p:spPr>
        <p:txBody>
          <a:bodyPr wrap="square">
            <a:spAutoFit/>
          </a:bodyPr>
          <a:lstStyle/>
          <a:p>
            <a:pPr algn="l">
              <a:defRPr sz="1000" b="0">
                <a:solidFill>
                  <a:srgbClr val="002A55"/>
                </a:solidFill>
                <a:latin typeface="Calibri"/>
              </a:defRPr>
            </a:pPr>
            <a:endParaRPr/>
          </a:p>
        </p:txBody>
      </p:sp>
      <p:sp>
        <p:nvSpPr>
          <p:cNvPr id="20" name="TextBox 19"/>
          <p:cNvSpPr txBox="1"/>
          <p:nvPr/>
        </p:nvSpPr>
        <p:spPr>
          <a:xfrm>
            <a:off x="1473926" y="3360420"/>
            <a:ext cx="4663440" cy="201168"/>
          </a:xfrm>
          <a:prstGeom prst="rect">
            <a:avLst/>
          </a:prstGeom>
          <a:noFill/>
        </p:spPr>
        <p:txBody>
          <a:bodyPr wrap="square">
            <a:spAutoFit/>
          </a:bodyPr>
          <a:lstStyle/>
          <a:p>
            <a:pPr algn="l">
              <a:defRPr sz="1000" b="1">
                <a:solidFill>
                  <a:srgbClr val="003D7C"/>
                </a:solidFill>
                <a:latin typeface="Calibri"/>
              </a:defRPr>
            </a:pPr>
            <a:r>
              <a:t>Backward Pass (Backpropagation):</a:t>
            </a:r>
          </a:p>
        </p:txBody>
      </p:sp>
      <p:sp>
        <p:nvSpPr>
          <p:cNvPr id="21" name="TextBox 20"/>
          <p:cNvSpPr txBox="1"/>
          <p:nvPr/>
        </p:nvSpPr>
        <p:spPr>
          <a:xfrm>
            <a:off x="1473926" y="3566160"/>
            <a:ext cx="4663440" cy="201168"/>
          </a:xfrm>
          <a:prstGeom prst="rect">
            <a:avLst/>
          </a:prstGeom>
          <a:noFill/>
        </p:spPr>
        <p:txBody>
          <a:bodyPr wrap="square">
            <a:spAutoFit/>
          </a:bodyPr>
          <a:lstStyle/>
          <a:p>
            <a:pPr algn="l">
              <a:defRPr sz="1000" b="0">
                <a:solidFill>
                  <a:srgbClr val="002A55"/>
                </a:solidFill>
                <a:latin typeface="Calibri"/>
              </a:defRPr>
            </a:pPr>
            <a:r>
              <a:t>  ∂L/∂W₃ = δ₃ · h₂ᵀ</a:t>
            </a:r>
          </a:p>
        </p:txBody>
      </p:sp>
      <p:sp>
        <p:nvSpPr>
          <p:cNvPr id="22" name="TextBox 21"/>
          <p:cNvSpPr txBox="1"/>
          <p:nvPr/>
        </p:nvSpPr>
        <p:spPr>
          <a:xfrm>
            <a:off x="1473926" y="3771900"/>
            <a:ext cx="4663440" cy="201168"/>
          </a:xfrm>
          <a:prstGeom prst="rect">
            <a:avLst/>
          </a:prstGeom>
          <a:noFill/>
        </p:spPr>
        <p:txBody>
          <a:bodyPr wrap="square">
            <a:spAutoFit/>
          </a:bodyPr>
          <a:lstStyle/>
          <a:p>
            <a:pPr algn="l">
              <a:defRPr sz="1000" b="0">
                <a:solidFill>
                  <a:srgbClr val="002A55"/>
                </a:solidFill>
                <a:latin typeface="Calibri"/>
              </a:defRPr>
            </a:pPr>
            <a:r>
              <a:t>  ∂L/∂W₂ = δ₂ · h₁ᵀ  (chain rule)</a:t>
            </a:r>
          </a:p>
        </p:txBody>
      </p:sp>
      <p:sp>
        <p:nvSpPr>
          <p:cNvPr id="23" name="TextBox 22"/>
          <p:cNvSpPr txBox="1"/>
          <p:nvPr/>
        </p:nvSpPr>
        <p:spPr>
          <a:xfrm>
            <a:off x="1473926" y="3977639"/>
            <a:ext cx="4663440" cy="201168"/>
          </a:xfrm>
          <a:prstGeom prst="rect">
            <a:avLst/>
          </a:prstGeom>
          <a:noFill/>
        </p:spPr>
        <p:txBody>
          <a:bodyPr wrap="square">
            <a:spAutoFit/>
          </a:bodyPr>
          <a:lstStyle/>
          <a:p>
            <a:pPr algn="l">
              <a:defRPr sz="1000" b="0">
                <a:solidFill>
                  <a:srgbClr val="002A55"/>
                </a:solidFill>
                <a:latin typeface="Calibri"/>
              </a:defRPr>
            </a:pPr>
            <a:r>
              <a:t>  W = W − α × ∂L/∂W   (α = 0.001 learning rate)</a:t>
            </a:r>
          </a:p>
        </p:txBody>
      </p:sp>
      <p:sp>
        <p:nvSpPr>
          <p:cNvPr id="24" name="TextBox 23"/>
          <p:cNvSpPr txBox="1"/>
          <p:nvPr/>
        </p:nvSpPr>
        <p:spPr>
          <a:xfrm>
            <a:off x="1473926" y="4183380"/>
            <a:ext cx="4663440" cy="201168"/>
          </a:xfrm>
          <a:prstGeom prst="rect">
            <a:avLst/>
          </a:prstGeom>
          <a:noFill/>
        </p:spPr>
        <p:txBody>
          <a:bodyPr wrap="square">
            <a:spAutoFit/>
          </a:bodyPr>
          <a:lstStyle/>
          <a:p>
            <a:pPr algn="l">
              <a:defRPr sz="1000" b="0">
                <a:solidFill>
                  <a:srgbClr val="002A55"/>
                </a:solidFill>
                <a:latin typeface="Calibri"/>
              </a:defRPr>
            </a:pPr>
            <a:endParaRPr/>
          </a:p>
        </p:txBody>
      </p:sp>
      <p:sp>
        <p:nvSpPr>
          <p:cNvPr id="25" name="TextBox 24"/>
          <p:cNvSpPr txBox="1"/>
          <p:nvPr/>
        </p:nvSpPr>
        <p:spPr>
          <a:xfrm>
            <a:off x="1473926" y="4389120"/>
            <a:ext cx="4663440" cy="201168"/>
          </a:xfrm>
          <a:prstGeom prst="rect">
            <a:avLst/>
          </a:prstGeom>
          <a:noFill/>
        </p:spPr>
        <p:txBody>
          <a:bodyPr wrap="square">
            <a:spAutoFit/>
          </a:bodyPr>
          <a:lstStyle/>
          <a:p>
            <a:pPr algn="l">
              <a:defRPr sz="1000" b="1">
                <a:solidFill>
                  <a:srgbClr val="003D7C"/>
                </a:solidFill>
                <a:latin typeface="Calibri"/>
              </a:defRPr>
            </a:pPr>
            <a:r>
              <a:t>Regularisation: Dropout (p=0.3)</a:t>
            </a:r>
          </a:p>
        </p:txBody>
      </p:sp>
      <p:sp>
        <p:nvSpPr>
          <p:cNvPr id="26" name="TextBox 25"/>
          <p:cNvSpPr txBox="1"/>
          <p:nvPr/>
        </p:nvSpPr>
        <p:spPr>
          <a:xfrm>
            <a:off x="1473926" y="4594860"/>
            <a:ext cx="4663440" cy="201168"/>
          </a:xfrm>
          <a:prstGeom prst="rect">
            <a:avLst/>
          </a:prstGeom>
          <a:noFill/>
        </p:spPr>
        <p:txBody>
          <a:bodyPr wrap="square">
            <a:spAutoFit/>
          </a:bodyPr>
          <a:lstStyle/>
          <a:p>
            <a:pPr algn="l">
              <a:defRPr sz="1000" b="0">
                <a:solidFill>
                  <a:srgbClr val="002A55"/>
                </a:solidFill>
                <a:latin typeface="Calibri"/>
              </a:defRPr>
            </a:pPr>
            <a:endParaRPr/>
          </a:p>
        </p:txBody>
      </p:sp>
      <p:sp>
        <p:nvSpPr>
          <p:cNvPr id="27" name="TextBox 26"/>
          <p:cNvSpPr txBox="1"/>
          <p:nvPr/>
        </p:nvSpPr>
        <p:spPr>
          <a:xfrm>
            <a:off x="1473926" y="4800600"/>
            <a:ext cx="4663440" cy="201168"/>
          </a:xfrm>
          <a:prstGeom prst="rect">
            <a:avLst/>
          </a:prstGeom>
          <a:noFill/>
        </p:spPr>
        <p:txBody>
          <a:bodyPr wrap="square">
            <a:spAutoFit/>
          </a:bodyPr>
          <a:lstStyle/>
          <a:p>
            <a:pPr algn="l">
              <a:defRPr sz="1000" b="1">
                <a:solidFill>
                  <a:srgbClr val="003D7C"/>
                </a:solidFill>
                <a:latin typeface="Calibri"/>
              </a:defRPr>
            </a:pPr>
            <a:r>
              <a:t>Training: 222 samples × 20 epochs = 4,440 updates</a:t>
            </a:r>
          </a:p>
        </p:txBody>
      </p:sp>
      <p:sp>
        <p:nvSpPr>
          <p:cNvPr id="28" name="Rounded Rectangle 27"/>
          <p:cNvSpPr/>
          <p:nvPr/>
        </p:nvSpPr>
        <p:spPr>
          <a:xfrm>
            <a:off x="6503126" y="1417320"/>
            <a:ext cx="3291840" cy="3749039"/>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86006" y="1463040"/>
            <a:ext cx="3017520" cy="4693593"/>
          </a:xfrm>
          <a:prstGeom prst="rect">
            <a:avLst/>
          </a:prstGeom>
          <a:noFill/>
        </p:spPr>
        <p:txBody>
          <a:bodyPr wrap="square">
            <a:spAutoFit/>
          </a:bodyPr>
          <a:lstStyle/>
          <a:p>
            <a:pPr algn="l">
              <a:spcAft>
                <a:spcPts val="600"/>
              </a:spcAft>
              <a:defRPr sz="1100" b="0">
                <a:solidFill>
                  <a:srgbClr val="002A55"/>
                </a:solidFill>
                <a:latin typeface="Calibri"/>
              </a:defRPr>
            </a:pPr>
            <a:r>
              <a:rPr dirty="0"/>
              <a:t>Parameter Count</a:t>
            </a:r>
          </a:p>
          <a:p>
            <a:pPr algn="l">
              <a:spcAft>
                <a:spcPts val="600"/>
              </a:spcAft>
              <a:defRPr sz="1100" b="0">
                <a:solidFill>
                  <a:srgbClr val="002A55"/>
                </a:solidFill>
                <a:latin typeface="Calibri"/>
              </a:defRPr>
            </a:pPr>
            <a:endParaRPr dirty="0"/>
          </a:p>
          <a:p>
            <a:pPr algn="l">
              <a:spcAft>
                <a:spcPts val="600"/>
              </a:spcAft>
              <a:defRPr sz="1100" b="0">
                <a:solidFill>
                  <a:srgbClr val="002A55"/>
                </a:solidFill>
                <a:latin typeface="Calibri"/>
              </a:defRPr>
            </a:pPr>
            <a:r>
              <a:rPr dirty="0"/>
              <a:t>W₁: 1391×128 + 128 = 178,304</a:t>
            </a:r>
          </a:p>
          <a:p>
            <a:pPr algn="l">
              <a:spcAft>
                <a:spcPts val="600"/>
              </a:spcAft>
              <a:defRPr sz="1100" b="0">
                <a:solidFill>
                  <a:srgbClr val="002A55"/>
                </a:solidFill>
                <a:latin typeface="Calibri"/>
              </a:defRPr>
            </a:pPr>
            <a:r>
              <a:rPr dirty="0"/>
              <a:t>W₂: 128×128 + 128  =  16,512</a:t>
            </a:r>
          </a:p>
          <a:p>
            <a:pPr algn="l">
              <a:spcAft>
                <a:spcPts val="600"/>
              </a:spcAft>
              <a:defRPr sz="1100" b="0">
                <a:solidFill>
                  <a:srgbClr val="002A55"/>
                </a:solidFill>
                <a:latin typeface="Calibri"/>
              </a:defRPr>
            </a:pPr>
            <a:r>
              <a:rPr dirty="0"/>
              <a:t>W₃: 128×8 + 8  =   1,032</a:t>
            </a:r>
          </a:p>
          <a:p>
            <a:pPr algn="l">
              <a:spcAft>
                <a:spcPts val="600"/>
              </a:spcAft>
              <a:defRPr sz="1100" b="0">
                <a:solidFill>
                  <a:srgbClr val="002A55"/>
                </a:solidFill>
                <a:latin typeface="Calibri"/>
              </a:defRPr>
            </a:pPr>
            <a:r>
              <a:rPr dirty="0"/>
              <a:t>─────────────────────────────</a:t>
            </a:r>
          </a:p>
          <a:p>
            <a:pPr algn="l">
              <a:spcAft>
                <a:spcPts val="600"/>
              </a:spcAft>
              <a:defRPr sz="1100" b="0">
                <a:solidFill>
                  <a:srgbClr val="002A55"/>
                </a:solidFill>
                <a:latin typeface="Calibri"/>
              </a:defRPr>
            </a:pPr>
            <a:r>
              <a:rPr dirty="0"/>
              <a:t>Total:              = 195,848</a:t>
            </a:r>
          </a:p>
          <a:p>
            <a:pPr algn="l">
              <a:spcAft>
                <a:spcPts val="600"/>
              </a:spcAft>
              <a:defRPr sz="1100" b="0">
                <a:solidFill>
                  <a:srgbClr val="002A55"/>
                </a:solidFill>
                <a:latin typeface="Calibri"/>
              </a:defRPr>
            </a:pPr>
            <a:endParaRPr dirty="0"/>
          </a:p>
          <a:p>
            <a:pPr algn="l">
              <a:spcAft>
                <a:spcPts val="600"/>
              </a:spcAft>
              <a:defRPr sz="1100" b="0">
                <a:solidFill>
                  <a:srgbClr val="002A55"/>
                </a:solidFill>
                <a:latin typeface="Calibri"/>
              </a:defRPr>
            </a:pPr>
            <a:r>
              <a:rPr dirty="0"/>
              <a:t>v3b Results</a:t>
            </a:r>
          </a:p>
          <a:p>
            <a:pPr algn="l">
              <a:spcAft>
                <a:spcPts val="600"/>
              </a:spcAft>
              <a:defRPr sz="1100" b="0">
                <a:solidFill>
                  <a:srgbClr val="002A55"/>
                </a:solidFill>
                <a:latin typeface="Calibri"/>
              </a:defRPr>
            </a:pPr>
            <a:endParaRPr dirty="0"/>
          </a:p>
          <a:p>
            <a:pPr algn="l">
              <a:spcAft>
                <a:spcPts val="600"/>
              </a:spcAft>
              <a:defRPr sz="1100" b="0">
                <a:solidFill>
                  <a:srgbClr val="002A55"/>
                </a:solidFill>
                <a:latin typeface="Calibri"/>
              </a:defRPr>
            </a:pPr>
            <a:r>
              <a:rPr dirty="0"/>
              <a:t>F1 Macro:    0.798</a:t>
            </a:r>
          </a:p>
          <a:p>
            <a:pPr algn="l">
              <a:spcAft>
                <a:spcPts val="600"/>
              </a:spcAft>
              <a:defRPr sz="1100" b="0">
                <a:solidFill>
                  <a:srgbClr val="002A55"/>
                </a:solidFill>
                <a:latin typeface="Calibri"/>
              </a:defRPr>
            </a:pPr>
            <a:r>
              <a:rPr dirty="0"/>
              <a:t>Accuracy:    0.818</a:t>
            </a:r>
          </a:p>
          <a:p>
            <a:pPr algn="l">
              <a:spcAft>
                <a:spcPts val="600"/>
              </a:spcAft>
              <a:defRPr sz="1100" b="0">
                <a:solidFill>
                  <a:srgbClr val="002A55"/>
                </a:solidFill>
                <a:latin typeface="Calibri"/>
              </a:defRPr>
            </a:pPr>
            <a:r>
              <a:rPr dirty="0"/>
              <a:t>Training:   ~5 s (20 epochs)</a:t>
            </a:r>
          </a:p>
          <a:p>
            <a:pPr algn="l">
              <a:spcAft>
                <a:spcPts val="600"/>
              </a:spcAft>
              <a:defRPr sz="1100" b="0">
                <a:solidFill>
                  <a:srgbClr val="002A55"/>
                </a:solidFill>
                <a:latin typeface="Calibri"/>
              </a:defRPr>
            </a:pPr>
            <a:r>
              <a:rPr dirty="0"/>
              <a:t>Inference:   8 </a:t>
            </a:r>
            <a:r>
              <a:rPr dirty="0" err="1"/>
              <a:t>ms</a:t>
            </a:r>
            <a:r>
              <a:rPr dirty="0"/>
              <a:t> / batch</a:t>
            </a:r>
          </a:p>
          <a:p>
            <a:pPr algn="l">
              <a:spcAft>
                <a:spcPts val="600"/>
              </a:spcAft>
              <a:defRPr sz="1100" b="0">
                <a:solidFill>
                  <a:srgbClr val="002A55"/>
                </a:solidFill>
                <a:latin typeface="Calibri"/>
              </a:defRPr>
            </a:pPr>
            <a:endParaRPr dirty="0"/>
          </a:p>
          <a:p>
            <a:pPr algn="l">
              <a:spcAft>
                <a:spcPts val="600"/>
              </a:spcAft>
              <a:defRPr sz="1100" b="0">
                <a:solidFill>
                  <a:srgbClr val="002A55"/>
                </a:solidFill>
                <a:latin typeface="Calibri"/>
              </a:defRPr>
            </a:pPr>
            <a:r>
              <a:rPr dirty="0">
                <a:solidFill>
                  <a:schemeClr val="bg2"/>
                </a:solidFill>
              </a:rPr>
              <a:t>Note: Deep learning did not</a:t>
            </a:r>
          </a:p>
          <a:p>
            <a:pPr algn="l">
              <a:spcAft>
                <a:spcPts val="600"/>
              </a:spcAft>
              <a:defRPr sz="1100" b="0">
                <a:solidFill>
                  <a:srgbClr val="002A55"/>
                </a:solidFill>
                <a:latin typeface="Calibri"/>
              </a:defRPr>
            </a:pPr>
            <a:r>
              <a:rPr dirty="0">
                <a:solidFill>
                  <a:schemeClr val="bg2"/>
                </a:solidFill>
              </a:rPr>
              <a:t>outperform classical ML with</a:t>
            </a:r>
          </a:p>
          <a:p>
            <a:pPr algn="l">
              <a:spcAft>
                <a:spcPts val="600"/>
              </a:spcAft>
              <a:defRPr sz="1100" b="0">
                <a:solidFill>
                  <a:srgbClr val="002A55"/>
                </a:solidFill>
                <a:latin typeface="Calibri"/>
              </a:defRPr>
            </a:pPr>
            <a:r>
              <a:rPr dirty="0">
                <a:solidFill>
                  <a:schemeClr val="bg2"/>
                </a:solidFill>
              </a:rPr>
              <a:t>engineered features (277 tasks</a:t>
            </a:r>
          </a:p>
          <a:p>
            <a:pPr algn="l">
              <a:spcAft>
                <a:spcPts val="600"/>
              </a:spcAft>
              <a:defRPr sz="1100" b="0">
                <a:solidFill>
                  <a:srgbClr val="002A55"/>
                </a:solidFill>
                <a:latin typeface="Calibri"/>
              </a:defRPr>
            </a:pPr>
            <a:r>
              <a:rPr dirty="0">
                <a:solidFill>
                  <a:schemeClr val="bg2"/>
                </a:solidFill>
              </a:rPr>
              <a:t>is too small for DL to shine)</a:t>
            </a:r>
          </a:p>
        </p:txBody>
      </p:sp>
      <p:sp>
        <p:nvSpPr>
          <p:cNvPr id="30" name="Rectangle 29"/>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32" name="Rectangle 31"/>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nus_iss_logo_transparent.png"/>
          <p:cNvPicPr>
            <a:picLocks noChangeAspect="1"/>
          </p:cNvPicPr>
          <p:nvPr/>
        </p:nvPicPr>
        <p:blipFill>
          <a:blip r:embed="rId3"/>
          <a:stretch>
            <a:fillRect/>
          </a:stretch>
        </p:blipFill>
        <p:spPr>
          <a:xfrm>
            <a:off x="9555480" y="82296"/>
            <a:ext cx="2514600" cy="5852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Tier 3 — Voting Ensemble (Best Model: F1 0.884)</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Combines 4 base models via soft probability averaging — best of all worlds</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345472" y="1371600"/>
            <a:ext cx="8412480" cy="4572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28352" y="1417320"/>
            <a:ext cx="8138160" cy="365760"/>
          </a:xfrm>
          <a:prstGeom prst="rect">
            <a:avLst/>
          </a:prstGeom>
          <a:noFill/>
        </p:spPr>
        <p:txBody>
          <a:bodyPr wrap="square">
            <a:spAutoFit/>
          </a:bodyPr>
          <a:lstStyle/>
          <a:p>
            <a:pPr algn="l">
              <a:spcAft>
                <a:spcPts val="600"/>
              </a:spcAft>
              <a:defRPr sz="1200" b="1">
                <a:solidFill>
                  <a:srgbClr val="003D7C"/>
                </a:solidFill>
                <a:latin typeface="Calibri"/>
              </a:defRPr>
            </a:pPr>
            <a:r>
              <a:t>Base models (6-model MVP): SVM + Decision Tree + Random Forest + MLPP (F1 0.798)</a:t>
            </a:r>
          </a:p>
        </p:txBody>
      </p:sp>
      <p:sp>
        <p:nvSpPr>
          <p:cNvPr id="12" name="Rounded Rectangle 11"/>
          <p:cNvSpPr/>
          <p:nvPr/>
        </p:nvSpPr>
        <p:spPr>
          <a:xfrm>
            <a:off x="1345472" y="2011680"/>
            <a:ext cx="1920240" cy="7315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SVM</a:t>
            </a:r>
            <a:br/>
            <a:r>
              <a:t>F1 0.812</a:t>
            </a:r>
          </a:p>
        </p:txBody>
      </p:sp>
      <p:sp>
        <p:nvSpPr>
          <p:cNvPr id="13" name="TextBox 12"/>
          <p:cNvSpPr txBox="1"/>
          <p:nvPr/>
        </p:nvSpPr>
        <p:spPr>
          <a:xfrm>
            <a:off x="2122712" y="2834640"/>
            <a:ext cx="365760" cy="274320"/>
          </a:xfrm>
          <a:prstGeom prst="rect">
            <a:avLst/>
          </a:prstGeom>
          <a:noFill/>
        </p:spPr>
        <p:txBody>
          <a:bodyPr wrap="square">
            <a:spAutoFit/>
          </a:bodyPr>
          <a:lstStyle/>
          <a:p>
            <a:pPr algn="ctr">
              <a:defRPr sz="1400" b="1">
                <a:solidFill>
                  <a:srgbClr val="007ACC"/>
                </a:solidFill>
                <a:latin typeface="Calibri"/>
              </a:defRPr>
            </a:pPr>
            <a:r>
              <a:t>↓</a:t>
            </a:r>
          </a:p>
        </p:txBody>
      </p:sp>
      <p:sp>
        <p:nvSpPr>
          <p:cNvPr id="14" name="Rounded Rectangle 13"/>
          <p:cNvSpPr/>
          <p:nvPr/>
        </p:nvSpPr>
        <p:spPr>
          <a:xfrm>
            <a:off x="3494312" y="2011680"/>
            <a:ext cx="1920240" cy="7315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Random Forest</a:t>
            </a:r>
            <a:br/>
            <a:r>
              <a:t>F1 0.841</a:t>
            </a:r>
          </a:p>
        </p:txBody>
      </p:sp>
      <p:sp>
        <p:nvSpPr>
          <p:cNvPr id="15" name="TextBox 14"/>
          <p:cNvSpPr txBox="1"/>
          <p:nvPr/>
        </p:nvSpPr>
        <p:spPr>
          <a:xfrm>
            <a:off x="4271552" y="2834640"/>
            <a:ext cx="365760" cy="274320"/>
          </a:xfrm>
          <a:prstGeom prst="rect">
            <a:avLst/>
          </a:prstGeom>
          <a:noFill/>
        </p:spPr>
        <p:txBody>
          <a:bodyPr wrap="square">
            <a:spAutoFit/>
          </a:bodyPr>
          <a:lstStyle/>
          <a:p>
            <a:pPr algn="ctr">
              <a:defRPr sz="1400" b="1">
                <a:solidFill>
                  <a:srgbClr val="28A745"/>
                </a:solidFill>
                <a:latin typeface="Calibri"/>
              </a:defRPr>
            </a:pPr>
            <a:r>
              <a:t>↓</a:t>
            </a:r>
          </a:p>
        </p:txBody>
      </p:sp>
      <p:sp>
        <p:nvSpPr>
          <p:cNvPr id="16" name="Rounded Rectangle 15"/>
          <p:cNvSpPr/>
          <p:nvPr/>
        </p:nvSpPr>
        <p:spPr>
          <a:xfrm>
            <a:off x="5643152" y="2011680"/>
            <a:ext cx="1920240" cy="7315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Decision TreeF1 0.762</a:t>
            </a:r>
            <a:br/>
            <a:endParaRPr/>
          </a:p>
        </p:txBody>
      </p:sp>
      <p:sp>
        <p:nvSpPr>
          <p:cNvPr id="17" name="TextBox 16"/>
          <p:cNvSpPr txBox="1"/>
          <p:nvPr/>
        </p:nvSpPr>
        <p:spPr>
          <a:xfrm>
            <a:off x="6420392" y="2834640"/>
            <a:ext cx="365760" cy="274320"/>
          </a:xfrm>
          <a:prstGeom prst="rect">
            <a:avLst/>
          </a:prstGeom>
          <a:noFill/>
        </p:spPr>
        <p:txBody>
          <a:bodyPr wrap="square">
            <a:spAutoFit/>
          </a:bodyPr>
          <a:lstStyle/>
          <a:p>
            <a:pPr algn="ctr">
              <a:defRPr sz="1400" b="1">
                <a:solidFill>
                  <a:srgbClr val="EF7C00"/>
                </a:solidFill>
                <a:latin typeface="Calibri"/>
              </a:defRPr>
            </a:pPr>
            <a:r>
              <a:t>↓</a:t>
            </a:r>
          </a:p>
        </p:txBody>
      </p:sp>
      <p:sp>
        <p:nvSpPr>
          <p:cNvPr id="18" name="Rounded Rectangle 17"/>
          <p:cNvSpPr/>
          <p:nvPr/>
        </p:nvSpPr>
        <p:spPr>
          <a:xfrm>
            <a:off x="7791992" y="2011680"/>
            <a:ext cx="1920240" cy="7315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t>MLP</a:t>
            </a:r>
            <a:br/>
            <a:r>
              <a:t>F1 0.798</a:t>
            </a:r>
          </a:p>
        </p:txBody>
      </p:sp>
      <p:sp>
        <p:nvSpPr>
          <p:cNvPr id="19" name="TextBox 18"/>
          <p:cNvSpPr txBox="1"/>
          <p:nvPr/>
        </p:nvSpPr>
        <p:spPr>
          <a:xfrm>
            <a:off x="8569232" y="2834640"/>
            <a:ext cx="365760" cy="274320"/>
          </a:xfrm>
          <a:prstGeom prst="rect">
            <a:avLst/>
          </a:prstGeom>
          <a:noFill/>
        </p:spPr>
        <p:txBody>
          <a:bodyPr wrap="square">
            <a:spAutoFit/>
          </a:bodyPr>
          <a:lstStyle/>
          <a:p>
            <a:pPr algn="ctr">
              <a:defRPr sz="1400" b="1">
                <a:solidFill>
                  <a:srgbClr val="6F42C1"/>
                </a:solidFill>
                <a:latin typeface="Calibri"/>
              </a:defRPr>
            </a:pPr>
            <a:r>
              <a:t>↓</a:t>
            </a:r>
          </a:p>
        </p:txBody>
      </p:sp>
      <p:sp>
        <p:nvSpPr>
          <p:cNvPr id="20" name="Rounded Rectangle 19"/>
          <p:cNvSpPr/>
          <p:nvPr/>
        </p:nvSpPr>
        <p:spPr>
          <a:xfrm>
            <a:off x="1345472" y="3200400"/>
            <a:ext cx="8412480" cy="82296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528352" y="3246120"/>
            <a:ext cx="8138160" cy="731520"/>
          </a:xfrm>
          <a:prstGeom prst="rect">
            <a:avLst/>
          </a:prstGeom>
          <a:noFill/>
        </p:spPr>
        <p:txBody>
          <a:bodyPr wrap="square">
            <a:spAutoFit/>
          </a:bodyPr>
          <a:lstStyle/>
          <a:p>
            <a:pPr algn="l">
              <a:spcAft>
                <a:spcPts val="600"/>
              </a:spcAft>
              <a:defRPr sz="1100" b="0">
                <a:solidFill>
                  <a:srgbClr val="28A745"/>
                </a:solidFill>
                <a:latin typeface="Courier New"/>
              </a:defRPr>
            </a:pPr>
            <a:r>
              <a:t>Soft Voting — Average Probability Across All Models:</a:t>
            </a:r>
          </a:p>
          <a:p>
            <a:pPr algn="l">
              <a:spcAft>
                <a:spcPts val="600"/>
              </a:spcAft>
              <a:defRPr sz="1100" b="0">
                <a:solidFill>
                  <a:srgbClr val="28A745"/>
                </a:solidFill>
                <a:latin typeface="Courier New"/>
              </a:defRPr>
            </a:pPr>
            <a:r>
              <a:t>  P_avg(class=c) = (P_SVM + P_RF + P_XGB + P_MLP) / 4    →    ŷ = argmax P_avg</a:t>
            </a:r>
          </a:p>
        </p:txBody>
      </p:sp>
      <p:sp>
        <p:nvSpPr>
          <p:cNvPr id="22" name="Rounded Rectangle 21"/>
          <p:cNvSpPr/>
          <p:nvPr/>
        </p:nvSpPr>
        <p:spPr>
          <a:xfrm>
            <a:off x="1345472" y="4160520"/>
            <a:ext cx="4114800" cy="10972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528352" y="4206240"/>
            <a:ext cx="3840480" cy="1005840"/>
          </a:xfrm>
          <a:prstGeom prst="rect">
            <a:avLst/>
          </a:prstGeom>
          <a:noFill/>
        </p:spPr>
        <p:txBody>
          <a:bodyPr wrap="square">
            <a:spAutoFit/>
          </a:bodyPr>
          <a:lstStyle/>
          <a:p>
            <a:pPr algn="l">
              <a:spcAft>
                <a:spcPts val="600"/>
              </a:spcAft>
              <a:defRPr sz="1100" b="0">
                <a:solidFill>
                  <a:srgbClr val="002A55"/>
                </a:solidFill>
                <a:latin typeface="Calibri"/>
              </a:defRPr>
            </a:pPr>
            <a:r>
              <a:t>Why Voting &gt; Any Single Model</a:t>
            </a:r>
          </a:p>
          <a:p>
            <a:pPr algn="l">
              <a:spcAft>
                <a:spcPts val="600"/>
              </a:spcAft>
              <a:defRPr sz="1100" b="0">
                <a:solidFill>
                  <a:srgbClr val="002A55"/>
                </a:solidFill>
                <a:latin typeface="Calibri"/>
              </a:defRPr>
            </a:pPr>
            <a:endParaRPr/>
          </a:p>
          <a:p>
            <a:pPr algn="l">
              <a:spcAft>
                <a:spcPts val="600"/>
              </a:spcAft>
              <a:defRPr sz="1100" b="0">
                <a:solidFill>
                  <a:srgbClr val="002A55"/>
                </a:solidFill>
                <a:latin typeface="Calibri"/>
              </a:defRPr>
            </a:pPr>
            <a:r>
              <a:t>Each model has different error patterns.</a:t>
            </a:r>
          </a:p>
          <a:p>
            <a:pPr algn="l">
              <a:spcAft>
                <a:spcPts val="600"/>
              </a:spcAft>
              <a:defRPr sz="1100" b="0">
                <a:solidFill>
                  <a:srgbClr val="002A55"/>
                </a:solidFill>
                <a:latin typeface="Calibri"/>
              </a:defRPr>
            </a:pPr>
            <a:r>
              <a:t>When SVM is wrong, RF or XGBoost is often right.</a:t>
            </a:r>
          </a:p>
          <a:p>
            <a:pPr algn="l">
              <a:spcAft>
                <a:spcPts val="600"/>
              </a:spcAft>
              <a:defRPr sz="1100" b="0">
                <a:solidFill>
                  <a:srgbClr val="002A55"/>
                </a:solidFill>
                <a:latin typeface="Calibri"/>
              </a:defRPr>
            </a:pPr>
            <a:r>
              <a:t>Averaging smooths out individual biases → higher F1.</a:t>
            </a:r>
          </a:p>
        </p:txBody>
      </p:sp>
      <p:sp>
        <p:nvSpPr>
          <p:cNvPr id="24" name="Rounded Rectangle 23"/>
          <p:cNvSpPr/>
          <p:nvPr/>
        </p:nvSpPr>
        <p:spPr>
          <a:xfrm>
            <a:off x="5643152" y="4160520"/>
            <a:ext cx="4114800" cy="109728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26032" y="4206240"/>
            <a:ext cx="3840480" cy="1005840"/>
          </a:xfrm>
          <a:prstGeom prst="rect">
            <a:avLst/>
          </a:prstGeom>
          <a:noFill/>
        </p:spPr>
        <p:txBody>
          <a:bodyPr wrap="square">
            <a:spAutoFit/>
          </a:bodyPr>
          <a:lstStyle/>
          <a:p>
            <a:pPr algn="l">
              <a:spcAft>
                <a:spcPts val="600"/>
              </a:spcAft>
              <a:defRPr sz="1100" b="1">
                <a:solidFill>
                  <a:srgbClr val="003D7C"/>
                </a:solidFill>
                <a:latin typeface="Calibri"/>
              </a:defRPr>
            </a:pPr>
            <a:r>
              <a:t>Voting Ensemble — v3b Final Results</a:t>
            </a:r>
          </a:p>
          <a:p>
            <a:pPr algn="l">
              <a:spcAft>
                <a:spcPts val="600"/>
              </a:spcAft>
              <a:defRPr sz="1100" b="1">
                <a:solidFill>
                  <a:srgbClr val="003D7C"/>
                </a:solidFill>
                <a:latin typeface="Calibri"/>
              </a:defRPr>
            </a:pPr>
            <a:endParaRPr/>
          </a:p>
          <a:p>
            <a:pPr algn="l">
              <a:spcAft>
                <a:spcPts val="600"/>
              </a:spcAft>
              <a:defRPr sz="1100" b="1">
                <a:solidFill>
                  <a:srgbClr val="003D7C"/>
                </a:solidFill>
                <a:latin typeface="Calibri"/>
              </a:defRPr>
            </a:pPr>
            <a:r>
              <a:t>F1 Macro: 0.884  |  Accuracy: 0.891</a:t>
            </a:r>
          </a:p>
          <a:p>
            <a:pPr algn="l">
              <a:spcAft>
                <a:spcPts val="600"/>
              </a:spcAft>
              <a:defRPr sz="1100" b="1">
                <a:solidFill>
                  <a:srgbClr val="003D7C"/>
                </a:solidFill>
                <a:latin typeface="Calibri"/>
              </a:defRPr>
            </a:pPr>
            <a:r>
              <a:t>Latency:   84 ms (4 model predictions + avg)</a:t>
            </a:r>
          </a:p>
          <a:p>
            <a:pPr algn="l">
              <a:spcAft>
                <a:spcPts val="600"/>
              </a:spcAft>
              <a:defRPr sz="1100" b="1">
                <a:solidFill>
                  <a:srgbClr val="003D7C"/>
                </a:solidFill>
                <a:latin typeface="Calibri"/>
              </a:defRPr>
            </a:pPr>
            <a:r>
              <a:t>+73% improvement over v2 baseline (KNN F1 0.51)</a:t>
            </a:r>
          </a:p>
        </p:txBody>
      </p:sp>
      <p:sp>
        <p:nvSpPr>
          <p:cNvPr id="26" name="Rectangle 25"/>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28" name="Rectangle 27"/>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nus_iss_logo_transparent.png"/>
          <p:cNvPicPr>
            <a:picLocks noChangeAspect="1"/>
          </p:cNvPicPr>
          <p:nvPr/>
        </p:nvPicPr>
        <p:blipFill>
          <a:blip r:embed="rId3"/>
          <a:stretch>
            <a:fillRect/>
          </a:stretch>
        </p:blipFill>
        <p:spPr>
          <a:xfrm>
            <a:off x="9555480" y="82296"/>
            <a:ext cx="2514600" cy="5852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10077994" cy="584775"/>
          </a:xfrm>
          <a:prstGeom prst="rect">
            <a:avLst/>
          </a:prstGeom>
          <a:noFill/>
        </p:spPr>
        <p:txBody>
          <a:bodyPr wrap="square">
            <a:spAutoFit/>
          </a:bodyPr>
          <a:lstStyle/>
          <a:p>
            <a:pPr algn="l">
              <a:defRPr sz="3200" b="1">
                <a:solidFill>
                  <a:srgbClr val="FFFFFF"/>
                </a:solidFill>
                <a:latin typeface="Calibri"/>
              </a:defRPr>
            </a:pPr>
            <a:r>
              <a:rPr dirty="0"/>
              <a:t>Step 4 — Evaluation: Why F1 Macro is the Primary Metric</a:t>
            </a:r>
          </a:p>
        </p:txBody>
      </p:sp>
      <p:sp>
        <p:nvSpPr>
          <p:cNvPr id="7" name="TextBox 6"/>
          <p:cNvSpPr txBox="1"/>
          <p:nvPr/>
        </p:nvSpPr>
        <p:spPr>
          <a:xfrm>
            <a:off x="1188720" y="594360"/>
            <a:ext cx="10001794" cy="400110"/>
          </a:xfrm>
          <a:prstGeom prst="rect">
            <a:avLst/>
          </a:prstGeom>
          <a:noFill/>
        </p:spPr>
        <p:txBody>
          <a:bodyPr wrap="square">
            <a:spAutoFit/>
          </a:bodyPr>
          <a:lstStyle/>
          <a:p>
            <a:pPr algn="l">
              <a:defRPr sz="2000" b="0">
                <a:solidFill>
                  <a:srgbClr val="FFFFFF"/>
                </a:solidFill>
                <a:latin typeface="Calibri"/>
              </a:defRPr>
            </a:pPr>
            <a:r>
              <a:rPr dirty="0"/>
              <a:t>Accuracy is misleading with imbalanced classes — F1 Macro treats all 8 classes equally</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334590" y="1417320"/>
            <a:ext cx="8412480" cy="128016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17470" y="1463040"/>
            <a:ext cx="8138160" cy="1188720"/>
          </a:xfrm>
          <a:prstGeom prst="rect">
            <a:avLst/>
          </a:prstGeom>
          <a:noFill/>
        </p:spPr>
        <p:txBody>
          <a:bodyPr wrap="square">
            <a:spAutoFit/>
          </a:bodyPr>
          <a:lstStyle/>
          <a:p>
            <a:pPr algn="l">
              <a:spcAft>
                <a:spcPts val="600"/>
              </a:spcAft>
              <a:defRPr sz="1100" b="0">
                <a:solidFill>
                  <a:srgbClr val="002A55"/>
                </a:solidFill>
                <a:latin typeface="Calibri"/>
              </a:defRPr>
            </a:pPr>
            <a:r>
              <a:t>Why not just use Accuracy?</a:t>
            </a:r>
          </a:p>
          <a:p>
            <a:pPr algn="l">
              <a:spcAft>
                <a:spcPts val="600"/>
              </a:spcAft>
              <a:defRPr sz="1100" b="0">
                <a:solidFill>
                  <a:srgbClr val="002A55"/>
                </a:solidFill>
                <a:latin typeface="Calibri"/>
              </a:defRPr>
            </a:pPr>
            <a:r>
              <a:t>VSCode tasks dominate (~38% of data). A model that always predicts 'coding_editing'</a:t>
            </a:r>
          </a:p>
          <a:p>
            <a:pPr algn="l">
              <a:spcAft>
                <a:spcPts val="600"/>
              </a:spcAft>
              <a:defRPr sz="1100" b="0">
                <a:solidFill>
                  <a:srgbClr val="002A55"/>
                </a:solidFill>
                <a:latin typeface="Calibri"/>
              </a:defRPr>
            </a:pPr>
            <a:r>
              <a:t>gets ~38% accuracy yet F1 Macro ≈ 0.05 — it learned nothing about the other 7 classes.</a:t>
            </a:r>
          </a:p>
          <a:p>
            <a:pPr algn="l">
              <a:spcAft>
                <a:spcPts val="600"/>
              </a:spcAft>
              <a:defRPr sz="1100" b="0">
                <a:solidFill>
                  <a:srgbClr val="002A55"/>
                </a:solidFill>
                <a:latin typeface="Calibri"/>
              </a:defRPr>
            </a:pPr>
            <a:r>
              <a:t>F1 Macro averages per-class F1 scores, giving equal weight to rare and common classes.</a:t>
            </a:r>
          </a:p>
        </p:txBody>
      </p:sp>
      <p:sp>
        <p:nvSpPr>
          <p:cNvPr id="12" name="Rounded Rectangle 11"/>
          <p:cNvSpPr/>
          <p:nvPr/>
        </p:nvSpPr>
        <p:spPr>
          <a:xfrm>
            <a:off x="1334590" y="2834640"/>
            <a:ext cx="228600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71750" y="2871216"/>
            <a:ext cx="2103120" cy="274320"/>
          </a:xfrm>
          <a:prstGeom prst="rect">
            <a:avLst/>
          </a:prstGeom>
          <a:noFill/>
        </p:spPr>
        <p:txBody>
          <a:bodyPr wrap="square">
            <a:spAutoFit/>
          </a:bodyPr>
          <a:lstStyle/>
          <a:p>
            <a:pPr algn="l">
              <a:defRPr sz="1000" b="1">
                <a:solidFill>
                  <a:srgbClr val="003D7C"/>
                </a:solidFill>
                <a:latin typeface="Calibri"/>
              </a:defRPr>
            </a:pPr>
            <a:r>
              <a:t>Precision (per class)</a:t>
            </a:r>
          </a:p>
        </p:txBody>
      </p:sp>
      <p:sp>
        <p:nvSpPr>
          <p:cNvPr id="14" name="Rounded Rectangle 13"/>
          <p:cNvSpPr/>
          <p:nvPr/>
        </p:nvSpPr>
        <p:spPr>
          <a:xfrm>
            <a:off x="3666310" y="2834640"/>
            <a:ext cx="256032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57750" y="2871216"/>
            <a:ext cx="2377440" cy="274320"/>
          </a:xfrm>
          <a:prstGeom prst="rect">
            <a:avLst/>
          </a:prstGeom>
          <a:noFill/>
        </p:spPr>
        <p:txBody>
          <a:bodyPr wrap="square">
            <a:spAutoFit/>
          </a:bodyPr>
          <a:lstStyle/>
          <a:p>
            <a:pPr algn="l">
              <a:defRPr sz="1000" b="0">
                <a:solidFill>
                  <a:srgbClr val="002A55"/>
                </a:solidFill>
                <a:latin typeface="Courier New"/>
              </a:defRPr>
            </a:pPr>
            <a:r>
              <a:t>TP / (TP + FP)</a:t>
            </a:r>
          </a:p>
        </p:txBody>
      </p:sp>
      <p:sp>
        <p:nvSpPr>
          <p:cNvPr id="16" name="Rounded Rectangle 15"/>
          <p:cNvSpPr/>
          <p:nvPr/>
        </p:nvSpPr>
        <p:spPr>
          <a:xfrm>
            <a:off x="6272350" y="2834640"/>
            <a:ext cx="356616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3790" y="2871216"/>
            <a:ext cx="3383280" cy="274320"/>
          </a:xfrm>
          <a:prstGeom prst="rect">
            <a:avLst/>
          </a:prstGeom>
          <a:noFill/>
        </p:spPr>
        <p:txBody>
          <a:bodyPr wrap="square">
            <a:spAutoFit/>
          </a:bodyPr>
          <a:lstStyle/>
          <a:p>
            <a:pPr algn="l">
              <a:defRPr sz="1000" b="0">
                <a:solidFill>
                  <a:srgbClr val="999999"/>
                </a:solidFill>
                <a:latin typeface="Calibri"/>
              </a:defRPr>
            </a:pPr>
            <a:r>
              <a:t>Of all tasks predicted as class C, how many truly are C?</a:t>
            </a:r>
          </a:p>
        </p:txBody>
      </p:sp>
      <p:sp>
        <p:nvSpPr>
          <p:cNvPr id="18" name="Rounded Rectangle 17"/>
          <p:cNvSpPr/>
          <p:nvPr/>
        </p:nvSpPr>
        <p:spPr>
          <a:xfrm>
            <a:off x="1334590" y="3218688"/>
            <a:ext cx="2286000" cy="32004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71750" y="3255264"/>
            <a:ext cx="2103120" cy="274320"/>
          </a:xfrm>
          <a:prstGeom prst="rect">
            <a:avLst/>
          </a:prstGeom>
          <a:noFill/>
        </p:spPr>
        <p:txBody>
          <a:bodyPr wrap="square">
            <a:spAutoFit/>
          </a:bodyPr>
          <a:lstStyle/>
          <a:p>
            <a:pPr algn="l">
              <a:defRPr sz="1000" b="1">
                <a:solidFill>
                  <a:srgbClr val="003D7C"/>
                </a:solidFill>
                <a:latin typeface="Calibri"/>
              </a:defRPr>
            </a:pPr>
            <a:r>
              <a:t>Recall (per class)</a:t>
            </a:r>
          </a:p>
        </p:txBody>
      </p:sp>
      <p:sp>
        <p:nvSpPr>
          <p:cNvPr id="20" name="Rounded Rectangle 19"/>
          <p:cNvSpPr/>
          <p:nvPr/>
        </p:nvSpPr>
        <p:spPr>
          <a:xfrm>
            <a:off x="3666310" y="3218688"/>
            <a:ext cx="2560320" cy="32004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57750" y="3255264"/>
            <a:ext cx="2377440" cy="274320"/>
          </a:xfrm>
          <a:prstGeom prst="rect">
            <a:avLst/>
          </a:prstGeom>
          <a:noFill/>
        </p:spPr>
        <p:txBody>
          <a:bodyPr wrap="square">
            <a:spAutoFit/>
          </a:bodyPr>
          <a:lstStyle/>
          <a:p>
            <a:pPr algn="l">
              <a:defRPr sz="1000" b="0">
                <a:solidFill>
                  <a:srgbClr val="002A55"/>
                </a:solidFill>
                <a:latin typeface="Courier New"/>
              </a:defRPr>
            </a:pPr>
            <a:r>
              <a:t>TP / (TP + FN)</a:t>
            </a:r>
          </a:p>
        </p:txBody>
      </p:sp>
      <p:sp>
        <p:nvSpPr>
          <p:cNvPr id="22" name="Rounded Rectangle 21"/>
          <p:cNvSpPr/>
          <p:nvPr/>
        </p:nvSpPr>
        <p:spPr>
          <a:xfrm>
            <a:off x="6272350" y="3218688"/>
            <a:ext cx="3566160" cy="32004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63790" y="3255264"/>
            <a:ext cx="3383280" cy="274320"/>
          </a:xfrm>
          <a:prstGeom prst="rect">
            <a:avLst/>
          </a:prstGeom>
          <a:noFill/>
        </p:spPr>
        <p:txBody>
          <a:bodyPr wrap="square">
            <a:spAutoFit/>
          </a:bodyPr>
          <a:lstStyle/>
          <a:p>
            <a:pPr algn="l">
              <a:defRPr sz="1000" b="0">
                <a:solidFill>
                  <a:srgbClr val="999999"/>
                </a:solidFill>
                <a:latin typeface="Calibri"/>
              </a:defRPr>
            </a:pPr>
            <a:r>
              <a:t>Of all true class C tasks, how many did we catch?</a:t>
            </a:r>
          </a:p>
        </p:txBody>
      </p:sp>
      <p:sp>
        <p:nvSpPr>
          <p:cNvPr id="24" name="Rounded Rectangle 23"/>
          <p:cNvSpPr/>
          <p:nvPr/>
        </p:nvSpPr>
        <p:spPr>
          <a:xfrm>
            <a:off x="1334590" y="3602736"/>
            <a:ext cx="228600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471750" y="3639312"/>
            <a:ext cx="2103120" cy="274320"/>
          </a:xfrm>
          <a:prstGeom prst="rect">
            <a:avLst/>
          </a:prstGeom>
          <a:noFill/>
        </p:spPr>
        <p:txBody>
          <a:bodyPr wrap="square">
            <a:spAutoFit/>
          </a:bodyPr>
          <a:lstStyle/>
          <a:p>
            <a:pPr algn="l">
              <a:defRPr sz="1000" b="1">
                <a:solidFill>
                  <a:srgbClr val="003D7C"/>
                </a:solidFill>
                <a:latin typeface="Calibri"/>
              </a:defRPr>
            </a:pPr>
            <a:r>
              <a:t>F1 per class</a:t>
            </a:r>
          </a:p>
        </p:txBody>
      </p:sp>
      <p:sp>
        <p:nvSpPr>
          <p:cNvPr id="26" name="Rounded Rectangle 25"/>
          <p:cNvSpPr/>
          <p:nvPr/>
        </p:nvSpPr>
        <p:spPr>
          <a:xfrm>
            <a:off x="3666310" y="3602736"/>
            <a:ext cx="256032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757750" y="3639312"/>
            <a:ext cx="2377440" cy="274320"/>
          </a:xfrm>
          <a:prstGeom prst="rect">
            <a:avLst/>
          </a:prstGeom>
          <a:noFill/>
        </p:spPr>
        <p:txBody>
          <a:bodyPr wrap="square">
            <a:spAutoFit/>
          </a:bodyPr>
          <a:lstStyle/>
          <a:p>
            <a:pPr algn="l">
              <a:defRPr sz="1000" b="0">
                <a:solidFill>
                  <a:srgbClr val="002A55"/>
                </a:solidFill>
                <a:latin typeface="Courier New"/>
              </a:defRPr>
            </a:pPr>
            <a:r>
              <a:t>2 × P × R / (P + R)</a:t>
            </a:r>
          </a:p>
        </p:txBody>
      </p:sp>
      <p:sp>
        <p:nvSpPr>
          <p:cNvPr id="28" name="Rounded Rectangle 27"/>
          <p:cNvSpPr/>
          <p:nvPr/>
        </p:nvSpPr>
        <p:spPr>
          <a:xfrm>
            <a:off x="6272350" y="3602736"/>
            <a:ext cx="356616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63790" y="3639312"/>
            <a:ext cx="3383280" cy="274320"/>
          </a:xfrm>
          <a:prstGeom prst="rect">
            <a:avLst/>
          </a:prstGeom>
          <a:noFill/>
        </p:spPr>
        <p:txBody>
          <a:bodyPr wrap="square">
            <a:spAutoFit/>
          </a:bodyPr>
          <a:lstStyle/>
          <a:p>
            <a:pPr algn="l">
              <a:defRPr sz="1000" b="0">
                <a:solidFill>
                  <a:srgbClr val="999999"/>
                </a:solidFill>
                <a:latin typeface="Calibri"/>
              </a:defRPr>
            </a:pPr>
            <a:r>
              <a:t>Harmonic mean — balances false positives and false negatives</a:t>
            </a:r>
          </a:p>
        </p:txBody>
      </p:sp>
      <p:sp>
        <p:nvSpPr>
          <p:cNvPr id="30" name="Rounded Rectangle 29"/>
          <p:cNvSpPr/>
          <p:nvPr/>
        </p:nvSpPr>
        <p:spPr>
          <a:xfrm>
            <a:off x="1334590" y="3986784"/>
            <a:ext cx="2286000" cy="32004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471750" y="4023360"/>
            <a:ext cx="2103120" cy="274320"/>
          </a:xfrm>
          <a:prstGeom prst="rect">
            <a:avLst/>
          </a:prstGeom>
          <a:noFill/>
        </p:spPr>
        <p:txBody>
          <a:bodyPr wrap="square">
            <a:spAutoFit/>
          </a:bodyPr>
          <a:lstStyle/>
          <a:p>
            <a:pPr algn="l">
              <a:defRPr sz="1000" b="1">
                <a:solidFill>
                  <a:srgbClr val="003D7C"/>
                </a:solidFill>
                <a:latin typeface="Calibri"/>
              </a:defRPr>
            </a:pPr>
            <a:r>
              <a:t>F1 Macro</a:t>
            </a:r>
          </a:p>
        </p:txBody>
      </p:sp>
      <p:sp>
        <p:nvSpPr>
          <p:cNvPr id="32" name="Rounded Rectangle 31"/>
          <p:cNvSpPr/>
          <p:nvPr/>
        </p:nvSpPr>
        <p:spPr>
          <a:xfrm>
            <a:off x="3666310" y="3986784"/>
            <a:ext cx="2560320" cy="32004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757750" y="4023360"/>
            <a:ext cx="2377440" cy="274320"/>
          </a:xfrm>
          <a:prstGeom prst="rect">
            <a:avLst/>
          </a:prstGeom>
          <a:noFill/>
        </p:spPr>
        <p:txBody>
          <a:bodyPr wrap="square">
            <a:spAutoFit/>
          </a:bodyPr>
          <a:lstStyle/>
          <a:p>
            <a:pPr algn="l">
              <a:defRPr sz="1000" b="0">
                <a:solidFill>
                  <a:srgbClr val="002A55"/>
                </a:solidFill>
                <a:latin typeface="Courier New"/>
              </a:defRPr>
            </a:pPr>
            <a:r>
              <a:t>mean( F1_c  for c in {0..7} )</a:t>
            </a:r>
          </a:p>
        </p:txBody>
      </p:sp>
      <p:sp>
        <p:nvSpPr>
          <p:cNvPr id="34" name="Rounded Rectangle 33"/>
          <p:cNvSpPr/>
          <p:nvPr/>
        </p:nvSpPr>
        <p:spPr>
          <a:xfrm>
            <a:off x="6272350" y="3986784"/>
            <a:ext cx="3566160" cy="32004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63790" y="4023360"/>
            <a:ext cx="3383280" cy="274320"/>
          </a:xfrm>
          <a:prstGeom prst="rect">
            <a:avLst/>
          </a:prstGeom>
          <a:noFill/>
        </p:spPr>
        <p:txBody>
          <a:bodyPr wrap="square">
            <a:spAutoFit/>
          </a:bodyPr>
          <a:lstStyle/>
          <a:p>
            <a:pPr algn="l">
              <a:defRPr sz="1000" b="1">
                <a:solidFill>
                  <a:srgbClr val="28A745"/>
                </a:solidFill>
                <a:latin typeface="Calibri"/>
              </a:defRPr>
            </a:pPr>
            <a:r>
              <a:t>PRIMARY METRIC — unweighted average over all 8 classes</a:t>
            </a:r>
          </a:p>
        </p:txBody>
      </p:sp>
      <p:sp>
        <p:nvSpPr>
          <p:cNvPr id="36" name="Rounded Rectangle 35"/>
          <p:cNvSpPr/>
          <p:nvPr/>
        </p:nvSpPr>
        <p:spPr>
          <a:xfrm>
            <a:off x="1334590" y="4370832"/>
            <a:ext cx="228600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471750" y="4407408"/>
            <a:ext cx="2103120" cy="274320"/>
          </a:xfrm>
          <a:prstGeom prst="rect">
            <a:avLst/>
          </a:prstGeom>
          <a:noFill/>
        </p:spPr>
        <p:txBody>
          <a:bodyPr wrap="square">
            <a:spAutoFit/>
          </a:bodyPr>
          <a:lstStyle/>
          <a:p>
            <a:pPr algn="l">
              <a:defRPr sz="1000" b="1">
                <a:solidFill>
                  <a:srgbClr val="003D7C"/>
                </a:solidFill>
                <a:latin typeface="Calibri"/>
              </a:defRPr>
            </a:pPr>
            <a:r>
              <a:t>F1 Weighted</a:t>
            </a:r>
          </a:p>
        </p:txBody>
      </p:sp>
      <p:sp>
        <p:nvSpPr>
          <p:cNvPr id="38" name="Rounded Rectangle 37"/>
          <p:cNvSpPr/>
          <p:nvPr/>
        </p:nvSpPr>
        <p:spPr>
          <a:xfrm>
            <a:off x="3666310" y="4370832"/>
            <a:ext cx="256032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757750" y="4407408"/>
            <a:ext cx="2377440" cy="274320"/>
          </a:xfrm>
          <a:prstGeom prst="rect">
            <a:avLst/>
          </a:prstGeom>
          <a:noFill/>
        </p:spPr>
        <p:txBody>
          <a:bodyPr wrap="square">
            <a:spAutoFit/>
          </a:bodyPr>
          <a:lstStyle/>
          <a:p>
            <a:pPr algn="l">
              <a:defRPr sz="1000" b="0">
                <a:solidFill>
                  <a:srgbClr val="002A55"/>
                </a:solidFill>
                <a:latin typeface="Courier New"/>
              </a:defRPr>
            </a:pPr>
            <a:r>
              <a:t>Σ (support_c / n) × F1_c</a:t>
            </a:r>
          </a:p>
        </p:txBody>
      </p:sp>
      <p:sp>
        <p:nvSpPr>
          <p:cNvPr id="40" name="Rounded Rectangle 39"/>
          <p:cNvSpPr/>
          <p:nvPr/>
        </p:nvSpPr>
        <p:spPr>
          <a:xfrm>
            <a:off x="6272350" y="4370832"/>
            <a:ext cx="3566160" cy="32004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63790" y="4407408"/>
            <a:ext cx="3383280" cy="274320"/>
          </a:xfrm>
          <a:prstGeom prst="rect">
            <a:avLst/>
          </a:prstGeom>
          <a:noFill/>
        </p:spPr>
        <p:txBody>
          <a:bodyPr wrap="square">
            <a:spAutoFit/>
          </a:bodyPr>
          <a:lstStyle/>
          <a:p>
            <a:pPr algn="l">
              <a:defRPr sz="1000" b="0">
                <a:solidFill>
                  <a:srgbClr val="999999"/>
                </a:solidFill>
                <a:latin typeface="Calibri"/>
              </a:defRPr>
            </a:pPr>
            <a:r>
              <a:t>Weighted by class frequency — less useful here</a:t>
            </a:r>
          </a:p>
        </p:txBody>
      </p:sp>
      <p:sp>
        <p:nvSpPr>
          <p:cNvPr id="42" name="Rounded Rectangle 41"/>
          <p:cNvSpPr/>
          <p:nvPr/>
        </p:nvSpPr>
        <p:spPr>
          <a:xfrm>
            <a:off x="1334590" y="4754880"/>
            <a:ext cx="2286000" cy="32004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471750" y="4791456"/>
            <a:ext cx="2103120" cy="274320"/>
          </a:xfrm>
          <a:prstGeom prst="rect">
            <a:avLst/>
          </a:prstGeom>
          <a:noFill/>
        </p:spPr>
        <p:txBody>
          <a:bodyPr wrap="square">
            <a:spAutoFit/>
          </a:bodyPr>
          <a:lstStyle/>
          <a:p>
            <a:pPr algn="l">
              <a:defRPr sz="1000" b="1">
                <a:solidFill>
                  <a:srgbClr val="003D7C"/>
                </a:solidFill>
                <a:latin typeface="Calibri"/>
              </a:defRPr>
            </a:pPr>
            <a:r>
              <a:t>ROC-AUC (OvR)</a:t>
            </a:r>
          </a:p>
        </p:txBody>
      </p:sp>
      <p:sp>
        <p:nvSpPr>
          <p:cNvPr id="44" name="Rounded Rectangle 43"/>
          <p:cNvSpPr/>
          <p:nvPr/>
        </p:nvSpPr>
        <p:spPr>
          <a:xfrm>
            <a:off x="3666310" y="4754880"/>
            <a:ext cx="2560320" cy="32004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757750" y="4791456"/>
            <a:ext cx="2377440" cy="274320"/>
          </a:xfrm>
          <a:prstGeom prst="rect">
            <a:avLst/>
          </a:prstGeom>
          <a:noFill/>
        </p:spPr>
        <p:txBody>
          <a:bodyPr wrap="square">
            <a:spAutoFit/>
          </a:bodyPr>
          <a:lstStyle/>
          <a:p>
            <a:pPr algn="l">
              <a:defRPr sz="1000" b="0">
                <a:solidFill>
                  <a:srgbClr val="002A55"/>
                </a:solidFill>
                <a:latin typeface="Courier New"/>
              </a:defRPr>
            </a:pPr>
            <a:r>
              <a:t>Area under ROC curve (one-vs-rest)</a:t>
            </a:r>
          </a:p>
        </p:txBody>
      </p:sp>
      <p:sp>
        <p:nvSpPr>
          <p:cNvPr id="46" name="Rounded Rectangle 45"/>
          <p:cNvSpPr/>
          <p:nvPr/>
        </p:nvSpPr>
        <p:spPr>
          <a:xfrm>
            <a:off x="6272350" y="4754880"/>
            <a:ext cx="3566160" cy="32004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63790" y="4791456"/>
            <a:ext cx="3383280" cy="274320"/>
          </a:xfrm>
          <a:prstGeom prst="rect">
            <a:avLst/>
          </a:prstGeom>
          <a:noFill/>
        </p:spPr>
        <p:txBody>
          <a:bodyPr wrap="square">
            <a:spAutoFit/>
          </a:bodyPr>
          <a:lstStyle/>
          <a:p>
            <a:pPr algn="l">
              <a:defRPr sz="1000" b="0">
                <a:solidFill>
                  <a:srgbClr val="999999"/>
                </a:solidFill>
                <a:latin typeface="Calibri"/>
              </a:defRPr>
            </a:pPr>
            <a:r>
              <a:t>Discrimination ability; reported per class</a:t>
            </a:r>
          </a:p>
        </p:txBody>
      </p:sp>
      <p:sp>
        <p:nvSpPr>
          <p:cNvPr id="48" name="Rectangle 4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50" name="Rectangle 49"/>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nus_iss_logo_transparent.png"/>
          <p:cNvPicPr>
            <a:picLocks noChangeAspect="1"/>
          </p:cNvPicPr>
          <p:nvPr/>
        </p:nvPicPr>
        <p:blipFill>
          <a:blip r:embed="rId3"/>
          <a:stretch>
            <a:fillRect/>
          </a:stretch>
        </p:blipFill>
        <p:spPr>
          <a:xfrm>
            <a:off x="9555480" y="82296"/>
            <a:ext cx="2514600" cy="5852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Training Results — 6 Selected Models (v3b)</a:t>
            </a:r>
          </a:p>
        </p:txBody>
      </p:sp>
      <p:sp>
        <p:nvSpPr>
          <p:cNvPr id="7" name="TextBox 6"/>
          <p:cNvSpPr txBox="1"/>
          <p:nvPr/>
        </p:nvSpPr>
        <p:spPr>
          <a:xfrm>
            <a:off x="1188719" y="594360"/>
            <a:ext cx="9664337" cy="400110"/>
          </a:xfrm>
          <a:prstGeom prst="rect">
            <a:avLst/>
          </a:prstGeom>
          <a:noFill/>
        </p:spPr>
        <p:txBody>
          <a:bodyPr wrap="square">
            <a:spAutoFit/>
          </a:bodyPr>
          <a:lstStyle/>
          <a:p>
            <a:pPr algn="l">
              <a:defRPr sz="2000" b="0">
                <a:solidFill>
                  <a:srgbClr val="FFFFFF"/>
                </a:solidFill>
                <a:latin typeface="Calibri"/>
              </a:defRPr>
            </a:pPr>
            <a:r>
              <a:rPr dirty="0"/>
              <a:t>6 models spanning Tier 1/2/3 — Voting best, classical ML beats deep learning here</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341120" y="1417320"/>
            <a:ext cx="27432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a:t>
            </a:r>
          </a:p>
        </p:txBody>
      </p:sp>
      <p:sp>
        <p:nvSpPr>
          <p:cNvPr id="11" name="Rounded Rectangle 10"/>
          <p:cNvSpPr/>
          <p:nvPr/>
        </p:nvSpPr>
        <p:spPr>
          <a:xfrm>
            <a:off x="1661160" y="1417320"/>
            <a:ext cx="228600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Model</a:t>
            </a:r>
          </a:p>
        </p:txBody>
      </p:sp>
      <p:sp>
        <p:nvSpPr>
          <p:cNvPr id="12" name="Rounded Rectangle 11"/>
          <p:cNvSpPr/>
          <p:nvPr/>
        </p:nvSpPr>
        <p:spPr>
          <a:xfrm>
            <a:off x="3992880" y="1417320"/>
            <a:ext cx="118872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Tier</a:t>
            </a:r>
          </a:p>
        </p:txBody>
      </p:sp>
      <p:sp>
        <p:nvSpPr>
          <p:cNvPr id="13" name="Rounded Rectangle 12"/>
          <p:cNvSpPr/>
          <p:nvPr/>
        </p:nvSpPr>
        <p:spPr>
          <a:xfrm>
            <a:off x="5227320" y="1417320"/>
            <a:ext cx="100584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Accuracy</a:t>
            </a:r>
          </a:p>
        </p:txBody>
      </p:sp>
      <p:sp>
        <p:nvSpPr>
          <p:cNvPr id="14" name="Rounded Rectangle 13"/>
          <p:cNvSpPr/>
          <p:nvPr/>
        </p:nvSpPr>
        <p:spPr>
          <a:xfrm>
            <a:off x="6278880" y="1417320"/>
            <a:ext cx="114300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F1 Macro</a:t>
            </a:r>
          </a:p>
        </p:txBody>
      </p:sp>
      <p:sp>
        <p:nvSpPr>
          <p:cNvPr id="15" name="Rounded Rectangle 14"/>
          <p:cNvSpPr/>
          <p:nvPr/>
        </p:nvSpPr>
        <p:spPr>
          <a:xfrm>
            <a:off x="7467600" y="1417320"/>
            <a:ext cx="1280160" cy="2743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FFFFFF"/>
                </a:solidFill>
              </a:defRPr>
            </a:pPr>
            <a:r>
              <a:t>Latency</a:t>
            </a:r>
          </a:p>
        </p:txBody>
      </p:sp>
      <p:sp>
        <p:nvSpPr>
          <p:cNvPr id="16" name="Rounded Rectangle 15"/>
          <p:cNvSpPr/>
          <p:nvPr/>
        </p:nvSpPr>
        <p:spPr>
          <a:xfrm>
            <a:off x="1341120" y="1691640"/>
            <a:ext cx="27432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86840" y="1719072"/>
            <a:ext cx="182880" cy="201168"/>
          </a:xfrm>
          <a:prstGeom prst="rect">
            <a:avLst/>
          </a:prstGeom>
          <a:noFill/>
        </p:spPr>
        <p:txBody>
          <a:bodyPr wrap="square">
            <a:spAutoFit/>
          </a:bodyPr>
          <a:lstStyle/>
          <a:p>
            <a:pPr algn="l">
              <a:defRPr sz="900" b="1">
                <a:solidFill>
                  <a:srgbClr val="002A55"/>
                </a:solidFill>
                <a:latin typeface="Calibri"/>
              </a:defRPr>
            </a:pPr>
            <a:r>
              <a:t>1</a:t>
            </a:r>
          </a:p>
        </p:txBody>
      </p:sp>
      <p:sp>
        <p:nvSpPr>
          <p:cNvPr id="18" name="Rounded Rectangle 17"/>
          <p:cNvSpPr/>
          <p:nvPr/>
        </p:nvSpPr>
        <p:spPr>
          <a:xfrm>
            <a:off x="1661160" y="1691640"/>
            <a:ext cx="228600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706880" y="1719072"/>
            <a:ext cx="2194560" cy="201168"/>
          </a:xfrm>
          <a:prstGeom prst="rect">
            <a:avLst/>
          </a:prstGeom>
          <a:noFill/>
        </p:spPr>
        <p:txBody>
          <a:bodyPr wrap="square">
            <a:spAutoFit/>
          </a:bodyPr>
          <a:lstStyle/>
          <a:p>
            <a:pPr algn="l">
              <a:defRPr sz="900" b="1">
                <a:solidFill>
                  <a:srgbClr val="28A745"/>
                </a:solidFill>
                <a:latin typeface="Calibri"/>
              </a:defRPr>
            </a:pPr>
            <a:r>
              <a:t>Voting (Tier 3)</a:t>
            </a:r>
          </a:p>
        </p:txBody>
      </p:sp>
      <p:sp>
        <p:nvSpPr>
          <p:cNvPr id="20" name="Rounded Rectangle 19"/>
          <p:cNvSpPr/>
          <p:nvPr/>
        </p:nvSpPr>
        <p:spPr>
          <a:xfrm>
            <a:off x="3992880" y="1691640"/>
            <a:ext cx="118872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38600" y="1719072"/>
            <a:ext cx="1097280" cy="201168"/>
          </a:xfrm>
          <a:prstGeom prst="rect">
            <a:avLst/>
          </a:prstGeom>
          <a:noFill/>
        </p:spPr>
        <p:txBody>
          <a:bodyPr wrap="square">
            <a:spAutoFit/>
          </a:bodyPr>
          <a:lstStyle/>
          <a:p>
            <a:pPr algn="l">
              <a:defRPr sz="900" b="1">
                <a:solidFill>
                  <a:srgbClr val="002A55"/>
                </a:solidFill>
                <a:latin typeface="Calibri"/>
              </a:defRPr>
            </a:pPr>
            <a:r>
              <a:t>tier3</a:t>
            </a:r>
          </a:p>
        </p:txBody>
      </p:sp>
      <p:sp>
        <p:nvSpPr>
          <p:cNvPr id="22" name="Rounded Rectangle 21"/>
          <p:cNvSpPr/>
          <p:nvPr/>
        </p:nvSpPr>
        <p:spPr>
          <a:xfrm>
            <a:off x="5227320" y="1691640"/>
            <a:ext cx="100584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73040" y="1719072"/>
            <a:ext cx="914400" cy="201168"/>
          </a:xfrm>
          <a:prstGeom prst="rect">
            <a:avLst/>
          </a:prstGeom>
          <a:noFill/>
        </p:spPr>
        <p:txBody>
          <a:bodyPr wrap="square">
            <a:spAutoFit/>
          </a:bodyPr>
          <a:lstStyle/>
          <a:p>
            <a:pPr algn="l">
              <a:defRPr sz="900" b="1">
                <a:solidFill>
                  <a:srgbClr val="002A55"/>
                </a:solidFill>
                <a:latin typeface="Calibri"/>
              </a:defRPr>
            </a:pPr>
            <a:r>
              <a:t>0.891</a:t>
            </a:r>
          </a:p>
        </p:txBody>
      </p:sp>
      <p:sp>
        <p:nvSpPr>
          <p:cNvPr id="24" name="Rounded Rectangle 23"/>
          <p:cNvSpPr/>
          <p:nvPr/>
        </p:nvSpPr>
        <p:spPr>
          <a:xfrm>
            <a:off x="6278880" y="1691640"/>
            <a:ext cx="114300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24600" y="1719072"/>
            <a:ext cx="1051560" cy="201168"/>
          </a:xfrm>
          <a:prstGeom prst="rect">
            <a:avLst/>
          </a:prstGeom>
          <a:noFill/>
        </p:spPr>
        <p:txBody>
          <a:bodyPr wrap="square">
            <a:spAutoFit/>
          </a:bodyPr>
          <a:lstStyle/>
          <a:p>
            <a:pPr algn="l">
              <a:defRPr sz="900" b="1">
                <a:solidFill>
                  <a:srgbClr val="28A745"/>
                </a:solidFill>
                <a:latin typeface="Calibri"/>
              </a:defRPr>
            </a:pPr>
            <a:r>
              <a:t>0.884</a:t>
            </a:r>
          </a:p>
        </p:txBody>
      </p:sp>
      <p:sp>
        <p:nvSpPr>
          <p:cNvPr id="26" name="Rounded Rectangle 25"/>
          <p:cNvSpPr/>
          <p:nvPr/>
        </p:nvSpPr>
        <p:spPr>
          <a:xfrm>
            <a:off x="7467600" y="1691640"/>
            <a:ext cx="128016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513320" y="1719072"/>
            <a:ext cx="1188720" cy="201168"/>
          </a:xfrm>
          <a:prstGeom prst="rect">
            <a:avLst/>
          </a:prstGeom>
          <a:noFill/>
        </p:spPr>
        <p:txBody>
          <a:bodyPr wrap="square">
            <a:spAutoFit/>
          </a:bodyPr>
          <a:lstStyle/>
          <a:p>
            <a:pPr algn="l">
              <a:defRPr sz="900" b="1">
                <a:solidFill>
                  <a:srgbClr val="002A55"/>
                </a:solidFill>
                <a:latin typeface="Calibri"/>
              </a:defRPr>
            </a:pPr>
            <a:r>
              <a:t>84 ms</a:t>
            </a:r>
          </a:p>
        </p:txBody>
      </p:sp>
      <p:sp>
        <p:nvSpPr>
          <p:cNvPr id="28" name="Rounded Rectangle 27"/>
          <p:cNvSpPr/>
          <p:nvPr/>
        </p:nvSpPr>
        <p:spPr>
          <a:xfrm>
            <a:off x="1341120" y="1956816"/>
            <a:ext cx="27432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661160" y="1956816"/>
            <a:ext cx="228600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3992880" y="1956816"/>
            <a:ext cx="118872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227320" y="1956816"/>
            <a:ext cx="100584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278880" y="1956816"/>
            <a:ext cx="114300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7467600" y="1956816"/>
            <a:ext cx="128016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341120" y="2221992"/>
            <a:ext cx="27432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86840" y="2249424"/>
            <a:ext cx="182880" cy="201168"/>
          </a:xfrm>
          <a:prstGeom prst="rect">
            <a:avLst/>
          </a:prstGeom>
          <a:noFill/>
        </p:spPr>
        <p:txBody>
          <a:bodyPr wrap="square">
            <a:spAutoFit/>
          </a:bodyPr>
          <a:lstStyle/>
          <a:p>
            <a:pPr algn="l">
              <a:defRPr sz="900" b="0">
                <a:solidFill>
                  <a:srgbClr val="002A55"/>
                </a:solidFill>
                <a:latin typeface="Calibri"/>
              </a:defRPr>
            </a:pPr>
            <a:r>
              <a:t>3</a:t>
            </a:r>
          </a:p>
        </p:txBody>
      </p:sp>
      <p:sp>
        <p:nvSpPr>
          <p:cNvPr id="42" name="Rounded Rectangle 41"/>
          <p:cNvSpPr/>
          <p:nvPr/>
        </p:nvSpPr>
        <p:spPr>
          <a:xfrm>
            <a:off x="1661160" y="2221992"/>
            <a:ext cx="228600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706880" y="2249424"/>
            <a:ext cx="2194560" cy="201168"/>
          </a:xfrm>
          <a:prstGeom prst="rect">
            <a:avLst/>
          </a:prstGeom>
          <a:noFill/>
        </p:spPr>
        <p:txBody>
          <a:bodyPr wrap="square">
            <a:spAutoFit/>
          </a:bodyPr>
          <a:lstStyle/>
          <a:p>
            <a:pPr algn="l">
              <a:defRPr sz="900" b="0">
                <a:solidFill>
                  <a:srgbClr val="28A745"/>
                </a:solidFill>
                <a:latin typeface="Calibri"/>
              </a:defRPr>
            </a:pPr>
            <a:r>
              <a:t>Late Fusion (T3)</a:t>
            </a:r>
          </a:p>
        </p:txBody>
      </p:sp>
      <p:sp>
        <p:nvSpPr>
          <p:cNvPr id="44" name="Rounded Rectangle 43"/>
          <p:cNvSpPr/>
          <p:nvPr/>
        </p:nvSpPr>
        <p:spPr>
          <a:xfrm>
            <a:off x="3992880" y="2221992"/>
            <a:ext cx="118872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038600" y="2249424"/>
            <a:ext cx="1097280" cy="201168"/>
          </a:xfrm>
          <a:prstGeom prst="rect">
            <a:avLst/>
          </a:prstGeom>
          <a:noFill/>
        </p:spPr>
        <p:txBody>
          <a:bodyPr wrap="square">
            <a:spAutoFit/>
          </a:bodyPr>
          <a:lstStyle/>
          <a:p>
            <a:pPr algn="l">
              <a:defRPr sz="900" b="0">
                <a:solidFill>
                  <a:srgbClr val="002A55"/>
                </a:solidFill>
                <a:latin typeface="Calibri"/>
              </a:defRPr>
            </a:pPr>
            <a:r>
              <a:t>tier3</a:t>
            </a:r>
          </a:p>
        </p:txBody>
      </p:sp>
      <p:sp>
        <p:nvSpPr>
          <p:cNvPr id="46" name="Rounded Rectangle 45"/>
          <p:cNvSpPr/>
          <p:nvPr/>
        </p:nvSpPr>
        <p:spPr>
          <a:xfrm>
            <a:off x="5227320" y="2221992"/>
            <a:ext cx="100584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273040" y="2249424"/>
            <a:ext cx="914400" cy="201168"/>
          </a:xfrm>
          <a:prstGeom prst="rect">
            <a:avLst/>
          </a:prstGeom>
          <a:noFill/>
        </p:spPr>
        <p:txBody>
          <a:bodyPr wrap="square">
            <a:spAutoFit/>
          </a:bodyPr>
          <a:lstStyle/>
          <a:p>
            <a:pPr algn="l">
              <a:defRPr sz="900" b="0">
                <a:solidFill>
                  <a:srgbClr val="002A55"/>
                </a:solidFill>
                <a:latin typeface="Calibri"/>
              </a:defRPr>
            </a:pPr>
            <a:r>
              <a:t>0.875</a:t>
            </a:r>
          </a:p>
        </p:txBody>
      </p:sp>
      <p:sp>
        <p:nvSpPr>
          <p:cNvPr id="48" name="Rounded Rectangle 47"/>
          <p:cNvSpPr/>
          <p:nvPr/>
        </p:nvSpPr>
        <p:spPr>
          <a:xfrm>
            <a:off x="6278880" y="2221992"/>
            <a:ext cx="114300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324600" y="2249424"/>
            <a:ext cx="1051560" cy="201168"/>
          </a:xfrm>
          <a:prstGeom prst="rect">
            <a:avLst/>
          </a:prstGeom>
          <a:noFill/>
        </p:spPr>
        <p:txBody>
          <a:bodyPr wrap="square">
            <a:spAutoFit/>
          </a:bodyPr>
          <a:lstStyle/>
          <a:p>
            <a:pPr algn="l">
              <a:defRPr sz="900" b="0">
                <a:solidFill>
                  <a:srgbClr val="002A55"/>
                </a:solidFill>
                <a:latin typeface="Calibri"/>
              </a:defRPr>
            </a:pPr>
            <a:r>
              <a:t>0.861</a:t>
            </a:r>
          </a:p>
        </p:txBody>
      </p:sp>
      <p:sp>
        <p:nvSpPr>
          <p:cNvPr id="50" name="Rounded Rectangle 49"/>
          <p:cNvSpPr/>
          <p:nvPr/>
        </p:nvSpPr>
        <p:spPr>
          <a:xfrm>
            <a:off x="7467600" y="2221992"/>
            <a:ext cx="1280160" cy="246888"/>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513320" y="2249424"/>
            <a:ext cx="1188720" cy="201168"/>
          </a:xfrm>
          <a:prstGeom prst="rect">
            <a:avLst/>
          </a:prstGeom>
          <a:noFill/>
        </p:spPr>
        <p:txBody>
          <a:bodyPr wrap="square">
            <a:spAutoFit/>
          </a:bodyPr>
          <a:lstStyle/>
          <a:p>
            <a:pPr algn="l">
              <a:defRPr sz="900" b="0">
                <a:solidFill>
                  <a:srgbClr val="002A55"/>
                </a:solidFill>
                <a:latin typeface="Calibri"/>
              </a:defRPr>
            </a:pPr>
            <a:r>
              <a:t>78 ms</a:t>
            </a:r>
          </a:p>
        </p:txBody>
      </p:sp>
      <p:sp>
        <p:nvSpPr>
          <p:cNvPr id="52" name="Rounded Rectangle 51"/>
          <p:cNvSpPr/>
          <p:nvPr/>
        </p:nvSpPr>
        <p:spPr>
          <a:xfrm>
            <a:off x="1341120" y="2487168"/>
            <a:ext cx="2743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1661160" y="2487168"/>
            <a:ext cx="2286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3992880" y="2487168"/>
            <a:ext cx="11887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5227320" y="2487168"/>
            <a:ext cx="100584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6278880" y="2487168"/>
            <a:ext cx="1143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7467600" y="2487168"/>
            <a:ext cx="128016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1341120" y="2752344"/>
            <a:ext cx="2743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386840" y="2779776"/>
            <a:ext cx="182880" cy="201168"/>
          </a:xfrm>
          <a:prstGeom prst="rect">
            <a:avLst/>
          </a:prstGeom>
          <a:noFill/>
        </p:spPr>
        <p:txBody>
          <a:bodyPr wrap="square">
            <a:spAutoFit/>
          </a:bodyPr>
          <a:lstStyle/>
          <a:p>
            <a:pPr algn="l">
              <a:defRPr sz="900" b="0">
                <a:solidFill>
                  <a:srgbClr val="002A55"/>
                </a:solidFill>
                <a:latin typeface="Calibri"/>
              </a:defRPr>
            </a:pPr>
            <a:r>
              <a:t>5</a:t>
            </a:r>
          </a:p>
        </p:txBody>
      </p:sp>
      <p:sp>
        <p:nvSpPr>
          <p:cNvPr id="66" name="Rounded Rectangle 65"/>
          <p:cNvSpPr/>
          <p:nvPr/>
        </p:nvSpPr>
        <p:spPr>
          <a:xfrm>
            <a:off x="1661160" y="2752344"/>
            <a:ext cx="2286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706880" y="2779776"/>
            <a:ext cx="2194560" cy="201168"/>
          </a:xfrm>
          <a:prstGeom prst="rect">
            <a:avLst/>
          </a:prstGeom>
          <a:noFill/>
        </p:spPr>
        <p:txBody>
          <a:bodyPr wrap="square">
            <a:spAutoFit/>
          </a:bodyPr>
          <a:lstStyle/>
          <a:p>
            <a:pPr algn="l">
              <a:defRPr sz="900" b="0">
                <a:solidFill>
                  <a:srgbClr val="007ACC"/>
                </a:solidFill>
                <a:latin typeface="Calibri"/>
              </a:defRPr>
            </a:pPr>
            <a:r>
              <a:t>Random Forest</a:t>
            </a:r>
          </a:p>
        </p:txBody>
      </p:sp>
      <p:sp>
        <p:nvSpPr>
          <p:cNvPr id="68" name="Rounded Rectangle 67"/>
          <p:cNvSpPr/>
          <p:nvPr/>
        </p:nvSpPr>
        <p:spPr>
          <a:xfrm>
            <a:off x="3992880" y="2752344"/>
            <a:ext cx="11887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038600" y="2779776"/>
            <a:ext cx="1097280" cy="201168"/>
          </a:xfrm>
          <a:prstGeom prst="rect">
            <a:avLst/>
          </a:prstGeom>
          <a:noFill/>
        </p:spPr>
        <p:txBody>
          <a:bodyPr wrap="square">
            <a:spAutoFit/>
          </a:bodyPr>
          <a:lstStyle/>
          <a:p>
            <a:pPr algn="l">
              <a:defRPr sz="900" b="0">
                <a:solidFill>
                  <a:srgbClr val="002A55"/>
                </a:solidFill>
                <a:latin typeface="Calibri"/>
              </a:defRPr>
            </a:pPr>
            <a:r>
              <a:t>tier1</a:t>
            </a:r>
          </a:p>
        </p:txBody>
      </p:sp>
      <p:sp>
        <p:nvSpPr>
          <p:cNvPr id="70" name="Rounded Rectangle 69"/>
          <p:cNvSpPr/>
          <p:nvPr/>
        </p:nvSpPr>
        <p:spPr>
          <a:xfrm>
            <a:off x="5227320" y="2752344"/>
            <a:ext cx="100584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273040" y="2779776"/>
            <a:ext cx="914400" cy="201168"/>
          </a:xfrm>
          <a:prstGeom prst="rect">
            <a:avLst/>
          </a:prstGeom>
          <a:noFill/>
        </p:spPr>
        <p:txBody>
          <a:bodyPr wrap="square">
            <a:spAutoFit/>
          </a:bodyPr>
          <a:lstStyle/>
          <a:p>
            <a:pPr algn="l">
              <a:defRPr sz="900" b="0">
                <a:solidFill>
                  <a:srgbClr val="002A55"/>
                </a:solidFill>
                <a:latin typeface="Calibri"/>
              </a:defRPr>
            </a:pPr>
            <a:r>
              <a:t>0.855</a:t>
            </a:r>
          </a:p>
        </p:txBody>
      </p:sp>
      <p:sp>
        <p:nvSpPr>
          <p:cNvPr id="72" name="Rounded Rectangle 71"/>
          <p:cNvSpPr/>
          <p:nvPr/>
        </p:nvSpPr>
        <p:spPr>
          <a:xfrm>
            <a:off x="6278880" y="2752344"/>
            <a:ext cx="1143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324600" y="2779776"/>
            <a:ext cx="1051560" cy="201168"/>
          </a:xfrm>
          <a:prstGeom prst="rect">
            <a:avLst/>
          </a:prstGeom>
          <a:noFill/>
        </p:spPr>
        <p:txBody>
          <a:bodyPr wrap="square">
            <a:spAutoFit/>
          </a:bodyPr>
          <a:lstStyle/>
          <a:p>
            <a:pPr algn="l">
              <a:defRPr sz="900" b="0">
                <a:solidFill>
                  <a:srgbClr val="002A55"/>
                </a:solidFill>
                <a:latin typeface="Calibri"/>
              </a:defRPr>
            </a:pPr>
            <a:r>
              <a:t>0.841</a:t>
            </a:r>
          </a:p>
        </p:txBody>
      </p:sp>
      <p:sp>
        <p:nvSpPr>
          <p:cNvPr id="74" name="Rounded Rectangle 73"/>
          <p:cNvSpPr/>
          <p:nvPr/>
        </p:nvSpPr>
        <p:spPr>
          <a:xfrm>
            <a:off x="7467600" y="2752344"/>
            <a:ext cx="128016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513320" y="2779776"/>
            <a:ext cx="1188720" cy="201168"/>
          </a:xfrm>
          <a:prstGeom prst="rect">
            <a:avLst/>
          </a:prstGeom>
          <a:noFill/>
        </p:spPr>
        <p:txBody>
          <a:bodyPr wrap="square">
            <a:spAutoFit/>
          </a:bodyPr>
          <a:lstStyle/>
          <a:p>
            <a:pPr algn="l">
              <a:defRPr sz="900" b="0">
                <a:solidFill>
                  <a:srgbClr val="002A55"/>
                </a:solidFill>
                <a:latin typeface="Calibri"/>
              </a:defRPr>
            </a:pPr>
            <a:r>
              <a:t>103 ms</a:t>
            </a:r>
          </a:p>
        </p:txBody>
      </p:sp>
      <p:sp>
        <p:nvSpPr>
          <p:cNvPr id="76" name="Rounded Rectangle 75"/>
          <p:cNvSpPr/>
          <p:nvPr/>
        </p:nvSpPr>
        <p:spPr>
          <a:xfrm>
            <a:off x="1341120" y="3017520"/>
            <a:ext cx="2743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386840" y="3044952"/>
            <a:ext cx="182880" cy="201168"/>
          </a:xfrm>
          <a:prstGeom prst="rect">
            <a:avLst/>
          </a:prstGeom>
          <a:noFill/>
        </p:spPr>
        <p:txBody>
          <a:bodyPr wrap="square">
            <a:spAutoFit/>
          </a:bodyPr>
          <a:lstStyle/>
          <a:p>
            <a:pPr algn="l">
              <a:defRPr sz="900" b="0">
                <a:solidFill>
                  <a:srgbClr val="002A55"/>
                </a:solidFill>
                <a:latin typeface="Calibri"/>
              </a:defRPr>
            </a:pPr>
            <a:r>
              <a:t>6</a:t>
            </a:r>
          </a:p>
        </p:txBody>
      </p:sp>
      <p:sp>
        <p:nvSpPr>
          <p:cNvPr id="78" name="Rounded Rectangle 77"/>
          <p:cNvSpPr/>
          <p:nvPr/>
        </p:nvSpPr>
        <p:spPr>
          <a:xfrm>
            <a:off x="1661160" y="3017520"/>
            <a:ext cx="2286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706880" y="3044952"/>
            <a:ext cx="2194560" cy="201168"/>
          </a:xfrm>
          <a:prstGeom prst="rect">
            <a:avLst/>
          </a:prstGeom>
          <a:noFill/>
        </p:spPr>
        <p:txBody>
          <a:bodyPr wrap="square">
            <a:spAutoFit/>
          </a:bodyPr>
          <a:lstStyle/>
          <a:p>
            <a:pPr algn="l">
              <a:defRPr sz="900" b="0">
                <a:solidFill>
                  <a:srgbClr val="007ACC"/>
                </a:solidFill>
                <a:latin typeface="Calibri"/>
              </a:defRPr>
            </a:pPr>
            <a:r>
              <a:t>SVM</a:t>
            </a:r>
          </a:p>
        </p:txBody>
      </p:sp>
      <p:sp>
        <p:nvSpPr>
          <p:cNvPr id="80" name="Rounded Rectangle 79"/>
          <p:cNvSpPr/>
          <p:nvPr/>
        </p:nvSpPr>
        <p:spPr>
          <a:xfrm>
            <a:off x="3992880" y="3017520"/>
            <a:ext cx="11887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4038600" y="3044952"/>
            <a:ext cx="1097280" cy="201168"/>
          </a:xfrm>
          <a:prstGeom prst="rect">
            <a:avLst/>
          </a:prstGeom>
          <a:noFill/>
        </p:spPr>
        <p:txBody>
          <a:bodyPr wrap="square">
            <a:spAutoFit/>
          </a:bodyPr>
          <a:lstStyle/>
          <a:p>
            <a:pPr algn="l">
              <a:defRPr sz="900" b="0">
                <a:solidFill>
                  <a:srgbClr val="002A55"/>
                </a:solidFill>
                <a:latin typeface="Calibri"/>
              </a:defRPr>
            </a:pPr>
            <a:r>
              <a:t>tier1</a:t>
            </a:r>
          </a:p>
        </p:txBody>
      </p:sp>
      <p:sp>
        <p:nvSpPr>
          <p:cNvPr id="82" name="Rounded Rectangle 81"/>
          <p:cNvSpPr/>
          <p:nvPr/>
        </p:nvSpPr>
        <p:spPr>
          <a:xfrm>
            <a:off x="5227320" y="3017520"/>
            <a:ext cx="100584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273040" y="3044952"/>
            <a:ext cx="914400" cy="201168"/>
          </a:xfrm>
          <a:prstGeom prst="rect">
            <a:avLst/>
          </a:prstGeom>
          <a:noFill/>
        </p:spPr>
        <p:txBody>
          <a:bodyPr wrap="square">
            <a:spAutoFit/>
          </a:bodyPr>
          <a:lstStyle/>
          <a:p>
            <a:pPr algn="l">
              <a:defRPr sz="900" b="0">
                <a:solidFill>
                  <a:srgbClr val="002A55"/>
                </a:solidFill>
                <a:latin typeface="Calibri"/>
              </a:defRPr>
            </a:pPr>
            <a:r>
              <a:t>0.836</a:t>
            </a:r>
          </a:p>
        </p:txBody>
      </p:sp>
      <p:sp>
        <p:nvSpPr>
          <p:cNvPr id="84" name="Rounded Rectangle 83"/>
          <p:cNvSpPr/>
          <p:nvPr/>
        </p:nvSpPr>
        <p:spPr>
          <a:xfrm>
            <a:off x="6278880" y="3017520"/>
            <a:ext cx="1143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324600" y="3044952"/>
            <a:ext cx="1051560" cy="201168"/>
          </a:xfrm>
          <a:prstGeom prst="rect">
            <a:avLst/>
          </a:prstGeom>
          <a:noFill/>
        </p:spPr>
        <p:txBody>
          <a:bodyPr wrap="square">
            <a:spAutoFit/>
          </a:bodyPr>
          <a:lstStyle/>
          <a:p>
            <a:pPr algn="l">
              <a:defRPr sz="900" b="0">
                <a:solidFill>
                  <a:srgbClr val="002A55"/>
                </a:solidFill>
                <a:latin typeface="Calibri"/>
              </a:defRPr>
            </a:pPr>
            <a:r>
              <a:t>0.812</a:t>
            </a:r>
          </a:p>
        </p:txBody>
      </p:sp>
      <p:sp>
        <p:nvSpPr>
          <p:cNvPr id="86" name="Rounded Rectangle 85"/>
          <p:cNvSpPr/>
          <p:nvPr/>
        </p:nvSpPr>
        <p:spPr>
          <a:xfrm>
            <a:off x="7467600" y="3017520"/>
            <a:ext cx="128016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7513320" y="3044952"/>
            <a:ext cx="1188720" cy="201168"/>
          </a:xfrm>
          <a:prstGeom prst="rect">
            <a:avLst/>
          </a:prstGeom>
          <a:noFill/>
        </p:spPr>
        <p:txBody>
          <a:bodyPr wrap="square">
            <a:spAutoFit/>
          </a:bodyPr>
          <a:lstStyle/>
          <a:p>
            <a:pPr algn="l">
              <a:defRPr sz="900" b="0">
                <a:solidFill>
                  <a:srgbClr val="002A55"/>
                </a:solidFill>
                <a:latin typeface="Calibri"/>
              </a:defRPr>
            </a:pPr>
            <a:r>
              <a:t>1,392 ms</a:t>
            </a:r>
          </a:p>
        </p:txBody>
      </p:sp>
      <p:sp>
        <p:nvSpPr>
          <p:cNvPr id="88" name="Rounded Rectangle 87"/>
          <p:cNvSpPr/>
          <p:nvPr/>
        </p:nvSpPr>
        <p:spPr>
          <a:xfrm>
            <a:off x="1341120" y="3282696"/>
            <a:ext cx="2743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ounded Rectangle 89"/>
          <p:cNvSpPr/>
          <p:nvPr/>
        </p:nvSpPr>
        <p:spPr>
          <a:xfrm>
            <a:off x="1661160" y="3282696"/>
            <a:ext cx="2286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ounded Rectangle 91"/>
          <p:cNvSpPr/>
          <p:nvPr/>
        </p:nvSpPr>
        <p:spPr>
          <a:xfrm>
            <a:off x="3992880" y="3282696"/>
            <a:ext cx="11887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ounded Rectangle 93"/>
          <p:cNvSpPr/>
          <p:nvPr/>
        </p:nvSpPr>
        <p:spPr>
          <a:xfrm>
            <a:off x="5227320" y="3282696"/>
            <a:ext cx="100584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ounded Rectangle 95"/>
          <p:cNvSpPr/>
          <p:nvPr/>
        </p:nvSpPr>
        <p:spPr>
          <a:xfrm>
            <a:off x="6278880" y="3282696"/>
            <a:ext cx="1143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ounded Rectangle 97"/>
          <p:cNvSpPr/>
          <p:nvPr/>
        </p:nvSpPr>
        <p:spPr>
          <a:xfrm>
            <a:off x="7467600" y="3282696"/>
            <a:ext cx="128016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ounded Rectangle 99"/>
          <p:cNvSpPr/>
          <p:nvPr/>
        </p:nvSpPr>
        <p:spPr>
          <a:xfrm>
            <a:off x="1341120" y="3547872"/>
            <a:ext cx="2743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1386840" y="3575304"/>
            <a:ext cx="182880" cy="201168"/>
          </a:xfrm>
          <a:prstGeom prst="rect">
            <a:avLst/>
          </a:prstGeom>
          <a:noFill/>
        </p:spPr>
        <p:txBody>
          <a:bodyPr wrap="square">
            <a:spAutoFit/>
          </a:bodyPr>
          <a:lstStyle/>
          <a:p>
            <a:pPr algn="l">
              <a:defRPr sz="900" b="0">
                <a:solidFill>
                  <a:srgbClr val="002A55"/>
                </a:solidFill>
                <a:latin typeface="Calibri"/>
              </a:defRPr>
            </a:pPr>
            <a:r>
              <a:t>8</a:t>
            </a:r>
          </a:p>
        </p:txBody>
      </p:sp>
      <p:sp>
        <p:nvSpPr>
          <p:cNvPr id="102" name="Rounded Rectangle 101"/>
          <p:cNvSpPr/>
          <p:nvPr/>
        </p:nvSpPr>
        <p:spPr>
          <a:xfrm>
            <a:off x="1661160" y="3547872"/>
            <a:ext cx="2286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1706880" y="3575304"/>
            <a:ext cx="2194560" cy="201168"/>
          </a:xfrm>
          <a:prstGeom prst="rect">
            <a:avLst/>
          </a:prstGeom>
          <a:noFill/>
        </p:spPr>
        <p:txBody>
          <a:bodyPr wrap="square">
            <a:spAutoFit/>
          </a:bodyPr>
          <a:lstStyle/>
          <a:p>
            <a:pPr algn="l">
              <a:defRPr sz="900" b="0">
                <a:solidFill>
                  <a:srgbClr val="EF7C00"/>
                </a:solidFill>
                <a:latin typeface="Calibri"/>
              </a:defRPr>
            </a:pPr>
            <a:r>
              <a:t>MLP</a:t>
            </a:r>
          </a:p>
        </p:txBody>
      </p:sp>
      <p:sp>
        <p:nvSpPr>
          <p:cNvPr id="104" name="Rounded Rectangle 103"/>
          <p:cNvSpPr/>
          <p:nvPr/>
        </p:nvSpPr>
        <p:spPr>
          <a:xfrm>
            <a:off x="3992880" y="3547872"/>
            <a:ext cx="11887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4038600" y="3575304"/>
            <a:ext cx="1097280" cy="201168"/>
          </a:xfrm>
          <a:prstGeom prst="rect">
            <a:avLst/>
          </a:prstGeom>
          <a:noFill/>
        </p:spPr>
        <p:txBody>
          <a:bodyPr wrap="square">
            <a:spAutoFit/>
          </a:bodyPr>
          <a:lstStyle/>
          <a:p>
            <a:pPr algn="l">
              <a:defRPr sz="900" b="0">
                <a:solidFill>
                  <a:srgbClr val="002A55"/>
                </a:solidFill>
                <a:latin typeface="Calibri"/>
              </a:defRPr>
            </a:pPr>
            <a:r>
              <a:t>tier2</a:t>
            </a:r>
          </a:p>
        </p:txBody>
      </p:sp>
      <p:sp>
        <p:nvSpPr>
          <p:cNvPr id="106" name="Rounded Rectangle 105"/>
          <p:cNvSpPr/>
          <p:nvPr/>
        </p:nvSpPr>
        <p:spPr>
          <a:xfrm>
            <a:off x="5227320" y="3547872"/>
            <a:ext cx="100584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5273040" y="3575304"/>
            <a:ext cx="914400" cy="201168"/>
          </a:xfrm>
          <a:prstGeom prst="rect">
            <a:avLst/>
          </a:prstGeom>
          <a:noFill/>
        </p:spPr>
        <p:txBody>
          <a:bodyPr wrap="square">
            <a:spAutoFit/>
          </a:bodyPr>
          <a:lstStyle/>
          <a:p>
            <a:pPr algn="l">
              <a:defRPr sz="900" b="0">
                <a:solidFill>
                  <a:srgbClr val="002A55"/>
                </a:solidFill>
                <a:latin typeface="Calibri"/>
              </a:defRPr>
            </a:pPr>
            <a:r>
              <a:t>0.818</a:t>
            </a:r>
          </a:p>
        </p:txBody>
      </p:sp>
      <p:sp>
        <p:nvSpPr>
          <p:cNvPr id="108" name="Rounded Rectangle 107"/>
          <p:cNvSpPr/>
          <p:nvPr/>
        </p:nvSpPr>
        <p:spPr>
          <a:xfrm>
            <a:off x="6278880" y="3547872"/>
            <a:ext cx="1143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6324600" y="3575304"/>
            <a:ext cx="1051560" cy="201168"/>
          </a:xfrm>
          <a:prstGeom prst="rect">
            <a:avLst/>
          </a:prstGeom>
          <a:noFill/>
        </p:spPr>
        <p:txBody>
          <a:bodyPr wrap="square">
            <a:spAutoFit/>
          </a:bodyPr>
          <a:lstStyle/>
          <a:p>
            <a:pPr algn="l">
              <a:defRPr sz="900" b="0">
                <a:solidFill>
                  <a:srgbClr val="002A55"/>
                </a:solidFill>
                <a:latin typeface="Calibri"/>
              </a:defRPr>
            </a:pPr>
            <a:r>
              <a:t>0.798</a:t>
            </a:r>
          </a:p>
        </p:txBody>
      </p:sp>
      <p:sp>
        <p:nvSpPr>
          <p:cNvPr id="110" name="Rounded Rectangle 109"/>
          <p:cNvSpPr/>
          <p:nvPr/>
        </p:nvSpPr>
        <p:spPr>
          <a:xfrm>
            <a:off x="7467600" y="3547872"/>
            <a:ext cx="128016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7513320" y="3575304"/>
            <a:ext cx="1188720" cy="201168"/>
          </a:xfrm>
          <a:prstGeom prst="rect">
            <a:avLst/>
          </a:prstGeom>
          <a:noFill/>
        </p:spPr>
        <p:txBody>
          <a:bodyPr wrap="square">
            <a:spAutoFit/>
          </a:bodyPr>
          <a:lstStyle/>
          <a:p>
            <a:pPr algn="l">
              <a:defRPr sz="900" b="0">
                <a:solidFill>
                  <a:srgbClr val="002A55"/>
                </a:solidFill>
                <a:latin typeface="Calibri"/>
              </a:defRPr>
            </a:pPr>
            <a:r>
              <a:t>8 ms</a:t>
            </a:r>
          </a:p>
        </p:txBody>
      </p:sp>
      <p:sp>
        <p:nvSpPr>
          <p:cNvPr id="112" name="Rounded Rectangle 111"/>
          <p:cNvSpPr/>
          <p:nvPr/>
        </p:nvSpPr>
        <p:spPr>
          <a:xfrm>
            <a:off x="1341120" y="3813048"/>
            <a:ext cx="2743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ounded Rectangle 113"/>
          <p:cNvSpPr/>
          <p:nvPr/>
        </p:nvSpPr>
        <p:spPr>
          <a:xfrm>
            <a:off x="1661160" y="3813048"/>
            <a:ext cx="2286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ounded Rectangle 115"/>
          <p:cNvSpPr/>
          <p:nvPr/>
        </p:nvSpPr>
        <p:spPr>
          <a:xfrm>
            <a:off x="3992880" y="3813048"/>
            <a:ext cx="11887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ounded Rectangle 117"/>
          <p:cNvSpPr/>
          <p:nvPr/>
        </p:nvSpPr>
        <p:spPr>
          <a:xfrm>
            <a:off x="5227320" y="3813048"/>
            <a:ext cx="100584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ounded Rectangle 119"/>
          <p:cNvSpPr/>
          <p:nvPr/>
        </p:nvSpPr>
        <p:spPr>
          <a:xfrm>
            <a:off x="6278880" y="3813048"/>
            <a:ext cx="1143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ounded Rectangle 121"/>
          <p:cNvSpPr/>
          <p:nvPr/>
        </p:nvSpPr>
        <p:spPr>
          <a:xfrm>
            <a:off x="7467600" y="3813048"/>
            <a:ext cx="128016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ounded Rectangle 123"/>
          <p:cNvSpPr/>
          <p:nvPr/>
        </p:nvSpPr>
        <p:spPr>
          <a:xfrm>
            <a:off x="1341120" y="4078224"/>
            <a:ext cx="2743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ounded Rectangle 125"/>
          <p:cNvSpPr/>
          <p:nvPr/>
        </p:nvSpPr>
        <p:spPr>
          <a:xfrm>
            <a:off x="1661160" y="4078224"/>
            <a:ext cx="2286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Rounded Rectangle 127"/>
          <p:cNvSpPr/>
          <p:nvPr/>
        </p:nvSpPr>
        <p:spPr>
          <a:xfrm>
            <a:off x="3992880" y="4078224"/>
            <a:ext cx="11887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ounded Rectangle 129"/>
          <p:cNvSpPr/>
          <p:nvPr/>
        </p:nvSpPr>
        <p:spPr>
          <a:xfrm>
            <a:off x="5227320" y="4078224"/>
            <a:ext cx="100584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ounded Rectangle 131"/>
          <p:cNvSpPr/>
          <p:nvPr/>
        </p:nvSpPr>
        <p:spPr>
          <a:xfrm>
            <a:off x="6278880" y="4078224"/>
            <a:ext cx="1143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ounded Rectangle 133"/>
          <p:cNvSpPr/>
          <p:nvPr/>
        </p:nvSpPr>
        <p:spPr>
          <a:xfrm>
            <a:off x="7467600" y="4078224"/>
            <a:ext cx="128016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ounded Rectangle 135"/>
          <p:cNvSpPr/>
          <p:nvPr/>
        </p:nvSpPr>
        <p:spPr>
          <a:xfrm>
            <a:off x="1341120" y="4343400"/>
            <a:ext cx="2743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1386840" y="4370832"/>
            <a:ext cx="182880" cy="201168"/>
          </a:xfrm>
          <a:prstGeom prst="rect">
            <a:avLst/>
          </a:prstGeom>
          <a:noFill/>
        </p:spPr>
        <p:txBody>
          <a:bodyPr wrap="square">
            <a:spAutoFit/>
          </a:bodyPr>
          <a:lstStyle/>
          <a:p>
            <a:pPr algn="l">
              <a:defRPr sz="900" b="0">
                <a:solidFill>
                  <a:srgbClr val="002A55"/>
                </a:solidFill>
                <a:latin typeface="Calibri"/>
              </a:defRPr>
            </a:pPr>
            <a:r>
              <a:t>11</a:t>
            </a:r>
          </a:p>
        </p:txBody>
      </p:sp>
      <p:sp>
        <p:nvSpPr>
          <p:cNvPr id="138" name="Rounded Rectangle 137"/>
          <p:cNvSpPr/>
          <p:nvPr/>
        </p:nvSpPr>
        <p:spPr>
          <a:xfrm>
            <a:off x="1661160" y="4343400"/>
            <a:ext cx="2286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1706880" y="4370832"/>
            <a:ext cx="2194560" cy="201168"/>
          </a:xfrm>
          <a:prstGeom prst="rect">
            <a:avLst/>
          </a:prstGeom>
          <a:noFill/>
        </p:spPr>
        <p:txBody>
          <a:bodyPr wrap="square">
            <a:spAutoFit/>
          </a:bodyPr>
          <a:lstStyle/>
          <a:p>
            <a:pPr algn="l">
              <a:defRPr sz="900" b="0">
                <a:solidFill>
                  <a:srgbClr val="007ACC"/>
                </a:solidFill>
                <a:latin typeface="Calibri"/>
              </a:defRPr>
            </a:pPr>
            <a:r>
              <a:t>Decision Tree</a:t>
            </a:r>
          </a:p>
        </p:txBody>
      </p:sp>
      <p:sp>
        <p:nvSpPr>
          <p:cNvPr id="140" name="Rounded Rectangle 139"/>
          <p:cNvSpPr/>
          <p:nvPr/>
        </p:nvSpPr>
        <p:spPr>
          <a:xfrm>
            <a:off x="3992880" y="4343400"/>
            <a:ext cx="11887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4038600" y="4370832"/>
            <a:ext cx="1097280" cy="201168"/>
          </a:xfrm>
          <a:prstGeom prst="rect">
            <a:avLst/>
          </a:prstGeom>
          <a:noFill/>
        </p:spPr>
        <p:txBody>
          <a:bodyPr wrap="square">
            <a:spAutoFit/>
          </a:bodyPr>
          <a:lstStyle/>
          <a:p>
            <a:pPr algn="l">
              <a:defRPr sz="900" b="0">
                <a:solidFill>
                  <a:srgbClr val="002A55"/>
                </a:solidFill>
                <a:latin typeface="Calibri"/>
              </a:defRPr>
            </a:pPr>
            <a:r>
              <a:t>tier1</a:t>
            </a:r>
          </a:p>
        </p:txBody>
      </p:sp>
      <p:sp>
        <p:nvSpPr>
          <p:cNvPr id="142" name="Rounded Rectangle 141"/>
          <p:cNvSpPr/>
          <p:nvPr/>
        </p:nvSpPr>
        <p:spPr>
          <a:xfrm>
            <a:off x="5227320" y="4343400"/>
            <a:ext cx="100584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5273040" y="4370832"/>
            <a:ext cx="914400" cy="201168"/>
          </a:xfrm>
          <a:prstGeom prst="rect">
            <a:avLst/>
          </a:prstGeom>
          <a:noFill/>
        </p:spPr>
        <p:txBody>
          <a:bodyPr wrap="square">
            <a:spAutoFit/>
          </a:bodyPr>
          <a:lstStyle/>
          <a:p>
            <a:pPr algn="l">
              <a:defRPr sz="900" b="0">
                <a:solidFill>
                  <a:srgbClr val="002A55"/>
                </a:solidFill>
                <a:latin typeface="Calibri"/>
              </a:defRPr>
            </a:pPr>
            <a:r>
              <a:t>0.791</a:t>
            </a:r>
          </a:p>
        </p:txBody>
      </p:sp>
      <p:sp>
        <p:nvSpPr>
          <p:cNvPr id="144" name="Rounded Rectangle 143"/>
          <p:cNvSpPr/>
          <p:nvPr/>
        </p:nvSpPr>
        <p:spPr>
          <a:xfrm>
            <a:off x="6278880" y="4343400"/>
            <a:ext cx="1143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6324600" y="4370832"/>
            <a:ext cx="1051560" cy="201168"/>
          </a:xfrm>
          <a:prstGeom prst="rect">
            <a:avLst/>
          </a:prstGeom>
          <a:noFill/>
        </p:spPr>
        <p:txBody>
          <a:bodyPr wrap="square">
            <a:spAutoFit/>
          </a:bodyPr>
          <a:lstStyle/>
          <a:p>
            <a:pPr algn="l">
              <a:defRPr sz="900" b="0">
                <a:solidFill>
                  <a:srgbClr val="002A55"/>
                </a:solidFill>
                <a:latin typeface="Calibri"/>
              </a:defRPr>
            </a:pPr>
            <a:r>
              <a:t>0.762</a:t>
            </a:r>
          </a:p>
        </p:txBody>
      </p:sp>
      <p:sp>
        <p:nvSpPr>
          <p:cNvPr id="146" name="Rounded Rectangle 145"/>
          <p:cNvSpPr/>
          <p:nvPr/>
        </p:nvSpPr>
        <p:spPr>
          <a:xfrm>
            <a:off x="7467600" y="4343400"/>
            <a:ext cx="128016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7513320" y="4370832"/>
            <a:ext cx="1188720" cy="201168"/>
          </a:xfrm>
          <a:prstGeom prst="rect">
            <a:avLst/>
          </a:prstGeom>
          <a:noFill/>
        </p:spPr>
        <p:txBody>
          <a:bodyPr wrap="square">
            <a:spAutoFit/>
          </a:bodyPr>
          <a:lstStyle/>
          <a:p>
            <a:pPr algn="l">
              <a:defRPr sz="900" b="0">
                <a:solidFill>
                  <a:srgbClr val="002A55"/>
                </a:solidFill>
                <a:latin typeface="Calibri"/>
              </a:defRPr>
            </a:pPr>
            <a:r>
              <a:t>2 ms</a:t>
            </a:r>
          </a:p>
        </p:txBody>
      </p:sp>
      <p:sp>
        <p:nvSpPr>
          <p:cNvPr id="148" name="Rounded Rectangle 147"/>
          <p:cNvSpPr/>
          <p:nvPr/>
        </p:nvSpPr>
        <p:spPr>
          <a:xfrm>
            <a:off x="1341120" y="4608576"/>
            <a:ext cx="2743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ounded Rectangle 149"/>
          <p:cNvSpPr/>
          <p:nvPr/>
        </p:nvSpPr>
        <p:spPr>
          <a:xfrm>
            <a:off x="1661160" y="4608576"/>
            <a:ext cx="2286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ounded Rectangle 151"/>
          <p:cNvSpPr/>
          <p:nvPr/>
        </p:nvSpPr>
        <p:spPr>
          <a:xfrm>
            <a:off x="3992880" y="4608576"/>
            <a:ext cx="118872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ounded Rectangle 153"/>
          <p:cNvSpPr/>
          <p:nvPr/>
        </p:nvSpPr>
        <p:spPr>
          <a:xfrm>
            <a:off x="5227320" y="4608576"/>
            <a:ext cx="100584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ounded Rectangle 155"/>
          <p:cNvSpPr/>
          <p:nvPr/>
        </p:nvSpPr>
        <p:spPr>
          <a:xfrm>
            <a:off x="6278880" y="4608576"/>
            <a:ext cx="114300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ounded Rectangle 157"/>
          <p:cNvSpPr/>
          <p:nvPr/>
        </p:nvSpPr>
        <p:spPr>
          <a:xfrm>
            <a:off x="7467600" y="4608576"/>
            <a:ext cx="1280160" cy="246888"/>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ounded Rectangle 159"/>
          <p:cNvSpPr/>
          <p:nvPr/>
        </p:nvSpPr>
        <p:spPr>
          <a:xfrm>
            <a:off x="1341120" y="4873752"/>
            <a:ext cx="2743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ounded Rectangle 161"/>
          <p:cNvSpPr/>
          <p:nvPr/>
        </p:nvSpPr>
        <p:spPr>
          <a:xfrm>
            <a:off x="1661160" y="4873752"/>
            <a:ext cx="2286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ounded Rectangle 163"/>
          <p:cNvSpPr/>
          <p:nvPr/>
        </p:nvSpPr>
        <p:spPr>
          <a:xfrm>
            <a:off x="3992880" y="4873752"/>
            <a:ext cx="118872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Rounded Rectangle 165"/>
          <p:cNvSpPr/>
          <p:nvPr/>
        </p:nvSpPr>
        <p:spPr>
          <a:xfrm>
            <a:off x="5227320" y="4873752"/>
            <a:ext cx="100584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Rounded Rectangle 167"/>
          <p:cNvSpPr/>
          <p:nvPr/>
        </p:nvSpPr>
        <p:spPr>
          <a:xfrm>
            <a:off x="6278880" y="4873752"/>
            <a:ext cx="114300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Rounded Rectangle 169"/>
          <p:cNvSpPr/>
          <p:nvPr/>
        </p:nvSpPr>
        <p:spPr>
          <a:xfrm>
            <a:off x="7467600" y="4873752"/>
            <a:ext cx="1280160" cy="246888"/>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1341120" y="5166360"/>
            <a:ext cx="8595360" cy="228600"/>
          </a:xfrm>
          <a:prstGeom prst="rect">
            <a:avLst/>
          </a:prstGeom>
          <a:noFill/>
        </p:spPr>
        <p:txBody>
          <a:bodyPr wrap="square">
            <a:spAutoFit/>
          </a:bodyPr>
          <a:lstStyle/>
          <a:p>
            <a:pPr algn="l">
              <a:defRPr sz="1000" b="0">
                <a:solidFill>
                  <a:srgbClr val="999999"/>
                </a:solidFill>
                <a:latin typeface="Calibri"/>
              </a:defRPr>
            </a:pPr>
            <a:r>
              <a:t>Voting (Tier 3) tops all 6  •  Classical ML beats Deep Learning at this dataset sizelearning (Tier 2) ≈ classical ML at this dataset size</a:t>
            </a:r>
          </a:p>
        </p:txBody>
      </p:sp>
      <p:sp>
        <p:nvSpPr>
          <p:cNvPr id="173" name="Rectangle 172"/>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75" name="Rectangle 174"/>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6" name="Picture 175" descr="nus_iss_logo_transparent.png"/>
          <p:cNvPicPr>
            <a:picLocks noChangeAspect="1"/>
          </p:cNvPicPr>
          <p:nvPr/>
        </p:nvPicPr>
        <p:blipFill>
          <a:blip r:embed="rId3"/>
          <a:stretch>
            <a:fillRect/>
          </a:stretch>
        </p:blipFill>
        <p:spPr>
          <a:xfrm>
            <a:off x="9555480" y="82296"/>
            <a:ext cx="2514600" cy="5852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3D7C"/>
        </a:solidFill>
        <a:effectLst/>
      </p:bgPr>
    </p:bg>
    <p:spTree>
      <p:nvGrpSpPr>
        <p:cNvPr id="1" name=""/>
        <p:cNvGrpSpPr/>
        <p:nvPr/>
      </p:nvGrpSpPr>
      <p:grpSpPr>
        <a:xfrm>
          <a:off x="0" y="0"/>
          <a:ext cx="0" cy="0"/>
          <a:chOff x="0" y="0"/>
          <a:chExt cx="0" cy="0"/>
        </a:xfrm>
      </p:grpSpPr>
      <p:sp>
        <p:nvSpPr>
          <p:cNvPr id="2" name="Rectangle 1"/>
          <p:cNvSpPr/>
          <p:nvPr/>
        </p:nvSpPr>
        <p:spPr>
          <a:xfrm>
            <a:off x="0" y="0"/>
            <a:ext cx="1005840" cy="822960"/>
          </a:xfrm>
          <a:prstGeom prst="rect">
            <a:avLst/>
          </a:prstGeom>
          <a:solidFill>
            <a:srgbClr val="FFE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822960"/>
            <a:ext cx="54864" cy="530352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91440"/>
            <a:ext cx="8686800" cy="640080"/>
          </a:xfrm>
          <a:prstGeom prst="rect">
            <a:avLst/>
          </a:prstGeom>
          <a:noFill/>
        </p:spPr>
        <p:txBody>
          <a:bodyPr wrap="square">
            <a:spAutoFit/>
          </a:bodyPr>
          <a:lstStyle/>
          <a:p>
            <a:pPr algn="l">
              <a:defRPr sz="3200" b="1">
                <a:solidFill>
                  <a:srgbClr val="FFFFFF"/>
                </a:solidFill>
                <a:latin typeface="Calibri"/>
              </a:defRPr>
            </a:pPr>
            <a:r>
              <a:t>Trained Models — Serialised Artefacts</a:t>
            </a:r>
          </a:p>
        </p:txBody>
      </p:sp>
      <p:sp>
        <p:nvSpPr>
          <p:cNvPr id="7" name="TextBox 6"/>
          <p:cNvSpPr txBox="1"/>
          <p:nvPr/>
        </p:nvSpPr>
        <p:spPr>
          <a:xfrm>
            <a:off x="1188720" y="594360"/>
            <a:ext cx="8686800" cy="457200"/>
          </a:xfrm>
          <a:prstGeom prst="rect">
            <a:avLst/>
          </a:prstGeom>
          <a:noFill/>
        </p:spPr>
        <p:txBody>
          <a:bodyPr wrap="square">
            <a:spAutoFit/>
          </a:bodyPr>
          <a:lstStyle/>
          <a:p>
            <a:pPr algn="l">
              <a:defRPr sz="2000" b="0">
                <a:solidFill>
                  <a:srgbClr val="FFFFFF"/>
                </a:solidFill>
                <a:latin typeface="Calibri"/>
              </a:defRPr>
            </a:pPr>
            <a:r>
              <a:t>Each model saved as .pkl via joblib; backend loads on startup — no retraining at inference</a:t>
            </a:r>
          </a:p>
        </p:txBody>
      </p:sp>
      <p:sp>
        <p:nvSpPr>
          <p:cNvPr id="8" name="Rectangle 7"/>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10" name="Rounded Rectangle 9"/>
          <p:cNvSpPr/>
          <p:nvPr/>
        </p:nvSpPr>
        <p:spPr>
          <a:xfrm>
            <a:off x="1258390" y="1417320"/>
            <a:ext cx="5120640" cy="4264586"/>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95550" y="1508760"/>
            <a:ext cx="4663440" cy="3474720"/>
          </a:xfrm>
          <a:prstGeom prst="rect">
            <a:avLst/>
          </a:prstGeom>
          <a:noFill/>
        </p:spPr>
        <p:txBody>
          <a:bodyPr wrap="square">
            <a:spAutoFit/>
          </a:bodyPr>
          <a:lstStyle/>
          <a:p>
            <a:pPr algn="l">
              <a:spcAft>
                <a:spcPts val="200"/>
              </a:spcAft>
              <a:defRPr sz="900" b="0">
                <a:solidFill>
                  <a:srgbClr val="28A745"/>
                </a:solidFill>
                <a:latin typeface="Courier New"/>
              </a:defRPr>
            </a:pPr>
            <a:r>
              <a:t>models/</a:t>
            </a:r>
          </a:p>
          <a:p>
            <a:pPr algn="l">
              <a:spcAft>
                <a:spcPts val="200"/>
              </a:spcAft>
              <a:defRPr sz="900" b="0">
                <a:solidFill>
                  <a:srgbClr val="28A745"/>
                </a:solidFill>
                <a:latin typeface="Courier New"/>
              </a:defRPr>
            </a:pPr>
            <a:r>
              <a:t>  svm.pkl           ~2.1 MB  (support vectors + kernel params)</a:t>
            </a:r>
          </a:p>
          <a:p>
            <a:pPr algn="l">
              <a:spcAft>
                <a:spcPts val="200"/>
              </a:spcAft>
              <a:defRPr sz="900" b="0">
                <a:solidFill>
                  <a:srgbClr val="28A745"/>
                </a:solidFill>
                <a:latin typeface="Courier New"/>
              </a:defRPr>
            </a:pPr>
            <a:r>
              <a:t>  naive_bayes.pkl   ~15 KB   (class priors + Gaussian likelihoods)</a:t>
            </a:r>
          </a:p>
          <a:p>
            <a:pPr algn="l">
              <a:spcAft>
                <a:spcPts val="200"/>
              </a:spcAft>
              <a:defRPr sz="900" b="0">
                <a:solidFill>
                  <a:srgbClr val="28A745"/>
                </a:solidFill>
                <a:latin typeface="Courier New"/>
              </a:defRPr>
            </a:pPr>
            <a:r>
              <a:t>  decision_tree.pkl ~180 KB  (tree nodes + split thresholds)</a:t>
            </a:r>
          </a:p>
          <a:p>
            <a:pPr algn="l">
              <a:spcAft>
                <a:spcPts val="200"/>
              </a:spcAft>
              <a:defRPr sz="900" b="0">
                <a:solidFill>
                  <a:srgbClr val="28A745"/>
                </a:solidFill>
                <a:latin typeface="Courier New"/>
              </a:defRPr>
            </a:pPr>
            <a:r>
              <a:t>  random_forest.pkl ~12 MB   (100 tree structures)</a:t>
            </a:r>
          </a:p>
          <a:p>
            <a:pPr algn="l">
              <a:spcAft>
                <a:spcPts val="200"/>
              </a:spcAft>
              <a:defRPr sz="900" b="0">
                <a:solidFill>
                  <a:srgbClr val="28A745"/>
                </a:solidFill>
                <a:latin typeface="Courier New"/>
              </a:defRPr>
            </a:pPr>
            <a:r>
              <a:t>  knn.pkl           ~8.5 MB  (full training data — lazy learner)</a:t>
            </a:r>
          </a:p>
          <a:p>
            <a:pPr algn="l">
              <a:spcAft>
                <a:spcPts val="200"/>
              </a:spcAft>
              <a:defRPr sz="900" b="0">
                <a:solidFill>
                  <a:srgbClr val="28A745"/>
                </a:solidFill>
                <a:latin typeface="Courier New"/>
              </a:defRPr>
            </a:pPr>
            <a:r>
              <a:t>  xgboost.pkl       ~1.2 MB  (100 boosted trees)</a:t>
            </a:r>
          </a:p>
          <a:p>
            <a:pPr algn="l">
              <a:spcAft>
                <a:spcPts val="200"/>
              </a:spcAft>
              <a:defRPr sz="900" b="0">
                <a:solidFill>
                  <a:srgbClr val="28A745"/>
                </a:solidFill>
                <a:latin typeface="Courier New"/>
              </a:defRPr>
            </a:pPr>
            <a:r>
              <a:t>  lightgbm.pkl      ~900 KB  (leaf-value trees)</a:t>
            </a:r>
          </a:p>
          <a:p>
            <a:pPr algn="l">
              <a:spcAft>
                <a:spcPts val="200"/>
              </a:spcAft>
              <a:defRPr sz="900" b="0">
                <a:solidFill>
                  <a:srgbClr val="28A745"/>
                </a:solidFill>
                <a:latin typeface="Courier New"/>
              </a:defRPr>
            </a:pPr>
            <a:r>
              <a:t>  mlp.pkl           ~3.5 MB  (846K weights + biases)</a:t>
            </a:r>
          </a:p>
          <a:p>
            <a:pPr algn="l">
              <a:spcAft>
                <a:spcPts val="200"/>
              </a:spcAft>
              <a:defRPr sz="900" b="0">
                <a:solidFill>
                  <a:srgbClr val="28A745"/>
                </a:solidFill>
                <a:latin typeface="Courier New"/>
              </a:defRPr>
            </a:pPr>
            <a:r>
              <a:t>  lstm.pkl          ~500 KB  (gate weights + cell state)</a:t>
            </a:r>
          </a:p>
          <a:p>
            <a:pPr algn="l">
              <a:spcAft>
                <a:spcPts val="200"/>
              </a:spcAft>
              <a:defRPr sz="900" b="0">
                <a:solidFill>
                  <a:srgbClr val="28A745"/>
                </a:solidFill>
                <a:latin typeface="Courier New"/>
              </a:defRPr>
            </a:pPr>
            <a:r>
              <a:t>  cnn1d.pkl         ~280 KB  (conv filters + FC weights)</a:t>
            </a:r>
          </a:p>
          <a:p>
            <a:pPr algn="l">
              <a:spcAft>
                <a:spcPts val="200"/>
              </a:spcAft>
              <a:defRPr sz="900" b="0">
                <a:solidFill>
                  <a:srgbClr val="28A745"/>
                </a:solidFill>
                <a:latin typeface="Courier New"/>
              </a:defRPr>
            </a:pPr>
            <a:r>
              <a:t>  transformer.pkl   ~600 KB  (attention weights + FFN)</a:t>
            </a:r>
          </a:p>
          <a:p>
            <a:pPr algn="l">
              <a:spcAft>
                <a:spcPts val="200"/>
              </a:spcAft>
              <a:defRPr sz="900" b="0">
                <a:solidFill>
                  <a:srgbClr val="28A745"/>
                </a:solidFill>
                <a:latin typeface="Courier New"/>
              </a:defRPr>
            </a:pPr>
            <a:r>
              <a:t>  stacking.pkl      ~15 MB   (base models + meta-learner)</a:t>
            </a:r>
          </a:p>
          <a:p>
            <a:pPr algn="l">
              <a:spcAft>
                <a:spcPts val="200"/>
              </a:spcAft>
              <a:defRPr sz="900" b="0">
                <a:solidFill>
                  <a:srgbClr val="28A745"/>
                </a:solidFill>
                <a:latin typeface="Courier New"/>
              </a:defRPr>
            </a:pPr>
            <a:r>
              <a:t>  voting.pkl        ~14 MB   (4 base models + weight config)</a:t>
            </a:r>
          </a:p>
          <a:p>
            <a:pPr algn="l">
              <a:spcAft>
                <a:spcPts val="200"/>
              </a:spcAft>
              <a:defRPr sz="900" b="0">
                <a:solidFill>
                  <a:srgbClr val="28A745"/>
                </a:solidFill>
                <a:latin typeface="Courier New"/>
              </a:defRPr>
            </a:pPr>
            <a:r>
              <a:t>  label_names.json           (index → class name mapping)</a:t>
            </a:r>
          </a:p>
          <a:p>
            <a:pPr algn="l">
              <a:spcAft>
                <a:spcPts val="200"/>
              </a:spcAft>
              <a:defRPr sz="900" b="0">
                <a:solidFill>
                  <a:srgbClr val="28A745"/>
                </a:solidFill>
                <a:latin typeface="Courier New"/>
              </a:defRPr>
            </a:pPr>
            <a:r>
              <a:t>  scaler.pkl                 (StandardScaler fit on train set)</a:t>
            </a:r>
          </a:p>
        </p:txBody>
      </p:sp>
      <p:sp>
        <p:nvSpPr>
          <p:cNvPr id="12" name="Rounded Rectangle 11"/>
          <p:cNvSpPr/>
          <p:nvPr/>
        </p:nvSpPr>
        <p:spPr>
          <a:xfrm>
            <a:off x="6379030" y="1417320"/>
            <a:ext cx="3496490" cy="4264586"/>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6190" y="1508760"/>
            <a:ext cx="3108960" cy="182880"/>
          </a:xfrm>
          <a:prstGeom prst="rect">
            <a:avLst/>
          </a:prstGeom>
          <a:noFill/>
        </p:spPr>
        <p:txBody>
          <a:bodyPr wrap="square">
            <a:spAutoFit/>
          </a:bodyPr>
          <a:lstStyle/>
          <a:p>
            <a:pPr algn="l">
              <a:defRPr sz="900" b="1">
                <a:solidFill>
                  <a:srgbClr val="28A745"/>
                </a:solidFill>
                <a:latin typeface="Courier New"/>
              </a:defRPr>
            </a:pPr>
            <a:r>
              <a:t>Serialisation with joblib</a:t>
            </a:r>
          </a:p>
        </p:txBody>
      </p:sp>
      <p:sp>
        <p:nvSpPr>
          <p:cNvPr id="14" name="TextBox 13"/>
          <p:cNvSpPr txBox="1"/>
          <p:nvPr/>
        </p:nvSpPr>
        <p:spPr>
          <a:xfrm>
            <a:off x="6516190" y="1709928"/>
            <a:ext cx="3108960" cy="182880"/>
          </a:xfrm>
          <a:prstGeom prst="rect">
            <a:avLst/>
          </a:prstGeom>
          <a:noFill/>
        </p:spPr>
        <p:txBody>
          <a:bodyPr wrap="square">
            <a:spAutoFit/>
          </a:bodyPr>
          <a:lstStyle/>
          <a:p>
            <a:pPr algn="l">
              <a:defRPr sz="900" b="0">
                <a:solidFill>
                  <a:srgbClr val="002A55"/>
                </a:solidFill>
                <a:latin typeface="Calibri"/>
              </a:defRPr>
            </a:pPr>
            <a:endParaRPr/>
          </a:p>
        </p:txBody>
      </p:sp>
      <p:sp>
        <p:nvSpPr>
          <p:cNvPr id="15" name="TextBox 14"/>
          <p:cNvSpPr txBox="1"/>
          <p:nvPr/>
        </p:nvSpPr>
        <p:spPr>
          <a:xfrm>
            <a:off x="6516190" y="1911095"/>
            <a:ext cx="3108960" cy="182880"/>
          </a:xfrm>
          <a:prstGeom prst="rect">
            <a:avLst/>
          </a:prstGeom>
          <a:noFill/>
        </p:spPr>
        <p:txBody>
          <a:bodyPr wrap="square">
            <a:spAutoFit/>
          </a:bodyPr>
          <a:lstStyle/>
          <a:p>
            <a:pPr algn="l">
              <a:defRPr sz="900" b="0">
                <a:solidFill>
                  <a:srgbClr val="28A745"/>
                </a:solidFill>
                <a:latin typeface="Courier New"/>
              </a:defRPr>
            </a:pPr>
            <a:r>
              <a:t>import joblib</a:t>
            </a:r>
          </a:p>
        </p:txBody>
      </p:sp>
      <p:sp>
        <p:nvSpPr>
          <p:cNvPr id="16" name="TextBox 15"/>
          <p:cNvSpPr txBox="1"/>
          <p:nvPr/>
        </p:nvSpPr>
        <p:spPr>
          <a:xfrm>
            <a:off x="6516190" y="2112264"/>
            <a:ext cx="3108960" cy="182880"/>
          </a:xfrm>
          <a:prstGeom prst="rect">
            <a:avLst/>
          </a:prstGeom>
          <a:noFill/>
        </p:spPr>
        <p:txBody>
          <a:bodyPr wrap="square">
            <a:spAutoFit/>
          </a:bodyPr>
          <a:lstStyle/>
          <a:p>
            <a:pPr algn="l">
              <a:defRPr sz="900" b="0">
                <a:solidFill>
                  <a:srgbClr val="002A55"/>
                </a:solidFill>
                <a:latin typeface="Calibri"/>
              </a:defRPr>
            </a:pPr>
            <a:endParaRPr/>
          </a:p>
        </p:txBody>
      </p:sp>
      <p:sp>
        <p:nvSpPr>
          <p:cNvPr id="17" name="TextBox 16"/>
          <p:cNvSpPr txBox="1"/>
          <p:nvPr/>
        </p:nvSpPr>
        <p:spPr>
          <a:xfrm>
            <a:off x="6516190" y="2313432"/>
            <a:ext cx="3108960" cy="182880"/>
          </a:xfrm>
          <a:prstGeom prst="rect">
            <a:avLst/>
          </a:prstGeom>
          <a:noFill/>
        </p:spPr>
        <p:txBody>
          <a:bodyPr wrap="square">
            <a:spAutoFit/>
          </a:bodyPr>
          <a:lstStyle/>
          <a:p>
            <a:pPr algn="l">
              <a:defRPr sz="900" b="0">
                <a:solidFill>
                  <a:srgbClr val="002A55"/>
                </a:solidFill>
                <a:latin typeface="Calibri"/>
              </a:defRPr>
            </a:pPr>
            <a:r>
              <a:t># Save after training:</a:t>
            </a:r>
          </a:p>
        </p:txBody>
      </p:sp>
      <p:sp>
        <p:nvSpPr>
          <p:cNvPr id="18" name="TextBox 17"/>
          <p:cNvSpPr txBox="1"/>
          <p:nvPr/>
        </p:nvSpPr>
        <p:spPr>
          <a:xfrm>
            <a:off x="6516190" y="2514600"/>
            <a:ext cx="3108960" cy="182880"/>
          </a:xfrm>
          <a:prstGeom prst="rect">
            <a:avLst/>
          </a:prstGeom>
          <a:noFill/>
        </p:spPr>
        <p:txBody>
          <a:bodyPr wrap="square">
            <a:spAutoFit/>
          </a:bodyPr>
          <a:lstStyle/>
          <a:p>
            <a:pPr algn="l">
              <a:defRPr sz="900" b="0">
                <a:solidFill>
                  <a:srgbClr val="28A745"/>
                </a:solidFill>
                <a:latin typeface="Courier New"/>
              </a:defRPr>
            </a:pPr>
            <a:r>
              <a:t>joblib.dump(model, 'models/voting.pkl')</a:t>
            </a:r>
          </a:p>
        </p:txBody>
      </p:sp>
      <p:sp>
        <p:nvSpPr>
          <p:cNvPr id="19" name="TextBox 18"/>
          <p:cNvSpPr txBox="1"/>
          <p:nvPr/>
        </p:nvSpPr>
        <p:spPr>
          <a:xfrm>
            <a:off x="6516190" y="2715768"/>
            <a:ext cx="3108960" cy="182880"/>
          </a:xfrm>
          <a:prstGeom prst="rect">
            <a:avLst/>
          </a:prstGeom>
          <a:noFill/>
        </p:spPr>
        <p:txBody>
          <a:bodyPr wrap="square">
            <a:spAutoFit/>
          </a:bodyPr>
          <a:lstStyle/>
          <a:p>
            <a:pPr algn="l">
              <a:defRPr sz="900" b="0">
                <a:solidFill>
                  <a:srgbClr val="002A55"/>
                </a:solidFill>
                <a:latin typeface="Calibri"/>
              </a:defRPr>
            </a:pPr>
            <a:endParaRPr/>
          </a:p>
        </p:txBody>
      </p:sp>
      <p:sp>
        <p:nvSpPr>
          <p:cNvPr id="20" name="TextBox 19"/>
          <p:cNvSpPr txBox="1"/>
          <p:nvPr/>
        </p:nvSpPr>
        <p:spPr>
          <a:xfrm>
            <a:off x="6516190" y="2916936"/>
            <a:ext cx="3108960" cy="182880"/>
          </a:xfrm>
          <a:prstGeom prst="rect">
            <a:avLst/>
          </a:prstGeom>
          <a:noFill/>
        </p:spPr>
        <p:txBody>
          <a:bodyPr wrap="square">
            <a:spAutoFit/>
          </a:bodyPr>
          <a:lstStyle/>
          <a:p>
            <a:pPr algn="l">
              <a:defRPr sz="900" b="0">
                <a:solidFill>
                  <a:srgbClr val="002A55"/>
                </a:solidFill>
                <a:latin typeface="Calibri"/>
              </a:defRPr>
            </a:pPr>
            <a:r>
              <a:t># Load at inference:</a:t>
            </a:r>
          </a:p>
        </p:txBody>
      </p:sp>
      <p:sp>
        <p:nvSpPr>
          <p:cNvPr id="21" name="TextBox 20"/>
          <p:cNvSpPr txBox="1"/>
          <p:nvPr/>
        </p:nvSpPr>
        <p:spPr>
          <a:xfrm>
            <a:off x="6516190" y="3118104"/>
            <a:ext cx="3108960" cy="182880"/>
          </a:xfrm>
          <a:prstGeom prst="rect">
            <a:avLst/>
          </a:prstGeom>
          <a:noFill/>
        </p:spPr>
        <p:txBody>
          <a:bodyPr wrap="square">
            <a:spAutoFit/>
          </a:bodyPr>
          <a:lstStyle/>
          <a:p>
            <a:pPr algn="l">
              <a:defRPr sz="900" b="0">
                <a:solidFill>
                  <a:srgbClr val="28A745"/>
                </a:solidFill>
                <a:latin typeface="Courier New"/>
              </a:defRPr>
            </a:pPr>
            <a:r>
              <a:t>model = joblib.load('models/voting.pkl')</a:t>
            </a:r>
          </a:p>
        </p:txBody>
      </p:sp>
      <p:sp>
        <p:nvSpPr>
          <p:cNvPr id="22" name="TextBox 21"/>
          <p:cNvSpPr txBox="1"/>
          <p:nvPr/>
        </p:nvSpPr>
        <p:spPr>
          <a:xfrm>
            <a:off x="6516190" y="3319272"/>
            <a:ext cx="3108960" cy="182880"/>
          </a:xfrm>
          <a:prstGeom prst="rect">
            <a:avLst/>
          </a:prstGeom>
          <a:noFill/>
        </p:spPr>
        <p:txBody>
          <a:bodyPr wrap="square">
            <a:spAutoFit/>
          </a:bodyPr>
          <a:lstStyle/>
          <a:p>
            <a:pPr algn="l">
              <a:defRPr sz="900" b="0">
                <a:solidFill>
                  <a:srgbClr val="002A55"/>
                </a:solidFill>
                <a:latin typeface="Calibri"/>
              </a:defRPr>
            </a:pPr>
            <a:endParaRPr/>
          </a:p>
        </p:txBody>
      </p:sp>
      <p:sp>
        <p:nvSpPr>
          <p:cNvPr id="23" name="TextBox 22"/>
          <p:cNvSpPr txBox="1"/>
          <p:nvPr/>
        </p:nvSpPr>
        <p:spPr>
          <a:xfrm>
            <a:off x="6516190" y="3520440"/>
            <a:ext cx="3108960" cy="182880"/>
          </a:xfrm>
          <a:prstGeom prst="rect">
            <a:avLst/>
          </a:prstGeom>
          <a:noFill/>
        </p:spPr>
        <p:txBody>
          <a:bodyPr wrap="square">
            <a:spAutoFit/>
          </a:bodyPr>
          <a:lstStyle/>
          <a:p>
            <a:pPr algn="l">
              <a:defRPr sz="900" b="1">
                <a:solidFill>
                  <a:srgbClr val="28A745"/>
                </a:solidFill>
                <a:latin typeface="Courier New"/>
              </a:defRPr>
            </a:pPr>
            <a:r>
              <a:t>Each .pkl contains:</a:t>
            </a:r>
          </a:p>
        </p:txBody>
      </p:sp>
      <p:sp>
        <p:nvSpPr>
          <p:cNvPr id="24" name="TextBox 23"/>
          <p:cNvSpPr txBox="1"/>
          <p:nvPr/>
        </p:nvSpPr>
        <p:spPr>
          <a:xfrm>
            <a:off x="6516190" y="3721608"/>
            <a:ext cx="3108960" cy="182880"/>
          </a:xfrm>
          <a:prstGeom prst="rect">
            <a:avLst/>
          </a:prstGeom>
          <a:noFill/>
        </p:spPr>
        <p:txBody>
          <a:bodyPr wrap="square">
            <a:spAutoFit/>
          </a:bodyPr>
          <a:lstStyle/>
          <a:p>
            <a:pPr algn="l">
              <a:defRPr sz="900" b="0">
                <a:solidFill>
                  <a:srgbClr val="002A55"/>
                </a:solidFill>
                <a:latin typeface="Calibri"/>
              </a:defRPr>
            </a:pPr>
            <a:r>
              <a:t>• Learned weights / parameters</a:t>
            </a:r>
          </a:p>
        </p:txBody>
      </p:sp>
      <p:sp>
        <p:nvSpPr>
          <p:cNvPr id="25" name="TextBox 24"/>
          <p:cNvSpPr txBox="1"/>
          <p:nvPr/>
        </p:nvSpPr>
        <p:spPr>
          <a:xfrm>
            <a:off x="6516190" y="3922776"/>
            <a:ext cx="3108960" cy="182880"/>
          </a:xfrm>
          <a:prstGeom prst="rect">
            <a:avLst/>
          </a:prstGeom>
          <a:noFill/>
        </p:spPr>
        <p:txBody>
          <a:bodyPr wrap="square">
            <a:spAutoFit/>
          </a:bodyPr>
          <a:lstStyle/>
          <a:p>
            <a:pPr algn="l">
              <a:defRPr sz="900" b="0">
                <a:solidFill>
                  <a:srgbClr val="002A55"/>
                </a:solidFill>
                <a:latin typeface="Calibri"/>
              </a:defRPr>
            </a:pPr>
            <a:r>
              <a:t>• Hyperparameters &amp; architecture</a:t>
            </a:r>
          </a:p>
        </p:txBody>
      </p:sp>
      <p:sp>
        <p:nvSpPr>
          <p:cNvPr id="26" name="TextBox 25"/>
          <p:cNvSpPr txBox="1"/>
          <p:nvPr/>
        </p:nvSpPr>
        <p:spPr>
          <a:xfrm>
            <a:off x="6516190" y="4123944"/>
            <a:ext cx="3108960" cy="182880"/>
          </a:xfrm>
          <a:prstGeom prst="rect">
            <a:avLst/>
          </a:prstGeom>
          <a:noFill/>
        </p:spPr>
        <p:txBody>
          <a:bodyPr wrap="square">
            <a:spAutoFit/>
          </a:bodyPr>
          <a:lstStyle/>
          <a:p>
            <a:pPr algn="l">
              <a:defRPr sz="900" b="0">
                <a:solidFill>
                  <a:srgbClr val="002A55"/>
                </a:solidFill>
                <a:latin typeface="Calibri"/>
              </a:defRPr>
            </a:pPr>
            <a:r>
              <a:t>• Feature scaler (if fitted)</a:t>
            </a:r>
          </a:p>
        </p:txBody>
      </p:sp>
      <p:sp>
        <p:nvSpPr>
          <p:cNvPr id="27" name="TextBox 26"/>
          <p:cNvSpPr txBox="1"/>
          <p:nvPr/>
        </p:nvSpPr>
        <p:spPr>
          <a:xfrm>
            <a:off x="6516190" y="4325112"/>
            <a:ext cx="3108960" cy="182880"/>
          </a:xfrm>
          <a:prstGeom prst="rect">
            <a:avLst/>
          </a:prstGeom>
          <a:noFill/>
        </p:spPr>
        <p:txBody>
          <a:bodyPr wrap="square">
            <a:spAutoFit/>
          </a:bodyPr>
          <a:lstStyle/>
          <a:p>
            <a:pPr algn="l">
              <a:defRPr sz="900" b="0">
                <a:solidFill>
                  <a:srgbClr val="002A55"/>
                </a:solidFill>
                <a:latin typeface="Calibri"/>
              </a:defRPr>
            </a:pPr>
            <a:r>
              <a:t>• Label encoder mapping</a:t>
            </a:r>
          </a:p>
        </p:txBody>
      </p:sp>
      <p:sp>
        <p:nvSpPr>
          <p:cNvPr id="28" name="TextBox 27"/>
          <p:cNvSpPr txBox="1"/>
          <p:nvPr/>
        </p:nvSpPr>
        <p:spPr>
          <a:xfrm>
            <a:off x="6516190" y="4526279"/>
            <a:ext cx="3108960" cy="182880"/>
          </a:xfrm>
          <a:prstGeom prst="rect">
            <a:avLst/>
          </a:prstGeom>
          <a:noFill/>
        </p:spPr>
        <p:txBody>
          <a:bodyPr wrap="square">
            <a:spAutoFit/>
          </a:bodyPr>
          <a:lstStyle/>
          <a:p>
            <a:pPr algn="l">
              <a:defRPr sz="900" b="0">
                <a:solidFill>
                  <a:srgbClr val="002A55"/>
                </a:solidFill>
                <a:latin typeface="Calibri"/>
              </a:defRPr>
            </a:pPr>
            <a:endParaRPr/>
          </a:p>
        </p:txBody>
      </p:sp>
      <p:sp>
        <p:nvSpPr>
          <p:cNvPr id="29" name="TextBox 28"/>
          <p:cNvSpPr txBox="1"/>
          <p:nvPr/>
        </p:nvSpPr>
        <p:spPr>
          <a:xfrm>
            <a:off x="6516190" y="4727448"/>
            <a:ext cx="3108960" cy="182880"/>
          </a:xfrm>
          <a:prstGeom prst="rect">
            <a:avLst/>
          </a:prstGeom>
          <a:noFill/>
        </p:spPr>
        <p:txBody>
          <a:bodyPr wrap="square">
            <a:spAutoFit/>
          </a:bodyPr>
          <a:lstStyle/>
          <a:p>
            <a:pPr algn="l">
              <a:defRPr sz="900" b="1">
                <a:solidFill>
                  <a:srgbClr val="002A55"/>
                </a:solidFill>
                <a:latin typeface="Calibri"/>
              </a:defRPr>
            </a:pPr>
            <a:r>
              <a:t>S3 sync at backend startup:</a:t>
            </a:r>
          </a:p>
        </p:txBody>
      </p:sp>
      <p:sp>
        <p:nvSpPr>
          <p:cNvPr id="30" name="TextBox 29"/>
          <p:cNvSpPr txBox="1"/>
          <p:nvPr/>
        </p:nvSpPr>
        <p:spPr>
          <a:xfrm>
            <a:off x="6516190" y="4928616"/>
            <a:ext cx="3108960" cy="182880"/>
          </a:xfrm>
          <a:prstGeom prst="rect">
            <a:avLst/>
          </a:prstGeom>
          <a:noFill/>
        </p:spPr>
        <p:txBody>
          <a:bodyPr wrap="square">
            <a:spAutoFit/>
          </a:bodyPr>
          <a:lstStyle/>
          <a:p>
            <a:pPr algn="l">
              <a:defRPr sz="900" b="0">
                <a:solidFill>
                  <a:srgbClr val="28A745"/>
                </a:solidFill>
                <a:latin typeface="Courier New"/>
              </a:defRPr>
            </a:pPr>
            <a:r>
              <a:t>s3://video2knowledge-dev-…/</a:t>
            </a:r>
          </a:p>
        </p:txBody>
      </p:sp>
      <p:sp>
        <p:nvSpPr>
          <p:cNvPr id="31" name="TextBox 30"/>
          <p:cNvSpPr txBox="1"/>
          <p:nvPr/>
        </p:nvSpPr>
        <p:spPr>
          <a:xfrm>
            <a:off x="6516190" y="5129783"/>
            <a:ext cx="3108960" cy="182880"/>
          </a:xfrm>
          <a:prstGeom prst="rect">
            <a:avLst/>
          </a:prstGeom>
          <a:noFill/>
        </p:spPr>
        <p:txBody>
          <a:bodyPr wrap="square">
            <a:spAutoFit/>
          </a:bodyPr>
          <a:lstStyle/>
          <a:p>
            <a:pPr algn="l">
              <a:defRPr sz="900" b="0">
                <a:solidFill>
                  <a:srgbClr val="28A745"/>
                </a:solidFill>
                <a:latin typeface="Courier New"/>
              </a:defRPr>
            </a:pPr>
            <a:r>
              <a:t>  models/v3/voting.pkl</a:t>
            </a:r>
          </a:p>
        </p:txBody>
      </p:sp>
      <p:sp>
        <p:nvSpPr>
          <p:cNvPr id="32" name="Rectangle 31"/>
          <p:cNvSpPr/>
          <p:nvPr/>
        </p:nvSpPr>
        <p:spPr>
          <a:xfrm>
            <a:off x="0" y="6172200"/>
            <a:ext cx="12191695" cy="5486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4320" y="6400800"/>
            <a:ext cx="7315200" cy="274320"/>
          </a:xfrm>
          <a:prstGeom prst="rect">
            <a:avLst/>
          </a:prstGeom>
          <a:noFill/>
        </p:spPr>
        <p:txBody>
          <a:bodyPr wrap="square">
            <a:spAutoFit/>
          </a:bodyPr>
          <a:lstStyle/>
          <a:p>
            <a:pPr algn="l">
              <a:defRPr sz="800" b="0">
                <a:solidFill>
                  <a:srgbClr val="FFFFFF"/>
                </a:solidFill>
                <a:latin typeface="Calibri"/>
              </a:defRPr>
            </a:pPr>
            <a:r>
              <a:t>© Copyright National University of Singapore. All Rights Reserved.</a:t>
            </a:r>
          </a:p>
        </p:txBody>
      </p:sp>
      <p:sp>
        <p:nvSpPr>
          <p:cNvPr id="34" name="Rectangle 33"/>
          <p:cNvSpPr/>
          <p:nvPr/>
        </p:nvSpPr>
        <p:spPr>
          <a:xfrm>
            <a:off x="9482328" y="45720"/>
            <a:ext cx="2624328"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nus_iss_logo_transparent.png"/>
          <p:cNvPicPr>
            <a:picLocks noChangeAspect="1"/>
          </p:cNvPicPr>
          <p:nvPr/>
        </p:nvPicPr>
        <p:blipFill>
          <a:blip r:embed="rId3"/>
          <a:stretch>
            <a:fillRect/>
          </a:stretch>
        </p:blipFill>
        <p:spPr>
          <a:xfrm>
            <a:off x="9555480" y="82296"/>
            <a:ext cx="2514600" cy="5852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line"/>
          <p:cNvPicPr>
            <a:picLocks noChangeAspect="1"/>
          </p:cNvPicPr>
          <p:nvPr/>
        </p:nvPicPr>
        <p:blipFill>
          <a:blip r:embed="rId3"/>
          <a:srcRect/>
          <a:stretch/>
        </p:blipFill>
        <p:spPr>
          <a:xfrm>
            <a:off x="2602822" y="4334274"/>
            <a:ext cx="6983181" cy="50787"/>
          </a:xfrm>
          <a:prstGeom prst="rect">
            <a:avLst/>
          </a:prstGeom>
        </p:spPr>
      </p:pic>
      <p:sp>
        <p:nvSpPr>
          <p:cNvPr id="6" name="Text 3"/>
          <p:cNvSpPr/>
          <p:nvPr/>
        </p:nvSpPr>
        <p:spPr>
          <a:xfrm>
            <a:off x="3299743" y="4562814"/>
            <a:ext cx="5589338" cy="416452"/>
          </a:xfrm>
          <a:prstGeom prst="rect">
            <a:avLst/>
          </a:prstGeom>
          <a:noFill/>
          <a:ln/>
        </p:spPr>
        <p:txBody>
          <a:bodyPr wrap="square" lIns="0" tIns="0" rIns="0" bIns="0" rtlCol="0" anchor="t">
            <a:normAutofit/>
          </a:bodyPr>
          <a:lstStyle/>
          <a:p>
            <a:pPr algn="ctr">
              <a:lnSpc>
                <a:spcPts val="3079"/>
              </a:lnSpc>
            </a:pPr>
            <a:endParaRPr lang="en-US" sz="2199" dirty="0"/>
          </a:p>
        </p:txBody>
      </p:sp>
      <p:sp>
        <p:nvSpPr>
          <p:cNvPr id="8" name="Text 5"/>
          <p:cNvSpPr/>
          <p:nvPr/>
        </p:nvSpPr>
        <p:spPr>
          <a:xfrm>
            <a:off x="609441" y="5066873"/>
            <a:ext cx="3400174" cy="292024"/>
          </a:xfrm>
          <a:prstGeom prst="rect">
            <a:avLst/>
          </a:prstGeom>
          <a:noFill/>
          <a:ln/>
        </p:spPr>
        <p:txBody>
          <a:bodyPr wrap="square" lIns="0" tIns="0" rIns="0" bIns="0" rtlCol="0" anchor="t">
            <a:normAutofit/>
          </a:bodyPr>
          <a:lstStyle/>
          <a:p>
            <a:pPr>
              <a:lnSpc>
                <a:spcPts val="2099"/>
              </a:lnSpc>
            </a:pPr>
            <a:endParaRPr lang="en-US" sz="1500" dirty="0"/>
          </a:p>
        </p:txBody>
      </p:sp>
      <p:sp>
        <p:nvSpPr>
          <p:cNvPr id="9" name="Text 6"/>
          <p:cNvSpPr/>
          <p:nvPr/>
        </p:nvSpPr>
        <p:spPr>
          <a:xfrm>
            <a:off x="609441" y="5371594"/>
            <a:ext cx="3400174" cy="292024"/>
          </a:xfrm>
          <a:prstGeom prst="rect">
            <a:avLst/>
          </a:prstGeom>
          <a:noFill/>
          <a:ln/>
        </p:spPr>
        <p:txBody>
          <a:bodyPr wrap="square" lIns="0" tIns="0" rIns="0" bIns="0" rtlCol="0" anchor="t">
            <a:normAutofit/>
          </a:bodyPr>
          <a:lstStyle/>
          <a:p>
            <a:pPr>
              <a:lnSpc>
                <a:spcPts val="2099"/>
              </a:lnSpc>
            </a:pPr>
            <a:endParaRPr lang="en-US" sz="1500" dirty="0"/>
          </a:p>
        </p:txBody>
      </p:sp>
      <p:sp>
        <p:nvSpPr>
          <p:cNvPr id="10" name="Text 7"/>
          <p:cNvSpPr/>
          <p:nvPr/>
        </p:nvSpPr>
        <p:spPr>
          <a:xfrm>
            <a:off x="609441" y="5676315"/>
            <a:ext cx="3400174" cy="292024"/>
          </a:xfrm>
          <a:prstGeom prst="rect">
            <a:avLst/>
          </a:prstGeom>
          <a:noFill/>
          <a:ln/>
        </p:spPr>
        <p:txBody>
          <a:bodyPr wrap="square" lIns="0" tIns="0" rIns="0" bIns="0" rtlCol="0" anchor="t">
            <a:normAutofit/>
          </a:bodyPr>
          <a:lstStyle/>
          <a:p>
            <a:pPr>
              <a:lnSpc>
                <a:spcPts val="2099"/>
              </a:lnSpc>
            </a:pPr>
            <a:endParaRPr lang="en-US" sz="1500" dirty="0"/>
          </a:p>
        </p:txBody>
      </p:sp>
      <p:sp>
        <p:nvSpPr>
          <p:cNvPr id="11" name="Text 8"/>
          <p:cNvSpPr/>
          <p:nvPr/>
        </p:nvSpPr>
        <p:spPr>
          <a:xfrm>
            <a:off x="609441" y="5981035"/>
            <a:ext cx="3400174" cy="292024"/>
          </a:xfrm>
          <a:prstGeom prst="rect">
            <a:avLst/>
          </a:prstGeom>
          <a:noFill/>
          <a:ln/>
        </p:spPr>
        <p:txBody>
          <a:bodyPr wrap="square" lIns="0" tIns="0" rIns="0" bIns="0" rtlCol="0" anchor="t">
            <a:normAutofit/>
          </a:bodyPr>
          <a:lstStyle/>
          <a:p>
            <a:pPr>
              <a:lnSpc>
                <a:spcPts val="2099"/>
              </a:lnSpc>
            </a:pPr>
            <a:endParaRPr lang="en-US" sz="1500" dirty="0"/>
          </a:p>
        </p:txBody>
      </p:sp>
      <p:sp>
        <p:nvSpPr>
          <p:cNvPr id="13" name="Title 12">
            <a:extLst>
              <a:ext uri="{FF2B5EF4-FFF2-40B4-BE49-F238E27FC236}">
                <a16:creationId xmlns:a16="http://schemas.microsoft.com/office/drawing/2014/main" id="{3B25888A-2904-B8CD-F5E5-B7D4EE880120}"/>
              </a:ext>
            </a:extLst>
          </p:cNvPr>
          <p:cNvSpPr>
            <a:spLocks noGrp="1"/>
          </p:cNvSpPr>
          <p:nvPr>
            <p:ph type="title"/>
          </p:nvPr>
        </p:nvSpPr>
        <p:spPr>
          <a:xfrm>
            <a:off x="2309528" y="2901434"/>
            <a:ext cx="10563648" cy="2121635"/>
          </a:xfrm>
        </p:spPr>
        <p:txBody>
          <a:bodyPr>
            <a:normAutofit/>
          </a:bodyPr>
          <a:lstStyle/>
          <a:p>
            <a:r>
              <a:rPr lang="en-US" sz="3200" b="1" dirty="0">
                <a:solidFill>
                  <a:srgbClr val="F5B400"/>
                </a:solidFill>
              </a:rPr>
              <a:t>Analysis Flow &amp; Tech Stack &amp; Challenges</a:t>
            </a:r>
            <a:br>
              <a:rPr lang="en-US" sz="3200" dirty="0"/>
            </a:br>
            <a:endParaRPr lang="en-SG"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588" y="813481"/>
            <a:ext cx="10880558" cy="256473"/>
          </a:xfrm>
          <a:prstGeom prst="rect">
            <a:avLst/>
          </a:prstGeom>
          <a:noFill/>
          <a:ln/>
        </p:spPr>
        <p:txBody>
          <a:bodyPr wrap="square" lIns="0" tIns="0" rIns="0" bIns="0" rtlCol="0" anchor="t">
            <a:normAutofit/>
          </a:bodyPr>
          <a:lstStyle/>
          <a:p>
            <a:pPr>
              <a:lnSpc>
                <a:spcPts val="1819"/>
              </a:lnSpc>
            </a:pPr>
            <a:r>
              <a:rPr lang="en-US" sz="1300" b="1" kern="0" spc="150" dirty="0">
                <a:solidFill>
                  <a:srgbClr val="F5B400"/>
                </a:solidFill>
                <a:latin typeface="Carlito" pitchFamily="34" charset="0"/>
                <a:ea typeface="Carlito" pitchFamily="34" charset="-122"/>
                <a:cs typeface="Carlito" pitchFamily="34" charset="-120"/>
              </a:rPr>
              <a:t>ANALYSIS FLOW</a:t>
            </a:r>
            <a:endParaRPr lang="en-US" sz="1300" dirty="0"/>
          </a:p>
        </p:txBody>
      </p:sp>
      <p:sp>
        <p:nvSpPr>
          <p:cNvPr id="3" name="Text 1"/>
          <p:cNvSpPr>
            <a:spLocks noGrp="1"/>
          </p:cNvSpPr>
          <p:nvPr>
            <p:ph type="title"/>
          </p:nvPr>
        </p:nvSpPr>
        <p:spPr>
          <a:xfrm>
            <a:off x="812588" y="1133438"/>
            <a:ext cx="10880558" cy="492632"/>
          </a:xfrm>
          <a:prstGeom prst="rect">
            <a:avLst/>
          </a:prstGeom>
          <a:noFill/>
          <a:ln/>
        </p:spPr>
        <p:txBody>
          <a:bodyPr vert="horz" wrap="square" lIns="0" tIns="0" rIns="0" bIns="0" rtlCol="0" anchor="t">
            <a:normAutofit/>
          </a:bodyPr>
          <a:lstStyle/>
          <a:p>
            <a:pPr>
              <a:lnSpc>
                <a:spcPts val="3679"/>
              </a:lnSpc>
            </a:pPr>
            <a:r>
              <a:rPr lang="en-US" b="1" dirty="0"/>
              <a:t>How a recording becomes an SOP</a:t>
            </a:r>
            <a:endParaRPr lang="en-US" dirty="0"/>
          </a:p>
        </p:txBody>
      </p:sp>
      <p:pic>
        <p:nvPicPr>
          <p:cNvPr id="4" name="Image 0" descr="line"/>
          <p:cNvPicPr>
            <a:picLocks noChangeAspect="1"/>
          </p:cNvPicPr>
          <p:nvPr/>
        </p:nvPicPr>
        <p:blipFill>
          <a:blip r:embed="rId3"/>
          <a:srcRect/>
          <a:stretch/>
        </p:blipFill>
        <p:spPr>
          <a:xfrm>
            <a:off x="812588" y="1689553"/>
            <a:ext cx="1269669" cy="38090"/>
          </a:xfrm>
          <a:prstGeom prst="rect">
            <a:avLst/>
          </a:prstGeom>
        </p:spPr>
      </p:pic>
      <p:sp>
        <p:nvSpPr>
          <p:cNvPr id="5" name="Shape 2"/>
          <p:cNvSpPr/>
          <p:nvPr/>
        </p:nvSpPr>
        <p:spPr>
          <a:xfrm>
            <a:off x="818936" y="2830034"/>
            <a:ext cx="1701357" cy="1336327"/>
          </a:xfrm>
          <a:prstGeom prst="roundRect">
            <a:avLst>
              <a:gd name="adj" fmla="val 7126"/>
            </a:avLst>
          </a:prstGeom>
          <a:solidFill>
            <a:srgbClr val="12386A"/>
          </a:solidFill>
          <a:ln w="12700">
            <a:solidFill>
              <a:srgbClr val="2C5C93"/>
            </a:solidFill>
            <a:prstDash val="solid"/>
          </a:ln>
        </p:spPr>
        <p:txBody>
          <a:bodyPr/>
          <a:lstStyle/>
          <a:p>
            <a:endParaRPr lang="en-SG"/>
          </a:p>
        </p:txBody>
      </p:sp>
      <p:sp>
        <p:nvSpPr>
          <p:cNvPr id="6" name="Text 3"/>
          <p:cNvSpPr/>
          <p:nvPr/>
        </p:nvSpPr>
        <p:spPr>
          <a:xfrm>
            <a:off x="975106" y="2986203"/>
            <a:ext cx="279327" cy="279327"/>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08C00"/>
          </a:solidFill>
          <a:ln/>
        </p:spPr>
        <p:txBody>
          <a:bodyPr wrap="square" lIns="0" tIns="0" rIns="0" bIns="0" rtlCol="0" anchor="t">
            <a:normAutofit/>
          </a:bodyPr>
          <a:lstStyle/>
          <a:p>
            <a:pPr algn="ctr">
              <a:lnSpc>
                <a:spcPts val="2195"/>
              </a:lnSpc>
            </a:pPr>
            <a:r>
              <a:rPr lang="en-US" sz="1200" b="1" dirty="0">
                <a:solidFill>
                  <a:srgbClr val="0A2A55"/>
                </a:solidFill>
                <a:latin typeface="Carlito" pitchFamily="34" charset="0"/>
                <a:ea typeface="Carlito" pitchFamily="34" charset="-122"/>
                <a:cs typeface="Carlito" pitchFamily="34" charset="-120"/>
              </a:rPr>
              <a:t>1</a:t>
            </a:r>
            <a:endParaRPr lang="en-US" sz="1200" dirty="0"/>
          </a:p>
        </p:txBody>
      </p:sp>
      <p:sp>
        <p:nvSpPr>
          <p:cNvPr id="7" name="Text 4"/>
          <p:cNvSpPr/>
          <p:nvPr/>
        </p:nvSpPr>
        <p:spPr>
          <a:xfrm>
            <a:off x="1343310" y="3003979"/>
            <a:ext cx="732091"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Upload</a:t>
            </a:r>
            <a:endParaRPr lang="en-US" sz="1600" dirty="0"/>
          </a:p>
        </p:txBody>
      </p:sp>
      <p:sp>
        <p:nvSpPr>
          <p:cNvPr id="8" name="Text 5"/>
          <p:cNvSpPr/>
          <p:nvPr/>
        </p:nvSpPr>
        <p:spPr>
          <a:xfrm>
            <a:off x="975105" y="3341711"/>
            <a:ext cx="1439805" cy="693874"/>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Screen recording, plus an optional action log</a:t>
            </a:r>
            <a:endParaRPr lang="en-US" sz="1300" dirty="0"/>
          </a:p>
        </p:txBody>
      </p:sp>
      <p:pic>
        <p:nvPicPr>
          <p:cNvPr id="9" name="Image 1" descr="arrow-right"/>
          <p:cNvPicPr>
            <a:picLocks noChangeAspect="1"/>
          </p:cNvPicPr>
          <p:nvPr/>
        </p:nvPicPr>
        <p:blipFill>
          <a:blip r:embed="rId4"/>
          <a:srcRect/>
          <a:stretch/>
        </p:blipFill>
        <p:spPr>
          <a:xfrm>
            <a:off x="2602821" y="3415668"/>
            <a:ext cx="253934" cy="165057"/>
          </a:xfrm>
          <a:prstGeom prst="rect">
            <a:avLst/>
          </a:prstGeom>
        </p:spPr>
      </p:pic>
      <p:sp>
        <p:nvSpPr>
          <p:cNvPr id="10" name="Shape 6"/>
          <p:cNvSpPr/>
          <p:nvPr/>
        </p:nvSpPr>
        <p:spPr>
          <a:xfrm>
            <a:off x="2939284" y="2607207"/>
            <a:ext cx="1701357" cy="1781981"/>
          </a:xfrm>
          <a:prstGeom prst="roundRect">
            <a:avLst>
              <a:gd name="adj" fmla="val 5597"/>
            </a:avLst>
          </a:prstGeom>
          <a:solidFill>
            <a:srgbClr val="12386A"/>
          </a:solidFill>
          <a:ln w="12700">
            <a:solidFill>
              <a:srgbClr val="2C5C93"/>
            </a:solidFill>
            <a:prstDash val="solid"/>
          </a:ln>
        </p:spPr>
        <p:txBody>
          <a:bodyPr/>
          <a:lstStyle/>
          <a:p>
            <a:endParaRPr lang="en-SG"/>
          </a:p>
        </p:txBody>
      </p:sp>
      <p:sp>
        <p:nvSpPr>
          <p:cNvPr id="11" name="Text 7"/>
          <p:cNvSpPr/>
          <p:nvPr/>
        </p:nvSpPr>
        <p:spPr>
          <a:xfrm>
            <a:off x="3095453" y="2763377"/>
            <a:ext cx="279327" cy="279327"/>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08C00"/>
          </a:solidFill>
          <a:ln/>
        </p:spPr>
        <p:txBody>
          <a:bodyPr wrap="square" lIns="0" tIns="0" rIns="0" bIns="0" rtlCol="0" anchor="t">
            <a:normAutofit/>
          </a:bodyPr>
          <a:lstStyle/>
          <a:p>
            <a:pPr algn="ctr">
              <a:lnSpc>
                <a:spcPts val="2195"/>
              </a:lnSpc>
            </a:pPr>
            <a:r>
              <a:rPr lang="en-US" sz="1200" b="1" dirty="0">
                <a:solidFill>
                  <a:srgbClr val="0A2A55"/>
                </a:solidFill>
                <a:latin typeface="Carlito" pitchFamily="34" charset="0"/>
                <a:ea typeface="Carlito" pitchFamily="34" charset="-122"/>
                <a:cs typeface="Carlito" pitchFamily="34" charset="-120"/>
              </a:rPr>
              <a:t>2</a:t>
            </a:r>
            <a:endParaRPr lang="en-US" sz="1200" dirty="0"/>
          </a:p>
        </p:txBody>
      </p:sp>
      <p:sp>
        <p:nvSpPr>
          <p:cNvPr id="12" name="Text 8"/>
          <p:cNvSpPr/>
          <p:nvPr/>
        </p:nvSpPr>
        <p:spPr>
          <a:xfrm>
            <a:off x="3463657" y="2781152"/>
            <a:ext cx="703619"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Extract</a:t>
            </a:r>
            <a:endParaRPr lang="en-US" sz="1600" dirty="0"/>
          </a:p>
        </p:txBody>
      </p:sp>
      <p:sp>
        <p:nvSpPr>
          <p:cNvPr id="13" name="Text 9"/>
          <p:cNvSpPr/>
          <p:nvPr/>
        </p:nvSpPr>
        <p:spPr>
          <a:xfrm>
            <a:off x="3095453" y="3118884"/>
            <a:ext cx="1439805" cy="1139528"/>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Cut into segments. Read screen text, detect UI elements, compute image features.</a:t>
            </a:r>
            <a:endParaRPr lang="en-US" sz="1300" dirty="0"/>
          </a:p>
        </p:txBody>
      </p:sp>
      <p:pic>
        <p:nvPicPr>
          <p:cNvPr id="14" name="Image 2" descr="arrow-right"/>
          <p:cNvPicPr>
            <a:picLocks noChangeAspect="1"/>
          </p:cNvPicPr>
          <p:nvPr/>
        </p:nvPicPr>
        <p:blipFill>
          <a:blip r:embed="rId4"/>
          <a:srcRect/>
          <a:stretch/>
        </p:blipFill>
        <p:spPr>
          <a:xfrm>
            <a:off x="4723169" y="3415668"/>
            <a:ext cx="253934" cy="165057"/>
          </a:xfrm>
          <a:prstGeom prst="rect">
            <a:avLst/>
          </a:prstGeom>
        </p:spPr>
      </p:pic>
      <p:sp>
        <p:nvSpPr>
          <p:cNvPr id="15" name="Shape 10"/>
          <p:cNvSpPr/>
          <p:nvPr/>
        </p:nvSpPr>
        <p:spPr>
          <a:xfrm>
            <a:off x="5059631" y="2607207"/>
            <a:ext cx="1701357" cy="1781981"/>
          </a:xfrm>
          <a:prstGeom prst="roundRect">
            <a:avLst>
              <a:gd name="adj" fmla="val 5597"/>
            </a:avLst>
          </a:prstGeom>
          <a:solidFill>
            <a:srgbClr val="12386A"/>
          </a:solidFill>
          <a:ln w="12700">
            <a:solidFill>
              <a:srgbClr val="2C5C93"/>
            </a:solidFill>
            <a:prstDash val="solid"/>
          </a:ln>
        </p:spPr>
        <p:txBody>
          <a:bodyPr/>
          <a:lstStyle/>
          <a:p>
            <a:endParaRPr lang="en-SG"/>
          </a:p>
        </p:txBody>
      </p:sp>
      <p:sp>
        <p:nvSpPr>
          <p:cNvPr id="16" name="Text 11"/>
          <p:cNvSpPr/>
          <p:nvPr/>
        </p:nvSpPr>
        <p:spPr>
          <a:xfrm>
            <a:off x="5215801" y="2763377"/>
            <a:ext cx="279327" cy="279327"/>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08C00"/>
          </a:solidFill>
          <a:ln/>
        </p:spPr>
        <p:txBody>
          <a:bodyPr wrap="square" lIns="0" tIns="0" rIns="0" bIns="0" rtlCol="0" anchor="t">
            <a:normAutofit/>
          </a:bodyPr>
          <a:lstStyle/>
          <a:p>
            <a:pPr algn="ctr">
              <a:lnSpc>
                <a:spcPts val="2195"/>
              </a:lnSpc>
            </a:pPr>
            <a:r>
              <a:rPr lang="en-US" sz="1200" b="1" dirty="0">
                <a:solidFill>
                  <a:srgbClr val="0A2A55"/>
                </a:solidFill>
                <a:latin typeface="Carlito" pitchFamily="34" charset="0"/>
                <a:ea typeface="Carlito" pitchFamily="34" charset="-122"/>
                <a:cs typeface="Carlito" pitchFamily="34" charset="-120"/>
              </a:rPr>
              <a:t>3</a:t>
            </a:r>
            <a:endParaRPr lang="en-US" sz="1200" dirty="0"/>
          </a:p>
        </p:txBody>
      </p:sp>
      <p:sp>
        <p:nvSpPr>
          <p:cNvPr id="17" name="Text 12"/>
          <p:cNvSpPr/>
          <p:nvPr/>
        </p:nvSpPr>
        <p:spPr>
          <a:xfrm>
            <a:off x="5584005" y="2781152"/>
            <a:ext cx="757422"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Classify</a:t>
            </a:r>
            <a:endParaRPr lang="en-US" sz="1600" dirty="0"/>
          </a:p>
        </p:txBody>
      </p:sp>
      <p:sp>
        <p:nvSpPr>
          <p:cNvPr id="18" name="Text 13"/>
          <p:cNvSpPr/>
          <p:nvPr/>
        </p:nvSpPr>
        <p:spPr>
          <a:xfrm>
            <a:off x="5215801" y="3118884"/>
            <a:ext cx="1439805" cy="1139528"/>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Six models label every segment: SVM, KNN, Random Forest, CNN1D, LSTM, Stacking</a:t>
            </a:r>
            <a:endParaRPr lang="en-US" sz="1300" dirty="0"/>
          </a:p>
        </p:txBody>
      </p:sp>
      <p:pic>
        <p:nvPicPr>
          <p:cNvPr id="19" name="Image 3" descr="arrow-right"/>
          <p:cNvPicPr>
            <a:picLocks noChangeAspect="1"/>
          </p:cNvPicPr>
          <p:nvPr/>
        </p:nvPicPr>
        <p:blipFill>
          <a:blip r:embed="rId4"/>
          <a:srcRect/>
          <a:stretch/>
        </p:blipFill>
        <p:spPr>
          <a:xfrm>
            <a:off x="6843517" y="3415668"/>
            <a:ext cx="253934" cy="165057"/>
          </a:xfrm>
          <a:prstGeom prst="rect">
            <a:avLst/>
          </a:prstGeom>
        </p:spPr>
      </p:pic>
      <p:sp>
        <p:nvSpPr>
          <p:cNvPr id="20" name="Shape 14"/>
          <p:cNvSpPr/>
          <p:nvPr/>
        </p:nvSpPr>
        <p:spPr>
          <a:xfrm>
            <a:off x="7179979" y="2718620"/>
            <a:ext cx="1701357" cy="1559154"/>
          </a:xfrm>
          <a:prstGeom prst="roundRect">
            <a:avLst>
              <a:gd name="adj" fmla="val 6107"/>
            </a:avLst>
          </a:prstGeom>
          <a:solidFill>
            <a:srgbClr val="12386A"/>
          </a:solidFill>
          <a:ln w="12700">
            <a:solidFill>
              <a:srgbClr val="2C5C93"/>
            </a:solidFill>
            <a:prstDash val="solid"/>
          </a:ln>
        </p:spPr>
        <p:txBody>
          <a:bodyPr/>
          <a:lstStyle/>
          <a:p>
            <a:endParaRPr lang="en-SG"/>
          </a:p>
        </p:txBody>
      </p:sp>
      <p:sp>
        <p:nvSpPr>
          <p:cNvPr id="21" name="Text 15"/>
          <p:cNvSpPr/>
          <p:nvPr/>
        </p:nvSpPr>
        <p:spPr>
          <a:xfrm>
            <a:off x="7336149" y="2874789"/>
            <a:ext cx="279327" cy="279327"/>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08C00"/>
          </a:solidFill>
          <a:ln/>
        </p:spPr>
        <p:txBody>
          <a:bodyPr wrap="square" lIns="0" tIns="0" rIns="0" bIns="0" rtlCol="0" anchor="t">
            <a:normAutofit/>
          </a:bodyPr>
          <a:lstStyle/>
          <a:p>
            <a:pPr algn="ctr">
              <a:lnSpc>
                <a:spcPts val="2195"/>
              </a:lnSpc>
            </a:pPr>
            <a:r>
              <a:rPr lang="en-US" sz="1200" b="1" dirty="0">
                <a:solidFill>
                  <a:srgbClr val="0A2A55"/>
                </a:solidFill>
                <a:latin typeface="Carlito" pitchFamily="34" charset="0"/>
                <a:ea typeface="Carlito" pitchFamily="34" charset="-122"/>
                <a:cs typeface="Carlito" pitchFamily="34" charset="-120"/>
              </a:rPr>
              <a:t>4</a:t>
            </a:r>
            <a:endParaRPr lang="en-US" sz="1200" dirty="0"/>
          </a:p>
        </p:txBody>
      </p:sp>
      <p:sp>
        <p:nvSpPr>
          <p:cNvPr id="22" name="Text 16"/>
          <p:cNvSpPr/>
          <p:nvPr/>
        </p:nvSpPr>
        <p:spPr>
          <a:xfrm>
            <a:off x="7704353" y="2892565"/>
            <a:ext cx="916257"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Compare</a:t>
            </a:r>
            <a:endParaRPr lang="en-US" sz="1600" dirty="0"/>
          </a:p>
        </p:txBody>
      </p:sp>
      <p:sp>
        <p:nvSpPr>
          <p:cNvPr id="23" name="Text 17"/>
          <p:cNvSpPr/>
          <p:nvPr/>
        </p:nvSpPr>
        <p:spPr>
          <a:xfrm>
            <a:off x="7336149" y="3230297"/>
            <a:ext cx="1439805" cy="916701"/>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Pick the most reliable model and show it on the results page</a:t>
            </a:r>
            <a:endParaRPr lang="en-US" sz="1300" dirty="0"/>
          </a:p>
        </p:txBody>
      </p:sp>
      <p:pic>
        <p:nvPicPr>
          <p:cNvPr id="24" name="Image 4" descr="arrow-right"/>
          <p:cNvPicPr>
            <a:picLocks noChangeAspect="1"/>
          </p:cNvPicPr>
          <p:nvPr/>
        </p:nvPicPr>
        <p:blipFill>
          <a:blip r:embed="rId4"/>
          <a:srcRect/>
          <a:stretch/>
        </p:blipFill>
        <p:spPr>
          <a:xfrm>
            <a:off x="8963864" y="3415668"/>
            <a:ext cx="253934" cy="165057"/>
          </a:xfrm>
          <a:prstGeom prst="rect">
            <a:avLst/>
          </a:prstGeom>
        </p:spPr>
      </p:pic>
      <p:sp>
        <p:nvSpPr>
          <p:cNvPr id="25" name="Shape 18"/>
          <p:cNvSpPr/>
          <p:nvPr/>
        </p:nvSpPr>
        <p:spPr>
          <a:xfrm>
            <a:off x="9300327" y="1987926"/>
            <a:ext cx="1891807" cy="1336327"/>
          </a:xfrm>
          <a:prstGeom prst="roundRect">
            <a:avLst>
              <a:gd name="adj" fmla="val 7126"/>
            </a:avLst>
          </a:prstGeom>
          <a:solidFill>
            <a:srgbClr val="12386A"/>
          </a:solidFill>
          <a:ln w="12700">
            <a:solidFill>
              <a:srgbClr val="22C55E"/>
            </a:solidFill>
            <a:prstDash val="solid"/>
          </a:ln>
        </p:spPr>
        <p:txBody>
          <a:bodyPr/>
          <a:lstStyle/>
          <a:p>
            <a:endParaRPr lang="en-SG"/>
          </a:p>
        </p:txBody>
      </p:sp>
      <p:sp>
        <p:nvSpPr>
          <p:cNvPr id="26" name="Text 19"/>
          <p:cNvSpPr/>
          <p:nvPr/>
        </p:nvSpPr>
        <p:spPr>
          <a:xfrm>
            <a:off x="9456496" y="2144095"/>
            <a:ext cx="279327" cy="279327"/>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22C55E"/>
          </a:solidFill>
          <a:ln/>
        </p:spPr>
        <p:txBody>
          <a:bodyPr wrap="square" lIns="0" tIns="0" rIns="0" bIns="0" rtlCol="0" anchor="t">
            <a:normAutofit/>
          </a:bodyPr>
          <a:lstStyle/>
          <a:p>
            <a:pPr algn="ctr">
              <a:lnSpc>
                <a:spcPts val="2195"/>
              </a:lnSpc>
            </a:pPr>
            <a:r>
              <a:rPr lang="en-US" sz="1200" b="1" dirty="0">
                <a:solidFill>
                  <a:srgbClr val="0A2A55"/>
                </a:solidFill>
                <a:latin typeface="Carlito" pitchFamily="34" charset="0"/>
                <a:ea typeface="Carlito" pitchFamily="34" charset="-122"/>
                <a:cs typeface="Carlito" pitchFamily="34" charset="-120"/>
              </a:rPr>
              <a:t>5</a:t>
            </a:r>
            <a:endParaRPr lang="en-US" sz="1200" dirty="0"/>
          </a:p>
        </p:txBody>
      </p:sp>
      <p:sp>
        <p:nvSpPr>
          <p:cNvPr id="27" name="Text 20"/>
          <p:cNvSpPr/>
          <p:nvPr/>
        </p:nvSpPr>
        <p:spPr>
          <a:xfrm>
            <a:off x="9824700" y="2161870"/>
            <a:ext cx="409849"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SOP</a:t>
            </a:r>
            <a:endParaRPr lang="en-US" sz="1600" dirty="0"/>
          </a:p>
        </p:txBody>
      </p:sp>
      <p:sp>
        <p:nvSpPr>
          <p:cNvPr id="28" name="Text 21"/>
          <p:cNvSpPr/>
          <p:nvPr/>
        </p:nvSpPr>
        <p:spPr>
          <a:xfrm>
            <a:off x="9456496" y="2499603"/>
            <a:ext cx="1630255" cy="693874"/>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Each action and what the screen showed after it</a:t>
            </a:r>
            <a:endParaRPr lang="en-US" sz="1300" dirty="0"/>
          </a:p>
        </p:txBody>
      </p:sp>
      <p:sp>
        <p:nvSpPr>
          <p:cNvPr id="29" name="Shape 22"/>
          <p:cNvSpPr/>
          <p:nvPr/>
        </p:nvSpPr>
        <p:spPr>
          <a:xfrm>
            <a:off x="9300327" y="3463916"/>
            <a:ext cx="1891807" cy="1544553"/>
          </a:xfrm>
          <a:prstGeom prst="roundRect">
            <a:avLst>
              <a:gd name="adj" fmla="val 6165"/>
            </a:avLst>
          </a:prstGeom>
          <a:solidFill>
            <a:srgbClr val="3A1F2E"/>
          </a:solidFill>
          <a:ln w="12700">
            <a:solidFill>
              <a:srgbClr val="FF8A65"/>
            </a:solidFill>
            <a:prstDash val="solid"/>
          </a:ln>
        </p:spPr>
        <p:txBody>
          <a:bodyPr/>
          <a:lstStyle/>
          <a:p>
            <a:endParaRPr lang="en-SG"/>
          </a:p>
        </p:txBody>
      </p:sp>
      <p:sp>
        <p:nvSpPr>
          <p:cNvPr id="30" name="Text 23"/>
          <p:cNvSpPr/>
          <p:nvPr/>
        </p:nvSpPr>
        <p:spPr>
          <a:xfrm>
            <a:off x="9456496" y="3724198"/>
            <a:ext cx="279327" cy="279327"/>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F8A65"/>
          </a:solidFill>
          <a:ln/>
        </p:spPr>
        <p:txBody>
          <a:bodyPr wrap="square" lIns="0" tIns="0" rIns="0" bIns="0" rtlCol="0" anchor="t">
            <a:normAutofit/>
          </a:bodyPr>
          <a:lstStyle/>
          <a:p>
            <a:pPr algn="ctr">
              <a:lnSpc>
                <a:spcPts val="2195"/>
              </a:lnSpc>
            </a:pPr>
            <a:r>
              <a:rPr lang="en-US" sz="1200" b="1" dirty="0">
                <a:solidFill>
                  <a:srgbClr val="0A2A55"/>
                </a:solidFill>
                <a:latin typeface="Carlito" pitchFamily="34" charset="0"/>
                <a:ea typeface="Carlito" pitchFamily="34" charset="-122"/>
                <a:cs typeface="Carlito" pitchFamily="34" charset="-120"/>
              </a:rPr>
              <a:t>6</a:t>
            </a:r>
            <a:endParaRPr lang="en-US" sz="1200" dirty="0"/>
          </a:p>
        </p:txBody>
      </p:sp>
      <p:sp>
        <p:nvSpPr>
          <p:cNvPr id="31" name="Text 24"/>
          <p:cNvSpPr/>
          <p:nvPr/>
        </p:nvSpPr>
        <p:spPr>
          <a:xfrm>
            <a:off x="9824700" y="3620085"/>
            <a:ext cx="1262051" cy="512946"/>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Anomaly check</a:t>
            </a:r>
            <a:endParaRPr lang="en-US" sz="1600" dirty="0"/>
          </a:p>
        </p:txBody>
      </p:sp>
      <p:sp>
        <p:nvSpPr>
          <p:cNvPr id="32" name="Text 25"/>
          <p:cNvSpPr/>
          <p:nvPr/>
        </p:nvSpPr>
        <p:spPr>
          <a:xfrm>
            <a:off x="9456496" y="4183819"/>
            <a:ext cx="1630255" cy="693874"/>
          </a:xfrm>
          <a:prstGeom prst="rect">
            <a:avLst/>
          </a:prstGeom>
          <a:noFill/>
          <a:ln/>
        </p:spPr>
        <p:txBody>
          <a:bodyPr wrap="square" lIns="0" tIns="0" rIns="0" bIns="0" rtlCol="0" anchor="t">
            <a:normAutofit/>
          </a:bodyPr>
          <a:lstStyle/>
          <a:p>
            <a:pPr>
              <a:lnSpc>
                <a:spcPts val="1754"/>
              </a:lnSpc>
            </a:pPr>
            <a:r>
              <a:rPr lang="en-US" sz="1300" dirty="0">
                <a:solidFill>
                  <a:srgbClr val="FFC2AE"/>
                </a:solidFill>
                <a:latin typeface="Carlito" pitchFamily="34" charset="0"/>
                <a:ea typeface="Carlito" pitchFamily="34" charset="-122"/>
                <a:cs typeface="Carlito" pitchFamily="34" charset="-120"/>
              </a:rPr>
              <a:t>Flags risky commands: rm -rf, DROP TABLE, sudo</a:t>
            </a:r>
            <a:endParaRPr lang="en-US" sz="1300" dirty="0"/>
          </a:p>
        </p:txBody>
      </p:sp>
      <p:sp>
        <p:nvSpPr>
          <p:cNvPr id="33" name="Text 26"/>
          <p:cNvSpPr/>
          <p:nvPr/>
        </p:nvSpPr>
        <p:spPr>
          <a:xfrm>
            <a:off x="812588" y="5813439"/>
            <a:ext cx="10880558" cy="256473"/>
          </a:xfrm>
          <a:prstGeom prst="rect">
            <a:avLst/>
          </a:prstGeom>
          <a:noFill/>
          <a:ln/>
        </p:spPr>
        <p:txBody>
          <a:bodyPr wrap="square" lIns="0" tIns="0" rIns="0" bIns="0" rtlCol="0" anchor="t">
            <a:normAutofit/>
          </a:bodyPr>
          <a:lstStyle/>
          <a:p>
            <a:pPr>
              <a:lnSpc>
                <a:spcPts val="1819"/>
              </a:lnSpc>
            </a:pPr>
            <a:r>
              <a:rPr lang="en-US" sz="1300" dirty="0">
                <a:solidFill>
                  <a:srgbClr val="A9C1DD"/>
                </a:solidFill>
                <a:latin typeface="Carlito" pitchFamily="34" charset="0"/>
                <a:ea typeface="Carlito" pitchFamily="34" charset="-122"/>
                <a:cs typeface="Carlito" pitchFamily="34" charset="-120"/>
              </a:rPr>
              <a:t>Steps 1 to 4 run automatically after every upload. The SOP and the anomaly check are built from the stored results when the user asks for them.</a:t>
            </a:r>
            <a:endParaRPr lang="en-US" sz="1300" dirty="0"/>
          </a:p>
        </p:txBody>
      </p:sp>
      <p:pic>
        <p:nvPicPr>
          <p:cNvPr id="35" name="Picture 34" descr="nus_iss_logo_transparent.png">
            <a:extLst>
              <a:ext uri="{FF2B5EF4-FFF2-40B4-BE49-F238E27FC236}">
                <a16:creationId xmlns:a16="http://schemas.microsoft.com/office/drawing/2014/main" id="{46B0E370-7C3B-CB94-82FF-5D73D9205520}"/>
              </a:ext>
            </a:extLst>
          </p:cNvPr>
          <p:cNvPicPr>
            <a:picLocks noChangeAspect="1"/>
          </p:cNvPicPr>
          <p:nvPr/>
        </p:nvPicPr>
        <p:blipFill>
          <a:blip r:embed="rId5"/>
          <a:stretch>
            <a:fillRect/>
          </a:stretch>
        </p:blipFill>
        <p:spPr>
          <a:xfrm>
            <a:off x="9300327" y="185783"/>
            <a:ext cx="2514600" cy="585216"/>
          </a:xfrm>
          <a:prstGeom prst="rect">
            <a:avLst/>
          </a:prstGeom>
          <a:solidFill>
            <a:schemeClr val="bg2"/>
          </a:solid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588" y="813481"/>
            <a:ext cx="10880558" cy="256473"/>
          </a:xfrm>
          <a:prstGeom prst="rect">
            <a:avLst/>
          </a:prstGeom>
          <a:noFill/>
          <a:ln/>
        </p:spPr>
        <p:txBody>
          <a:bodyPr wrap="square" lIns="0" tIns="0" rIns="0" bIns="0" rtlCol="0" anchor="t">
            <a:normAutofit/>
          </a:bodyPr>
          <a:lstStyle/>
          <a:p>
            <a:pPr>
              <a:lnSpc>
                <a:spcPts val="1819"/>
              </a:lnSpc>
            </a:pPr>
            <a:r>
              <a:rPr lang="en-US" sz="1300" b="1" kern="0" spc="150" dirty="0">
                <a:solidFill>
                  <a:srgbClr val="F5B400"/>
                </a:solidFill>
                <a:latin typeface="Carlito" pitchFamily="34" charset="0"/>
                <a:ea typeface="Carlito" pitchFamily="34" charset="-122"/>
                <a:cs typeface="Carlito" pitchFamily="34" charset="-120"/>
              </a:rPr>
              <a:t>BUILT WITH</a:t>
            </a:r>
            <a:endParaRPr lang="en-US" sz="1300" dirty="0"/>
          </a:p>
        </p:txBody>
      </p:sp>
      <p:sp>
        <p:nvSpPr>
          <p:cNvPr id="3" name="Text 1"/>
          <p:cNvSpPr>
            <a:spLocks noGrp="1"/>
          </p:cNvSpPr>
          <p:nvPr>
            <p:ph type="title"/>
          </p:nvPr>
        </p:nvSpPr>
        <p:spPr>
          <a:xfrm>
            <a:off x="812588" y="1133439"/>
            <a:ext cx="10880558" cy="492632"/>
          </a:xfrm>
          <a:prstGeom prst="rect">
            <a:avLst/>
          </a:prstGeom>
          <a:noFill/>
          <a:ln/>
        </p:spPr>
        <p:txBody>
          <a:bodyPr vert="horz" wrap="square" lIns="0" tIns="0" rIns="0" bIns="0" rtlCol="0" anchor="t">
            <a:normAutofit/>
          </a:bodyPr>
          <a:lstStyle/>
          <a:p>
            <a:pPr>
              <a:lnSpc>
                <a:spcPts val="3679"/>
              </a:lnSpc>
            </a:pPr>
            <a:r>
              <a:rPr lang="en-US" b="1" dirty="0"/>
              <a:t>Tech stack</a:t>
            </a:r>
            <a:endParaRPr lang="en-US" dirty="0"/>
          </a:p>
        </p:txBody>
      </p:sp>
      <p:pic>
        <p:nvPicPr>
          <p:cNvPr id="4" name="Image 0" descr="line"/>
          <p:cNvPicPr>
            <a:picLocks noChangeAspect="1"/>
          </p:cNvPicPr>
          <p:nvPr/>
        </p:nvPicPr>
        <p:blipFill>
          <a:blip r:embed="rId3"/>
          <a:srcRect/>
          <a:stretch/>
        </p:blipFill>
        <p:spPr>
          <a:xfrm>
            <a:off x="812588" y="1689553"/>
            <a:ext cx="1269669" cy="38090"/>
          </a:xfrm>
          <a:prstGeom prst="rect">
            <a:avLst/>
          </a:prstGeom>
        </p:spPr>
      </p:pic>
      <p:sp>
        <p:nvSpPr>
          <p:cNvPr id="5" name="Shape 2"/>
          <p:cNvSpPr/>
          <p:nvPr/>
        </p:nvSpPr>
        <p:spPr>
          <a:xfrm>
            <a:off x="11373062" y="1930790"/>
            <a:ext cx="0" cy="3457309"/>
          </a:xfrm>
          <a:prstGeom prst="line">
            <a:avLst/>
          </a:prstGeom>
          <a:noFill/>
          <a:ln w="6350">
            <a:solidFill>
              <a:srgbClr val="2C5C93"/>
            </a:solidFill>
            <a:prstDash val="solid"/>
          </a:ln>
        </p:spPr>
        <p:txBody>
          <a:bodyPr/>
          <a:lstStyle/>
          <a:p>
            <a:endParaRPr lang="en-SG"/>
          </a:p>
        </p:txBody>
      </p:sp>
      <p:sp>
        <p:nvSpPr>
          <p:cNvPr id="6" name="Shape 3"/>
          <p:cNvSpPr/>
          <p:nvPr/>
        </p:nvSpPr>
        <p:spPr>
          <a:xfrm>
            <a:off x="812588" y="5384926"/>
            <a:ext cx="10563648" cy="0"/>
          </a:xfrm>
          <a:prstGeom prst="line">
            <a:avLst/>
          </a:prstGeom>
          <a:noFill/>
          <a:ln w="6350">
            <a:solidFill>
              <a:srgbClr val="2C5C93"/>
            </a:solidFill>
            <a:prstDash val="solid"/>
          </a:ln>
        </p:spPr>
        <p:txBody>
          <a:bodyPr/>
          <a:lstStyle/>
          <a:p>
            <a:endParaRPr lang="en-SG"/>
          </a:p>
        </p:txBody>
      </p:sp>
      <p:graphicFrame>
        <p:nvGraphicFramePr>
          <p:cNvPr id="7" name="Table 0"/>
          <p:cNvGraphicFramePr>
            <a:graphicFrameLocks noGrp="1"/>
          </p:cNvGraphicFramePr>
          <p:nvPr/>
        </p:nvGraphicFramePr>
        <p:xfrm>
          <a:off x="822745" y="1940948"/>
          <a:ext cx="10548413" cy="3442073"/>
        </p:xfrm>
        <a:graphic>
          <a:graphicData uri="http://schemas.openxmlformats.org/drawingml/2006/table">
            <a:tbl>
              <a:tblPr/>
              <a:tblGrid>
                <a:gridCol w="2531619">
                  <a:extLst>
                    <a:ext uri="{9D8B030D-6E8A-4147-A177-3AD203B41FA5}">
                      <a16:colId xmlns:a16="http://schemas.microsoft.com/office/drawing/2014/main" val="20000"/>
                    </a:ext>
                  </a:extLst>
                </a:gridCol>
                <a:gridCol w="8016794">
                  <a:extLst>
                    <a:ext uri="{9D8B030D-6E8A-4147-A177-3AD203B41FA5}">
                      <a16:colId xmlns:a16="http://schemas.microsoft.com/office/drawing/2014/main" val="20001"/>
                    </a:ext>
                  </a:extLst>
                </a:gridCol>
              </a:tblGrid>
              <a:tr h="356777">
                <a:tc>
                  <a:txBody>
                    <a:bodyPr/>
                    <a:lstStyle/>
                    <a:p>
                      <a:pPr marL="0" indent="0">
                        <a:lnSpc>
                          <a:spcPts val="1820"/>
                        </a:lnSpc>
                        <a:buNone/>
                      </a:pPr>
                      <a:r>
                        <a:rPr lang="en-US" sz="1300" b="1" dirty="0">
                          <a:solidFill>
                            <a:srgbClr val="F5B400"/>
                          </a:solidFill>
                          <a:latin typeface="Carlito" pitchFamily="34" charset="0"/>
                          <a:ea typeface="Carlito" pitchFamily="34" charset="-122"/>
                          <a:cs typeface="Carlito" pitchFamily="34" charset="-120"/>
                        </a:rPr>
                        <a:t>Layer</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456289"/>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456289"/>
                      </a:solidFill>
                      <a:prstDash val="solid"/>
                      <a:round/>
                      <a:headEnd type="none" w="med" len="med"/>
                      <a:tailEnd type="none" w="med" len="med"/>
                    </a:lnB>
                    <a:solidFill>
                      <a:srgbClr val="12386A"/>
                    </a:solidFill>
                  </a:tcPr>
                </a:tc>
                <a:tc>
                  <a:txBody>
                    <a:bodyPr/>
                    <a:lstStyle/>
                    <a:p>
                      <a:pPr marL="0" indent="0">
                        <a:lnSpc>
                          <a:spcPts val="1820"/>
                        </a:lnSpc>
                        <a:buNone/>
                      </a:pPr>
                      <a:r>
                        <a:rPr lang="en-US" sz="1300" b="1" dirty="0">
                          <a:solidFill>
                            <a:srgbClr val="F5B400"/>
                          </a:solidFill>
                          <a:latin typeface="Carlito" pitchFamily="34" charset="0"/>
                          <a:ea typeface="Carlito" pitchFamily="34" charset="-122"/>
                          <a:cs typeface="Carlito" pitchFamily="34" charset="-120"/>
                        </a:rPr>
                        <a:t>Technologies</a:t>
                      </a:r>
                      <a:endParaRPr lang="en-US" sz="1300" dirty="0">
                        <a:latin typeface="Carlito" charset="0"/>
                        <a:ea typeface="Carlito" charset="0"/>
                        <a:cs typeface="Carlito" charset="0"/>
                      </a:endParaRPr>
                    </a:p>
                  </a:txBody>
                  <a:tcPr marL="57770" marR="57770" marT="57770" marB="57770">
                    <a:lnL w="12700" cap="flat" cmpd="sng" algn="ctr">
                      <a:solidFill>
                        <a:srgbClr val="456289"/>
                      </a:solidFill>
                      <a:prstDash val="solid"/>
                      <a:round/>
                      <a:headEnd type="none" w="med" len="med"/>
                      <a:tailEnd type="none" w="med" len="med"/>
                    </a:lnL>
                    <a:lnR w="12700" cap="flat" cmpd="sng" algn="ctr">
                      <a:solidFill>
                        <a:srgbClr val="456289"/>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456289"/>
                      </a:solidFill>
                      <a:prstDash val="solid"/>
                      <a:round/>
                      <a:headEnd type="none" w="med" len="med"/>
                      <a:tailEnd type="none" w="med" len="med"/>
                    </a:lnB>
                    <a:solidFill>
                      <a:srgbClr val="12386A"/>
                    </a:solidFill>
                  </a:tcPr>
                </a:tc>
                <a:extLst>
                  <a:ext uri="{0D108BD9-81ED-4DB2-BD59-A6C34878D82A}">
                    <a16:rowId xmlns:a16="http://schemas.microsoft.com/office/drawing/2014/main" val="10000"/>
                  </a:ext>
                </a:extLst>
              </a:tr>
              <a:tr h="356777">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Web app</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456289"/>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React 18 · TypeScript · Vite · Vitest</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456289"/>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extLst>
                  <a:ext uri="{0D108BD9-81ED-4DB2-BD59-A6C34878D82A}">
                    <a16:rowId xmlns:a16="http://schemas.microsoft.com/office/drawing/2014/main" val="10001"/>
                  </a:ext>
                </a:extLst>
              </a:tr>
              <a:tr h="356777">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API</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Python 3.11 · FastAPI · Uvicorn · Pydantic · SlowAPI rate limits</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extLst>
                  <a:ext uri="{0D108BD9-81ED-4DB2-BD59-A6C34878D82A}">
                    <a16:rowId xmlns:a16="http://schemas.microsoft.com/office/drawing/2014/main" val="10002"/>
                  </a:ext>
                </a:extLst>
              </a:tr>
              <a:tr h="356777">
                <a:tc>
                  <a:txBody>
                    <a:bodyPr/>
                    <a:lstStyle/>
                    <a:p>
                      <a:pPr marL="0" indent="0">
                        <a:lnSpc>
                          <a:spcPts val="1820"/>
                        </a:lnSpc>
                        <a:buNone/>
                      </a:pPr>
                      <a:r>
                        <a:rPr lang="en-US" sz="1300" dirty="0">
                          <a:solidFill>
                            <a:srgbClr val="22C55E"/>
                          </a:solidFill>
                          <a:latin typeface="Carlito" pitchFamily="34" charset="0"/>
                          <a:ea typeface="Carlito" pitchFamily="34" charset="-122"/>
                          <a:cs typeface="Carlito" pitchFamily="34" charset="-120"/>
                        </a:rPr>
                        <a:t>Computer vision</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47698C"/>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47698C"/>
                      </a:solidFill>
                      <a:prstDash val="solid"/>
                      <a:round/>
                      <a:headEnd type="none" w="med" len="med"/>
                      <a:tailEnd type="none" w="med" len="med"/>
                    </a:lnB>
                    <a:solidFill>
                      <a:srgbClr val="15406F"/>
                    </a:solidFill>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OpenCV · EasyOCR with Tesseract fallback · YOLOv8 · EfficientNet-B0</a:t>
                      </a:r>
                      <a:endParaRPr lang="en-US" sz="1300" dirty="0">
                        <a:latin typeface="Carlito" charset="0"/>
                        <a:ea typeface="Carlito" charset="0"/>
                        <a:cs typeface="Carlito" charset="0"/>
                      </a:endParaRPr>
                    </a:p>
                  </a:txBody>
                  <a:tcPr marL="57770" marR="57770" marT="57770" marB="57770">
                    <a:lnL w="12700" cap="flat" cmpd="sng" algn="ctr">
                      <a:solidFill>
                        <a:srgbClr val="47698C"/>
                      </a:solidFill>
                      <a:prstDash val="solid"/>
                      <a:round/>
                      <a:headEnd type="none" w="med" len="med"/>
                      <a:tailEnd type="none" w="med" len="med"/>
                    </a:lnL>
                    <a:lnR w="12700" cap="flat" cmpd="sng" algn="ctr">
                      <a:solidFill>
                        <a:srgbClr val="47698C"/>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47698C"/>
                      </a:solidFill>
                      <a:prstDash val="solid"/>
                      <a:round/>
                      <a:headEnd type="none" w="med" len="med"/>
                      <a:tailEnd type="none" w="med" len="med"/>
                    </a:lnB>
                    <a:solidFill>
                      <a:srgbClr val="15406F"/>
                    </a:solidFill>
                  </a:tcPr>
                </a:tc>
                <a:extLst>
                  <a:ext uri="{0D108BD9-81ED-4DB2-BD59-A6C34878D82A}">
                    <a16:rowId xmlns:a16="http://schemas.microsoft.com/office/drawing/2014/main" val="10003"/>
                  </a:ext>
                </a:extLst>
              </a:tr>
              <a:tr h="587857">
                <a:tc>
                  <a:txBody>
                    <a:bodyPr/>
                    <a:lstStyle/>
                    <a:p>
                      <a:pPr marL="0" indent="0">
                        <a:lnSpc>
                          <a:spcPts val="1820"/>
                        </a:lnSpc>
                        <a:buNone/>
                      </a:pPr>
                      <a:r>
                        <a:rPr lang="en-US" sz="1300" dirty="0">
                          <a:solidFill>
                            <a:srgbClr val="22C55E"/>
                          </a:solidFill>
                          <a:latin typeface="Carlito" pitchFamily="34" charset="0"/>
                          <a:ea typeface="Carlito" pitchFamily="34" charset="-122"/>
                          <a:cs typeface="Carlito" pitchFamily="34" charset="-120"/>
                        </a:rPr>
                        <a:t>Machine learning</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47698C"/>
                      </a:solidFill>
                      <a:prstDash val="solid"/>
                      <a:round/>
                      <a:headEnd type="none" w="med" len="med"/>
                      <a:tailEnd type="none" w="med" len="med"/>
                    </a:lnR>
                    <a:lnT w="12700" cap="flat" cmpd="sng" algn="ctr">
                      <a:solidFill>
                        <a:srgbClr val="47698C"/>
                      </a:solidFill>
                      <a:prstDash val="solid"/>
                      <a:round/>
                      <a:headEnd type="none" w="med" len="med"/>
                      <a:tailEnd type="none" w="med" len="med"/>
                    </a:lnT>
                    <a:lnB w="12700" cap="flat" cmpd="sng" algn="ctr">
                      <a:solidFill>
                        <a:srgbClr val="47698C"/>
                      </a:solidFill>
                      <a:prstDash val="solid"/>
                      <a:round/>
                      <a:headEnd type="none" w="med" len="med"/>
                      <a:tailEnd type="none" w="med" len="med"/>
                    </a:lnB>
                    <a:solidFill>
                      <a:srgbClr val="15406F"/>
                    </a:solidFill>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scikit-learn (SVM, KNN, Random Forest) · XGBoost · LightGBM · PyTorch (MLP, CNN1D, LSTM, Transformer) · voting, stacking and late-fusion ensembles</a:t>
                      </a:r>
                      <a:endParaRPr lang="en-US" sz="1300" dirty="0">
                        <a:latin typeface="Carlito" charset="0"/>
                        <a:ea typeface="Carlito" charset="0"/>
                        <a:cs typeface="Carlito" charset="0"/>
                      </a:endParaRPr>
                    </a:p>
                  </a:txBody>
                  <a:tcPr marL="57770" marR="57770" marT="57770" marB="57770">
                    <a:lnL w="12700" cap="flat" cmpd="sng" algn="ctr">
                      <a:solidFill>
                        <a:srgbClr val="47698C"/>
                      </a:solidFill>
                      <a:prstDash val="solid"/>
                      <a:round/>
                      <a:headEnd type="none" w="med" len="med"/>
                      <a:tailEnd type="none" w="med" len="med"/>
                    </a:lnL>
                    <a:lnR w="12700" cap="flat" cmpd="sng" algn="ctr">
                      <a:solidFill>
                        <a:srgbClr val="47698C"/>
                      </a:solidFill>
                      <a:prstDash val="solid"/>
                      <a:round/>
                      <a:headEnd type="none" w="med" len="med"/>
                      <a:tailEnd type="none" w="med" len="med"/>
                    </a:lnR>
                    <a:lnT w="12700" cap="flat" cmpd="sng" algn="ctr">
                      <a:solidFill>
                        <a:srgbClr val="47698C"/>
                      </a:solidFill>
                      <a:prstDash val="solid"/>
                      <a:round/>
                      <a:headEnd type="none" w="med" len="med"/>
                      <a:tailEnd type="none" w="med" len="med"/>
                    </a:lnT>
                    <a:lnB w="12700" cap="flat" cmpd="sng" algn="ctr">
                      <a:solidFill>
                        <a:srgbClr val="47698C"/>
                      </a:solidFill>
                      <a:prstDash val="solid"/>
                      <a:round/>
                      <a:headEnd type="none" w="med" len="med"/>
                      <a:tailEnd type="none" w="med" len="med"/>
                    </a:lnB>
                    <a:solidFill>
                      <a:srgbClr val="15406F"/>
                    </a:solidFill>
                  </a:tcPr>
                </a:tc>
                <a:extLst>
                  <a:ext uri="{0D108BD9-81ED-4DB2-BD59-A6C34878D82A}">
                    <a16:rowId xmlns:a16="http://schemas.microsoft.com/office/drawing/2014/main" val="10004"/>
                  </a:ext>
                </a:extLst>
              </a:tr>
              <a:tr h="356777">
                <a:tc>
                  <a:txBody>
                    <a:bodyPr/>
                    <a:lstStyle/>
                    <a:p>
                      <a:pPr marL="0" indent="0">
                        <a:lnSpc>
                          <a:spcPts val="1820"/>
                        </a:lnSpc>
                        <a:buNone/>
                      </a:pPr>
                      <a:r>
                        <a:rPr lang="en-US" sz="1300" dirty="0">
                          <a:solidFill>
                            <a:srgbClr val="22C55E"/>
                          </a:solidFill>
                          <a:latin typeface="Carlito" pitchFamily="34" charset="0"/>
                          <a:ea typeface="Carlito" pitchFamily="34" charset="-122"/>
                          <a:cs typeface="Carlito" pitchFamily="34" charset="-120"/>
                        </a:rPr>
                        <a:t>Knowledge output</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47698C"/>
                      </a:solidFill>
                      <a:prstDash val="solid"/>
                      <a:round/>
                      <a:headEnd type="none" w="med" len="med"/>
                      <a:tailEnd type="none" w="med" len="med"/>
                    </a:lnR>
                    <a:lnT w="12700" cap="flat" cmpd="sng" algn="ctr">
                      <a:solidFill>
                        <a:srgbClr val="47698C"/>
                      </a:solidFill>
                      <a:prstDash val="solid"/>
                      <a:round/>
                      <a:headEnd type="none" w="med" len="med"/>
                      <a:tailEnd type="none" w="med" len="med"/>
                    </a:lnT>
                    <a:lnB w="12700" cap="flat" cmpd="sng" algn="ctr">
                      <a:solidFill>
                        <a:srgbClr val="47698C"/>
                      </a:solidFill>
                      <a:prstDash val="solid"/>
                      <a:round/>
                      <a:headEnd type="none" w="med" len="med"/>
                      <a:tailEnd type="none" w="med" len="med"/>
                    </a:lnB>
                    <a:solidFill>
                      <a:srgbClr val="15406F"/>
                    </a:solidFill>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SOP and runbook generator · anomaly detector · python-docx Word report</a:t>
                      </a:r>
                      <a:endParaRPr lang="en-US" sz="1300" dirty="0">
                        <a:latin typeface="Carlito" charset="0"/>
                        <a:ea typeface="Carlito" charset="0"/>
                        <a:cs typeface="Carlito" charset="0"/>
                      </a:endParaRPr>
                    </a:p>
                  </a:txBody>
                  <a:tcPr marL="57770" marR="57770" marT="57770" marB="57770">
                    <a:lnL w="12700" cap="flat" cmpd="sng" algn="ctr">
                      <a:solidFill>
                        <a:srgbClr val="47698C"/>
                      </a:solidFill>
                      <a:prstDash val="solid"/>
                      <a:round/>
                      <a:headEnd type="none" w="med" len="med"/>
                      <a:tailEnd type="none" w="med" len="med"/>
                    </a:lnL>
                    <a:lnR w="12700" cap="flat" cmpd="sng" algn="ctr">
                      <a:solidFill>
                        <a:srgbClr val="47698C"/>
                      </a:solidFill>
                      <a:prstDash val="solid"/>
                      <a:round/>
                      <a:headEnd type="none" w="med" len="med"/>
                      <a:tailEnd type="none" w="med" len="med"/>
                    </a:lnR>
                    <a:lnT w="12700" cap="flat" cmpd="sng" algn="ctr">
                      <a:solidFill>
                        <a:srgbClr val="47698C"/>
                      </a:solidFill>
                      <a:prstDash val="solid"/>
                      <a:round/>
                      <a:headEnd type="none" w="med" len="med"/>
                      <a:tailEnd type="none" w="med" len="med"/>
                    </a:lnT>
                    <a:lnB w="12700" cap="flat" cmpd="sng" algn="ctr">
                      <a:solidFill>
                        <a:srgbClr val="47698C"/>
                      </a:solidFill>
                      <a:prstDash val="solid"/>
                      <a:round/>
                      <a:headEnd type="none" w="med" len="med"/>
                      <a:tailEnd type="none" w="med" len="med"/>
                    </a:lnB>
                    <a:solidFill>
                      <a:srgbClr val="15406F"/>
                    </a:solidFill>
                  </a:tcPr>
                </a:tc>
                <a:extLst>
                  <a:ext uri="{0D108BD9-81ED-4DB2-BD59-A6C34878D82A}">
                    <a16:rowId xmlns:a16="http://schemas.microsoft.com/office/drawing/2014/main" val="10005"/>
                  </a:ext>
                </a:extLst>
              </a:tr>
              <a:tr h="356777">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Data</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47698C"/>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SQLAlchemy · SQLite (live) · PostgreSQL (local) · Amazon S3 for trained models</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47698C"/>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extLst>
                  <a:ext uri="{0D108BD9-81ED-4DB2-BD59-A6C34878D82A}">
                    <a16:rowId xmlns:a16="http://schemas.microsoft.com/office/drawing/2014/main" val="10006"/>
                  </a:ext>
                </a:extLst>
              </a:tr>
              <a:tr h="356777">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Cloud (AWS)</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Amplify · CloudFront · Load Balancer · ECS Fargate · ECR · CloudWatch · IAM</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extLst>
                  <a:ext uri="{0D108BD9-81ED-4DB2-BD59-A6C34878D82A}">
                    <a16:rowId xmlns:a16="http://schemas.microsoft.com/office/drawing/2014/main" val="10007"/>
                  </a:ext>
                </a:extLst>
              </a:tr>
              <a:tr h="356777">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Build &amp; deploy</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GitHub Actions · Docker · Terraform · pytest · ruff · mypy</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Text 4"/>
          <p:cNvSpPr/>
          <p:nvPr/>
        </p:nvSpPr>
        <p:spPr>
          <a:xfrm>
            <a:off x="812588" y="5591248"/>
            <a:ext cx="10880558" cy="238698"/>
          </a:xfrm>
          <a:prstGeom prst="rect">
            <a:avLst/>
          </a:prstGeom>
          <a:noFill/>
          <a:ln/>
        </p:spPr>
        <p:txBody>
          <a:bodyPr wrap="square" lIns="0" tIns="0" rIns="0" bIns="0" rtlCol="0" anchor="t">
            <a:normAutofit/>
          </a:bodyPr>
          <a:lstStyle/>
          <a:p>
            <a:pPr>
              <a:lnSpc>
                <a:spcPts val="1679"/>
              </a:lnSpc>
            </a:pPr>
            <a:r>
              <a:rPr lang="en-US" sz="1200" dirty="0">
                <a:solidFill>
                  <a:srgbClr val="A9C1DD"/>
                </a:solidFill>
                <a:latin typeface="Carlito" pitchFamily="34" charset="0"/>
                <a:ea typeface="Carlito" pitchFamily="34" charset="-122"/>
                <a:cs typeface="Carlito" pitchFamily="34" charset="-120"/>
              </a:rPr>
              <a:t>Green rows: the pattern-recognition core, where activities are recognised and documented</a:t>
            </a:r>
            <a:endParaRPr lang="en-US" sz="1200" dirty="0"/>
          </a:p>
        </p:txBody>
      </p:sp>
      <p:pic>
        <p:nvPicPr>
          <p:cNvPr id="10" name="Picture 9" descr="nus_iss_logo_transparent.png">
            <a:extLst>
              <a:ext uri="{FF2B5EF4-FFF2-40B4-BE49-F238E27FC236}">
                <a16:creationId xmlns:a16="http://schemas.microsoft.com/office/drawing/2014/main" id="{D17DD6C1-8F95-B605-0EEF-42128E949D73}"/>
              </a:ext>
            </a:extLst>
          </p:cNvPr>
          <p:cNvPicPr>
            <a:picLocks noChangeAspect="1"/>
          </p:cNvPicPr>
          <p:nvPr/>
        </p:nvPicPr>
        <p:blipFill>
          <a:blip r:embed="rId4"/>
          <a:stretch>
            <a:fillRect/>
          </a:stretch>
        </p:blipFill>
        <p:spPr>
          <a:xfrm>
            <a:off x="9300327" y="185783"/>
            <a:ext cx="2514600" cy="585216"/>
          </a:xfrm>
          <a:prstGeom prst="rect">
            <a:avLst/>
          </a:prstGeom>
          <a:solidFill>
            <a:schemeClr val="bg2"/>
          </a:solid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588" y="813481"/>
            <a:ext cx="10880558" cy="256473"/>
          </a:xfrm>
          <a:prstGeom prst="rect">
            <a:avLst/>
          </a:prstGeom>
          <a:noFill/>
          <a:ln/>
        </p:spPr>
        <p:txBody>
          <a:bodyPr wrap="square" lIns="0" tIns="0" rIns="0" bIns="0" rtlCol="0" anchor="t">
            <a:normAutofit/>
          </a:bodyPr>
          <a:lstStyle/>
          <a:p>
            <a:pPr>
              <a:lnSpc>
                <a:spcPts val="1819"/>
              </a:lnSpc>
            </a:pPr>
            <a:r>
              <a:rPr lang="en-US" sz="1300" b="1" kern="0" spc="150" dirty="0">
                <a:solidFill>
                  <a:srgbClr val="F5B400"/>
                </a:solidFill>
                <a:latin typeface="Carlito" pitchFamily="34" charset="0"/>
                <a:ea typeface="Carlito" pitchFamily="34" charset="-122"/>
                <a:cs typeface="Carlito" pitchFamily="34" charset="-120"/>
              </a:rPr>
              <a:t>WHERE TRACE RUNS · AWS SINGAPORE REGION</a:t>
            </a:r>
            <a:endParaRPr lang="en-US" sz="1300" dirty="0"/>
          </a:p>
        </p:txBody>
      </p:sp>
      <p:sp>
        <p:nvSpPr>
          <p:cNvPr id="3" name="Text 1"/>
          <p:cNvSpPr>
            <a:spLocks noGrp="1"/>
          </p:cNvSpPr>
          <p:nvPr>
            <p:ph type="title"/>
          </p:nvPr>
        </p:nvSpPr>
        <p:spPr>
          <a:xfrm>
            <a:off x="812588" y="1133439"/>
            <a:ext cx="10880558" cy="492632"/>
          </a:xfrm>
          <a:prstGeom prst="rect">
            <a:avLst/>
          </a:prstGeom>
          <a:noFill/>
          <a:ln/>
        </p:spPr>
        <p:txBody>
          <a:bodyPr vert="horz" wrap="square" lIns="0" tIns="0" rIns="0" bIns="0" rtlCol="0" anchor="t">
            <a:normAutofit/>
          </a:bodyPr>
          <a:lstStyle/>
          <a:p>
            <a:pPr>
              <a:lnSpc>
                <a:spcPts val="3679"/>
              </a:lnSpc>
            </a:pPr>
            <a:r>
              <a:rPr lang="en-US" b="1" dirty="0"/>
              <a:t>Deployment architecture</a:t>
            </a:r>
            <a:endParaRPr lang="en-US" dirty="0"/>
          </a:p>
        </p:txBody>
      </p:sp>
      <p:pic>
        <p:nvPicPr>
          <p:cNvPr id="4" name="Image 0" descr="line"/>
          <p:cNvPicPr>
            <a:picLocks noChangeAspect="1"/>
          </p:cNvPicPr>
          <p:nvPr/>
        </p:nvPicPr>
        <p:blipFill>
          <a:blip r:embed="rId3"/>
          <a:srcRect/>
          <a:stretch/>
        </p:blipFill>
        <p:spPr>
          <a:xfrm>
            <a:off x="812588" y="1689553"/>
            <a:ext cx="1269669" cy="38090"/>
          </a:xfrm>
          <a:prstGeom prst="rect">
            <a:avLst/>
          </a:prstGeom>
        </p:spPr>
      </p:pic>
      <p:sp>
        <p:nvSpPr>
          <p:cNvPr id="5" name="Shape 2"/>
          <p:cNvSpPr/>
          <p:nvPr/>
        </p:nvSpPr>
        <p:spPr>
          <a:xfrm>
            <a:off x="818936" y="2244082"/>
            <a:ext cx="2018774" cy="1408063"/>
          </a:xfrm>
          <a:prstGeom prst="roundRect">
            <a:avLst>
              <a:gd name="adj" fmla="val 6763"/>
            </a:avLst>
          </a:prstGeom>
          <a:solidFill>
            <a:srgbClr val="12386A"/>
          </a:solidFill>
          <a:ln w="12700">
            <a:solidFill>
              <a:srgbClr val="2C5C93"/>
            </a:solidFill>
            <a:prstDash val="solid"/>
          </a:ln>
        </p:spPr>
        <p:txBody>
          <a:bodyPr/>
          <a:lstStyle/>
          <a:p>
            <a:endParaRPr lang="en-SG"/>
          </a:p>
        </p:txBody>
      </p:sp>
      <p:pic>
        <p:nvPicPr>
          <p:cNvPr id="6" name="Image 1" descr="Globe"/>
          <p:cNvPicPr>
            <a:picLocks noChangeAspect="1"/>
          </p:cNvPicPr>
          <p:nvPr/>
        </p:nvPicPr>
        <p:blipFill>
          <a:blip r:embed="rId4"/>
          <a:srcRect/>
          <a:stretch/>
        </p:blipFill>
        <p:spPr>
          <a:xfrm>
            <a:off x="975105" y="2400250"/>
            <a:ext cx="253934" cy="253934"/>
          </a:xfrm>
          <a:prstGeom prst="rect">
            <a:avLst/>
          </a:prstGeom>
        </p:spPr>
      </p:pic>
      <p:sp>
        <p:nvSpPr>
          <p:cNvPr id="7" name="Text 3"/>
          <p:cNvSpPr/>
          <p:nvPr/>
        </p:nvSpPr>
        <p:spPr>
          <a:xfrm>
            <a:off x="975106" y="2730364"/>
            <a:ext cx="1757629"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Viewer’s browser</a:t>
            </a:r>
            <a:endParaRPr lang="en-US" sz="1600" dirty="0"/>
          </a:p>
        </p:txBody>
      </p:sp>
      <p:sp>
        <p:nvSpPr>
          <p:cNvPr id="8" name="Text 4"/>
          <p:cNvSpPr/>
          <p:nvPr/>
        </p:nvSpPr>
        <p:spPr>
          <a:xfrm>
            <a:off x="975106" y="3050322"/>
            <a:ext cx="1757629" cy="471047"/>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Opens the TRACE web app</a:t>
            </a:r>
            <a:endParaRPr lang="en-US" sz="1300" dirty="0"/>
          </a:p>
        </p:txBody>
      </p:sp>
      <p:pic>
        <p:nvPicPr>
          <p:cNvPr id="9" name="Image 2" descr="arrow-right"/>
          <p:cNvPicPr>
            <a:picLocks noChangeAspect="1"/>
          </p:cNvPicPr>
          <p:nvPr/>
        </p:nvPicPr>
        <p:blipFill>
          <a:blip r:embed="rId5"/>
          <a:srcRect/>
          <a:stretch/>
        </p:blipFill>
        <p:spPr>
          <a:xfrm>
            <a:off x="3091644" y="2727190"/>
            <a:ext cx="304721" cy="177754"/>
          </a:xfrm>
          <a:prstGeom prst="rect">
            <a:avLst/>
          </a:prstGeom>
        </p:spPr>
      </p:pic>
      <p:sp>
        <p:nvSpPr>
          <p:cNvPr id="10" name="Text 5"/>
          <p:cNvSpPr/>
          <p:nvPr/>
        </p:nvSpPr>
        <p:spPr>
          <a:xfrm>
            <a:off x="3043000" y="2955730"/>
            <a:ext cx="452796" cy="238698"/>
          </a:xfrm>
          <a:prstGeom prst="rect">
            <a:avLst/>
          </a:prstGeom>
          <a:noFill/>
          <a:ln/>
        </p:spPr>
        <p:txBody>
          <a:bodyPr wrap="none" lIns="0" tIns="0" rIns="0" bIns="0" rtlCol="0" anchor="t">
            <a:normAutofit/>
          </a:bodyPr>
          <a:lstStyle/>
          <a:p>
            <a:pPr>
              <a:lnSpc>
                <a:spcPts val="1679"/>
              </a:lnSpc>
            </a:pPr>
            <a:r>
              <a:rPr lang="en-US" sz="1200" b="1" dirty="0">
                <a:solidFill>
                  <a:srgbClr val="F5B400"/>
                </a:solidFill>
                <a:latin typeface="Carlito" pitchFamily="34" charset="0"/>
                <a:ea typeface="Carlito" pitchFamily="34" charset="-122"/>
                <a:cs typeface="Carlito" pitchFamily="34" charset="-120"/>
              </a:rPr>
              <a:t>HTTPS</a:t>
            </a:r>
            <a:endParaRPr lang="en-US" sz="1200" dirty="0"/>
          </a:p>
        </p:txBody>
      </p:sp>
      <p:sp>
        <p:nvSpPr>
          <p:cNvPr id="11" name="Shape 6"/>
          <p:cNvSpPr/>
          <p:nvPr/>
        </p:nvSpPr>
        <p:spPr>
          <a:xfrm>
            <a:off x="3650299" y="2244082"/>
            <a:ext cx="2018774" cy="1408063"/>
          </a:xfrm>
          <a:prstGeom prst="roundRect">
            <a:avLst>
              <a:gd name="adj" fmla="val 6763"/>
            </a:avLst>
          </a:prstGeom>
          <a:solidFill>
            <a:srgbClr val="12386A"/>
          </a:solidFill>
          <a:ln w="12700">
            <a:solidFill>
              <a:srgbClr val="2C5C93"/>
            </a:solidFill>
            <a:prstDash val="solid"/>
          </a:ln>
        </p:spPr>
        <p:txBody>
          <a:bodyPr/>
          <a:lstStyle/>
          <a:p>
            <a:endParaRPr lang="en-SG"/>
          </a:p>
        </p:txBody>
      </p:sp>
      <p:pic>
        <p:nvPicPr>
          <p:cNvPr id="12" name="Image 3" descr="Cloud"/>
          <p:cNvPicPr>
            <a:picLocks noChangeAspect="1"/>
          </p:cNvPicPr>
          <p:nvPr/>
        </p:nvPicPr>
        <p:blipFill>
          <a:blip r:embed="rId6"/>
          <a:srcRect/>
          <a:stretch/>
        </p:blipFill>
        <p:spPr>
          <a:xfrm>
            <a:off x="3806468" y="2400250"/>
            <a:ext cx="253934" cy="253934"/>
          </a:xfrm>
          <a:prstGeom prst="rect">
            <a:avLst/>
          </a:prstGeom>
        </p:spPr>
      </p:pic>
      <p:sp>
        <p:nvSpPr>
          <p:cNvPr id="13" name="Text 7"/>
          <p:cNvSpPr/>
          <p:nvPr/>
        </p:nvSpPr>
        <p:spPr>
          <a:xfrm>
            <a:off x="3806469" y="2730364"/>
            <a:ext cx="1757629"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CloudFront</a:t>
            </a:r>
            <a:endParaRPr lang="en-US" sz="1600" dirty="0"/>
          </a:p>
        </p:txBody>
      </p:sp>
      <p:sp>
        <p:nvSpPr>
          <p:cNvPr id="14" name="Text 8"/>
          <p:cNvSpPr/>
          <p:nvPr/>
        </p:nvSpPr>
        <p:spPr>
          <a:xfrm>
            <a:off x="3806469" y="3050322"/>
            <a:ext cx="1757629" cy="471047"/>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HTTPS entry point, no caching</a:t>
            </a:r>
            <a:endParaRPr lang="en-US" sz="1300" dirty="0"/>
          </a:p>
        </p:txBody>
      </p:sp>
      <p:pic>
        <p:nvPicPr>
          <p:cNvPr id="15" name="Image 4" descr="arrow-right"/>
          <p:cNvPicPr>
            <a:picLocks noChangeAspect="1"/>
          </p:cNvPicPr>
          <p:nvPr/>
        </p:nvPicPr>
        <p:blipFill>
          <a:blip r:embed="rId5"/>
          <a:srcRect/>
          <a:stretch/>
        </p:blipFill>
        <p:spPr>
          <a:xfrm>
            <a:off x="5923006" y="2727190"/>
            <a:ext cx="304721" cy="177754"/>
          </a:xfrm>
          <a:prstGeom prst="rect">
            <a:avLst/>
          </a:prstGeom>
        </p:spPr>
      </p:pic>
      <p:sp>
        <p:nvSpPr>
          <p:cNvPr id="16" name="Text 9"/>
          <p:cNvSpPr/>
          <p:nvPr/>
        </p:nvSpPr>
        <p:spPr>
          <a:xfrm>
            <a:off x="5977127" y="2955730"/>
            <a:ext cx="247269" cy="238698"/>
          </a:xfrm>
          <a:prstGeom prst="rect">
            <a:avLst/>
          </a:prstGeom>
          <a:noFill/>
          <a:ln/>
        </p:spPr>
        <p:txBody>
          <a:bodyPr wrap="none" lIns="0" tIns="0" rIns="0" bIns="0" rtlCol="0" anchor="t">
            <a:normAutofit/>
          </a:bodyPr>
          <a:lstStyle/>
          <a:p>
            <a:pPr>
              <a:lnSpc>
                <a:spcPts val="1679"/>
              </a:lnSpc>
            </a:pPr>
            <a:r>
              <a:rPr lang="en-US" sz="1200" b="1" dirty="0">
                <a:solidFill>
                  <a:srgbClr val="F5B400"/>
                </a:solidFill>
                <a:latin typeface="Carlito" pitchFamily="34" charset="0"/>
                <a:ea typeface="Carlito" pitchFamily="34" charset="-122"/>
                <a:cs typeface="Carlito" pitchFamily="34" charset="-120"/>
              </a:rPr>
              <a:t>:80</a:t>
            </a:r>
            <a:endParaRPr lang="en-US" sz="1200" dirty="0"/>
          </a:p>
        </p:txBody>
      </p:sp>
      <p:sp>
        <p:nvSpPr>
          <p:cNvPr id="17" name="Shape 10"/>
          <p:cNvSpPr/>
          <p:nvPr/>
        </p:nvSpPr>
        <p:spPr>
          <a:xfrm>
            <a:off x="6481661" y="2244082"/>
            <a:ext cx="2018774" cy="1408063"/>
          </a:xfrm>
          <a:prstGeom prst="roundRect">
            <a:avLst>
              <a:gd name="adj" fmla="val 6763"/>
            </a:avLst>
          </a:prstGeom>
          <a:solidFill>
            <a:srgbClr val="12386A"/>
          </a:solidFill>
          <a:ln w="12700">
            <a:solidFill>
              <a:srgbClr val="2C5C93"/>
            </a:solidFill>
            <a:prstDash val="solid"/>
          </a:ln>
        </p:spPr>
        <p:txBody>
          <a:bodyPr/>
          <a:lstStyle/>
          <a:p>
            <a:endParaRPr lang="en-SG"/>
          </a:p>
        </p:txBody>
      </p:sp>
      <p:pic>
        <p:nvPicPr>
          <p:cNvPr id="18" name="Image 5" descr="Lock"/>
          <p:cNvPicPr>
            <a:picLocks noChangeAspect="1"/>
          </p:cNvPicPr>
          <p:nvPr/>
        </p:nvPicPr>
        <p:blipFill>
          <a:blip r:embed="rId7"/>
          <a:srcRect/>
          <a:stretch/>
        </p:blipFill>
        <p:spPr>
          <a:xfrm>
            <a:off x="6637830" y="2400250"/>
            <a:ext cx="253934" cy="253934"/>
          </a:xfrm>
          <a:prstGeom prst="rect">
            <a:avLst/>
          </a:prstGeom>
        </p:spPr>
      </p:pic>
      <p:sp>
        <p:nvSpPr>
          <p:cNvPr id="19" name="Text 11"/>
          <p:cNvSpPr/>
          <p:nvPr/>
        </p:nvSpPr>
        <p:spPr>
          <a:xfrm>
            <a:off x="6637831" y="2730364"/>
            <a:ext cx="1757629"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Load balancer</a:t>
            </a:r>
            <a:endParaRPr lang="en-US" sz="1600" dirty="0"/>
          </a:p>
        </p:txBody>
      </p:sp>
      <p:sp>
        <p:nvSpPr>
          <p:cNvPr id="20" name="Text 12"/>
          <p:cNvSpPr/>
          <p:nvPr/>
        </p:nvSpPr>
        <p:spPr>
          <a:xfrm>
            <a:off x="6637831" y="3050322"/>
            <a:ext cx="1757629" cy="471047"/>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Accepts traffic from CloudFront only</a:t>
            </a:r>
            <a:endParaRPr lang="en-US" sz="1300" dirty="0"/>
          </a:p>
        </p:txBody>
      </p:sp>
      <p:pic>
        <p:nvPicPr>
          <p:cNvPr id="21" name="Image 6" descr="arrow-right"/>
          <p:cNvPicPr>
            <a:picLocks noChangeAspect="1"/>
          </p:cNvPicPr>
          <p:nvPr/>
        </p:nvPicPr>
        <p:blipFill>
          <a:blip r:embed="rId5"/>
          <a:srcRect/>
          <a:stretch/>
        </p:blipFill>
        <p:spPr>
          <a:xfrm>
            <a:off x="8754369" y="2727190"/>
            <a:ext cx="304721" cy="177754"/>
          </a:xfrm>
          <a:prstGeom prst="rect">
            <a:avLst/>
          </a:prstGeom>
        </p:spPr>
      </p:pic>
      <p:sp>
        <p:nvSpPr>
          <p:cNvPr id="22" name="Text 13"/>
          <p:cNvSpPr/>
          <p:nvPr/>
        </p:nvSpPr>
        <p:spPr>
          <a:xfrm>
            <a:off x="8731197" y="2955730"/>
            <a:ext cx="401771" cy="238698"/>
          </a:xfrm>
          <a:prstGeom prst="rect">
            <a:avLst/>
          </a:prstGeom>
          <a:noFill/>
          <a:ln/>
        </p:spPr>
        <p:txBody>
          <a:bodyPr wrap="none" lIns="0" tIns="0" rIns="0" bIns="0" rtlCol="0" anchor="t">
            <a:normAutofit/>
          </a:bodyPr>
          <a:lstStyle/>
          <a:p>
            <a:pPr>
              <a:lnSpc>
                <a:spcPts val="1679"/>
              </a:lnSpc>
            </a:pPr>
            <a:r>
              <a:rPr lang="en-US" sz="1200" b="1" dirty="0">
                <a:solidFill>
                  <a:srgbClr val="F5B400"/>
                </a:solidFill>
                <a:latin typeface="Carlito" pitchFamily="34" charset="0"/>
                <a:ea typeface="Carlito" pitchFamily="34" charset="-122"/>
                <a:cs typeface="Carlito" pitchFamily="34" charset="-120"/>
              </a:rPr>
              <a:t>:8000</a:t>
            </a:r>
            <a:endParaRPr lang="en-US" sz="1200" dirty="0"/>
          </a:p>
        </p:txBody>
      </p:sp>
      <p:sp>
        <p:nvSpPr>
          <p:cNvPr id="23" name="Shape 14"/>
          <p:cNvSpPr/>
          <p:nvPr/>
        </p:nvSpPr>
        <p:spPr>
          <a:xfrm>
            <a:off x="9313024" y="1987926"/>
            <a:ext cx="2018774" cy="1920375"/>
          </a:xfrm>
          <a:prstGeom prst="roundRect">
            <a:avLst>
              <a:gd name="adj" fmla="val 4959"/>
            </a:avLst>
          </a:prstGeom>
          <a:solidFill>
            <a:srgbClr val="12386A"/>
          </a:solidFill>
          <a:ln w="12700">
            <a:solidFill>
              <a:srgbClr val="22C55E"/>
            </a:solidFill>
            <a:prstDash val="solid"/>
          </a:ln>
        </p:spPr>
        <p:txBody>
          <a:bodyPr/>
          <a:lstStyle/>
          <a:p>
            <a:endParaRPr lang="en-SG"/>
          </a:p>
        </p:txBody>
      </p:sp>
      <p:pic>
        <p:nvPicPr>
          <p:cNvPr id="24" name="Image 7" descr="Code"/>
          <p:cNvPicPr>
            <a:picLocks noChangeAspect="1"/>
          </p:cNvPicPr>
          <p:nvPr/>
        </p:nvPicPr>
        <p:blipFill>
          <a:blip r:embed="rId8"/>
          <a:srcRect/>
          <a:stretch/>
        </p:blipFill>
        <p:spPr>
          <a:xfrm>
            <a:off x="9469193" y="2144096"/>
            <a:ext cx="253934" cy="253934"/>
          </a:xfrm>
          <a:prstGeom prst="rect">
            <a:avLst/>
          </a:prstGeom>
        </p:spPr>
      </p:pic>
      <p:sp>
        <p:nvSpPr>
          <p:cNvPr id="25" name="Text 15"/>
          <p:cNvSpPr/>
          <p:nvPr/>
        </p:nvSpPr>
        <p:spPr>
          <a:xfrm>
            <a:off x="9469194" y="2474210"/>
            <a:ext cx="1757629"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ECS Fargate task</a:t>
            </a:r>
            <a:endParaRPr lang="en-US" sz="1600" dirty="0"/>
          </a:p>
        </p:txBody>
      </p:sp>
      <p:sp>
        <p:nvSpPr>
          <p:cNvPr id="26" name="Text 16"/>
          <p:cNvSpPr/>
          <p:nvPr/>
        </p:nvSpPr>
        <p:spPr>
          <a:xfrm>
            <a:off x="9469194" y="2794166"/>
            <a:ext cx="1757629" cy="693874"/>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FastAPI, six models, OCR, YOLO, image features, SQLite</a:t>
            </a:r>
            <a:endParaRPr lang="en-US" sz="1300" dirty="0"/>
          </a:p>
        </p:txBody>
      </p:sp>
      <p:sp>
        <p:nvSpPr>
          <p:cNvPr id="27" name="Text 17"/>
          <p:cNvSpPr/>
          <p:nvPr/>
        </p:nvSpPr>
        <p:spPr>
          <a:xfrm>
            <a:off x="9469194" y="3538826"/>
            <a:ext cx="1757629" cy="238698"/>
          </a:xfrm>
          <a:prstGeom prst="rect">
            <a:avLst/>
          </a:prstGeom>
          <a:noFill/>
          <a:ln/>
        </p:spPr>
        <p:txBody>
          <a:bodyPr wrap="square" lIns="0" tIns="0" rIns="0" bIns="0" rtlCol="0" anchor="t">
            <a:normAutofit/>
          </a:bodyPr>
          <a:lstStyle/>
          <a:p>
            <a:pPr>
              <a:lnSpc>
                <a:spcPts val="1679"/>
              </a:lnSpc>
            </a:pPr>
            <a:r>
              <a:rPr lang="en-US" sz="1200" dirty="0">
                <a:solidFill>
                  <a:srgbClr val="22C55E"/>
                </a:solidFill>
                <a:latin typeface="Carlito" pitchFamily="34" charset="0"/>
                <a:ea typeface="Carlito" pitchFamily="34" charset="-122"/>
                <a:cs typeface="Carlito" pitchFamily="34" charset="-120"/>
              </a:rPr>
              <a:t>1 task · 2 vCPU · 8 GB</a:t>
            </a:r>
            <a:endParaRPr lang="en-US" sz="1200" dirty="0"/>
          </a:p>
        </p:txBody>
      </p:sp>
      <p:sp>
        <p:nvSpPr>
          <p:cNvPr id="28" name="Text 18"/>
          <p:cNvSpPr/>
          <p:nvPr/>
        </p:nvSpPr>
        <p:spPr>
          <a:xfrm>
            <a:off x="812588" y="4168582"/>
            <a:ext cx="10880558" cy="256473"/>
          </a:xfrm>
          <a:prstGeom prst="rect">
            <a:avLst/>
          </a:prstGeom>
          <a:noFill/>
          <a:ln/>
        </p:spPr>
        <p:txBody>
          <a:bodyPr wrap="square" lIns="0" tIns="0" rIns="0" bIns="0" rtlCol="0" anchor="t">
            <a:normAutofit/>
          </a:bodyPr>
          <a:lstStyle/>
          <a:p>
            <a:pPr>
              <a:lnSpc>
                <a:spcPts val="1819"/>
              </a:lnSpc>
            </a:pPr>
            <a:r>
              <a:rPr lang="en-US" sz="1300" b="1" dirty="0">
                <a:solidFill>
                  <a:srgbClr val="F5B400"/>
                </a:solidFill>
                <a:latin typeface="Carlito" pitchFamily="34" charset="0"/>
                <a:ea typeface="Carlito" pitchFamily="34" charset="-122"/>
                <a:cs typeface="Carlito" pitchFamily="34" charset="-120"/>
              </a:rPr>
              <a:t>Around the task</a:t>
            </a:r>
            <a:endParaRPr lang="en-US" sz="1300" dirty="0"/>
          </a:p>
        </p:txBody>
      </p:sp>
      <p:sp>
        <p:nvSpPr>
          <p:cNvPr id="29" name="Shape 19"/>
          <p:cNvSpPr/>
          <p:nvPr/>
        </p:nvSpPr>
        <p:spPr>
          <a:xfrm>
            <a:off x="818936" y="4507585"/>
            <a:ext cx="2552035" cy="1037320"/>
          </a:xfrm>
          <a:prstGeom prst="roundRect">
            <a:avLst>
              <a:gd name="adj" fmla="val 9180"/>
            </a:avLst>
          </a:prstGeom>
          <a:solidFill>
            <a:srgbClr val="0F3261"/>
          </a:solidFill>
          <a:ln w="12700">
            <a:solidFill>
              <a:srgbClr val="2C5C93"/>
            </a:solidFill>
            <a:prstDash val="solid"/>
          </a:ln>
        </p:spPr>
        <p:txBody>
          <a:bodyPr/>
          <a:lstStyle/>
          <a:p>
            <a:endParaRPr lang="en-SG"/>
          </a:p>
        </p:txBody>
      </p:sp>
      <p:sp>
        <p:nvSpPr>
          <p:cNvPr id="30" name="Text 20"/>
          <p:cNvSpPr/>
          <p:nvPr/>
        </p:nvSpPr>
        <p:spPr>
          <a:xfrm>
            <a:off x="975106" y="4663753"/>
            <a:ext cx="2306888" cy="253934"/>
          </a:xfrm>
          <a:prstGeom prst="rect">
            <a:avLst/>
          </a:prstGeom>
          <a:noFill/>
          <a:ln/>
        </p:spPr>
        <p:txBody>
          <a:bodyPr wrap="square" lIns="0" tIns="0" rIns="0" bIns="0" rtlCol="0" anchor="t">
            <a:normAutofit/>
          </a:bodyPr>
          <a:lstStyle/>
          <a:p>
            <a:pPr>
              <a:lnSpc>
                <a:spcPts val="1799"/>
              </a:lnSpc>
            </a:pPr>
            <a:r>
              <a:rPr lang="en-US" sz="1500" b="1" dirty="0">
                <a:solidFill>
                  <a:srgbClr val="F4F8FC"/>
                </a:solidFill>
                <a:latin typeface="Carlito" pitchFamily="34" charset="0"/>
                <a:ea typeface="Carlito" pitchFamily="34" charset="-122"/>
                <a:cs typeface="Carlito" pitchFamily="34" charset="-120"/>
              </a:rPr>
              <a:t>Amplify</a:t>
            </a:r>
            <a:endParaRPr lang="en-US" sz="1500" dirty="0"/>
          </a:p>
        </p:txBody>
      </p:sp>
      <p:sp>
        <p:nvSpPr>
          <p:cNvPr id="31" name="Text 21"/>
          <p:cNvSpPr/>
          <p:nvPr/>
        </p:nvSpPr>
        <p:spPr>
          <a:xfrm>
            <a:off x="975106" y="4943081"/>
            <a:ext cx="2306888" cy="248220"/>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Hosts the React web app</a:t>
            </a:r>
            <a:endParaRPr lang="en-US" sz="1300" dirty="0"/>
          </a:p>
        </p:txBody>
      </p:sp>
      <p:sp>
        <p:nvSpPr>
          <p:cNvPr id="32" name="Shape 22"/>
          <p:cNvSpPr/>
          <p:nvPr/>
        </p:nvSpPr>
        <p:spPr>
          <a:xfrm>
            <a:off x="3485242" y="4507585"/>
            <a:ext cx="2552035" cy="1037320"/>
          </a:xfrm>
          <a:prstGeom prst="roundRect">
            <a:avLst>
              <a:gd name="adj" fmla="val 9180"/>
            </a:avLst>
          </a:prstGeom>
          <a:solidFill>
            <a:srgbClr val="0F3261"/>
          </a:solidFill>
          <a:ln w="12700">
            <a:solidFill>
              <a:srgbClr val="2C5C93"/>
            </a:solidFill>
            <a:prstDash val="solid"/>
          </a:ln>
        </p:spPr>
        <p:txBody>
          <a:bodyPr/>
          <a:lstStyle/>
          <a:p>
            <a:endParaRPr lang="en-SG"/>
          </a:p>
        </p:txBody>
      </p:sp>
      <p:sp>
        <p:nvSpPr>
          <p:cNvPr id="33" name="Text 23"/>
          <p:cNvSpPr/>
          <p:nvPr/>
        </p:nvSpPr>
        <p:spPr>
          <a:xfrm>
            <a:off x="3641412" y="4663753"/>
            <a:ext cx="2306888" cy="253934"/>
          </a:xfrm>
          <a:prstGeom prst="rect">
            <a:avLst/>
          </a:prstGeom>
          <a:noFill/>
          <a:ln/>
        </p:spPr>
        <p:txBody>
          <a:bodyPr wrap="square" lIns="0" tIns="0" rIns="0" bIns="0" rtlCol="0" anchor="t">
            <a:normAutofit/>
          </a:bodyPr>
          <a:lstStyle/>
          <a:p>
            <a:pPr>
              <a:lnSpc>
                <a:spcPts val="1799"/>
              </a:lnSpc>
            </a:pPr>
            <a:r>
              <a:rPr lang="en-US" sz="1500" b="1" dirty="0">
                <a:solidFill>
                  <a:srgbClr val="F4F8FC"/>
                </a:solidFill>
                <a:latin typeface="Carlito" pitchFamily="34" charset="0"/>
                <a:ea typeface="Carlito" pitchFamily="34" charset="-122"/>
                <a:cs typeface="Carlito" pitchFamily="34" charset="-120"/>
              </a:rPr>
              <a:t>ECR</a:t>
            </a:r>
            <a:endParaRPr lang="en-US" sz="1500" dirty="0"/>
          </a:p>
        </p:txBody>
      </p:sp>
      <p:sp>
        <p:nvSpPr>
          <p:cNvPr id="34" name="Text 24"/>
          <p:cNvSpPr/>
          <p:nvPr/>
        </p:nvSpPr>
        <p:spPr>
          <a:xfrm>
            <a:off x="3641412" y="4943081"/>
            <a:ext cx="2306888" cy="248220"/>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Stores the container image</a:t>
            </a:r>
            <a:endParaRPr lang="en-US" sz="1300" dirty="0"/>
          </a:p>
        </p:txBody>
      </p:sp>
      <p:sp>
        <p:nvSpPr>
          <p:cNvPr id="35" name="Shape 25"/>
          <p:cNvSpPr/>
          <p:nvPr/>
        </p:nvSpPr>
        <p:spPr>
          <a:xfrm>
            <a:off x="6151547" y="4507585"/>
            <a:ext cx="2552035" cy="1037320"/>
          </a:xfrm>
          <a:prstGeom prst="roundRect">
            <a:avLst>
              <a:gd name="adj" fmla="val 9180"/>
            </a:avLst>
          </a:prstGeom>
          <a:solidFill>
            <a:srgbClr val="0F3261"/>
          </a:solidFill>
          <a:ln w="12700">
            <a:solidFill>
              <a:srgbClr val="2C5C93"/>
            </a:solidFill>
            <a:prstDash val="solid"/>
          </a:ln>
        </p:spPr>
        <p:txBody>
          <a:bodyPr/>
          <a:lstStyle/>
          <a:p>
            <a:endParaRPr lang="en-SG"/>
          </a:p>
        </p:txBody>
      </p:sp>
      <p:sp>
        <p:nvSpPr>
          <p:cNvPr id="36" name="Text 26"/>
          <p:cNvSpPr/>
          <p:nvPr/>
        </p:nvSpPr>
        <p:spPr>
          <a:xfrm>
            <a:off x="6307717" y="4663753"/>
            <a:ext cx="2306888" cy="253934"/>
          </a:xfrm>
          <a:prstGeom prst="rect">
            <a:avLst/>
          </a:prstGeom>
          <a:noFill/>
          <a:ln/>
        </p:spPr>
        <p:txBody>
          <a:bodyPr wrap="square" lIns="0" tIns="0" rIns="0" bIns="0" rtlCol="0" anchor="t">
            <a:normAutofit/>
          </a:bodyPr>
          <a:lstStyle/>
          <a:p>
            <a:pPr>
              <a:lnSpc>
                <a:spcPts val="1799"/>
              </a:lnSpc>
            </a:pPr>
            <a:r>
              <a:rPr lang="en-US" sz="1500" b="1" dirty="0">
                <a:solidFill>
                  <a:srgbClr val="F4F8FC"/>
                </a:solidFill>
                <a:latin typeface="Carlito" pitchFamily="34" charset="0"/>
                <a:ea typeface="Carlito" pitchFamily="34" charset="-122"/>
                <a:cs typeface="Carlito" pitchFamily="34" charset="-120"/>
              </a:rPr>
              <a:t>S3</a:t>
            </a:r>
            <a:endParaRPr lang="en-US" sz="1500" dirty="0"/>
          </a:p>
        </p:txBody>
      </p:sp>
      <p:sp>
        <p:nvSpPr>
          <p:cNvPr id="37" name="Text 27"/>
          <p:cNvSpPr/>
          <p:nvPr/>
        </p:nvSpPr>
        <p:spPr>
          <a:xfrm>
            <a:off x="6307717" y="4943081"/>
            <a:ext cx="2306888" cy="471047"/>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Trained models, loaded at startup</a:t>
            </a:r>
            <a:endParaRPr lang="en-US" sz="1300" dirty="0"/>
          </a:p>
        </p:txBody>
      </p:sp>
      <p:sp>
        <p:nvSpPr>
          <p:cNvPr id="38" name="Shape 28"/>
          <p:cNvSpPr/>
          <p:nvPr/>
        </p:nvSpPr>
        <p:spPr>
          <a:xfrm>
            <a:off x="8817853" y="4507585"/>
            <a:ext cx="2552035" cy="1037320"/>
          </a:xfrm>
          <a:prstGeom prst="roundRect">
            <a:avLst>
              <a:gd name="adj" fmla="val 9180"/>
            </a:avLst>
          </a:prstGeom>
          <a:solidFill>
            <a:srgbClr val="0F3261"/>
          </a:solidFill>
          <a:ln w="12700">
            <a:solidFill>
              <a:srgbClr val="2C5C93"/>
            </a:solidFill>
            <a:prstDash val="solid"/>
          </a:ln>
        </p:spPr>
        <p:txBody>
          <a:bodyPr/>
          <a:lstStyle/>
          <a:p>
            <a:endParaRPr lang="en-SG"/>
          </a:p>
        </p:txBody>
      </p:sp>
      <p:sp>
        <p:nvSpPr>
          <p:cNvPr id="39" name="Text 29"/>
          <p:cNvSpPr/>
          <p:nvPr/>
        </p:nvSpPr>
        <p:spPr>
          <a:xfrm>
            <a:off x="8974022" y="4663753"/>
            <a:ext cx="2306888" cy="253934"/>
          </a:xfrm>
          <a:prstGeom prst="rect">
            <a:avLst/>
          </a:prstGeom>
          <a:noFill/>
          <a:ln/>
        </p:spPr>
        <p:txBody>
          <a:bodyPr wrap="square" lIns="0" tIns="0" rIns="0" bIns="0" rtlCol="0" anchor="t">
            <a:normAutofit/>
          </a:bodyPr>
          <a:lstStyle/>
          <a:p>
            <a:pPr>
              <a:lnSpc>
                <a:spcPts val="1799"/>
              </a:lnSpc>
            </a:pPr>
            <a:r>
              <a:rPr lang="en-US" sz="1500" b="1" dirty="0">
                <a:solidFill>
                  <a:srgbClr val="F4F8FC"/>
                </a:solidFill>
                <a:latin typeface="Carlito" pitchFamily="34" charset="0"/>
                <a:ea typeface="Carlito" pitchFamily="34" charset="-122"/>
                <a:cs typeface="Carlito" pitchFamily="34" charset="-120"/>
              </a:rPr>
              <a:t>CloudWatch</a:t>
            </a:r>
            <a:endParaRPr lang="en-US" sz="1500" dirty="0"/>
          </a:p>
        </p:txBody>
      </p:sp>
      <p:sp>
        <p:nvSpPr>
          <p:cNvPr id="40" name="Text 30"/>
          <p:cNvSpPr/>
          <p:nvPr/>
        </p:nvSpPr>
        <p:spPr>
          <a:xfrm>
            <a:off x="8974022" y="4943081"/>
            <a:ext cx="2306888" cy="248220"/>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Container logs, kept 14 days</a:t>
            </a:r>
            <a:endParaRPr lang="en-US" sz="1300" dirty="0"/>
          </a:p>
        </p:txBody>
      </p:sp>
      <p:pic>
        <p:nvPicPr>
          <p:cNvPr id="42" name="Picture 41" descr="nus_iss_logo_transparent.png">
            <a:extLst>
              <a:ext uri="{FF2B5EF4-FFF2-40B4-BE49-F238E27FC236}">
                <a16:creationId xmlns:a16="http://schemas.microsoft.com/office/drawing/2014/main" id="{52A06583-6566-00E0-D2F7-4A631A858FE5}"/>
              </a:ext>
            </a:extLst>
          </p:cNvPr>
          <p:cNvPicPr>
            <a:picLocks noChangeAspect="1"/>
          </p:cNvPicPr>
          <p:nvPr/>
        </p:nvPicPr>
        <p:blipFill>
          <a:blip r:embed="rId9"/>
          <a:stretch>
            <a:fillRect/>
          </a:stretch>
        </p:blipFill>
        <p:spPr>
          <a:xfrm>
            <a:off x="9300327" y="185783"/>
            <a:ext cx="2514600" cy="585216"/>
          </a:xfrm>
          <a:prstGeom prst="rect">
            <a:avLst/>
          </a:prstGeom>
          <a:solidFill>
            <a:schemeClr val="bg2"/>
          </a:solid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588" y="813481"/>
            <a:ext cx="10880558" cy="256473"/>
          </a:xfrm>
          <a:prstGeom prst="rect">
            <a:avLst/>
          </a:prstGeom>
          <a:noFill/>
          <a:ln/>
        </p:spPr>
        <p:txBody>
          <a:bodyPr wrap="square" lIns="0" tIns="0" rIns="0" bIns="0" rtlCol="0" anchor="t">
            <a:normAutofit/>
          </a:bodyPr>
          <a:lstStyle/>
          <a:p>
            <a:pPr>
              <a:lnSpc>
                <a:spcPts val="1819"/>
              </a:lnSpc>
            </a:pPr>
            <a:r>
              <a:rPr lang="en-US" sz="1300" b="1" kern="0" spc="150" dirty="0">
                <a:solidFill>
                  <a:srgbClr val="F5B400"/>
                </a:solidFill>
                <a:latin typeface="Carlito" pitchFamily="34" charset="0"/>
                <a:ea typeface="Carlito" pitchFamily="34" charset="-122"/>
                <a:cs typeface="Carlito" pitchFamily="34" charset="-120"/>
              </a:rPr>
              <a:t>DELIVERY · GITHUB ACTIONS</a:t>
            </a:r>
            <a:endParaRPr lang="en-US" sz="1300" dirty="0"/>
          </a:p>
        </p:txBody>
      </p:sp>
      <p:sp>
        <p:nvSpPr>
          <p:cNvPr id="3" name="Text 1"/>
          <p:cNvSpPr>
            <a:spLocks noGrp="1"/>
          </p:cNvSpPr>
          <p:nvPr>
            <p:ph type="title"/>
          </p:nvPr>
        </p:nvSpPr>
        <p:spPr>
          <a:xfrm>
            <a:off x="812588" y="1133437"/>
            <a:ext cx="10880558" cy="492632"/>
          </a:xfrm>
          <a:prstGeom prst="rect">
            <a:avLst/>
          </a:prstGeom>
          <a:noFill/>
          <a:ln/>
        </p:spPr>
        <p:txBody>
          <a:bodyPr vert="horz" wrap="square" lIns="0" tIns="0" rIns="0" bIns="0" rtlCol="0" anchor="t">
            <a:normAutofit/>
          </a:bodyPr>
          <a:lstStyle/>
          <a:p>
            <a:pPr>
              <a:lnSpc>
                <a:spcPts val="3679"/>
              </a:lnSpc>
            </a:pPr>
            <a:r>
              <a:rPr lang="en-US" b="1" dirty="0"/>
              <a:t>From commit to running service</a:t>
            </a:r>
            <a:endParaRPr lang="en-US" dirty="0"/>
          </a:p>
        </p:txBody>
      </p:sp>
      <p:pic>
        <p:nvPicPr>
          <p:cNvPr id="4" name="Image 0" descr="line"/>
          <p:cNvPicPr>
            <a:picLocks noChangeAspect="1"/>
          </p:cNvPicPr>
          <p:nvPr/>
        </p:nvPicPr>
        <p:blipFill>
          <a:blip r:embed="rId3"/>
          <a:srcRect/>
          <a:stretch/>
        </p:blipFill>
        <p:spPr>
          <a:xfrm>
            <a:off x="812588" y="1689553"/>
            <a:ext cx="1269669" cy="38090"/>
          </a:xfrm>
          <a:prstGeom prst="rect">
            <a:avLst/>
          </a:prstGeom>
        </p:spPr>
      </p:pic>
      <p:sp>
        <p:nvSpPr>
          <p:cNvPr id="5" name="Shape 2"/>
          <p:cNvSpPr/>
          <p:nvPr/>
        </p:nvSpPr>
        <p:spPr>
          <a:xfrm>
            <a:off x="818936" y="2210753"/>
            <a:ext cx="1701357" cy="1113500"/>
          </a:xfrm>
          <a:prstGeom prst="roundRect">
            <a:avLst>
              <a:gd name="adj" fmla="val 8552"/>
            </a:avLst>
          </a:prstGeom>
          <a:solidFill>
            <a:srgbClr val="12386A"/>
          </a:solidFill>
          <a:ln w="12700">
            <a:solidFill>
              <a:srgbClr val="2C5C93"/>
            </a:solidFill>
            <a:prstDash val="solid"/>
          </a:ln>
        </p:spPr>
        <p:txBody>
          <a:bodyPr/>
          <a:lstStyle/>
          <a:p>
            <a:endParaRPr lang="en-SG"/>
          </a:p>
        </p:txBody>
      </p:sp>
      <p:sp>
        <p:nvSpPr>
          <p:cNvPr id="6" name="Text 3"/>
          <p:cNvSpPr/>
          <p:nvPr/>
        </p:nvSpPr>
        <p:spPr>
          <a:xfrm>
            <a:off x="975106" y="2366923"/>
            <a:ext cx="279327" cy="279327"/>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08C00"/>
          </a:solidFill>
          <a:ln/>
        </p:spPr>
        <p:txBody>
          <a:bodyPr wrap="square" lIns="0" tIns="0" rIns="0" bIns="0" rtlCol="0" anchor="t">
            <a:normAutofit/>
          </a:bodyPr>
          <a:lstStyle/>
          <a:p>
            <a:pPr algn="ctr">
              <a:lnSpc>
                <a:spcPts val="2195"/>
              </a:lnSpc>
            </a:pPr>
            <a:r>
              <a:rPr lang="en-US" sz="1200" b="1" dirty="0">
                <a:solidFill>
                  <a:srgbClr val="0A2A55"/>
                </a:solidFill>
                <a:latin typeface="Carlito" pitchFamily="34" charset="0"/>
                <a:ea typeface="Carlito" pitchFamily="34" charset="-122"/>
                <a:cs typeface="Carlito" pitchFamily="34" charset="-120"/>
              </a:rPr>
              <a:t>1</a:t>
            </a:r>
            <a:endParaRPr lang="en-US" sz="1200" dirty="0"/>
          </a:p>
        </p:txBody>
      </p:sp>
      <p:sp>
        <p:nvSpPr>
          <p:cNvPr id="7" name="Text 4"/>
          <p:cNvSpPr/>
          <p:nvPr/>
        </p:nvSpPr>
        <p:spPr>
          <a:xfrm>
            <a:off x="1343310" y="2384697"/>
            <a:ext cx="488696"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Push</a:t>
            </a:r>
            <a:endParaRPr lang="en-US" sz="1600" dirty="0"/>
          </a:p>
        </p:txBody>
      </p:sp>
      <p:sp>
        <p:nvSpPr>
          <p:cNvPr id="8" name="Text 5"/>
          <p:cNvSpPr/>
          <p:nvPr/>
        </p:nvSpPr>
        <p:spPr>
          <a:xfrm>
            <a:off x="975105" y="2722430"/>
            <a:ext cx="1439805" cy="471047"/>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A backend change lands on main</a:t>
            </a:r>
            <a:endParaRPr lang="en-US" sz="1300" dirty="0"/>
          </a:p>
        </p:txBody>
      </p:sp>
      <p:pic>
        <p:nvPicPr>
          <p:cNvPr id="9" name="Image 1" descr="arrow-right"/>
          <p:cNvPicPr>
            <a:picLocks noChangeAspect="1"/>
          </p:cNvPicPr>
          <p:nvPr/>
        </p:nvPicPr>
        <p:blipFill>
          <a:blip r:embed="rId4"/>
          <a:srcRect/>
          <a:stretch/>
        </p:blipFill>
        <p:spPr>
          <a:xfrm>
            <a:off x="2602821" y="2684976"/>
            <a:ext cx="253934" cy="165057"/>
          </a:xfrm>
          <a:prstGeom prst="rect">
            <a:avLst/>
          </a:prstGeom>
        </p:spPr>
      </p:pic>
      <p:sp>
        <p:nvSpPr>
          <p:cNvPr id="10" name="Shape 6"/>
          <p:cNvSpPr/>
          <p:nvPr/>
        </p:nvSpPr>
        <p:spPr>
          <a:xfrm>
            <a:off x="2939284" y="1987925"/>
            <a:ext cx="1701357" cy="1559154"/>
          </a:xfrm>
          <a:prstGeom prst="roundRect">
            <a:avLst>
              <a:gd name="adj" fmla="val 6107"/>
            </a:avLst>
          </a:prstGeom>
          <a:solidFill>
            <a:srgbClr val="12386A"/>
          </a:solidFill>
          <a:ln w="12700">
            <a:solidFill>
              <a:srgbClr val="2C5C93"/>
            </a:solidFill>
            <a:prstDash val="solid"/>
          </a:ln>
        </p:spPr>
        <p:txBody>
          <a:bodyPr/>
          <a:lstStyle/>
          <a:p>
            <a:endParaRPr lang="en-SG"/>
          </a:p>
        </p:txBody>
      </p:sp>
      <p:sp>
        <p:nvSpPr>
          <p:cNvPr id="11" name="Text 7"/>
          <p:cNvSpPr/>
          <p:nvPr/>
        </p:nvSpPr>
        <p:spPr>
          <a:xfrm>
            <a:off x="3095453" y="2144096"/>
            <a:ext cx="279327" cy="279327"/>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08C00"/>
          </a:solidFill>
          <a:ln/>
        </p:spPr>
        <p:txBody>
          <a:bodyPr wrap="square" lIns="0" tIns="0" rIns="0" bIns="0" rtlCol="0" anchor="t">
            <a:normAutofit/>
          </a:bodyPr>
          <a:lstStyle/>
          <a:p>
            <a:pPr algn="ctr">
              <a:lnSpc>
                <a:spcPts val="2195"/>
              </a:lnSpc>
            </a:pPr>
            <a:r>
              <a:rPr lang="en-US" sz="1200" b="1" dirty="0">
                <a:solidFill>
                  <a:srgbClr val="0A2A55"/>
                </a:solidFill>
                <a:latin typeface="Carlito" pitchFamily="34" charset="0"/>
                <a:ea typeface="Carlito" pitchFamily="34" charset="-122"/>
                <a:cs typeface="Carlito" pitchFamily="34" charset="-120"/>
              </a:rPr>
              <a:t>2</a:t>
            </a:r>
            <a:endParaRPr lang="en-US" sz="1200" dirty="0"/>
          </a:p>
        </p:txBody>
      </p:sp>
      <p:sp>
        <p:nvSpPr>
          <p:cNvPr id="12" name="Text 8"/>
          <p:cNvSpPr/>
          <p:nvPr/>
        </p:nvSpPr>
        <p:spPr>
          <a:xfrm>
            <a:off x="3463658" y="2161869"/>
            <a:ext cx="401374"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Test</a:t>
            </a:r>
            <a:endParaRPr lang="en-US" sz="1600" dirty="0"/>
          </a:p>
        </p:txBody>
      </p:sp>
      <p:sp>
        <p:nvSpPr>
          <p:cNvPr id="13" name="Text 9"/>
          <p:cNvSpPr/>
          <p:nvPr/>
        </p:nvSpPr>
        <p:spPr>
          <a:xfrm>
            <a:off x="3095453" y="2499603"/>
            <a:ext cx="1439805" cy="916701"/>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ruff, mypy and pytest. A failure stops the deploy here.</a:t>
            </a:r>
            <a:endParaRPr lang="en-US" sz="1300" dirty="0"/>
          </a:p>
        </p:txBody>
      </p:sp>
      <p:pic>
        <p:nvPicPr>
          <p:cNvPr id="14" name="Image 2" descr="arrow-right"/>
          <p:cNvPicPr>
            <a:picLocks noChangeAspect="1"/>
          </p:cNvPicPr>
          <p:nvPr/>
        </p:nvPicPr>
        <p:blipFill>
          <a:blip r:embed="rId4"/>
          <a:srcRect/>
          <a:stretch/>
        </p:blipFill>
        <p:spPr>
          <a:xfrm>
            <a:off x="4723169" y="2684976"/>
            <a:ext cx="253934" cy="165057"/>
          </a:xfrm>
          <a:prstGeom prst="rect">
            <a:avLst/>
          </a:prstGeom>
        </p:spPr>
      </p:pic>
      <p:sp>
        <p:nvSpPr>
          <p:cNvPr id="15" name="Shape 10"/>
          <p:cNvSpPr/>
          <p:nvPr/>
        </p:nvSpPr>
        <p:spPr>
          <a:xfrm>
            <a:off x="5059631" y="1987925"/>
            <a:ext cx="1701357" cy="1559154"/>
          </a:xfrm>
          <a:prstGeom prst="roundRect">
            <a:avLst>
              <a:gd name="adj" fmla="val 6107"/>
            </a:avLst>
          </a:prstGeom>
          <a:solidFill>
            <a:srgbClr val="12386A"/>
          </a:solidFill>
          <a:ln w="12700">
            <a:solidFill>
              <a:srgbClr val="2C5C93"/>
            </a:solidFill>
            <a:prstDash val="solid"/>
          </a:ln>
        </p:spPr>
        <p:txBody>
          <a:bodyPr/>
          <a:lstStyle/>
          <a:p>
            <a:endParaRPr lang="en-SG"/>
          </a:p>
        </p:txBody>
      </p:sp>
      <p:sp>
        <p:nvSpPr>
          <p:cNvPr id="16" name="Text 11"/>
          <p:cNvSpPr/>
          <p:nvPr/>
        </p:nvSpPr>
        <p:spPr>
          <a:xfrm>
            <a:off x="5215801" y="2144096"/>
            <a:ext cx="279327" cy="279327"/>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08C00"/>
          </a:solidFill>
          <a:ln/>
        </p:spPr>
        <p:txBody>
          <a:bodyPr wrap="square" lIns="0" tIns="0" rIns="0" bIns="0" rtlCol="0" anchor="t">
            <a:normAutofit/>
          </a:bodyPr>
          <a:lstStyle/>
          <a:p>
            <a:pPr algn="ctr">
              <a:lnSpc>
                <a:spcPts val="2195"/>
              </a:lnSpc>
            </a:pPr>
            <a:r>
              <a:rPr lang="en-US" sz="1200" b="1" dirty="0">
                <a:solidFill>
                  <a:srgbClr val="0A2A55"/>
                </a:solidFill>
                <a:latin typeface="Carlito" pitchFamily="34" charset="0"/>
                <a:ea typeface="Carlito" pitchFamily="34" charset="-122"/>
                <a:cs typeface="Carlito" pitchFamily="34" charset="-120"/>
              </a:rPr>
              <a:t>3</a:t>
            </a:r>
            <a:endParaRPr lang="en-US" sz="1200" dirty="0"/>
          </a:p>
        </p:txBody>
      </p:sp>
      <p:sp>
        <p:nvSpPr>
          <p:cNvPr id="17" name="Text 12"/>
          <p:cNvSpPr/>
          <p:nvPr/>
        </p:nvSpPr>
        <p:spPr>
          <a:xfrm>
            <a:off x="5584005" y="2161869"/>
            <a:ext cx="518025"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Build</a:t>
            </a:r>
            <a:endParaRPr lang="en-US" sz="1600" dirty="0"/>
          </a:p>
        </p:txBody>
      </p:sp>
      <p:sp>
        <p:nvSpPr>
          <p:cNvPr id="18" name="Text 13"/>
          <p:cNvSpPr/>
          <p:nvPr/>
        </p:nvSpPr>
        <p:spPr>
          <a:xfrm>
            <a:off x="5215801" y="2499603"/>
            <a:ext cx="1439805" cy="916701"/>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Docker CPU image. AWS access through OIDC, no stored keys.</a:t>
            </a:r>
            <a:endParaRPr lang="en-US" sz="1300" dirty="0"/>
          </a:p>
        </p:txBody>
      </p:sp>
      <p:pic>
        <p:nvPicPr>
          <p:cNvPr id="19" name="Image 3" descr="arrow-right"/>
          <p:cNvPicPr>
            <a:picLocks noChangeAspect="1"/>
          </p:cNvPicPr>
          <p:nvPr/>
        </p:nvPicPr>
        <p:blipFill>
          <a:blip r:embed="rId4"/>
          <a:srcRect/>
          <a:stretch/>
        </p:blipFill>
        <p:spPr>
          <a:xfrm>
            <a:off x="6843517" y="2684976"/>
            <a:ext cx="253934" cy="165057"/>
          </a:xfrm>
          <a:prstGeom prst="rect">
            <a:avLst/>
          </a:prstGeom>
        </p:spPr>
      </p:pic>
      <p:sp>
        <p:nvSpPr>
          <p:cNvPr id="20" name="Shape 14"/>
          <p:cNvSpPr/>
          <p:nvPr/>
        </p:nvSpPr>
        <p:spPr>
          <a:xfrm>
            <a:off x="7179979" y="2099341"/>
            <a:ext cx="1701357" cy="1336327"/>
          </a:xfrm>
          <a:prstGeom prst="roundRect">
            <a:avLst>
              <a:gd name="adj" fmla="val 7126"/>
            </a:avLst>
          </a:prstGeom>
          <a:solidFill>
            <a:srgbClr val="12386A"/>
          </a:solidFill>
          <a:ln w="12700">
            <a:solidFill>
              <a:srgbClr val="2C5C93"/>
            </a:solidFill>
            <a:prstDash val="solid"/>
          </a:ln>
        </p:spPr>
        <p:txBody>
          <a:bodyPr/>
          <a:lstStyle/>
          <a:p>
            <a:endParaRPr lang="en-SG"/>
          </a:p>
        </p:txBody>
      </p:sp>
      <p:sp>
        <p:nvSpPr>
          <p:cNvPr id="21" name="Text 15"/>
          <p:cNvSpPr/>
          <p:nvPr/>
        </p:nvSpPr>
        <p:spPr>
          <a:xfrm>
            <a:off x="7336149" y="2255508"/>
            <a:ext cx="279327" cy="279327"/>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F08C00"/>
          </a:solidFill>
          <a:ln/>
        </p:spPr>
        <p:txBody>
          <a:bodyPr wrap="square" lIns="0" tIns="0" rIns="0" bIns="0" rtlCol="0" anchor="t">
            <a:normAutofit/>
          </a:bodyPr>
          <a:lstStyle/>
          <a:p>
            <a:pPr algn="ctr">
              <a:lnSpc>
                <a:spcPts val="2195"/>
              </a:lnSpc>
            </a:pPr>
            <a:r>
              <a:rPr lang="en-US" sz="1200" b="1" dirty="0">
                <a:solidFill>
                  <a:srgbClr val="0A2A55"/>
                </a:solidFill>
                <a:latin typeface="Carlito" pitchFamily="34" charset="0"/>
                <a:ea typeface="Carlito" pitchFamily="34" charset="-122"/>
                <a:cs typeface="Carlito" pitchFamily="34" charset="-120"/>
              </a:rPr>
              <a:t>4</a:t>
            </a:r>
            <a:endParaRPr lang="en-US" sz="1200" dirty="0"/>
          </a:p>
        </p:txBody>
      </p:sp>
      <p:sp>
        <p:nvSpPr>
          <p:cNvPr id="22" name="Text 16"/>
          <p:cNvSpPr/>
          <p:nvPr/>
        </p:nvSpPr>
        <p:spPr>
          <a:xfrm>
            <a:off x="7704352" y="2273285"/>
            <a:ext cx="535071"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Store</a:t>
            </a:r>
            <a:endParaRPr lang="en-US" sz="1600" dirty="0"/>
          </a:p>
        </p:txBody>
      </p:sp>
      <p:sp>
        <p:nvSpPr>
          <p:cNvPr id="23" name="Text 17"/>
          <p:cNvSpPr/>
          <p:nvPr/>
        </p:nvSpPr>
        <p:spPr>
          <a:xfrm>
            <a:off x="7336149" y="2611016"/>
            <a:ext cx="1439805" cy="693874"/>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Pushed to ECR, tagged with the commit and latest</a:t>
            </a:r>
            <a:endParaRPr lang="en-US" sz="1300" dirty="0"/>
          </a:p>
        </p:txBody>
      </p:sp>
      <p:pic>
        <p:nvPicPr>
          <p:cNvPr id="24" name="Image 4" descr="arrow-right"/>
          <p:cNvPicPr>
            <a:picLocks noChangeAspect="1"/>
          </p:cNvPicPr>
          <p:nvPr/>
        </p:nvPicPr>
        <p:blipFill>
          <a:blip r:embed="rId4"/>
          <a:srcRect/>
          <a:stretch/>
        </p:blipFill>
        <p:spPr>
          <a:xfrm>
            <a:off x="8963864" y="2684976"/>
            <a:ext cx="253934" cy="165057"/>
          </a:xfrm>
          <a:prstGeom prst="rect">
            <a:avLst/>
          </a:prstGeom>
        </p:spPr>
      </p:pic>
      <p:sp>
        <p:nvSpPr>
          <p:cNvPr id="25" name="Shape 18"/>
          <p:cNvSpPr/>
          <p:nvPr/>
        </p:nvSpPr>
        <p:spPr>
          <a:xfrm>
            <a:off x="9300327" y="2099341"/>
            <a:ext cx="1701357" cy="1336327"/>
          </a:xfrm>
          <a:prstGeom prst="roundRect">
            <a:avLst>
              <a:gd name="adj" fmla="val 7126"/>
            </a:avLst>
          </a:prstGeom>
          <a:solidFill>
            <a:srgbClr val="12386A"/>
          </a:solidFill>
          <a:ln w="12700">
            <a:solidFill>
              <a:srgbClr val="22C55E"/>
            </a:solidFill>
            <a:prstDash val="solid"/>
          </a:ln>
        </p:spPr>
        <p:txBody>
          <a:bodyPr/>
          <a:lstStyle/>
          <a:p>
            <a:endParaRPr lang="en-SG"/>
          </a:p>
        </p:txBody>
      </p:sp>
      <p:sp>
        <p:nvSpPr>
          <p:cNvPr id="26" name="Text 19"/>
          <p:cNvSpPr/>
          <p:nvPr/>
        </p:nvSpPr>
        <p:spPr>
          <a:xfrm>
            <a:off x="9456496" y="2255508"/>
            <a:ext cx="279327" cy="279327"/>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22C55E"/>
          </a:solidFill>
          <a:ln/>
        </p:spPr>
        <p:txBody>
          <a:bodyPr wrap="square" lIns="0" tIns="0" rIns="0" bIns="0" rtlCol="0" anchor="t">
            <a:normAutofit/>
          </a:bodyPr>
          <a:lstStyle/>
          <a:p>
            <a:pPr algn="ctr">
              <a:lnSpc>
                <a:spcPts val="2195"/>
              </a:lnSpc>
            </a:pPr>
            <a:r>
              <a:rPr lang="en-US" sz="1200" b="1" dirty="0">
                <a:solidFill>
                  <a:srgbClr val="0A2A55"/>
                </a:solidFill>
                <a:latin typeface="Carlito" pitchFamily="34" charset="0"/>
                <a:ea typeface="Carlito" pitchFamily="34" charset="-122"/>
                <a:cs typeface="Carlito" pitchFamily="34" charset="-120"/>
              </a:rPr>
              <a:t>5</a:t>
            </a:r>
            <a:endParaRPr lang="en-US" sz="1200" dirty="0"/>
          </a:p>
        </p:txBody>
      </p:sp>
      <p:sp>
        <p:nvSpPr>
          <p:cNvPr id="27" name="Text 20"/>
          <p:cNvSpPr/>
          <p:nvPr/>
        </p:nvSpPr>
        <p:spPr>
          <a:xfrm>
            <a:off x="9824701" y="2273285"/>
            <a:ext cx="785322" cy="269170"/>
          </a:xfrm>
          <a:prstGeom prst="rect">
            <a:avLst/>
          </a:prstGeom>
          <a:noFill/>
          <a:ln/>
        </p:spPr>
        <p:txBody>
          <a:bodyPr wrap="square" lIns="0" tIns="0" rIns="0" bIns="0" rtlCol="0" anchor="t">
            <a:normAutofit/>
          </a:bodyPr>
          <a:lstStyle/>
          <a:p>
            <a:pPr>
              <a:lnSpc>
                <a:spcPts val="1919"/>
              </a:lnSpc>
            </a:pPr>
            <a:r>
              <a:rPr lang="en-US" sz="1600" b="1" dirty="0">
                <a:solidFill>
                  <a:srgbClr val="F4F8FC"/>
                </a:solidFill>
                <a:latin typeface="Carlito" pitchFamily="34" charset="0"/>
                <a:ea typeface="Carlito" pitchFamily="34" charset="-122"/>
                <a:cs typeface="Carlito" pitchFamily="34" charset="-120"/>
              </a:rPr>
              <a:t>Roll out</a:t>
            </a:r>
            <a:endParaRPr lang="en-US" sz="1600" dirty="0"/>
          </a:p>
        </p:txBody>
      </p:sp>
      <p:sp>
        <p:nvSpPr>
          <p:cNvPr id="28" name="Text 21"/>
          <p:cNvSpPr/>
          <p:nvPr/>
        </p:nvSpPr>
        <p:spPr>
          <a:xfrm>
            <a:off x="9456496" y="2611016"/>
            <a:ext cx="1439805" cy="693874"/>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ECS starts the new task and drains the old one</a:t>
            </a:r>
            <a:endParaRPr lang="en-US" sz="1300" dirty="0"/>
          </a:p>
        </p:txBody>
      </p:sp>
      <p:sp>
        <p:nvSpPr>
          <p:cNvPr id="29" name="Text 22"/>
          <p:cNvSpPr/>
          <p:nvPr/>
        </p:nvSpPr>
        <p:spPr>
          <a:xfrm>
            <a:off x="812588" y="3807363"/>
            <a:ext cx="10880558" cy="256473"/>
          </a:xfrm>
          <a:prstGeom prst="rect">
            <a:avLst/>
          </a:prstGeom>
          <a:noFill/>
          <a:ln/>
        </p:spPr>
        <p:txBody>
          <a:bodyPr wrap="square" lIns="0" tIns="0" rIns="0" bIns="0" rtlCol="0" anchor="t">
            <a:normAutofit/>
          </a:bodyPr>
          <a:lstStyle/>
          <a:p>
            <a:pPr>
              <a:lnSpc>
                <a:spcPts val="1819"/>
              </a:lnSpc>
            </a:pPr>
            <a:r>
              <a:rPr lang="en-US" sz="1300" b="1" dirty="0">
                <a:solidFill>
                  <a:srgbClr val="F5B400"/>
                </a:solidFill>
                <a:latin typeface="Carlito" pitchFamily="34" charset="0"/>
                <a:ea typeface="Carlito" pitchFamily="34" charset="-122"/>
                <a:cs typeface="Carlito" pitchFamily="34" charset="-120"/>
              </a:rPr>
              <a:t>Alongside the pipeline</a:t>
            </a:r>
            <a:endParaRPr lang="en-US" sz="1300" dirty="0"/>
          </a:p>
        </p:txBody>
      </p:sp>
      <p:sp>
        <p:nvSpPr>
          <p:cNvPr id="30" name="Shape 23"/>
          <p:cNvSpPr/>
          <p:nvPr/>
        </p:nvSpPr>
        <p:spPr>
          <a:xfrm>
            <a:off x="818936" y="4146363"/>
            <a:ext cx="3440804" cy="1037320"/>
          </a:xfrm>
          <a:prstGeom prst="roundRect">
            <a:avLst>
              <a:gd name="adj" fmla="val 9180"/>
            </a:avLst>
          </a:prstGeom>
          <a:solidFill>
            <a:srgbClr val="0F3261"/>
          </a:solidFill>
          <a:ln w="12700">
            <a:solidFill>
              <a:srgbClr val="2C5C93"/>
            </a:solidFill>
            <a:prstDash val="solid"/>
          </a:ln>
        </p:spPr>
        <p:txBody>
          <a:bodyPr/>
          <a:lstStyle/>
          <a:p>
            <a:endParaRPr lang="en-SG"/>
          </a:p>
        </p:txBody>
      </p:sp>
      <p:sp>
        <p:nvSpPr>
          <p:cNvPr id="31" name="Text 24"/>
          <p:cNvSpPr/>
          <p:nvPr/>
        </p:nvSpPr>
        <p:spPr>
          <a:xfrm>
            <a:off x="975106" y="4302533"/>
            <a:ext cx="3222320" cy="253934"/>
          </a:xfrm>
          <a:prstGeom prst="rect">
            <a:avLst/>
          </a:prstGeom>
          <a:noFill/>
          <a:ln/>
        </p:spPr>
        <p:txBody>
          <a:bodyPr wrap="square" lIns="0" tIns="0" rIns="0" bIns="0" rtlCol="0" anchor="t">
            <a:normAutofit/>
          </a:bodyPr>
          <a:lstStyle/>
          <a:p>
            <a:pPr>
              <a:lnSpc>
                <a:spcPts val="1799"/>
              </a:lnSpc>
            </a:pPr>
            <a:r>
              <a:rPr lang="en-US" sz="1500" b="1" dirty="0">
                <a:solidFill>
                  <a:srgbClr val="F4F8FC"/>
                </a:solidFill>
                <a:latin typeface="Carlito" pitchFamily="34" charset="0"/>
                <a:ea typeface="Carlito" pitchFamily="34" charset="-122"/>
                <a:cs typeface="Carlito" pitchFamily="34" charset="-120"/>
              </a:rPr>
              <a:t>Frontend</a:t>
            </a:r>
            <a:endParaRPr lang="en-US" sz="1500" dirty="0"/>
          </a:p>
        </p:txBody>
      </p:sp>
      <p:sp>
        <p:nvSpPr>
          <p:cNvPr id="32" name="Text 25"/>
          <p:cNvSpPr/>
          <p:nvPr/>
        </p:nvSpPr>
        <p:spPr>
          <a:xfrm>
            <a:off x="975106" y="4581861"/>
            <a:ext cx="3278286" cy="248220"/>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Amplify builds the React app from amplify.yml</a:t>
            </a:r>
            <a:endParaRPr lang="en-US" sz="1300" dirty="0"/>
          </a:p>
        </p:txBody>
      </p:sp>
      <p:sp>
        <p:nvSpPr>
          <p:cNvPr id="33" name="Shape 26"/>
          <p:cNvSpPr/>
          <p:nvPr/>
        </p:nvSpPr>
        <p:spPr>
          <a:xfrm>
            <a:off x="4374010" y="4146363"/>
            <a:ext cx="3440804" cy="1037320"/>
          </a:xfrm>
          <a:prstGeom prst="roundRect">
            <a:avLst>
              <a:gd name="adj" fmla="val 9180"/>
            </a:avLst>
          </a:prstGeom>
          <a:solidFill>
            <a:srgbClr val="0F3261"/>
          </a:solidFill>
          <a:ln w="12700">
            <a:solidFill>
              <a:srgbClr val="2C5C93"/>
            </a:solidFill>
            <a:prstDash val="solid"/>
          </a:ln>
        </p:spPr>
        <p:txBody>
          <a:bodyPr/>
          <a:lstStyle/>
          <a:p>
            <a:endParaRPr lang="en-SG"/>
          </a:p>
        </p:txBody>
      </p:sp>
      <p:sp>
        <p:nvSpPr>
          <p:cNvPr id="34" name="Text 27"/>
          <p:cNvSpPr/>
          <p:nvPr/>
        </p:nvSpPr>
        <p:spPr>
          <a:xfrm>
            <a:off x="4530180" y="4302533"/>
            <a:ext cx="3222320" cy="253934"/>
          </a:xfrm>
          <a:prstGeom prst="rect">
            <a:avLst/>
          </a:prstGeom>
          <a:noFill/>
          <a:ln/>
        </p:spPr>
        <p:txBody>
          <a:bodyPr wrap="square" lIns="0" tIns="0" rIns="0" bIns="0" rtlCol="0" anchor="t">
            <a:normAutofit/>
          </a:bodyPr>
          <a:lstStyle/>
          <a:p>
            <a:pPr>
              <a:lnSpc>
                <a:spcPts val="1799"/>
              </a:lnSpc>
            </a:pPr>
            <a:r>
              <a:rPr lang="en-US" sz="1500" b="1" dirty="0">
                <a:solidFill>
                  <a:srgbClr val="F4F8FC"/>
                </a:solidFill>
                <a:latin typeface="Carlito" pitchFamily="34" charset="0"/>
                <a:ea typeface="Carlito" pitchFamily="34" charset="-122"/>
                <a:cs typeface="Carlito" pitchFamily="34" charset="-120"/>
              </a:rPr>
              <a:t>Infrastructure</a:t>
            </a:r>
            <a:endParaRPr lang="en-US" sz="1500" dirty="0"/>
          </a:p>
        </p:txBody>
      </p:sp>
      <p:sp>
        <p:nvSpPr>
          <p:cNvPr id="35" name="Text 28"/>
          <p:cNvSpPr/>
          <p:nvPr/>
        </p:nvSpPr>
        <p:spPr>
          <a:xfrm>
            <a:off x="4530180" y="4581861"/>
            <a:ext cx="3222320" cy="471047"/>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Terraform defines ECS, the load balancer, CloudFront and S3</a:t>
            </a:r>
            <a:endParaRPr lang="en-US" sz="1300" dirty="0"/>
          </a:p>
        </p:txBody>
      </p:sp>
      <p:sp>
        <p:nvSpPr>
          <p:cNvPr id="36" name="Shape 29"/>
          <p:cNvSpPr/>
          <p:nvPr/>
        </p:nvSpPr>
        <p:spPr>
          <a:xfrm>
            <a:off x="7929084" y="4146363"/>
            <a:ext cx="3440804" cy="1037320"/>
          </a:xfrm>
          <a:prstGeom prst="roundRect">
            <a:avLst>
              <a:gd name="adj" fmla="val 9180"/>
            </a:avLst>
          </a:prstGeom>
          <a:solidFill>
            <a:srgbClr val="0F3261"/>
          </a:solidFill>
          <a:ln w="12700">
            <a:solidFill>
              <a:srgbClr val="2C5C93"/>
            </a:solidFill>
            <a:prstDash val="solid"/>
          </a:ln>
        </p:spPr>
        <p:txBody>
          <a:bodyPr/>
          <a:lstStyle/>
          <a:p>
            <a:endParaRPr lang="en-SG"/>
          </a:p>
        </p:txBody>
      </p:sp>
      <p:sp>
        <p:nvSpPr>
          <p:cNvPr id="37" name="Text 30"/>
          <p:cNvSpPr/>
          <p:nvPr/>
        </p:nvSpPr>
        <p:spPr>
          <a:xfrm>
            <a:off x="8085254" y="4302533"/>
            <a:ext cx="3222320" cy="253934"/>
          </a:xfrm>
          <a:prstGeom prst="rect">
            <a:avLst/>
          </a:prstGeom>
          <a:noFill/>
          <a:ln/>
        </p:spPr>
        <p:txBody>
          <a:bodyPr wrap="square" lIns="0" tIns="0" rIns="0" bIns="0" rtlCol="0" anchor="t">
            <a:normAutofit/>
          </a:bodyPr>
          <a:lstStyle/>
          <a:p>
            <a:pPr>
              <a:lnSpc>
                <a:spcPts val="1799"/>
              </a:lnSpc>
            </a:pPr>
            <a:r>
              <a:rPr lang="en-US" sz="1500" b="1" dirty="0">
                <a:solidFill>
                  <a:srgbClr val="F4F8FC"/>
                </a:solidFill>
                <a:latin typeface="Carlito" pitchFamily="34" charset="0"/>
                <a:ea typeface="Carlito" pitchFamily="34" charset="-122"/>
                <a:cs typeface="Carlito" pitchFamily="34" charset="-120"/>
              </a:rPr>
              <a:t>Speed</a:t>
            </a:r>
            <a:endParaRPr lang="en-US" sz="1500" dirty="0"/>
          </a:p>
        </p:txBody>
      </p:sp>
      <p:sp>
        <p:nvSpPr>
          <p:cNvPr id="38" name="Text 31"/>
          <p:cNvSpPr/>
          <p:nvPr/>
        </p:nvSpPr>
        <p:spPr>
          <a:xfrm>
            <a:off x="8085254" y="4581861"/>
            <a:ext cx="3222320" cy="248220"/>
          </a:xfrm>
          <a:prstGeom prst="rect">
            <a:avLst/>
          </a:prstGeom>
          <a:noFill/>
          <a:ln/>
        </p:spPr>
        <p:txBody>
          <a:bodyPr wrap="square" lIns="0" tIns="0" rIns="0" bIns="0" rtlCol="0" anchor="t">
            <a:normAutofit/>
          </a:bodyPr>
          <a:lstStyle/>
          <a:p>
            <a:pPr>
              <a:lnSpc>
                <a:spcPts val="1754"/>
              </a:lnSpc>
            </a:pPr>
            <a:r>
              <a:rPr lang="en-US" sz="1300" dirty="0">
                <a:solidFill>
                  <a:srgbClr val="A9C1DD"/>
                </a:solidFill>
                <a:latin typeface="Carlito" pitchFamily="34" charset="0"/>
                <a:ea typeface="Carlito" pitchFamily="34" charset="-122"/>
                <a:cs typeface="Carlito" pitchFamily="34" charset="-120"/>
              </a:rPr>
              <a:t>About 12 minutes from push to live</a:t>
            </a:r>
            <a:endParaRPr lang="en-US" sz="1300" dirty="0"/>
          </a:p>
        </p:txBody>
      </p:sp>
      <p:pic>
        <p:nvPicPr>
          <p:cNvPr id="40" name="Picture 39" descr="nus_iss_logo_transparent.png">
            <a:extLst>
              <a:ext uri="{FF2B5EF4-FFF2-40B4-BE49-F238E27FC236}">
                <a16:creationId xmlns:a16="http://schemas.microsoft.com/office/drawing/2014/main" id="{950558DC-0DB3-CB27-585D-0197569D459C}"/>
              </a:ext>
            </a:extLst>
          </p:cNvPr>
          <p:cNvPicPr>
            <a:picLocks noChangeAspect="1"/>
          </p:cNvPicPr>
          <p:nvPr/>
        </p:nvPicPr>
        <p:blipFill>
          <a:blip r:embed="rId5"/>
          <a:stretch>
            <a:fillRect/>
          </a:stretch>
        </p:blipFill>
        <p:spPr>
          <a:xfrm>
            <a:off x="9300327" y="185783"/>
            <a:ext cx="2514600" cy="585216"/>
          </a:xfrm>
          <a:prstGeom prst="rect">
            <a:avLst/>
          </a:prstGeom>
          <a:solidFill>
            <a:schemeClr val="bg2"/>
          </a:solid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588" y="813481"/>
            <a:ext cx="10880558" cy="256473"/>
          </a:xfrm>
          <a:prstGeom prst="rect">
            <a:avLst/>
          </a:prstGeom>
          <a:noFill/>
          <a:ln/>
        </p:spPr>
        <p:txBody>
          <a:bodyPr wrap="square" lIns="0" tIns="0" rIns="0" bIns="0" rtlCol="0" anchor="t">
            <a:normAutofit/>
          </a:bodyPr>
          <a:lstStyle/>
          <a:p>
            <a:pPr>
              <a:lnSpc>
                <a:spcPts val="1819"/>
              </a:lnSpc>
            </a:pPr>
            <a:r>
              <a:rPr lang="en-US" sz="1300" b="1" kern="0" spc="150" dirty="0">
                <a:solidFill>
                  <a:srgbClr val="F5B400"/>
                </a:solidFill>
                <a:latin typeface="Carlito" pitchFamily="34" charset="0"/>
                <a:ea typeface="Carlito" pitchFamily="34" charset="-122"/>
                <a:cs typeface="Carlito" pitchFamily="34" charset="-120"/>
              </a:rPr>
              <a:t>CHALLENGES &amp; SOLUTIONS · 1 OF 2 · DATA AND LABELS</a:t>
            </a:r>
            <a:endParaRPr lang="en-US" sz="1300" dirty="0"/>
          </a:p>
        </p:txBody>
      </p:sp>
      <p:sp>
        <p:nvSpPr>
          <p:cNvPr id="3" name="Text 1"/>
          <p:cNvSpPr>
            <a:spLocks noGrp="1"/>
          </p:cNvSpPr>
          <p:nvPr>
            <p:ph type="title"/>
          </p:nvPr>
        </p:nvSpPr>
        <p:spPr>
          <a:xfrm>
            <a:off x="812588" y="1133437"/>
            <a:ext cx="10880558" cy="492632"/>
          </a:xfrm>
          <a:prstGeom prst="rect">
            <a:avLst/>
          </a:prstGeom>
          <a:noFill/>
          <a:ln/>
        </p:spPr>
        <p:txBody>
          <a:bodyPr vert="horz" wrap="square" lIns="0" tIns="0" rIns="0" bIns="0" rtlCol="0" anchor="t">
            <a:normAutofit/>
          </a:bodyPr>
          <a:lstStyle/>
          <a:p>
            <a:pPr>
              <a:lnSpc>
                <a:spcPts val="3679"/>
              </a:lnSpc>
            </a:pPr>
            <a:r>
              <a:rPr lang="en-US" b="1" dirty="0"/>
              <a:t>Challenges &amp; solutions</a:t>
            </a:r>
            <a:endParaRPr lang="en-US" dirty="0"/>
          </a:p>
        </p:txBody>
      </p:sp>
      <p:pic>
        <p:nvPicPr>
          <p:cNvPr id="4" name="Image 0" descr="line"/>
          <p:cNvPicPr>
            <a:picLocks noChangeAspect="1"/>
          </p:cNvPicPr>
          <p:nvPr/>
        </p:nvPicPr>
        <p:blipFill>
          <a:blip r:embed="rId3"/>
          <a:srcRect/>
          <a:stretch/>
        </p:blipFill>
        <p:spPr>
          <a:xfrm>
            <a:off x="812588" y="1689553"/>
            <a:ext cx="1269669" cy="38090"/>
          </a:xfrm>
          <a:prstGeom prst="rect">
            <a:avLst/>
          </a:prstGeom>
        </p:spPr>
      </p:pic>
      <p:sp>
        <p:nvSpPr>
          <p:cNvPr id="5" name="Shape 2"/>
          <p:cNvSpPr/>
          <p:nvPr/>
        </p:nvSpPr>
        <p:spPr>
          <a:xfrm>
            <a:off x="11373062" y="1930790"/>
            <a:ext cx="0" cy="2723441"/>
          </a:xfrm>
          <a:prstGeom prst="line">
            <a:avLst/>
          </a:prstGeom>
          <a:noFill/>
          <a:ln w="6350">
            <a:solidFill>
              <a:srgbClr val="2C5C93"/>
            </a:solidFill>
            <a:prstDash val="solid"/>
          </a:ln>
        </p:spPr>
        <p:txBody>
          <a:bodyPr/>
          <a:lstStyle/>
          <a:p>
            <a:endParaRPr lang="en-SG"/>
          </a:p>
        </p:txBody>
      </p:sp>
      <p:sp>
        <p:nvSpPr>
          <p:cNvPr id="6" name="Shape 3"/>
          <p:cNvSpPr/>
          <p:nvPr/>
        </p:nvSpPr>
        <p:spPr>
          <a:xfrm>
            <a:off x="812588" y="4651057"/>
            <a:ext cx="10563648" cy="0"/>
          </a:xfrm>
          <a:prstGeom prst="line">
            <a:avLst/>
          </a:prstGeom>
          <a:noFill/>
          <a:ln w="6350">
            <a:solidFill>
              <a:srgbClr val="2C5C93"/>
            </a:solidFill>
            <a:prstDash val="solid"/>
          </a:ln>
        </p:spPr>
        <p:txBody>
          <a:bodyPr/>
          <a:lstStyle/>
          <a:p>
            <a:endParaRPr lang="en-SG"/>
          </a:p>
        </p:txBody>
      </p:sp>
      <p:graphicFrame>
        <p:nvGraphicFramePr>
          <p:cNvPr id="7" name="Table 0"/>
          <p:cNvGraphicFramePr>
            <a:graphicFrameLocks noGrp="1"/>
          </p:cNvGraphicFramePr>
          <p:nvPr/>
        </p:nvGraphicFramePr>
        <p:xfrm>
          <a:off x="822745" y="1940948"/>
          <a:ext cx="10548413" cy="2906893"/>
        </p:xfrm>
        <a:graphic>
          <a:graphicData uri="http://schemas.openxmlformats.org/drawingml/2006/table">
            <a:tbl>
              <a:tblPr/>
              <a:tblGrid>
                <a:gridCol w="2320651">
                  <a:extLst>
                    <a:ext uri="{9D8B030D-6E8A-4147-A177-3AD203B41FA5}">
                      <a16:colId xmlns:a16="http://schemas.microsoft.com/office/drawing/2014/main" val="20000"/>
                    </a:ext>
                  </a:extLst>
                </a:gridCol>
                <a:gridCol w="3797429">
                  <a:extLst>
                    <a:ext uri="{9D8B030D-6E8A-4147-A177-3AD203B41FA5}">
                      <a16:colId xmlns:a16="http://schemas.microsoft.com/office/drawing/2014/main" val="20001"/>
                    </a:ext>
                  </a:extLst>
                </a:gridCol>
                <a:gridCol w="4430333">
                  <a:extLst>
                    <a:ext uri="{9D8B030D-6E8A-4147-A177-3AD203B41FA5}">
                      <a16:colId xmlns:a16="http://schemas.microsoft.com/office/drawing/2014/main" val="20002"/>
                    </a:ext>
                  </a:extLst>
                </a:gridCol>
              </a:tblGrid>
              <a:tr h="356777">
                <a:tc>
                  <a:txBody>
                    <a:bodyPr/>
                    <a:lstStyle/>
                    <a:p>
                      <a:pPr marL="0" indent="0">
                        <a:lnSpc>
                          <a:spcPts val="1820"/>
                        </a:lnSpc>
                        <a:buNone/>
                      </a:pPr>
                      <a:r>
                        <a:rPr lang="en-US" sz="1300" b="1" dirty="0">
                          <a:solidFill>
                            <a:srgbClr val="F5B400"/>
                          </a:solidFill>
                          <a:latin typeface="Carlito" pitchFamily="34" charset="0"/>
                          <a:ea typeface="Carlito" pitchFamily="34" charset="-122"/>
                          <a:cs typeface="Carlito" pitchFamily="34" charset="-120"/>
                        </a:rPr>
                        <a:t>Challenge</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456289"/>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456289"/>
                      </a:solidFill>
                      <a:prstDash val="solid"/>
                      <a:round/>
                      <a:headEnd type="none" w="med" len="med"/>
                      <a:tailEnd type="none" w="med" len="med"/>
                    </a:lnB>
                    <a:solidFill>
                      <a:srgbClr val="12386A"/>
                    </a:solidFill>
                  </a:tcPr>
                </a:tc>
                <a:tc>
                  <a:txBody>
                    <a:bodyPr/>
                    <a:lstStyle/>
                    <a:p>
                      <a:pPr marL="0" indent="0">
                        <a:lnSpc>
                          <a:spcPts val="1820"/>
                        </a:lnSpc>
                        <a:buNone/>
                      </a:pPr>
                      <a:r>
                        <a:rPr lang="en-US" sz="1300" b="1" dirty="0">
                          <a:solidFill>
                            <a:srgbClr val="F5B400"/>
                          </a:solidFill>
                          <a:latin typeface="Carlito" pitchFamily="34" charset="0"/>
                          <a:ea typeface="Carlito" pitchFamily="34" charset="-122"/>
                          <a:cs typeface="Carlito" pitchFamily="34" charset="-120"/>
                        </a:rPr>
                        <a:t>What went wrong</a:t>
                      </a:r>
                      <a:endParaRPr lang="en-US" sz="1300" dirty="0">
                        <a:latin typeface="Carlito" charset="0"/>
                        <a:ea typeface="Carlito" charset="0"/>
                        <a:cs typeface="Carlito" charset="0"/>
                      </a:endParaRPr>
                    </a:p>
                  </a:txBody>
                  <a:tcPr marL="57770" marR="57770" marT="57770" marB="57770">
                    <a:lnL w="12700" cap="flat" cmpd="sng" algn="ctr">
                      <a:solidFill>
                        <a:srgbClr val="456289"/>
                      </a:solidFill>
                      <a:prstDash val="solid"/>
                      <a:round/>
                      <a:headEnd type="none" w="med" len="med"/>
                      <a:tailEnd type="none" w="med" len="med"/>
                    </a:lnL>
                    <a:lnR w="12700" cap="flat" cmpd="sng" algn="ctr">
                      <a:solidFill>
                        <a:srgbClr val="456289"/>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456289"/>
                      </a:solidFill>
                      <a:prstDash val="solid"/>
                      <a:round/>
                      <a:headEnd type="none" w="med" len="med"/>
                      <a:tailEnd type="none" w="med" len="med"/>
                    </a:lnB>
                    <a:solidFill>
                      <a:srgbClr val="12386A"/>
                    </a:solidFill>
                  </a:tcPr>
                </a:tc>
                <a:tc>
                  <a:txBody>
                    <a:bodyPr/>
                    <a:lstStyle/>
                    <a:p>
                      <a:pPr marL="0" indent="0">
                        <a:lnSpc>
                          <a:spcPts val="1820"/>
                        </a:lnSpc>
                        <a:buNone/>
                      </a:pPr>
                      <a:r>
                        <a:rPr lang="en-US" sz="1300" b="1" dirty="0">
                          <a:solidFill>
                            <a:srgbClr val="F5B400"/>
                          </a:solidFill>
                          <a:latin typeface="Carlito" pitchFamily="34" charset="0"/>
                          <a:ea typeface="Carlito" pitchFamily="34" charset="-122"/>
                          <a:cs typeface="Carlito" pitchFamily="34" charset="-120"/>
                        </a:rPr>
                        <a:t>How we solved it</a:t>
                      </a:r>
                      <a:endParaRPr lang="en-US" sz="1300" dirty="0">
                        <a:latin typeface="Carlito" charset="0"/>
                        <a:ea typeface="Carlito" charset="0"/>
                        <a:cs typeface="Carlito" charset="0"/>
                      </a:endParaRPr>
                    </a:p>
                  </a:txBody>
                  <a:tcPr marL="57770" marR="57770" marT="57770" marB="57770">
                    <a:lnL w="12700" cap="flat" cmpd="sng" algn="ctr">
                      <a:solidFill>
                        <a:srgbClr val="456289"/>
                      </a:solidFill>
                      <a:prstDash val="solid"/>
                      <a:round/>
                      <a:headEnd type="none" w="med" len="med"/>
                      <a:tailEnd type="none" w="med" len="med"/>
                    </a:lnL>
                    <a:lnR w="12700" cap="flat" cmpd="sng" algn="ctr">
                      <a:solidFill>
                        <a:srgbClr val="456289"/>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456289"/>
                      </a:solidFill>
                      <a:prstDash val="solid"/>
                      <a:round/>
                      <a:headEnd type="none" w="med" len="med"/>
                      <a:tailEnd type="none" w="med" len="med"/>
                    </a:lnB>
                    <a:solidFill>
                      <a:srgbClr val="12386A"/>
                    </a:solidFill>
                  </a:tcPr>
                </a:tc>
                <a:extLst>
                  <a:ext uri="{0D108BD9-81ED-4DB2-BD59-A6C34878D82A}">
                    <a16:rowId xmlns:a16="http://schemas.microsoft.com/office/drawing/2014/main" val="10000"/>
                  </a:ext>
                </a:extLst>
              </a:tr>
              <a:tr h="786370">
                <a:tc>
                  <a:txBody>
                    <a:bodyPr/>
                    <a:lstStyle/>
                    <a:p>
                      <a:pPr marL="0" indent="0">
                        <a:lnSpc>
                          <a:spcPts val="1820"/>
                        </a:lnSpc>
                        <a:buNone/>
                      </a:pPr>
                      <a:r>
                        <a:rPr lang="en-US" sz="1300" dirty="0">
                          <a:solidFill>
                            <a:srgbClr val="F5B400"/>
                          </a:solidFill>
                          <a:latin typeface="Carlito" pitchFamily="34" charset="0"/>
                          <a:ea typeface="Carlito" pitchFamily="34" charset="-122"/>
                          <a:cs typeface="Carlito" pitchFamily="34" charset="-120"/>
                        </a:rPr>
                        <a:t>Large dataset (48 GB)</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456289"/>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Too big to fit in memory or to train on a laptop</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456289"/>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8EE5B0"/>
                          </a:solidFill>
                          <a:latin typeface="Carlito" pitchFamily="34" charset="0"/>
                          <a:ea typeface="Carlito" pitchFamily="34" charset="-122"/>
                          <a:cs typeface="Carlito" pitchFamily="34" charset="-120"/>
                        </a:rPr>
                        <a:t>Streaming dataset loader; training on AWS EC2, with Google Colab as a free option. A run still takes 12–15 hours.</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456289"/>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extLst>
                  <a:ext uri="{0D108BD9-81ED-4DB2-BD59-A6C34878D82A}">
                    <a16:rowId xmlns:a16="http://schemas.microsoft.com/office/drawing/2014/main" val="10001"/>
                  </a:ext>
                </a:extLst>
              </a:tr>
              <a:tr h="587857">
                <a:tc>
                  <a:txBody>
                    <a:bodyPr/>
                    <a:lstStyle/>
                    <a:p>
                      <a:pPr marL="0" indent="0">
                        <a:lnSpc>
                          <a:spcPts val="1820"/>
                        </a:lnSpc>
                        <a:buNone/>
                      </a:pPr>
                      <a:r>
                        <a:rPr lang="en-US" sz="1300" dirty="0">
                          <a:solidFill>
                            <a:srgbClr val="F5B400"/>
                          </a:solidFill>
                          <a:latin typeface="Carlito" pitchFamily="34" charset="0"/>
                          <a:ea typeface="Carlito" pitchFamily="34" charset="-122"/>
                          <a:cs typeface="Carlito" pitchFamily="34" charset="-120"/>
                        </a:rPr>
                        <a:t>No activity labels</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The activity field was empty in all 4,963 rows</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8EE5B0"/>
                          </a:solidFill>
                          <a:latin typeface="Carlito" pitchFamily="34" charset="0"/>
                          <a:ea typeface="Carlito" pitchFamily="34" charset="-122"/>
                          <a:cs typeface="Carlito" pitchFamily="34" charset="-120"/>
                        </a:rPr>
                        <a:t>Our own app-to-activity mapping. “Other” fell from 72% to about 15%, then under 1% in v3.</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extLst>
                  <a:ext uri="{0D108BD9-81ED-4DB2-BD59-A6C34878D82A}">
                    <a16:rowId xmlns:a16="http://schemas.microsoft.com/office/drawing/2014/main" val="10002"/>
                  </a:ext>
                </a:extLst>
              </a:tr>
              <a:tr h="587857">
                <a:tc>
                  <a:txBody>
                    <a:bodyPr/>
                    <a:lstStyle/>
                    <a:p>
                      <a:pPr marL="0" indent="0">
                        <a:lnSpc>
                          <a:spcPts val="1820"/>
                        </a:lnSpc>
                        <a:buNone/>
                      </a:pPr>
                      <a:r>
                        <a:rPr lang="en-US" sz="1300" dirty="0">
                          <a:solidFill>
                            <a:srgbClr val="F5B400"/>
                          </a:solidFill>
                          <a:latin typeface="Carlito" pitchFamily="34" charset="0"/>
                          <a:ea typeface="Carlito" pitchFamily="34" charset="-122"/>
                          <a:cs typeface="Carlito" pitchFamily="34" charset="-120"/>
                        </a:rPr>
                        <a:t>Class imbalance</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VSCode and OpenShot made up about 65% of the local tasks</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8EE5B0"/>
                          </a:solidFill>
                          <a:latin typeface="Carlito" pitchFamily="34" charset="0"/>
                          <a:ea typeface="Carlito" pitchFamily="34" charset="-122"/>
                          <a:cs typeface="Carlito" pitchFamily="34" charset="-120"/>
                        </a:rPr>
                        <a:t>Stratified splits, 5× augmentation for classes under 100 samples, macro-F1 as the main metric</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extLst>
                  <a:ext uri="{0D108BD9-81ED-4DB2-BD59-A6C34878D82A}">
                    <a16:rowId xmlns:a16="http://schemas.microsoft.com/office/drawing/2014/main" val="10003"/>
                  </a:ext>
                </a:extLst>
              </a:tr>
              <a:tr h="587857">
                <a:tc>
                  <a:txBody>
                    <a:bodyPr/>
                    <a:lstStyle/>
                    <a:p>
                      <a:pPr marL="0" indent="0">
                        <a:lnSpc>
                          <a:spcPts val="1820"/>
                        </a:lnSpc>
                        <a:buNone/>
                      </a:pPr>
                      <a:r>
                        <a:rPr lang="en-US" sz="1300" dirty="0">
                          <a:solidFill>
                            <a:srgbClr val="F5B400"/>
                          </a:solidFill>
                          <a:latin typeface="Carlito" pitchFamily="34" charset="0"/>
                          <a:ea typeface="Carlito" pitchFamily="34" charset="-122"/>
                          <a:cs typeface="Carlito" pitchFamily="34" charset="-120"/>
                        </a:rPr>
                        <a:t>Noisy OCR</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OCR engines are built for scanned documents, not busy screens</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8EE5B0"/>
                          </a:solidFill>
                          <a:latin typeface="Carlito" pitchFamily="34" charset="0"/>
                          <a:ea typeface="Carlito" pitchFamily="34" charset="-122"/>
                          <a:cs typeface="Carlito" pitchFamily="34" charset="-120"/>
                        </a:rPr>
                        <a:t>The models lean on CNN image features and UI elements more than on OCR text</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9" name="Picture 8" descr="nus_iss_logo_transparent.png">
            <a:extLst>
              <a:ext uri="{FF2B5EF4-FFF2-40B4-BE49-F238E27FC236}">
                <a16:creationId xmlns:a16="http://schemas.microsoft.com/office/drawing/2014/main" id="{4E74C6F5-975F-1990-43CB-0C37F64ED45E}"/>
              </a:ext>
            </a:extLst>
          </p:cNvPr>
          <p:cNvPicPr>
            <a:picLocks noChangeAspect="1"/>
          </p:cNvPicPr>
          <p:nvPr/>
        </p:nvPicPr>
        <p:blipFill>
          <a:blip r:embed="rId4"/>
          <a:stretch>
            <a:fillRect/>
          </a:stretch>
        </p:blipFill>
        <p:spPr>
          <a:xfrm>
            <a:off x="9300327" y="185783"/>
            <a:ext cx="2514600" cy="585216"/>
          </a:xfrm>
          <a:prstGeom prst="rect">
            <a:avLst/>
          </a:prstGeom>
          <a:solidFill>
            <a:schemeClr val="bg2"/>
          </a:solid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588" y="813481"/>
            <a:ext cx="10880558" cy="256473"/>
          </a:xfrm>
          <a:prstGeom prst="rect">
            <a:avLst/>
          </a:prstGeom>
          <a:noFill/>
          <a:ln/>
        </p:spPr>
        <p:txBody>
          <a:bodyPr wrap="square" lIns="0" tIns="0" rIns="0" bIns="0" rtlCol="0" anchor="t">
            <a:normAutofit/>
          </a:bodyPr>
          <a:lstStyle/>
          <a:p>
            <a:pPr>
              <a:lnSpc>
                <a:spcPts val="1819"/>
              </a:lnSpc>
            </a:pPr>
            <a:r>
              <a:rPr lang="en-US" sz="1300" b="1" kern="0" spc="150" dirty="0">
                <a:solidFill>
                  <a:srgbClr val="F5B400"/>
                </a:solidFill>
                <a:latin typeface="Carlito" pitchFamily="34" charset="0"/>
                <a:ea typeface="Carlito" pitchFamily="34" charset="-122"/>
                <a:cs typeface="Carlito" pitchFamily="34" charset="-120"/>
              </a:rPr>
              <a:t>CHALLENGES &amp; SOLUTIONS · 2 OF 2 · PIPELINE AND DEPLOYMENT</a:t>
            </a:r>
            <a:endParaRPr lang="en-US" sz="1300" dirty="0"/>
          </a:p>
        </p:txBody>
      </p:sp>
      <p:sp>
        <p:nvSpPr>
          <p:cNvPr id="3" name="Text 1"/>
          <p:cNvSpPr>
            <a:spLocks noGrp="1"/>
          </p:cNvSpPr>
          <p:nvPr>
            <p:ph type="title"/>
          </p:nvPr>
        </p:nvSpPr>
        <p:spPr>
          <a:xfrm>
            <a:off x="812588" y="1133437"/>
            <a:ext cx="10880558" cy="492632"/>
          </a:xfrm>
          <a:prstGeom prst="rect">
            <a:avLst/>
          </a:prstGeom>
          <a:noFill/>
          <a:ln/>
        </p:spPr>
        <p:txBody>
          <a:bodyPr vert="horz" wrap="square" lIns="0" tIns="0" rIns="0" bIns="0" rtlCol="0" anchor="t">
            <a:normAutofit/>
          </a:bodyPr>
          <a:lstStyle/>
          <a:p>
            <a:pPr>
              <a:lnSpc>
                <a:spcPts val="3679"/>
              </a:lnSpc>
            </a:pPr>
            <a:r>
              <a:rPr lang="en-US" b="1" dirty="0"/>
              <a:t>Challenges &amp; solutions</a:t>
            </a:r>
            <a:endParaRPr lang="en-US" dirty="0"/>
          </a:p>
        </p:txBody>
      </p:sp>
      <p:pic>
        <p:nvPicPr>
          <p:cNvPr id="4" name="Image 0" descr="line"/>
          <p:cNvPicPr>
            <a:picLocks noChangeAspect="1"/>
          </p:cNvPicPr>
          <p:nvPr/>
        </p:nvPicPr>
        <p:blipFill>
          <a:blip r:embed="rId3"/>
          <a:srcRect/>
          <a:stretch/>
        </p:blipFill>
        <p:spPr>
          <a:xfrm>
            <a:off x="812588" y="1689553"/>
            <a:ext cx="1269669" cy="38090"/>
          </a:xfrm>
          <a:prstGeom prst="rect">
            <a:avLst/>
          </a:prstGeom>
        </p:spPr>
      </p:pic>
      <p:sp>
        <p:nvSpPr>
          <p:cNvPr id="5" name="Shape 2"/>
          <p:cNvSpPr/>
          <p:nvPr/>
        </p:nvSpPr>
        <p:spPr>
          <a:xfrm>
            <a:off x="11373062" y="1930790"/>
            <a:ext cx="0" cy="2366664"/>
          </a:xfrm>
          <a:prstGeom prst="line">
            <a:avLst/>
          </a:prstGeom>
          <a:noFill/>
          <a:ln w="6350">
            <a:solidFill>
              <a:srgbClr val="2C5C93"/>
            </a:solidFill>
            <a:prstDash val="solid"/>
          </a:ln>
        </p:spPr>
        <p:txBody>
          <a:bodyPr/>
          <a:lstStyle/>
          <a:p>
            <a:endParaRPr lang="en-SG"/>
          </a:p>
        </p:txBody>
      </p:sp>
      <p:sp>
        <p:nvSpPr>
          <p:cNvPr id="6" name="Shape 3"/>
          <p:cNvSpPr/>
          <p:nvPr/>
        </p:nvSpPr>
        <p:spPr>
          <a:xfrm>
            <a:off x="812588" y="4294280"/>
            <a:ext cx="10563648" cy="0"/>
          </a:xfrm>
          <a:prstGeom prst="line">
            <a:avLst/>
          </a:prstGeom>
          <a:noFill/>
          <a:ln w="6350">
            <a:solidFill>
              <a:srgbClr val="2C5C93"/>
            </a:solidFill>
            <a:prstDash val="solid"/>
          </a:ln>
        </p:spPr>
        <p:txBody>
          <a:bodyPr/>
          <a:lstStyle/>
          <a:p>
            <a:endParaRPr lang="en-SG"/>
          </a:p>
        </p:txBody>
      </p:sp>
      <p:graphicFrame>
        <p:nvGraphicFramePr>
          <p:cNvPr id="7" name="Table 0"/>
          <p:cNvGraphicFramePr>
            <a:graphicFrameLocks noGrp="1"/>
          </p:cNvGraphicFramePr>
          <p:nvPr/>
        </p:nvGraphicFramePr>
        <p:xfrm>
          <a:off x="822745" y="1940948"/>
          <a:ext cx="10548413" cy="2748804"/>
        </p:xfrm>
        <a:graphic>
          <a:graphicData uri="http://schemas.openxmlformats.org/drawingml/2006/table">
            <a:tbl>
              <a:tblPr/>
              <a:tblGrid>
                <a:gridCol w="2320651">
                  <a:extLst>
                    <a:ext uri="{9D8B030D-6E8A-4147-A177-3AD203B41FA5}">
                      <a16:colId xmlns:a16="http://schemas.microsoft.com/office/drawing/2014/main" val="20000"/>
                    </a:ext>
                  </a:extLst>
                </a:gridCol>
                <a:gridCol w="3797429">
                  <a:extLst>
                    <a:ext uri="{9D8B030D-6E8A-4147-A177-3AD203B41FA5}">
                      <a16:colId xmlns:a16="http://schemas.microsoft.com/office/drawing/2014/main" val="20001"/>
                    </a:ext>
                  </a:extLst>
                </a:gridCol>
                <a:gridCol w="4430333">
                  <a:extLst>
                    <a:ext uri="{9D8B030D-6E8A-4147-A177-3AD203B41FA5}">
                      <a16:colId xmlns:a16="http://schemas.microsoft.com/office/drawing/2014/main" val="20002"/>
                    </a:ext>
                  </a:extLst>
                </a:gridCol>
              </a:tblGrid>
              <a:tr h="356777">
                <a:tc>
                  <a:txBody>
                    <a:bodyPr/>
                    <a:lstStyle/>
                    <a:p>
                      <a:pPr marL="0" indent="0">
                        <a:lnSpc>
                          <a:spcPts val="1820"/>
                        </a:lnSpc>
                        <a:buNone/>
                      </a:pPr>
                      <a:r>
                        <a:rPr lang="en-US" sz="1300" b="1" dirty="0">
                          <a:solidFill>
                            <a:srgbClr val="F5B400"/>
                          </a:solidFill>
                          <a:latin typeface="Carlito" pitchFamily="34" charset="0"/>
                          <a:ea typeface="Carlito" pitchFamily="34" charset="-122"/>
                          <a:cs typeface="Carlito" pitchFamily="34" charset="-120"/>
                        </a:rPr>
                        <a:t>Challenge</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456289"/>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456289"/>
                      </a:solidFill>
                      <a:prstDash val="solid"/>
                      <a:round/>
                      <a:headEnd type="none" w="med" len="med"/>
                      <a:tailEnd type="none" w="med" len="med"/>
                    </a:lnB>
                    <a:solidFill>
                      <a:srgbClr val="12386A"/>
                    </a:solidFill>
                  </a:tcPr>
                </a:tc>
                <a:tc>
                  <a:txBody>
                    <a:bodyPr/>
                    <a:lstStyle/>
                    <a:p>
                      <a:pPr marL="0" indent="0">
                        <a:lnSpc>
                          <a:spcPts val="1820"/>
                        </a:lnSpc>
                        <a:buNone/>
                      </a:pPr>
                      <a:r>
                        <a:rPr lang="en-US" sz="1300" b="1" dirty="0">
                          <a:solidFill>
                            <a:srgbClr val="F5B400"/>
                          </a:solidFill>
                          <a:latin typeface="Carlito" pitchFamily="34" charset="0"/>
                          <a:ea typeface="Carlito" pitchFamily="34" charset="-122"/>
                          <a:cs typeface="Carlito" pitchFamily="34" charset="-120"/>
                        </a:rPr>
                        <a:t>What went wrong</a:t>
                      </a:r>
                      <a:endParaRPr lang="en-US" sz="1300" dirty="0">
                        <a:latin typeface="Carlito" charset="0"/>
                        <a:ea typeface="Carlito" charset="0"/>
                        <a:cs typeface="Carlito" charset="0"/>
                      </a:endParaRPr>
                    </a:p>
                  </a:txBody>
                  <a:tcPr marL="57770" marR="57770" marT="57770" marB="57770">
                    <a:lnL w="12700" cap="flat" cmpd="sng" algn="ctr">
                      <a:solidFill>
                        <a:srgbClr val="456289"/>
                      </a:solidFill>
                      <a:prstDash val="solid"/>
                      <a:round/>
                      <a:headEnd type="none" w="med" len="med"/>
                      <a:tailEnd type="none" w="med" len="med"/>
                    </a:lnL>
                    <a:lnR w="12700" cap="flat" cmpd="sng" algn="ctr">
                      <a:solidFill>
                        <a:srgbClr val="456289"/>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456289"/>
                      </a:solidFill>
                      <a:prstDash val="solid"/>
                      <a:round/>
                      <a:headEnd type="none" w="med" len="med"/>
                      <a:tailEnd type="none" w="med" len="med"/>
                    </a:lnB>
                    <a:solidFill>
                      <a:srgbClr val="12386A"/>
                    </a:solidFill>
                  </a:tcPr>
                </a:tc>
                <a:tc>
                  <a:txBody>
                    <a:bodyPr/>
                    <a:lstStyle/>
                    <a:p>
                      <a:pPr marL="0" indent="0">
                        <a:lnSpc>
                          <a:spcPts val="1820"/>
                        </a:lnSpc>
                        <a:buNone/>
                      </a:pPr>
                      <a:r>
                        <a:rPr lang="en-US" sz="1300" b="1" dirty="0">
                          <a:solidFill>
                            <a:srgbClr val="F5B400"/>
                          </a:solidFill>
                          <a:latin typeface="Carlito" pitchFamily="34" charset="0"/>
                          <a:ea typeface="Carlito" pitchFamily="34" charset="-122"/>
                          <a:cs typeface="Carlito" pitchFamily="34" charset="-120"/>
                        </a:rPr>
                        <a:t>How we solved it</a:t>
                      </a:r>
                      <a:endParaRPr lang="en-US" sz="1300" dirty="0">
                        <a:latin typeface="Carlito" charset="0"/>
                        <a:ea typeface="Carlito" charset="0"/>
                        <a:cs typeface="Carlito" charset="0"/>
                      </a:endParaRPr>
                    </a:p>
                  </a:txBody>
                  <a:tcPr marL="57770" marR="57770" marT="57770" marB="57770">
                    <a:lnL w="12700" cap="flat" cmpd="sng" algn="ctr">
                      <a:solidFill>
                        <a:srgbClr val="456289"/>
                      </a:solidFill>
                      <a:prstDash val="solid"/>
                      <a:round/>
                      <a:headEnd type="none" w="med" len="med"/>
                      <a:tailEnd type="none" w="med" len="med"/>
                    </a:lnL>
                    <a:lnR w="12700" cap="flat" cmpd="sng" algn="ctr">
                      <a:solidFill>
                        <a:srgbClr val="456289"/>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456289"/>
                      </a:solidFill>
                      <a:prstDash val="solid"/>
                      <a:round/>
                      <a:headEnd type="none" w="med" len="med"/>
                      <a:tailEnd type="none" w="med" len="med"/>
                    </a:lnB>
                    <a:solidFill>
                      <a:srgbClr val="12386A"/>
                    </a:solidFill>
                  </a:tcPr>
                </a:tc>
                <a:extLst>
                  <a:ext uri="{0D108BD9-81ED-4DB2-BD59-A6C34878D82A}">
                    <a16:rowId xmlns:a16="http://schemas.microsoft.com/office/drawing/2014/main" val="10000"/>
                  </a:ext>
                </a:extLst>
              </a:tr>
              <a:tr h="818937">
                <a:tc>
                  <a:txBody>
                    <a:bodyPr/>
                    <a:lstStyle/>
                    <a:p>
                      <a:pPr marL="0" indent="0">
                        <a:lnSpc>
                          <a:spcPts val="1820"/>
                        </a:lnSpc>
                        <a:buNone/>
                      </a:pPr>
                      <a:r>
                        <a:rPr lang="en-US" sz="1300" dirty="0">
                          <a:solidFill>
                            <a:srgbClr val="F5B400"/>
                          </a:solidFill>
                          <a:latin typeface="Carlito" pitchFamily="34" charset="0"/>
                          <a:ea typeface="Carlito" pitchFamily="34" charset="-122"/>
                          <a:cs typeface="Carlito" pitchFamily="34" charset="-120"/>
                        </a:rPr>
                        <a:t>Missed screen changes</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456289"/>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Comparing whole-screen averages missed a new terminal line: one test video was read on only 2 of 24 keyframes</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456289"/>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8EE5B0"/>
                          </a:solidFill>
                          <a:latin typeface="Carlito" pitchFamily="34" charset="0"/>
                          <a:ea typeface="Carlito" pitchFamily="34" charset="-122"/>
                          <a:cs typeface="Carlito" pitchFamily="34" charset="-120"/>
                        </a:rPr>
                        <a:t>The check now counts changed pixels. Tesseract was dropped; EasyOCR read terminal text better.</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456289"/>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extLst>
                  <a:ext uri="{0D108BD9-81ED-4DB2-BD59-A6C34878D82A}">
                    <a16:rowId xmlns:a16="http://schemas.microsoft.com/office/drawing/2014/main" val="10001"/>
                  </a:ext>
                </a:extLst>
              </a:tr>
              <a:tr h="786370">
                <a:tc>
                  <a:txBody>
                    <a:bodyPr/>
                    <a:lstStyle/>
                    <a:p>
                      <a:pPr marL="0" indent="0">
                        <a:lnSpc>
                          <a:spcPts val="1820"/>
                        </a:lnSpc>
                        <a:buNone/>
                      </a:pPr>
                      <a:r>
                        <a:rPr lang="en-US" sz="1300" dirty="0">
                          <a:solidFill>
                            <a:srgbClr val="F5B400"/>
                          </a:solidFill>
                          <a:latin typeface="Carlito" pitchFamily="34" charset="0"/>
                          <a:ea typeface="Carlito" pitchFamily="34" charset="-122"/>
                          <a:cs typeface="Carlito" pitchFamily="34" charset="-120"/>
                        </a:rPr>
                        <a:t>Fargate constraints</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CPU only, one task because of SQLite, cold starts, CNN weights downloaded on the first job</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8EE5B0"/>
                          </a:solidFill>
                          <a:latin typeface="Carlito" pitchFamily="34" charset="0"/>
                          <a:ea typeface="Carlito" pitchFamily="34" charset="-122"/>
                          <a:cs typeface="Carlito" pitchFamily="34" charset="-120"/>
                        </a:rPr>
                        <a:t>Weights baked into the image, a warm-up at startup, and a feature cache keyed by the video’s hash</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extLst>
                  <a:ext uri="{0D108BD9-81ED-4DB2-BD59-A6C34878D82A}">
                    <a16:rowId xmlns:a16="http://schemas.microsoft.com/office/drawing/2014/main" val="10002"/>
                  </a:ext>
                </a:extLst>
              </a:tr>
              <a:tr h="786370">
                <a:tc>
                  <a:txBody>
                    <a:bodyPr/>
                    <a:lstStyle/>
                    <a:p>
                      <a:pPr marL="0" indent="0">
                        <a:lnSpc>
                          <a:spcPts val="1820"/>
                        </a:lnSpc>
                        <a:buNone/>
                      </a:pPr>
                      <a:r>
                        <a:rPr lang="en-US" sz="1300" dirty="0">
                          <a:solidFill>
                            <a:srgbClr val="F5B400"/>
                          </a:solidFill>
                          <a:latin typeface="Carlito" pitchFamily="34" charset="0"/>
                          <a:ea typeface="Carlito" pitchFamily="34" charset="-122"/>
                          <a:cs typeface="Carlito" pitchFamily="34" charset="-120"/>
                        </a:rPr>
                        <a:t>Slow analysis</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DCE8F5"/>
                          </a:solidFill>
                          <a:latin typeface="Carlito" pitchFamily="34" charset="0"/>
                          <a:ea typeface="Carlito" pitchFamily="34" charset="-122"/>
                          <a:cs typeface="Carlito" pitchFamily="34" charset="-120"/>
                        </a:rPr>
                        <a:t>Too slow for a live demo</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tc>
                  <a:txBody>
                    <a:bodyPr/>
                    <a:lstStyle/>
                    <a:p>
                      <a:pPr marL="0" indent="0">
                        <a:lnSpc>
                          <a:spcPts val="1820"/>
                        </a:lnSpc>
                        <a:buNone/>
                      </a:pPr>
                      <a:r>
                        <a:rPr lang="en-US" sz="1300" dirty="0">
                          <a:solidFill>
                            <a:srgbClr val="8EE5B0"/>
                          </a:solidFill>
                          <a:latin typeface="Carlito" pitchFamily="34" charset="0"/>
                          <a:ea typeface="Carlito" pitchFamily="34" charset="-122"/>
                          <a:cs typeface="Carlito" pitchFamily="34" charset="-120"/>
                        </a:rPr>
                        <a:t>One shared OCR reader, batched OCR, text reused for unchanged frames, cached features, pre-warmed demo videos</a:t>
                      </a:r>
                      <a:endParaRPr lang="en-US" sz="1300" dirty="0">
                        <a:latin typeface="Carlito" charset="0"/>
                        <a:ea typeface="Carlito" charset="0"/>
                        <a:cs typeface="Carlito" charset="0"/>
                      </a:endParaRPr>
                    </a:p>
                  </a:txBody>
                  <a:tcPr marL="57770" marR="57770" marT="57770" marB="57770">
                    <a:lnL w="12700" cap="flat" cmpd="sng" algn="ctr">
                      <a:solidFill>
                        <a:srgbClr val="3F5878"/>
                      </a:solidFill>
                      <a:prstDash val="solid"/>
                      <a:round/>
                      <a:headEnd type="none" w="med" len="med"/>
                      <a:tailEnd type="none" w="med" len="med"/>
                    </a:lnL>
                    <a:lnR w="12700" cap="flat" cmpd="sng" algn="ctr">
                      <a:solidFill>
                        <a:srgbClr val="3F5878"/>
                      </a:solidFill>
                      <a:prstDash val="solid"/>
                      <a:round/>
                      <a:headEnd type="none" w="med" len="med"/>
                      <a:tailEnd type="none" w="med" len="med"/>
                    </a:lnR>
                    <a:lnT w="12700" cap="flat" cmpd="sng" algn="ctr">
                      <a:solidFill>
                        <a:srgbClr val="3F5878"/>
                      </a:solidFill>
                      <a:prstDash val="solid"/>
                      <a:round/>
                      <a:headEnd type="none" w="med" len="med"/>
                      <a:tailEnd type="none" w="med" len="med"/>
                    </a:lnT>
                    <a:lnB w="12700" cap="flat" cmpd="sng" algn="ctr">
                      <a:solidFill>
                        <a:srgbClr val="3F587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9" name="Picture 8" descr="nus_iss_logo_transparent.png">
            <a:extLst>
              <a:ext uri="{FF2B5EF4-FFF2-40B4-BE49-F238E27FC236}">
                <a16:creationId xmlns:a16="http://schemas.microsoft.com/office/drawing/2014/main" id="{82863B39-34C6-B3EF-CAD8-5C4A06DCB136}"/>
              </a:ext>
            </a:extLst>
          </p:cNvPr>
          <p:cNvPicPr>
            <a:picLocks noChangeAspect="1"/>
          </p:cNvPicPr>
          <p:nvPr/>
        </p:nvPicPr>
        <p:blipFill>
          <a:blip r:embed="rId4"/>
          <a:stretch>
            <a:fillRect/>
          </a:stretch>
        </p:blipFill>
        <p:spPr>
          <a:xfrm>
            <a:off x="9300327" y="185783"/>
            <a:ext cx="2514600" cy="585216"/>
          </a:xfrm>
          <a:prstGeom prst="rect">
            <a:avLst/>
          </a:prstGeom>
          <a:solidFill>
            <a:schemeClr val="bg2"/>
          </a:solid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588" y="813481"/>
            <a:ext cx="10880558" cy="256473"/>
          </a:xfrm>
          <a:prstGeom prst="rect">
            <a:avLst/>
          </a:prstGeom>
          <a:noFill/>
          <a:ln/>
        </p:spPr>
        <p:txBody>
          <a:bodyPr wrap="square" lIns="0" tIns="0" rIns="0" bIns="0" rtlCol="0" anchor="t">
            <a:normAutofit/>
          </a:bodyPr>
          <a:lstStyle/>
          <a:p>
            <a:pPr>
              <a:lnSpc>
                <a:spcPts val="1819"/>
              </a:lnSpc>
            </a:pPr>
            <a:r>
              <a:rPr lang="en-US" sz="1300" b="1" kern="0" spc="150" dirty="0">
                <a:solidFill>
                  <a:srgbClr val="F5B400"/>
                </a:solidFill>
                <a:latin typeface="Carlito" pitchFamily="34" charset="0"/>
                <a:ea typeface="Carlito" pitchFamily="34" charset="-122"/>
                <a:cs typeface="Carlito" pitchFamily="34" charset="-120"/>
              </a:rPr>
              <a:t>NEXT STEPS</a:t>
            </a:r>
            <a:endParaRPr lang="en-US" sz="1300" dirty="0"/>
          </a:p>
        </p:txBody>
      </p:sp>
      <p:sp>
        <p:nvSpPr>
          <p:cNvPr id="3" name="Text 1"/>
          <p:cNvSpPr>
            <a:spLocks noGrp="1"/>
          </p:cNvSpPr>
          <p:nvPr>
            <p:ph type="title"/>
          </p:nvPr>
        </p:nvSpPr>
        <p:spPr>
          <a:xfrm>
            <a:off x="812588" y="1133437"/>
            <a:ext cx="10880558" cy="492632"/>
          </a:xfrm>
          <a:prstGeom prst="rect">
            <a:avLst/>
          </a:prstGeom>
          <a:noFill/>
          <a:ln/>
        </p:spPr>
        <p:txBody>
          <a:bodyPr vert="horz" wrap="square" lIns="0" tIns="0" rIns="0" bIns="0" rtlCol="0" anchor="t">
            <a:normAutofit/>
          </a:bodyPr>
          <a:lstStyle/>
          <a:p>
            <a:pPr>
              <a:lnSpc>
                <a:spcPts val="3679"/>
              </a:lnSpc>
            </a:pPr>
            <a:r>
              <a:rPr lang="en-US" b="1" dirty="0"/>
              <a:t>Future work</a:t>
            </a:r>
            <a:endParaRPr lang="en-US" dirty="0"/>
          </a:p>
        </p:txBody>
      </p:sp>
      <p:pic>
        <p:nvPicPr>
          <p:cNvPr id="4" name="Image 0" descr="line"/>
          <p:cNvPicPr>
            <a:picLocks noChangeAspect="1"/>
          </p:cNvPicPr>
          <p:nvPr/>
        </p:nvPicPr>
        <p:blipFill>
          <a:blip r:embed="rId3"/>
          <a:srcRect/>
          <a:stretch/>
        </p:blipFill>
        <p:spPr>
          <a:xfrm>
            <a:off x="812588" y="1689553"/>
            <a:ext cx="1269669" cy="38090"/>
          </a:xfrm>
          <a:prstGeom prst="rect">
            <a:avLst/>
          </a:prstGeom>
        </p:spPr>
      </p:pic>
      <p:sp>
        <p:nvSpPr>
          <p:cNvPr id="5" name="Shape 2"/>
          <p:cNvSpPr/>
          <p:nvPr/>
        </p:nvSpPr>
        <p:spPr>
          <a:xfrm>
            <a:off x="831633" y="1930790"/>
            <a:ext cx="0" cy="578969"/>
          </a:xfrm>
          <a:prstGeom prst="line">
            <a:avLst/>
          </a:prstGeom>
          <a:noFill/>
          <a:ln w="38100">
            <a:solidFill>
              <a:srgbClr val="22C55E"/>
            </a:solidFill>
            <a:prstDash val="solid"/>
          </a:ln>
        </p:spPr>
        <p:txBody>
          <a:bodyPr/>
          <a:lstStyle/>
          <a:p>
            <a:endParaRPr lang="en-SG"/>
          </a:p>
        </p:txBody>
      </p:sp>
      <p:sp>
        <p:nvSpPr>
          <p:cNvPr id="6" name="Text 3"/>
          <p:cNvSpPr/>
          <p:nvPr/>
        </p:nvSpPr>
        <p:spPr>
          <a:xfrm>
            <a:off x="1025893" y="1956184"/>
            <a:ext cx="10660854" cy="284406"/>
          </a:xfrm>
          <a:prstGeom prst="rect">
            <a:avLst/>
          </a:prstGeom>
          <a:noFill/>
          <a:ln/>
        </p:spPr>
        <p:txBody>
          <a:bodyPr wrap="square" lIns="0" tIns="0" rIns="0" bIns="0" rtlCol="0" anchor="t">
            <a:normAutofit/>
          </a:bodyPr>
          <a:lstStyle/>
          <a:p>
            <a:pPr>
              <a:lnSpc>
                <a:spcPts val="2039"/>
              </a:lnSpc>
            </a:pPr>
            <a:r>
              <a:rPr lang="en-US" sz="1699" b="1" dirty="0">
                <a:solidFill>
                  <a:srgbClr val="F4F8FC"/>
                </a:solidFill>
                <a:latin typeface="Carlito" pitchFamily="34" charset="0"/>
                <a:ea typeface="Carlito" pitchFamily="34" charset="-122"/>
                <a:cs typeface="Carlito" pitchFamily="34" charset="-120"/>
              </a:rPr>
              <a:t>RAG pipeline</a:t>
            </a:r>
            <a:endParaRPr lang="en-US" sz="1699" dirty="0"/>
          </a:p>
        </p:txBody>
      </p:sp>
      <p:sp>
        <p:nvSpPr>
          <p:cNvPr id="7" name="Text 4"/>
          <p:cNvSpPr/>
          <p:nvPr/>
        </p:nvSpPr>
        <p:spPr>
          <a:xfrm>
            <a:off x="1025893" y="2253288"/>
            <a:ext cx="10660854" cy="256473"/>
          </a:xfrm>
          <a:prstGeom prst="rect">
            <a:avLst/>
          </a:prstGeom>
          <a:noFill/>
          <a:ln/>
        </p:spPr>
        <p:txBody>
          <a:bodyPr wrap="square" lIns="0" tIns="0" rIns="0" bIns="0" rtlCol="0" anchor="t">
            <a:normAutofit/>
          </a:bodyPr>
          <a:lstStyle/>
          <a:p>
            <a:pPr>
              <a:lnSpc>
                <a:spcPts val="1819"/>
              </a:lnSpc>
            </a:pPr>
            <a:r>
              <a:rPr lang="en-US" sz="1300" dirty="0">
                <a:solidFill>
                  <a:srgbClr val="A9C1DD"/>
                </a:solidFill>
                <a:latin typeface="Carlito" pitchFamily="34" charset="0"/>
                <a:ea typeface="Carlito" pitchFamily="34" charset="-122"/>
                <a:cs typeface="Carlito" pitchFamily="34" charset="-120"/>
              </a:rPr>
              <a:t>Retrieval-augmented generation to search and reuse knowledge from classified video segments</a:t>
            </a:r>
            <a:endParaRPr lang="en-US" sz="1300" dirty="0"/>
          </a:p>
        </p:txBody>
      </p:sp>
      <p:sp>
        <p:nvSpPr>
          <p:cNvPr id="8" name="Shape 5"/>
          <p:cNvSpPr/>
          <p:nvPr/>
        </p:nvSpPr>
        <p:spPr>
          <a:xfrm>
            <a:off x="831633" y="2636727"/>
            <a:ext cx="0" cy="578969"/>
          </a:xfrm>
          <a:prstGeom prst="line">
            <a:avLst/>
          </a:prstGeom>
          <a:noFill/>
          <a:ln w="38100">
            <a:solidFill>
              <a:srgbClr val="22C55E"/>
            </a:solidFill>
            <a:prstDash val="solid"/>
          </a:ln>
        </p:spPr>
        <p:txBody>
          <a:bodyPr/>
          <a:lstStyle/>
          <a:p>
            <a:endParaRPr lang="en-SG"/>
          </a:p>
        </p:txBody>
      </p:sp>
      <p:sp>
        <p:nvSpPr>
          <p:cNvPr id="9" name="Text 6"/>
          <p:cNvSpPr/>
          <p:nvPr/>
        </p:nvSpPr>
        <p:spPr>
          <a:xfrm>
            <a:off x="1025893" y="2662121"/>
            <a:ext cx="10660854" cy="284406"/>
          </a:xfrm>
          <a:prstGeom prst="rect">
            <a:avLst/>
          </a:prstGeom>
          <a:noFill/>
          <a:ln/>
        </p:spPr>
        <p:txBody>
          <a:bodyPr wrap="square" lIns="0" tIns="0" rIns="0" bIns="0" rtlCol="0" anchor="t">
            <a:normAutofit/>
          </a:bodyPr>
          <a:lstStyle/>
          <a:p>
            <a:pPr>
              <a:lnSpc>
                <a:spcPts val="2039"/>
              </a:lnSpc>
            </a:pPr>
            <a:r>
              <a:rPr lang="en-US" sz="1699" b="1" dirty="0">
                <a:solidFill>
                  <a:srgbClr val="F4F8FC"/>
                </a:solidFill>
                <a:latin typeface="Carlito" pitchFamily="34" charset="0"/>
                <a:ea typeface="Carlito" pitchFamily="34" charset="-122"/>
                <a:cs typeface="Carlito" pitchFamily="34" charset="-120"/>
              </a:rPr>
              <a:t>MLflow integration</a:t>
            </a:r>
            <a:endParaRPr lang="en-US" sz="1699" dirty="0"/>
          </a:p>
        </p:txBody>
      </p:sp>
      <p:sp>
        <p:nvSpPr>
          <p:cNvPr id="10" name="Text 7"/>
          <p:cNvSpPr/>
          <p:nvPr/>
        </p:nvSpPr>
        <p:spPr>
          <a:xfrm>
            <a:off x="1025893" y="2959222"/>
            <a:ext cx="10660854" cy="256473"/>
          </a:xfrm>
          <a:prstGeom prst="rect">
            <a:avLst/>
          </a:prstGeom>
          <a:noFill/>
          <a:ln/>
        </p:spPr>
        <p:txBody>
          <a:bodyPr wrap="square" lIns="0" tIns="0" rIns="0" bIns="0" rtlCol="0" anchor="t">
            <a:normAutofit/>
          </a:bodyPr>
          <a:lstStyle/>
          <a:p>
            <a:pPr>
              <a:lnSpc>
                <a:spcPts val="1819"/>
              </a:lnSpc>
            </a:pPr>
            <a:r>
              <a:rPr lang="en-US" sz="1300" dirty="0">
                <a:solidFill>
                  <a:srgbClr val="A9C1DD"/>
                </a:solidFill>
                <a:latin typeface="Carlito" pitchFamily="34" charset="0"/>
                <a:ea typeface="Carlito" pitchFamily="34" charset="-122"/>
                <a:cs typeface="Carlito" pitchFamily="34" charset="-120"/>
              </a:rPr>
              <a:t>Experiment tracking and model versioning, replacing today’s manual model uploads to S3 with an automated release</a:t>
            </a:r>
            <a:endParaRPr lang="en-US" sz="1300" dirty="0"/>
          </a:p>
        </p:txBody>
      </p:sp>
      <p:sp>
        <p:nvSpPr>
          <p:cNvPr id="11" name="Shape 8"/>
          <p:cNvSpPr/>
          <p:nvPr/>
        </p:nvSpPr>
        <p:spPr>
          <a:xfrm>
            <a:off x="831633" y="3342662"/>
            <a:ext cx="0" cy="578969"/>
          </a:xfrm>
          <a:prstGeom prst="line">
            <a:avLst/>
          </a:prstGeom>
          <a:noFill/>
          <a:ln w="38100">
            <a:solidFill>
              <a:srgbClr val="22C55E"/>
            </a:solidFill>
            <a:prstDash val="solid"/>
          </a:ln>
        </p:spPr>
        <p:txBody>
          <a:bodyPr/>
          <a:lstStyle/>
          <a:p>
            <a:endParaRPr lang="en-SG"/>
          </a:p>
        </p:txBody>
      </p:sp>
      <p:sp>
        <p:nvSpPr>
          <p:cNvPr id="12" name="Text 9"/>
          <p:cNvSpPr/>
          <p:nvPr/>
        </p:nvSpPr>
        <p:spPr>
          <a:xfrm>
            <a:off x="1025893" y="3368055"/>
            <a:ext cx="10660854" cy="284406"/>
          </a:xfrm>
          <a:prstGeom prst="rect">
            <a:avLst/>
          </a:prstGeom>
          <a:noFill/>
          <a:ln/>
        </p:spPr>
        <p:txBody>
          <a:bodyPr wrap="square" lIns="0" tIns="0" rIns="0" bIns="0" rtlCol="0" anchor="t">
            <a:normAutofit/>
          </a:bodyPr>
          <a:lstStyle/>
          <a:p>
            <a:pPr>
              <a:lnSpc>
                <a:spcPts val="2039"/>
              </a:lnSpc>
            </a:pPr>
            <a:r>
              <a:rPr lang="en-US" sz="1699" b="1" dirty="0">
                <a:solidFill>
                  <a:srgbClr val="F4F8FC"/>
                </a:solidFill>
                <a:latin typeface="Carlito" pitchFamily="34" charset="0"/>
                <a:ea typeface="Carlito" pitchFamily="34" charset="-122"/>
                <a:cs typeface="Carlito" pitchFamily="34" charset="-120"/>
              </a:rPr>
              <a:t>GPU optimisation</a:t>
            </a:r>
            <a:endParaRPr lang="en-US" sz="1699" dirty="0"/>
          </a:p>
        </p:txBody>
      </p:sp>
      <p:sp>
        <p:nvSpPr>
          <p:cNvPr id="13" name="Text 10"/>
          <p:cNvSpPr/>
          <p:nvPr/>
        </p:nvSpPr>
        <p:spPr>
          <a:xfrm>
            <a:off x="1025893" y="3665160"/>
            <a:ext cx="10660854" cy="256473"/>
          </a:xfrm>
          <a:prstGeom prst="rect">
            <a:avLst/>
          </a:prstGeom>
          <a:noFill/>
          <a:ln/>
        </p:spPr>
        <p:txBody>
          <a:bodyPr wrap="square" lIns="0" tIns="0" rIns="0" bIns="0" rtlCol="0" anchor="t">
            <a:normAutofit/>
          </a:bodyPr>
          <a:lstStyle/>
          <a:p>
            <a:pPr>
              <a:lnSpc>
                <a:spcPts val="1819"/>
              </a:lnSpc>
            </a:pPr>
            <a:r>
              <a:rPr lang="en-US" sz="1300" dirty="0">
                <a:solidFill>
                  <a:srgbClr val="A9C1DD"/>
                </a:solidFill>
                <a:latin typeface="Carlito" pitchFamily="34" charset="0"/>
                <a:ea typeface="Carlito" pitchFamily="34" charset="-122"/>
                <a:cs typeface="Carlito" pitchFamily="34" charset="-120"/>
              </a:rPr>
              <a:t>CUDA-accelerated inference for near real-time video analysis</a:t>
            </a:r>
            <a:endParaRPr lang="en-US" sz="1300" dirty="0"/>
          </a:p>
        </p:txBody>
      </p:sp>
      <p:sp>
        <p:nvSpPr>
          <p:cNvPr id="14" name="Shape 11"/>
          <p:cNvSpPr/>
          <p:nvPr/>
        </p:nvSpPr>
        <p:spPr>
          <a:xfrm>
            <a:off x="831633" y="4048603"/>
            <a:ext cx="0" cy="578969"/>
          </a:xfrm>
          <a:prstGeom prst="line">
            <a:avLst/>
          </a:prstGeom>
          <a:noFill/>
          <a:ln w="38100">
            <a:solidFill>
              <a:srgbClr val="22C55E"/>
            </a:solidFill>
            <a:prstDash val="solid"/>
          </a:ln>
        </p:spPr>
        <p:txBody>
          <a:bodyPr/>
          <a:lstStyle/>
          <a:p>
            <a:endParaRPr lang="en-SG"/>
          </a:p>
        </p:txBody>
      </p:sp>
      <p:sp>
        <p:nvSpPr>
          <p:cNvPr id="15" name="Text 12"/>
          <p:cNvSpPr/>
          <p:nvPr/>
        </p:nvSpPr>
        <p:spPr>
          <a:xfrm>
            <a:off x="1025893" y="4073996"/>
            <a:ext cx="10660854" cy="284406"/>
          </a:xfrm>
          <a:prstGeom prst="rect">
            <a:avLst/>
          </a:prstGeom>
          <a:noFill/>
          <a:ln/>
        </p:spPr>
        <p:txBody>
          <a:bodyPr wrap="square" lIns="0" tIns="0" rIns="0" bIns="0" rtlCol="0" anchor="t">
            <a:normAutofit/>
          </a:bodyPr>
          <a:lstStyle/>
          <a:p>
            <a:pPr>
              <a:lnSpc>
                <a:spcPts val="2039"/>
              </a:lnSpc>
            </a:pPr>
            <a:r>
              <a:rPr lang="en-US" sz="1699" b="1" dirty="0">
                <a:solidFill>
                  <a:srgbClr val="F4F8FC"/>
                </a:solidFill>
                <a:latin typeface="Carlito" pitchFamily="34" charset="0"/>
                <a:ea typeface="Carlito" pitchFamily="34" charset="-122"/>
                <a:cs typeface="Carlito" pitchFamily="34" charset="-120"/>
              </a:rPr>
              <a:t>Additional datasets</a:t>
            </a:r>
            <a:endParaRPr lang="en-US" sz="1699" dirty="0"/>
          </a:p>
        </p:txBody>
      </p:sp>
      <p:sp>
        <p:nvSpPr>
          <p:cNvPr id="16" name="Text 13"/>
          <p:cNvSpPr/>
          <p:nvPr/>
        </p:nvSpPr>
        <p:spPr>
          <a:xfrm>
            <a:off x="1025893" y="4371097"/>
            <a:ext cx="10660854" cy="256473"/>
          </a:xfrm>
          <a:prstGeom prst="rect">
            <a:avLst/>
          </a:prstGeom>
          <a:noFill/>
          <a:ln/>
        </p:spPr>
        <p:txBody>
          <a:bodyPr wrap="square" lIns="0" tIns="0" rIns="0" bIns="0" rtlCol="0" anchor="t">
            <a:normAutofit/>
          </a:bodyPr>
          <a:lstStyle/>
          <a:p>
            <a:pPr>
              <a:lnSpc>
                <a:spcPts val="1819"/>
              </a:lnSpc>
            </a:pPr>
            <a:r>
              <a:rPr lang="en-US" sz="1300" dirty="0">
                <a:solidFill>
                  <a:srgbClr val="A9C1DD"/>
                </a:solidFill>
                <a:latin typeface="Carlito" pitchFamily="34" charset="0"/>
                <a:ea typeface="Carlito" pitchFamily="34" charset="-122"/>
                <a:cs typeface="Carlito" pitchFamily="34" charset="-120"/>
              </a:rPr>
              <a:t>Recordings beyond CUA-Suite, such as AWS, Azure and other cloud consoles and widely used apps</a:t>
            </a:r>
            <a:endParaRPr lang="en-US" sz="1300" dirty="0"/>
          </a:p>
        </p:txBody>
      </p:sp>
      <p:sp>
        <p:nvSpPr>
          <p:cNvPr id="17" name="Shape 14"/>
          <p:cNvSpPr/>
          <p:nvPr/>
        </p:nvSpPr>
        <p:spPr>
          <a:xfrm>
            <a:off x="831633" y="4754534"/>
            <a:ext cx="0" cy="578969"/>
          </a:xfrm>
          <a:prstGeom prst="line">
            <a:avLst/>
          </a:prstGeom>
          <a:noFill/>
          <a:ln w="38100">
            <a:solidFill>
              <a:srgbClr val="22C55E"/>
            </a:solidFill>
            <a:prstDash val="solid"/>
          </a:ln>
        </p:spPr>
        <p:txBody>
          <a:bodyPr/>
          <a:lstStyle/>
          <a:p>
            <a:endParaRPr lang="en-SG"/>
          </a:p>
        </p:txBody>
      </p:sp>
      <p:sp>
        <p:nvSpPr>
          <p:cNvPr id="18" name="Text 15"/>
          <p:cNvSpPr/>
          <p:nvPr/>
        </p:nvSpPr>
        <p:spPr>
          <a:xfrm>
            <a:off x="1025893" y="4779927"/>
            <a:ext cx="10660854" cy="284406"/>
          </a:xfrm>
          <a:prstGeom prst="rect">
            <a:avLst/>
          </a:prstGeom>
          <a:noFill/>
          <a:ln/>
        </p:spPr>
        <p:txBody>
          <a:bodyPr wrap="square" lIns="0" tIns="0" rIns="0" bIns="0" rtlCol="0" anchor="t">
            <a:normAutofit/>
          </a:bodyPr>
          <a:lstStyle/>
          <a:p>
            <a:pPr>
              <a:lnSpc>
                <a:spcPts val="2039"/>
              </a:lnSpc>
            </a:pPr>
            <a:r>
              <a:rPr lang="en-US" sz="1699" b="1" dirty="0">
                <a:solidFill>
                  <a:srgbClr val="F4F8FC"/>
                </a:solidFill>
                <a:latin typeface="Carlito" pitchFamily="34" charset="0"/>
                <a:ea typeface="Carlito" pitchFamily="34" charset="-122"/>
                <a:cs typeface="Carlito" pitchFamily="34" charset="-120"/>
              </a:rPr>
              <a:t>Better SOPs and OCR</a:t>
            </a:r>
            <a:endParaRPr lang="en-US" sz="1699" dirty="0"/>
          </a:p>
        </p:txBody>
      </p:sp>
      <p:sp>
        <p:nvSpPr>
          <p:cNvPr id="19" name="Text 16"/>
          <p:cNvSpPr/>
          <p:nvPr/>
        </p:nvSpPr>
        <p:spPr>
          <a:xfrm>
            <a:off x="1025893" y="5077035"/>
            <a:ext cx="10660854" cy="256473"/>
          </a:xfrm>
          <a:prstGeom prst="rect">
            <a:avLst/>
          </a:prstGeom>
          <a:noFill/>
          <a:ln/>
        </p:spPr>
        <p:txBody>
          <a:bodyPr wrap="square" lIns="0" tIns="0" rIns="0" bIns="0" rtlCol="0" anchor="t">
            <a:normAutofit/>
          </a:bodyPr>
          <a:lstStyle/>
          <a:p>
            <a:pPr>
              <a:lnSpc>
                <a:spcPts val="1819"/>
              </a:lnSpc>
            </a:pPr>
            <a:r>
              <a:rPr lang="en-US" sz="1300" dirty="0">
                <a:solidFill>
                  <a:srgbClr val="A9C1DD"/>
                </a:solidFill>
                <a:latin typeface="Carlito" pitchFamily="34" charset="0"/>
                <a:ea typeface="Carlito" pitchFamily="34" charset="-122"/>
                <a:cs typeface="Carlito" pitchFamily="34" charset="-120"/>
              </a:rPr>
              <a:t>Screen-tuned OCR and more polished SOP wording</a:t>
            </a:r>
            <a:endParaRPr lang="en-US" sz="1300" dirty="0"/>
          </a:p>
        </p:txBody>
      </p:sp>
      <p:pic>
        <p:nvPicPr>
          <p:cNvPr id="21" name="Picture 20" descr="nus_iss_logo_transparent.png">
            <a:extLst>
              <a:ext uri="{FF2B5EF4-FFF2-40B4-BE49-F238E27FC236}">
                <a16:creationId xmlns:a16="http://schemas.microsoft.com/office/drawing/2014/main" id="{815AE525-C87B-F1A5-40D0-E5297DCFA068}"/>
              </a:ext>
            </a:extLst>
          </p:cNvPr>
          <p:cNvPicPr>
            <a:picLocks noChangeAspect="1"/>
          </p:cNvPicPr>
          <p:nvPr/>
        </p:nvPicPr>
        <p:blipFill>
          <a:blip r:embed="rId4"/>
          <a:stretch>
            <a:fillRect/>
          </a:stretch>
        </p:blipFill>
        <p:spPr>
          <a:xfrm>
            <a:off x="9300327" y="185783"/>
            <a:ext cx="2514600" cy="585216"/>
          </a:xfrm>
          <a:prstGeom prst="rect">
            <a:avLst/>
          </a:prstGeom>
          <a:solidFill>
            <a:schemeClr val="bg2"/>
          </a:solid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5781</Words>
  <Application>Microsoft Office PowerPoint</Application>
  <PresentationFormat>Custom</PresentationFormat>
  <Paragraphs>665</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Carlito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Flow &amp; Tech Stack &amp; Challenges </vt:lpstr>
      <vt:lpstr>How a recording becomes an SOP</vt:lpstr>
      <vt:lpstr>Tech stack</vt:lpstr>
      <vt:lpstr>Deployment architecture</vt:lpstr>
      <vt:lpstr>From commit to running service</vt:lpstr>
      <vt:lpstr>Challenges &amp; solutions</vt:lpstr>
      <vt:lpstr>Challenges &amp; solutions</vt:lpstr>
      <vt:lpstr>Future work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Lakshmi Barthwal</dc:creator>
  <cp:keywords/>
  <dc:description>generated using python-pptx</dc:description>
  <cp:lastModifiedBy>Lakshmi Barthwal</cp:lastModifiedBy>
  <cp:revision>2</cp:revision>
  <dcterms:created xsi:type="dcterms:W3CDTF">2013-01-27T09:14:16Z</dcterms:created>
  <dcterms:modified xsi:type="dcterms:W3CDTF">2026-10-30T11:57:25Z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535040-0af2-483f-adc3-a132c21e3e2b_Enabled">
    <vt:lpwstr>true</vt:lpwstr>
  </property>
  <property fmtid="{D5CDD505-2E9C-101B-9397-08002B2CF9AE}" pid="3" name="MSIP_Label_2a535040-0af2-483f-adc3-a132c21e3e2b_SetDate">
    <vt:lpwstr>2026-10-30T11:56:38Z</vt:lpwstr>
  </property>
  <property fmtid="{D5CDD505-2E9C-101B-9397-08002B2CF9AE}" pid="4" name="MSIP_Label_2a535040-0af2-483f-adc3-a132c21e3e2b_Method">
    <vt:lpwstr>Standard</vt:lpwstr>
  </property>
  <property fmtid="{D5CDD505-2E9C-101B-9397-08002B2CF9AE}" pid="5" name="MSIP_Label_2a535040-0af2-483f-adc3-a132c21e3e2b_Name">
    <vt:lpwstr>EPAM_Confidential</vt:lpwstr>
  </property>
  <property fmtid="{D5CDD505-2E9C-101B-9397-08002B2CF9AE}" pid="6" name="MSIP_Label_2a535040-0af2-483f-adc3-a132c21e3e2b_SiteId">
    <vt:lpwstr>b41b72d0-4e9f-4c26-8a69-f949f367c91d</vt:lpwstr>
  </property>
  <property fmtid="{D5CDD505-2E9C-101B-9397-08002B2CF9AE}" pid="7" name="MSIP_Label_2a535040-0af2-483f-adc3-a132c21e3e2b_ActionId">
    <vt:lpwstr>1e2cef58-d6ec-463f-a526-e276282b5111</vt:lpwstr>
  </property>
  <property fmtid="{D5CDD505-2E9C-101B-9397-08002B2CF9AE}" pid="8" name="MSIP_Label_2a535040-0af2-483f-adc3-a132c21e3e2b_ContentBits">
    <vt:lpwstr>0</vt:lpwstr>
  </property>
  <property fmtid="{D5CDD505-2E9C-101B-9397-08002B2CF9AE}" pid="9" name="MSIP_Label_2a535040-0af2-483f-adc3-a132c21e3e2b_Tag">
    <vt:lpwstr>10, 3, 0, 1</vt:lpwstr>
  </property>
</Properties>
</file>