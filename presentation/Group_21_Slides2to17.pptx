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9"/>
    <p:sldId id="257" r:id="rId10"/>
    <p:sldId id="259" r:id="rId12"/>
    <p:sldId id="260" r:id="rId13"/>
    <p:sldId id="261" r:id="rId14"/>
    <p:sldId id="262" r:id="rId15"/>
    <p:sldId id="263" r:id="rId16"/>
    <p:sldId id="265" r:id="rId18"/>
    <p:sldId id="264" r:id="rId17"/>
    <p:sldId id="266" r:id="rId19"/>
    <p:sldId id="267" r:id="rId20"/>
    <p:sldId id="268" r:id="rId21"/>
    <p:sldId id="269" r:id="rId22"/>
    <p:sldId id="270" r:id="rId23"/>
    <p:sldId id="271" r:id="rId2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9.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9.xml"/><Relationship Id="rId18" Type="http://schemas.openxmlformats.org/officeDocument/2006/relationships/slide" Target="slides/slide8.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complete TRACE architecture. Read it left to right, top to bottom.</a:t>
            </a:r>
          </a:p>
          <a:p/>
          <a:p>
            <a:r>
              <a:t>Row 1 is the data plane: raw video and action logs come in on the left, flow through pre-processing, then feature extraction splits into six parallel modalities, feeds activity labels and a strict train-test split strategy on the right.</a:t>
            </a:r>
          </a:p>
          <a:p/>
          <a:p>
            <a:r>
              <a:t>Row 2 is the classification plane: the full one thousand three hundred and ninety one dimension feature vector enters the Multi-Tier Classifier. Tier 1 is classical ML, three scikit learn models. Tier 2 is deep learning, four Pie Torch models. Tier 3 is ensemble, voting and late fusion.</a:t>
            </a:r>
          </a:p>
          <a:p/>
          <a:p>
            <a:r>
              <a:t>Row 3 is the output plane: evaluation metrics on the left, workflow recognition in the centre, knowledge generation, S O P and runbook, on the right.</a:t>
            </a:r>
          </a:p>
          <a:p/>
          <a:p>
            <a:r>
              <a:t>The bottom strip is the infrastructure layer: FastAPI, PostgreSQL with P G vector, React, Docker, A W S, E C S, S three, GitHub Actions, and M L flow.</a:t>
            </a:r>
          </a:p>
          <a:p/>
          <a:p>
            <a:r>
              <a:t>Every colour in this diagram is intentional. Orange is Tier 1 and data flow. Cyan is Tier 2 and feature engineering. Purple is Tier 3 ensemble. Green is evaluation. The infrastructure strip is intentionally muted because it is a commodity layer.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summarises how we responded to the professor's feedback from our September presentation.</a:t>
            </a:r>
          </a:p>
          <a:p/>
          <a:p>
            <a:r>
              <a:t>We received five pieces of feedback. First, thirteen models was too many, the evaluation logic was hard to follow. We narrowed to six, with one to two models per tier, each directly mapped to a research question.</a:t>
            </a:r>
          </a:p>
          <a:p/>
          <a:p>
            <a:r>
              <a:t>Second, our scope was too ambitious. We moved Level 3 hierarchy and L L M generation to future work and focused the M V P on activity classification.</a:t>
            </a:r>
          </a:p>
          <a:p/>
          <a:p>
            <a:r>
              <a:t>Third, our diagram conflated training and inference. We separated them into two clear flows: data to fit to pickle for training, and video to features to predict for inference.</a:t>
            </a:r>
          </a:p>
          <a:p/>
          <a:p>
            <a:r>
              <a:t>Fourth, the professor asked us to show the dataset and class distribution before the model design. We reordered accordingly.</a:t>
            </a:r>
          </a:p>
          <a:p/>
          <a:p>
            <a:r>
              <a:t>Fifth, the link between feature modalities and classifiers was unclear. We added an explicit mapping table.</a:t>
            </a:r>
          </a:p>
          <a:p/>
          <a:p>
            <a:r>
              <a:t>The result: a tighter, more defensible scope with rigorous evaluation across six models.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professor asked us to narrow scope, so we picked six models that cover all three tiers and answer all three research questions with no overlap.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phases: raw recordings in, features extracted, six models trained, results measured. One command runs the whole pipeline end to end.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hundred and seventy seven expert task recordings across eight apps. V S Code and Open Shot dominate, so we use Macro F one, not accuracy, to treat every class equally.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cardinal rule: split at task level, never frame level. Frames from the same recording must never appear in both training and test.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O C R, Yolo widgets, and action log timing are extracted per task and concatenated into a single one thousand three hundred and ninety one dimensional vector, the input to every classifier.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tiers, all on the same feature vector. Classical scikit-learn in tier one, Pie Torch in tier two, ensembles in tier three combining all base outputs.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Radial Basis Function kernel maps our one thousand three hundred and ninety one dimensional vector into a higher space where eight activity classes become linearly separable. Our strongest classical single-model baseline.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 Forest votes across a hundred diverse trees. Decision Tree grows a single interpretable tree where every prediction has a clear if-else path.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hidden layers, Ray Lu, dropout, Adam optimiser. The em el pee is our sole tier two representative in the six selected models.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Soft voting averages probability distributions from all four base models and picks the highest. No extra training. Best Macro F one overall at zero point eight eight four.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is misleading here because V S Code alone is forty percent of the data. Macro F one weights every class equally, regardless of size.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Tier three Voting tops all six. Classical Random Forest beats em el pee here, small datasets favour engineered features over deep learning.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six models are dot pickle files. The backend loads from local disk or syncs from S three at startup. Inference is one in-memory call.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g_000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g_0002.png"/><Relationship Id="rId4" Type="http://schemas.openxmlformats.org/officeDocument/2006/relationships/image" Target="../media/img_000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g_0006.png"/><Relationship Id="rId3"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g_0007.png"/><Relationship Id="rId3"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g_0008.png"/><Relationship Id="rId3"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g_0009.png"/><Relationship Id="rId3"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g_0010.png"/><Relationship Id="rId3"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g_0012.png"/><Relationship Id="rId3"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g_0011.png"/><Relationship Id="rId3"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g_001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g_001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g_001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g_001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g_001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g_0018.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A57"/>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98448" cy="9144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530352"/>
          </a:xfrm>
          <a:prstGeom prst="rect">
            <a:avLst/>
          </a:prstGeom>
          <a:noFill/>
        </p:spPr>
        <p:txBody>
          <a:bodyPr wrap="square">
            <a:spAutoFit/>
          </a:bodyPr>
          <a:lstStyle/>
          <a:p>
            <a:pPr algn="l"/>
            <a:r>
              <a:rPr sz="2600" b="1" i="0">
                <a:solidFill>
                  <a:srgbClr val="F5A800"/>
                </a:solidFill>
              </a:rPr>
              <a:t>TRACE  —  System Architecture Overview</a:t>
            </a:r>
          </a:p>
        </p:txBody>
      </p:sp>
      <p:sp>
        <p:nvSpPr>
          <p:cNvPr id="5" name="TextBox 4"/>
          <p:cNvSpPr txBox="1"/>
          <p:nvPr/>
        </p:nvSpPr>
        <p:spPr>
          <a:xfrm>
            <a:off x="457200" y="640080"/>
            <a:ext cx="11247120" cy="329184"/>
          </a:xfrm>
          <a:prstGeom prst="rect">
            <a:avLst/>
          </a:prstGeom>
          <a:noFill/>
        </p:spPr>
        <p:txBody>
          <a:bodyPr wrap="square">
            <a:spAutoFit/>
          </a:bodyPr>
          <a:lstStyle/>
          <a:p>
            <a:pPr algn="l"/>
            <a:r>
              <a:rPr sz="1100" b="0" i="0">
                <a:solidFill>
                  <a:srgbClr val="C9DAEE"/>
                </a:solidFill>
              </a:rPr>
              <a:t>Five layers — each with a single responsibility and a well-defined contract</a:t>
            </a:r>
          </a:p>
        </p:txBody>
      </p:sp>
      <p:sp>
        <p:nvSpPr>
          <p:cNvPr id="6" name="Rectangle 5"/>
          <p:cNvSpPr/>
          <p:nvPr/>
        </p:nvSpPr>
        <p:spPr>
          <a:xfrm>
            <a:off x="0" y="6784848"/>
            <a:ext cx="12188952" cy="73152"/>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RACE_Architecture.png"/>
          <p:cNvPicPr>
            <a:picLocks noChangeAspect="1"/>
          </p:cNvPicPr>
          <p:nvPr/>
        </p:nvPicPr>
        <p:blipFill>
          <a:blip r:embed="rId2"/>
          <a:stretch>
            <a:fillRect/>
          </a:stretch>
        </p:blipFill>
        <p:spPr>
          <a:xfrm>
            <a:off x="274320" y="960120"/>
            <a:ext cx="11640312" cy="56235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3D7C"/>
        </a:solidFill>
        <a:effectLst/>
      </p:bgPr>
    </p:bg>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91440"/>
            <a:ext cx="8686800" cy="640080"/>
          </a:xfrm>
          <a:prstGeom prst="rect">
            <a:avLst/>
          </a:prstGeom>
          <a:noFill/>
        </p:spPr>
        <p:txBody>
          <a:bodyPr wrap="square">
            <a:spAutoFit/>
          </a:bodyPr>
          <a:lstStyle/>
          <a:p>
            <a:pPr algn="l">
              <a:defRPr sz="3200" b="1">
                <a:solidFill>
                  <a:srgbClr val="FFFFFF"/>
                </a:solidFill>
                <a:latin typeface="Calibri"/>
              </a:defRPr>
            </a:pPr>
            <a:r>
              <a:t>Acting on Feedback — From Breadth to Depth</a:t>
            </a:r>
          </a:p>
        </p:txBody>
      </p:sp>
      <p:sp>
        <p:nvSpPr>
          <p:cNvPr id="7" name="TextBox 6"/>
          <p:cNvSpPr txBox="1"/>
          <p:nvPr/>
        </p:nvSpPr>
        <p:spPr>
          <a:xfrm>
            <a:off x="1188720" y="594360"/>
            <a:ext cx="8686800" cy="457200"/>
          </a:xfrm>
          <a:prstGeom prst="rect">
            <a:avLst/>
          </a:prstGeom>
          <a:noFill/>
        </p:spPr>
        <p:txBody>
          <a:bodyPr wrap="square">
            <a:spAutoFit/>
          </a:bodyPr>
          <a:lstStyle/>
          <a:p>
            <a:pPr algn="l">
              <a:defRPr sz="2000" b="0">
                <a:solidFill>
                  <a:srgbClr val="FFFFFF"/>
                </a:solidFill>
                <a:latin typeface="Calibri"/>
              </a:defRPr>
            </a:pPr>
            <a:r>
              <a:t>Sep 30: First presentation feedback → Oct 2026: MVP scope implemented</a:t>
            </a:r>
          </a:p>
        </p:txBody>
      </p:sp>
      <p:sp>
        <p:nvSpPr>
          <p:cNvPr id="8" name="Rectangle 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0" name="Rounded Rectangle 9"/>
          <p:cNvSpPr/>
          <p:nvPr/>
        </p:nvSpPr>
        <p:spPr>
          <a:xfrm>
            <a:off x="1332412" y="1344168"/>
            <a:ext cx="8503920" cy="274320"/>
          </a:xfrm>
          <a:prstGeom prst="roundRect">
            <a:avLst/>
          </a:prstGeom>
          <a:solidFill>
            <a:srgbClr val="1A3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61012" y="1389888"/>
            <a:ext cx="2194560" cy="201168"/>
          </a:xfrm>
          <a:prstGeom prst="rect">
            <a:avLst/>
          </a:prstGeom>
          <a:noFill/>
        </p:spPr>
        <p:txBody>
          <a:bodyPr wrap="square">
            <a:spAutoFit/>
          </a:bodyPr>
          <a:lstStyle/>
          <a:p>
            <a:pPr algn="l">
              <a:defRPr sz="900" b="0">
                <a:solidFill>
                  <a:srgbClr val="CCCCCC"/>
                </a:solidFill>
                <a:latin typeface="Calibri"/>
              </a:defRPr>
            </a:pPr>
            <a:r>
              <a:t>Sep 30 — First Presentation</a:t>
            </a:r>
          </a:p>
        </p:txBody>
      </p:sp>
      <p:sp>
        <p:nvSpPr>
          <p:cNvPr id="12" name="TextBox 11"/>
          <p:cNvSpPr txBox="1"/>
          <p:nvPr/>
        </p:nvSpPr>
        <p:spPr>
          <a:xfrm>
            <a:off x="4487092" y="1389888"/>
            <a:ext cx="2194560" cy="201168"/>
          </a:xfrm>
          <a:prstGeom prst="rect">
            <a:avLst/>
          </a:prstGeom>
          <a:noFill/>
        </p:spPr>
        <p:txBody>
          <a:bodyPr wrap="square">
            <a:spAutoFit/>
          </a:bodyPr>
          <a:lstStyle/>
          <a:p>
            <a:pPr algn="l">
              <a:defRPr sz="900" b="1">
                <a:solidFill>
                  <a:srgbClr val="FFFFFF"/>
                </a:solidFill>
                <a:latin typeface="Calibri"/>
              </a:defRPr>
            </a:pPr>
            <a:r>
              <a:t>→</a:t>
            </a:r>
          </a:p>
        </p:txBody>
      </p:sp>
      <p:sp>
        <p:nvSpPr>
          <p:cNvPr id="13" name="TextBox 12"/>
          <p:cNvSpPr txBox="1"/>
          <p:nvPr/>
        </p:nvSpPr>
        <p:spPr>
          <a:xfrm>
            <a:off x="4944292" y="1389888"/>
            <a:ext cx="2194560" cy="201168"/>
          </a:xfrm>
          <a:prstGeom prst="rect">
            <a:avLst/>
          </a:prstGeom>
          <a:noFill/>
        </p:spPr>
        <p:txBody>
          <a:bodyPr wrap="square">
            <a:spAutoFit/>
          </a:bodyPr>
          <a:lstStyle/>
          <a:p>
            <a:pPr algn="l">
              <a:defRPr sz="900" b="0">
                <a:solidFill>
                  <a:srgbClr val="FFC107"/>
                </a:solidFill>
                <a:latin typeface="Calibri"/>
              </a:defRPr>
            </a:pPr>
            <a:r>
              <a:t>Professor Feedback Received</a:t>
            </a:r>
          </a:p>
        </p:txBody>
      </p:sp>
      <p:sp>
        <p:nvSpPr>
          <p:cNvPr id="14" name="TextBox 13"/>
          <p:cNvSpPr txBox="1"/>
          <p:nvPr/>
        </p:nvSpPr>
        <p:spPr>
          <a:xfrm>
            <a:off x="7321732" y="1389888"/>
            <a:ext cx="2194560" cy="201168"/>
          </a:xfrm>
          <a:prstGeom prst="rect">
            <a:avLst/>
          </a:prstGeom>
          <a:noFill/>
        </p:spPr>
        <p:txBody>
          <a:bodyPr wrap="square">
            <a:spAutoFit/>
          </a:bodyPr>
          <a:lstStyle/>
          <a:p>
            <a:pPr algn="l">
              <a:defRPr sz="900" b="1">
                <a:solidFill>
                  <a:srgbClr val="FFFFFF"/>
                </a:solidFill>
                <a:latin typeface="Calibri"/>
              </a:defRPr>
            </a:pPr>
            <a:r>
              <a:t>→</a:t>
            </a:r>
          </a:p>
        </p:txBody>
      </p:sp>
      <p:sp>
        <p:nvSpPr>
          <p:cNvPr id="15" name="TextBox 14"/>
          <p:cNvSpPr txBox="1"/>
          <p:nvPr/>
        </p:nvSpPr>
        <p:spPr>
          <a:xfrm>
            <a:off x="7778932" y="1389888"/>
            <a:ext cx="2194560" cy="201168"/>
          </a:xfrm>
          <a:prstGeom prst="rect">
            <a:avLst/>
          </a:prstGeom>
          <a:noFill/>
        </p:spPr>
        <p:txBody>
          <a:bodyPr wrap="square">
            <a:spAutoFit/>
          </a:bodyPr>
          <a:lstStyle/>
          <a:p>
            <a:pPr algn="l">
              <a:defRPr sz="900" b="0">
                <a:solidFill>
                  <a:srgbClr val="28A745"/>
                </a:solidFill>
                <a:latin typeface="Calibri"/>
              </a:defRPr>
            </a:pPr>
            <a:r>
              <a:t>Oct 2026 — MVP Implemented</a:t>
            </a:r>
          </a:p>
        </p:txBody>
      </p:sp>
      <p:sp>
        <p:nvSpPr>
          <p:cNvPr id="16" name="Rounded Rectangle 15"/>
          <p:cNvSpPr/>
          <p:nvPr/>
        </p:nvSpPr>
        <p:spPr>
          <a:xfrm>
            <a:off x="4258492" y="1691640"/>
            <a:ext cx="2651760" cy="438912"/>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04212" y="1737360"/>
            <a:ext cx="914400" cy="320040"/>
          </a:xfrm>
          <a:prstGeom prst="rect">
            <a:avLst/>
          </a:prstGeom>
          <a:noFill/>
        </p:spPr>
        <p:txBody>
          <a:bodyPr wrap="square">
            <a:spAutoFit/>
          </a:bodyPr>
          <a:lstStyle/>
          <a:p>
            <a:pPr algn="ctr">
              <a:defRPr sz="1300" b="1">
                <a:solidFill>
                  <a:srgbClr val="CC2233"/>
                </a:solidFill>
                <a:latin typeface="Calibri"/>
              </a:defRPr>
            </a:pPr>
            <a:r>
              <a:t>13 models</a:t>
            </a:r>
          </a:p>
        </p:txBody>
      </p:sp>
      <p:sp>
        <p:nvSpPr>
          <p:cNvPr id="18" name="TextBox 17"/>
          <p:cNvSpPr txBox="1"/>
          <p:nvPr/>
        </p:nvSpPr>
        <p:spPr>
          <a:xfrm>
            <a:off x="5172892" y="1737360"/>
            <a:ext cx="457200" cy="320040"/>
          </a:xfrm>
          <a:prstGeom prst="rect">
            <a:avLst/>
          </a:prstGeom>
          <a:noFill/>
        </p:spPr>
        <p:txBody>
          <a:bodyPr wrap="square">
            <a:spAutoFit/>
          </a:bodyPr>
          <a:lstStyle/>
          <a:p>
            <a:pPr algn="ctr">
              <a:defRPr sz="1800" b="1">
                <a:solidFill>
                  <a:srgbClr val="FFFFFF"/>
                </a:solidFill>
                <a:latin typeface="Calibri"/>
              </a:defRPr>
            </a:pPr>
            <a:r>
              <a:t>→</a:t>
            </a:r>
          </a:p>
        </p:txBody>
      </p:sp>
      <p:sp>
        <p:nvSpPr>
          <p:cNvPr id="19" name="TextBox 18"/>
          <p:cNvSpPr txBox="1"/>
          <p:nvPr/>
        </p:nvSpPr>
        <p:spPr>
          <a:xfrm>
            <a:off x="5584372" y="1737360"/>
            <a:ext cx="1188720" cy="320040"/>
          </a:xfrm>
          <a:prstGeom prst="rect">
            <a:avLst/>
          </a:prstGeom>
          <a:noFill/>
        </p:spPr>
        <p:txBody>
          <a:bodyPr wrap="square">
            <a:spAutoFit/>
          </a:bodyPr>
          <a:lstStyle/>
          <a:p>
            <a:pPr algn="ctr">
              <a:defRPr sz="1300" b="1">
                <a:solidFill>
                  <a:srgbClr val="28A745"/>
                </a:solidFill>
                <a:latin typeface="Calibri"/>
              </a:defRPr>
            </a:pPr>
            <a:r>
              <a:t>6 models</a:t>
            </a:r>
          </a:p>
        </p:txBody>
      </p:sp>
      <p:sp>
        <p:nvSpPr>
          <p:cNvPr id="20" name="Rounded Rectangle 19"/>
          <p:cNvSpPr/>
          <p:nvPr/>
        </p:nvSpPr>
        <p:spPr>
          <a:xfrm>
            <a:off x="1332412" y="2121408"/>
            <a:ext cx="3977639" cy="329184"/>
          </a:xfrm>
          <a:prstGeom prst="roundRect">
            <a:avLst/>
          </a:prstGeom>
          <a:solidFill>
            <a:srgbClr val="B51C1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  BEFORE — Professor Feedback  (Sep 30)</a:t>
            </a:r>
          </a:p>
        </p:txBody>
      </p:sp>
      <p:sp>
        <p:nvSpPr>
          <p:cNvPr id="21" name="Rounded Rectangle 20"/>
          <p:cNvSpPr/>
          <p:nvPr/>
        </p:nvSpPr>
        <p:spPr>
          <a:xfrm>
            <a:off x="5675812" y="2121408"/>
            <a:ext cx="3977639" cy="329184"/>
          </a:xfrm>
          <a:prstGeom prst="roundRect">
            <a:avLst/>
          </a:prstGeom>
          <a:solidFill>
            <a:srgbClr val="147A3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  AFTER — Team Response  (Oct 2026)</a:t>
            </a:r>
          </a:p>
        </p:txBody>
      </p:sp>
      <p:sp>
        <p:nvSpPr>
          <p:cNvPr id="22" name="Rounded Rectangle 21"/>
          <p:cNvSpPr/>
          <p:nvPr/>
        </p:nvSpPr>
        <p:spPr>
          <a:xfrm>
            <a:off x="1332412" y="2450592"/>
            <a:ext cx="3977639" cy="3401568"/>
          </a:xfrm>
          <a:prstGeom prst="roundRect">
            <a:avLst/>
          </a:prstGeom>
          <a:solidFill>
            <a:srgbClr val="FDE8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5675812" y="2450592"/>
            <a:ext cx="3977639" cy="340156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1423852" y="2505456"/>
            <a:ext cx="256032" cy="256032"/>
          </a:xfrm>
          <a:prstGeom prst="roundRect">
            <a:avLst/>
          </a:prstGeom>
          <a:solidFill>
            <a:srgbClr val="B51C1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defRPr>
            </a:pPr>
            <a:r>
              <a:t>1</a:t>
            </a:r>
          </a:p>
        </p:txBody>
      </p:sp>
      <p:sp>
        <p:nvSpPr>
          <p:cNvPr id="25" name="TextBox 24"/>
          <p:cNvSpPr txBox="1"/>
          <p:nvPr/>
        </p:nvSpPr>
        <p:spPr>
          <a:xfrm>
            <a:off x="1753036" y="2459736"/>
            <a:ext cx="3502151" cy="219456"/>
          </a:xfrm>
          <a:prstGeom prst="rect">
            <a:avLst/>
          </a:prstGeom>
          <a:noFill/>
        </p:spPr>
        <p:txBody>
          <a:bodyPr wrap="square">
            <a:spAutoFit/>
          </a:bodyPr>
          <a:lstStyle/>
          <a:p>
            <a:pPr algn="l">
              <a:defRPr sz="1000" b="1">
                <a:solidFill>
                  <a:srgbClr val="B51C1C"/>
                </a:solidFill>
                <a:latin typeface="Calibri"/>
              </a:defRPr>
            </a:pPr>
            <a:r>
              <a:t>Too many models</a:t>
            </a:r>
          </a:p>
        </p:txBody>
      </p:sp>
      <p:sp>
        <p:nvSpPr>
          <p:cNvPr id="26" name="TextBox 25"/>
          <p:cNvSpPr txBox="1"/>
          <p:nvPr/>
        </p:nvSpPr>
        <p:spPr>
          <a:xfrm>
            <a:off x="1753036" y="2679192"/>
            <a:ext cx="3502151" cy="237744"/>
          </a:xfrm>
          <a:prstGeom prst="rect">
            <a:avLst/>
          </a:prstGeom>
          <a:noFill/>
        </p:spPr>
        <p:txBody>
          <a:bodyPr wrap="square">
            <a:spAutoFit/>
          </a:bodyPr>
          <a:lstStyle/>
          <a:p>
            <a:pPr algn="l">
              <a:defRPr sz="900" b="0">
                <a:solidFill>
                  <a:srgbClr val="002A55"/>
                </a:solidFill>
                <a:latin typeface="Calibri"/>
              </a:defRPr>
            </a:pPr>
            <a:r>
              <a:t>13+ classifiers at once — audience cannot follow the logic.</a:t>
            </a:r>
          </a:p>
        </p:txBody>
      </p:sp>
      <p:sp>
        <p:nvSpPr>
          <p:cNvPr id="27" name="Rounded Rectangle 26"/>
          <p:cNvSpPr/>
          <p:nvPr/>
        </p:nvSpPr>
        <p:spPr>
          <a:xfrm>
            <a:off x="5767252" y="2505456"/>
            <a:ext cx="256032" cy="256032"/>
          </a:xfrm>
          <a:prstGeom prst="roundRect">
            <a:avLst/>
          </a:prstGeom>
          <a:solidFill>
            <a:srgbClr val="147A3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defRPr>
            </a:pPr>
            <a:r>
              <a:t>1</a:t>
            </a:r>
          </a:p>
        </p:txBody>
      </p:sp>
      <p:sp>
        <p:nvSpPr>
          <p:cNvPr id="28" name="TextBox 27"/>
          <p:cNvSpPr txBox="1"/>
          <p:nvPr/>
        </p:nvSpPr>
        <p:spPr>
          <a:xfrm>
            <a:off x="6096436" y="2459736"/>
            <a:ext cx="3502151" cy="219456"/>
          </a:xfrm>
          <a:prstGeom prst="rect">
            <a:avLst/>
          </a:prstGeom>
          <a:noFill/>
        </p:spPr>
        <p:txBody>
          <a:bodyPr wrap="square">
            <a:spAutoFit/>
          </a:bodyPr>
          <a:lstStyle/>
          <a:p>
            <a:pPr algn="l">
              <a:defRPr sz="1000" b="1">
                <a:solidFill>
                  <a:srgbClr val="147A3A"/>
                </a:solidFill>
                <a:latin typeface="Calibri"/>
              </a:defRPr>
            </a:pPr>
            <a:r>
              <a:t>Narrowed to 6 representative models</a:t>
            </a:r>
          </a:p>
        </p:txBody>
      </p:sp>
      <p:sp>
        <p:nvSpPr>
          <p:cNvPr id="29" name="TextBox 28"/>
          <p:cNvSpPr txBox="1"/>
          <p:nvPr/>
        </p:nvSpPr>
        <p:spPr>
          <a:xfrm>
            <a:off x="6096436" y="2679192"/>
            <a:ext cx="3502151" cy="237744"/>
          </a:xfrm>
          <a:prstGeom prst="rect">
            <a:avLst/>
          </a:prstGeom>
          <a:noFill/>
        </p:spPr>
        <p:txBody>
          <a:bodyPr wrap="square">
            <a:spAutoFit/>
          </a:bodyPr>
          <a:lstStyle/>
          <a:p>
            <a:pPr algn="l">
              <a:defRPr sz="900" b="0">
                <a:solidFill>
                  <a:srgbClr val="002A55"/>
                </a:solidFill>
                <a:latin typeface="Calibri"/>
              </a:defRPr>
            </a:pPr>
            <a:r>
              <a:t>1–2 per tier, each mapped to a research question.</a:t>
            </a:r>
          </a:p>
        </p:txBody>
      </p:sp>
      <p:sp>
        <p:nvSpPr>
          <p:cNvPr id="30" name="Rounded Rectangle 29"/>
          <p:cNvSpPr/>
          <p:nvPr/>
        </p:nvSpPr>
        <p:spPr>
          <a:xfrm>
            <a:off x="1423852" y="3099816"/>
            <a:ext cx="256032" cy="256032"/>
          </a:xfrm>
          <a:prstGeom prst="roundRect">
            <a:avLst/>
          </a:prstGeom>
          <a:solidFill>
            <a:srgbClr val="B51C1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defRPr>
            </a:pPr>
            <a:r>
              <a:t>2</a:t>
            </a:r>
          </a:p>
        </p:txBody>
      </p:sp>
      <p:sp>
        <p:nvSpPr>
          <p:cNvPr id="31" name="TextBox 30"/>
          <p:cNvSpPr txBox="1"/>
          <p:nvPr/>
        </p:nvSpPr>
        <p:spPr>
          <a:xfrm>
            <a:off x="1753036" y="3054096"/>
            <a:ext cx="3502151" cy="219456"/>
          </a:xfrm>
          <a:prstGeom prst="rect">
            <a:avLst/>
          </a:prstGeom>
          <a:noFill/>
        </p:spPr>
        <p:txBody>
          <a:bodyPr wrap="square">
            <a:spAutoFit/>
          </a:bodyPr>
          <a:lstStyle/>
          <a:p>
            <a:pPr algn="l">
              <a:defRPr sz="1000" b="1">
                <a:solidFill>
                  <a:srgbClr val="B51C1C"/>
                </a:solidFill>
                <a:latin typeface="Calibri"/>
              </a:defRPr>
            </a:pPr>
            <a:r>
              <a:t>Scope too ambitious</a:t>
            </a:r>
          </a:p>
        </p:txBody>
      </p:sp>
      <p:sp>
        <p:nvSpPr>
          <p:cNvPr id="32" name="TextBox 31"/>
          <p:cNvSpPr txBox="1"/>
          <p:nvPr/>
        </p:nvSpPr>
        <p:spPr>
          <a:xfrm>
            <a:off x="1753036" y="3273552"/>
            <a:ext cx="3502151" cy="237744"/>
          </a:xfrm>
          <a:prstGeom prst="rect">
            <a:avLst/>
          </a:prstGeom>
          <a:noFill/>
        </p:spPr>
        <p:txBody>
          <a:bodyPr wrap="square">
            <a:spAutoFit/>
          </a:bodyPr>
          <a:lstStyle/>
          <a:p>
            <a:pPr algn="l">
              <a:defRPr sz="900" b="0">
                <a:solidFill>
                  <a:srgbClr val="002A55"/>
                </a:solidFill>
                <a:latin typeface="Calibri"/>
              </a:defRPr>
            </a:pPr>
            <a:r>
              <a:t>4-level hierarchy + LLM generation not feasible in one semester.</a:t>
            </a:r>
          </a:p>
        </p:txBody>
      </p:sp>
      <p:sp>
        <p:nvSpPr>
          <p:cNvPr id="33" name="Rounded Rectangle 32"/>
          <p:cNvSpPr/>
          <p:nvPr/>
        </p:nvSpPr>
        <p:spPr>
          <a:xfrm>
            <a:off x="5767252" y="3099816"/>
            <a:ext cx="256032" cy="256032"/>
          </a:xfrm>
          <a:prstGeom prst="roundRect">
            <a:avLst/>
          </a:prstGeom>
          <a:solidFill>
            <a:srgbClr val="147A3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defRPr>
            </a:pPr>
            <a:r>
              <a:t>2</a:t>
            </a:r>
          </a:p>
        </p:txBody>
      </p:sp>
      <p:sp>
        <p:nvSpPr>
          <p:cNvPr id="34" name="TextBox 33"/>
          <p:cNvSpPr txBox="1"/>
          <p:nvPr/>
        </p:nvSpPr>
        <p:spPr>
          <a:xfrm>
            <a:off x="6096436" y="3054096"/>
            <a:ext cx="3502151" cy="219456"/>
          </a:xfrm>
          <a:prstGeom prst="rect">
            <a:avLst/>
          </a:prstGeom>
          <a:noFill/>
        </p:spPr>
        <p:txBody>
          <a:bodyPr wrap="square">
            <a:spAutoFit/>
          </a:bodyPr>
          <a:lstStyle/>
          <a:p>
            <a:pPr algn="l">
              <a:defRPr sz="1000" b="1">
                <a:solidFill>
                  <a:srgbClr val="147A3A"/>
                </a:solidFill>
                <a:latin typeface="Calibri"/>
              </a:defRPr>
            </a:pPr>
            <a:r>
              <a:t>Activity classification only (MVP)</a:t>
            </a:r>
          </a:p>
        </p:txBody>
      </p:sp>
      <p:sp>
        <p:nvSpPr>
          <p:cNvPr id="35" name="TextBox 34"/>
          <p:cNvSpPr txBox="1"/>
          <p:nvPr/>
        </p:nvSpPr>
        <p:spPr>
          <a:xfrm>
            <a:off x="6096436" y="3273552"/>
            <a:ext cx="3502151" cy="237744"/>
          </a:xfrm>
          <a:prstGeom prst="rect">
            <a:avLst/>
          </a:prstGeom>
          <a:noFill/>
        </p:spPr>
        <p:txBody>
          <a:bodyPr wrap="square">
            <a:spAutoFit/>
          </a:bodyPr>
          <a:lstStyle/>
          <a:p>
            <a:pPr algn="l">
              <a:defRPr sz="900" b="0">
                <a:solidFill>
                  <a:srgbClr val="002A55"/>
                </a:solidFill>
                <a:latin typeface="Calibri"/>
              </a:defRPr>
            </a:pPr>
            <a:r>
              <a:t>Level 3 &amp; LLM generation moved to future work.</a:t>
            </a:r>
          </a:p>
        </p:txBody>
      </p:sp>
      <p:sp>
        <p:nvSpPr>
          <p:cNvPr id="36" name="Rounded Rectangle 35"/>
          <p:cNvSpPr/>
          <p:nvPr/>
        </p:nvSpPr>
        <p:spPr>
          <a:xfrm>
            <a:off x="1423852" y="3694176"/>
            <a:ext cx="256032" cy="256032"/>
          </a:xfrm>
          <a:prstGeom prst="roundRect">
            <a:avLst/>
          </a:prstGeom>
          <a:solidFill>
            <a:srgbClr val="B51C1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defRPr>
            </a:pPr>
            <a:r>
              <a:t>3</a:t>
            </a:r>
          </a:p>
        </p:txBody>
      </p:sp>
      <p:sp>
        <p:nvSpPr>
          <p:cNvPr id="37" name="TextBox 36"/>
          <p:cNvSpPr txBox="1"/>
          <p:nvPr/>
        </p:nvSpPr>
        <p:spPr>
          <a:xfrm>
            <a:off x="1753036" y="3648456"/>
            <a:ext cx="3502151" cy="219456"/>
          </a:xfrm>
          <a:prstGeom prst="rect">
            <a:avLst/>
          </a:prstGeom>
          <a:noFill/>
        </p:spPr>
        <p:txBody>
          <a:bodyPr wrap="square">
            <a:spAutoFit/>
          </a:bodyPr>
          <a:lstStyle/>
          <a:p>
            <a:pPr algn="l">
              <a:defRPr sz="1000" b="1">
                <a:solidFill>
                  <a:srgbClr val="B51C1C"/>
                </a:solidFill>
                <a:latin typeface="Calibri"/>
              </a:defRPr>
            </a:pPr>
            <a:r>
              <a:t>Training ≠ Inference</a:t>
            </a:r>
          </a:p>
        </p:txBody>
      </p:sp>
      <p:sp>
        <p:nvSpPr>
          <p:cNvPr id="38" name="TextBox 37"/>
          <p:cNvSpPr txBox="1"/>
          <p:nvPr/>
        </p:nvSpPr>
        <p:spPr>
          <a:xfrm>
            <a:off x="1753036" y="3867912"/>
            <a:ext cx="3502151" cy="237744"/>
          </a:xfrm>
          <a:prstGeom prst="rect">
            <a:avLst/>
          </a:prstGeom>
          <a:noFill/>
        </p:spPr>
        <p:txBody>
          <a:bodyPr wrap="square">
            <a:spAutoFit/>
          </a:bodyPr>
          <a:lstStyle/>
          <a:p>
            <a:pPr algn="l">
              <a:defRPr sz="900" b="0">
                <a:solidFill>
                  <a:srgbClr val="002A55"/>
                </a:solidFill>
                <a:latin typeface="Calibri"/>
              </a:defRPr>
            </a:pPr>
            <a:r>
              <a:t>Diagram conflated training and inference pipelines.</a:t>
            </a:r>
          </a:p>
        </p:txBody>
      </p:sp>
      <p:sp>
        <p:nvSpPr>
          <p:cNvPr id="39" name="Rounded Rectangle 38"/>
          <p:cNvSpPr/>
          <p:nvPr/>
        </p:nvSpPr>
        <p:spPr>
          <a:xfrm>
            <a:off x="5767252" y="3694176"/>
            <a:ext cx="256032" cy="256032"/>
          </a:xfrm>
          <a:prstGeom prst="roundRect">
            <a:avLst/>
          </a:prstGeom>
          <a:solidFill>
            <a:srgbClr val="147A3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defRPr>
            </a:pPr>
            <a:r>
              <a:t>3</a:t>
            </a:r>
          </a:p>
        </p:txBody>
      </p:sp>
      <p:sp>
        <p:nvSpPr>
          <p:cNvPr id="40" name="TextBox 39"/>
          <p:cNvSpPr txBox="1"/>
          <p:nvPr/>
        </p:nvSpPr>
        <p:spPr>
          <a:xfrm>
            <a:off x="6096436" y="3648456"/>
            <a:ext cx="3502151" cy="219456"/>
          </a:xfrm>
          <a:prstGeom prst="rect">
            <a:avLst/>
          </a:prstGeom>
          <a:noFill/>
        </p:spPr>
        <p:txBody>
          <a:bodyPr wrap="square">
            <a:spAutoFit/>
          </a:bodyPr>
          <a:lstStyle/>
          <a:p>
            <a:pPr algn="l">
              <a:defRPr sz="1000" b="1">
                <a:solidFill>
                  <a:srgbClr val="147A3A"/>
                </a:solidFill>
                <a:latin typeface="Calibri"/>
              </a:defRPr>
            </a:pPr>
            <a:r>
              <a:t>Separated train vs. inference</a:t>
            </a:r>
          </a:p>
        </p:txBody>
      </p:sp>
      <p:sp>
        <p:nvSpPr>
          <p:cNvPr id="41" name="TextBox 40"/>
          <p:cNvSpPr txBox="1"/>
          <p:nvPr/>
        </p:nvSpPr>
        <p:spPr>
          <a:xfrm>
            <a:off x="6096436" y="3867912"/>
            <a:ext cx="3502151" cy="237744"/>
          </a:xfrm>
          <a:prstGeom prst="rect">
            <a:avLst/>
          </a:prstGeom>
          <a:noFill/>
        </p:spPr>
        <p:txBody>
          <a:bodyPr wrap="square">
            <a:spAutoFit/>
          </a:bodyPr>
          <a:lstStyle/>
          <a:p>
            <a:pPr algn="l">
              <a:defRPr sz="900" b="0">
                <a:solidFill>
                  <a:srgbClr val="002A55"/>
                </a:solidFill>
                <a:latin typeface="Calibri"/>
              </a:defRPr>
            </a:pPr>
            <a:r>
              <a:t>Two diagrams: data→fit→.pkl | video→features→predict.</a:t>
            </a:r>
          </a:p>
        </p:txBody>
      </p:sp>
      <p:sp>
        <p:nvSpPr>
          <p:cNvPr id="42" name="Rounded Rectangle 41"/>
          <p:cNvSpPr/>
          <p:nvPr/>
        </p:nvSpPr>
        <p:spPr>
          <a:xfrm>
            <a:off x="1423852" y="4288536"/>
            <a:ext cx="256032" cy="256032"/>
          </a:xfrm>
          <a:prstGeom prst="roundRect">
            <a:avLst/>
          </a:prstGeom>
          <a:solidFill>
            <a:srgbClr val="B51C1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defRPr>
            </a:pPr>
            <a:r>
              <a:t>4</a:t>
            </a:r>
          </a:p>
        </p:txBody>
      </p:sp>
      <p:sp>
        <p:nvSpPr>
          <p:cNvPr id="43" name="TextBox 42"/>
          <p:cNvSpPr txBox="1"/>
          <p:nvPr/>
        </p:nvSpPr>
        <p:spPr>
          <a:xfrm>
            <a:off x="1753036" y="4242816"/>
            <a:ext cx="3502151" cy="219456"/>
          </a:xfrm>
          <a:prstGeom prst="rect">
            <a:avLst/>
          </a:prstGeom>
          <a:noFill/>
        </p:spPr>
        <p:txBody>
          <a:bodyPr wrap="square">
            <a:spAutoFit/>
          </a:bodyPr>
          <a:lstStyle/>
          <a:p>
            <a:pPr algn="l">
              <a:defRPr sz="1000" b="1">
                <a:solidFill>
                  <a:srgbClr val="B51C1C"/>
                </a:solidFill>
                <a:latin typeface="Calibri"/>
              </a:defRPr>
            </a:pPr>
            <a:r>
              <a:t>Dataset must come first</a:t>
            </a:r>
          </a:p>
        </p:txBody>
      </p:sp>
      <p:sp>
        <p:nvSpPr>
          <p:cNvPr id="44" name="TextBox 43"/>
          <p:cNvSpPr txBox="1"/>
          <p:nvPr/>
        </p:nvSpPr>
        <p:spPr>
          <a:xfrm>
            <a:off x="1753036" y="4462272"/>
            <a:ext cx="3502151" cy="237744"/>
          </a:xfrm>
          <a:prstGeom prst="rect">
            <a:avLst/>
          </a:prstGeom>
          <a:noFill/>
        </p:spPr>
        <p:txBody>
          <a:bodyPr wrap="square">
            <a:spAutoFit/>
          </a:bodyPr>
          <a:lstStyle/>
          <a:p>
            <a:pPr algn="l">
              <a:defRPr sz="900" b="0">
                <a:solidFill>
                  <a:srgbClr val="002A55"/>
                </a:solidFill>
                <a:latin typeface="Calibri"/>
              </a:defRPr>
            </a:pPr>
            <a:r>
              <a:t>Class distribution must precede model descriptions.</a:t>
            </a:r>
          </a:p>
        </p:txBody>
      </p:sp>
      <p:sp>
        <p:nvSpPr>
          <p:cNvPr id="45" name="Rounded Rectangle 44"/>
          <p:cNvSpPr/>
          <p:nvPr/>
        </p:nvSpPr>
        <p:spPr>
          <a:xfrm>
            <a:off x="5767252" y="4288536"/>
            <a:ext cx="256032" cy="256032"/>
          </a:xfrm>
          <a:prstGeom prst="roundRect">
            <a:avLst/>
          </a:prstGeom>
          <a:solidFill>
            <a:srgbClr val="147A3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defRPr>
            </a:pPr>
            <a:r>
              <a:t>4</a:t>
            </a:r>
          </a:p>
        </p:txBody>
      </p:sp>
      <p:sp>
        <p:nvSpPr>
          <p:cNvPr id="46" name="TextBox 45"/>
          <p:cNvSpPr txBox="1"/>
          <p:nvPr/>
        </p:nvSpPr>
        <p:spPr>
          <a:xfrm>
            <a:off x="6096436" y="4242816"/>
            <a:ext cx="3502151" cy="219456"/>
          </a:xfrm>
          <a:prstGeom prst="rect">
            <a:avLst/>
          </a:prstGeom>
          <a:noFill/>
        </p:spPr>
        <p:txBody>
          <a:bodyPr wrap="square">
            <a:spAutoFit/>
          </a:bodyPr>
          <a:lstStyle/>
          <a:p>
            <a:pPr algn="l">
              <a:defRPr sz="1000" b="1">
                <a:solidFill>
                  <a:srgbClr val="147A3A"/>
                </a:solidFill>
                <a:latin typeface="Calibri"/>
              </a:defRPr>
            </a:pPr>
            <a:r>
              <a:t>Reordered presentation</a:t>
            </a:r>
          </a:p>
        </p:txBody>
      </p:sp>
      <p:sp>
        <p:nvSpPr>
          <p:cNvPr id="47" name="TextBox 46"/>
          <p:cNvSpPr txBox="1"/>
          <p:nvPr/>
        </p:nvSpPr>
        <p:spPr>
          <a:xfrm>
            <a:off x="6096436" y="4462272"/>
            <a:ext cx="3502151" cy="237744"/>
          </a:xfrm>
          <a:prstGeom prst="rect">
            <a:avLst/>
          </a:prstGeom>
          <a:noFill/>
        </p:spPr>
        <p:txBody>
          <a:bodyPr wrap="square">
            <a:spAutoFit/>
          </a:bodyPr>
          <a:lstStyle/>
          <a:p>
            <a:pPr algn="l">
              <a:defRPr sz="900" b="0">
                <a:solidFill>
                  <a:srgbClr val="002A55"/>
                </a:solidFill>
                <a:latin typeface="Calibri"/>
              </a:defRPr>
            </a:pPr>
            <a:r>
              <a:t>Dataset + class distribution shown before model design.</a:t>
            </a:r>
          </a:p>
        </p:txBody>
      </p:sp>
      <p:sp>
        <p:nvSpPr>
          <p:cNvPr id="48" name="Rounded Rectangle 47"/>
          <p:cNvSpPr/>
          <p:nvPr/>
        </p:nvSpPr>
        <p:spPr>
          <a:xfrm>
            <a:off x="1423852" y="4882896"/>
            <a:ext cx="256032" cy="256032"/>
          </a:xfrm>
          <a:prstGeom prst="roundRect">
            <a:avLst/>
          </a:prstGeom>
          <a:solidFill>
            <a:srgbClr val="B51C1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defRPr>
            </a:pPr>
            <a:r>
              <a:t>5</a:t>
            </a:r>
          </a:p>
        </p:txBody>
      </p:sp>
      <p:sp>
        <p:nvSpPr>
          <p:cNvPr id="49" name="TextBox 48"/>
          <p:cNvSpPr txBox="1"/>
          <p:nvPr/>
        </p:nvSpPr>
        <p:spPr>
          <a:xfrm>
            <a:off x="1753036" y="4837176"/>
            <a:ext cx="3502151" cy="219456"/>
          </a:xfrm>
          <a:prstGeom prst="rect">
            <a:avLst/>
          </a:prstGeom>
          <a:noFill/>
        </p:spPr>
        <p:txBody>
          <a:bodyPr wrap="square">
            <a:spAutoFit/>
          </a:bodyPr>
          <a:lstStyle/>
          <a:p>
            <a:pPr algn="l">
              <a:defRPr sz="1000" b="1">
                <a:solidFill>
                  <a:srgbClr val="B51C1C"/>
                </a:solidFill>
                <a:latin typeface="Calibri"/>
              </a:defRPr>
            </a:pPr>
            <a:r>
              <a:t>Feature → Model mapping unclear</a:t>
            </a:r>
          </a:p>
        </p:txBody>
      </p:sp>
      <p:sp>
        <p:nvSpPr>
          <p:cNvPr id="50" name="TextBox 49"/>
          <p:cNvSpPr txBox="1"/>
          <p:nvPr/>
        </p:nvSpPr>
        <p:spPr>
          <a:xfrm>
            <a:off x="1753036" y="5056632"/>
            <a:ext cx="3502151" cy="237744"/>
          </a:xfrm>
          <a:prstGeom prst="rect">
            <a:avLst/>
          </a:prstGeom>
          <a:noFill/>
        </p:spPr>
        <p:txBody>
          <a:bodyPr wrap="square">
            <a:spAutoFit/>
          </a:bodyPr>
          <a:lstStyle/>
          <a:p>
            <a:pPr algn="l">
              <a:defRPr sz="900" b="0">
                <a:solidFill>
                  <a:srgbClr val="002A55"/>
                </a:solidFill>
                <a:latin typeface="Calibri"/>
              </a:defRPr>
            </a:pPr>
            <a:r>
              <a:t>No explicit link: modality → feature columns → classifier.</a:t>
            </a:r>
          </a:p>
        </p:txBody>
      </p:sp>
      <p:sp>
        <p:nvSpPr>
          <p:cNvPr id="51" name="Rounded Rectangle 50"/>
          <p:cNvSpPr/>
          <p:nvPr/>
        </p:nvSpPr>
        <p:spPr>
          <a:xfrm>
            <a:off x="5767252" y="4882896"/>
            <a:ext cx="256032" cy="256032"/>
          </a:xfrm>
          <a:prstGeom prst="roundRect">
            <a:avLst/>
          </a:prstGeom>
          <a:solidFill>
            <a:srgbClr val="147A3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defRPr>
            </a:pPr>
            <a:r>
              <a:t>5</a:t>
            </a:r>
          </a:p>
        </p:txBody>
      </p:sp>
      <p:sp>
        <p:nvSpPr>
          <p:cNvPr id="52" name="TextBox 51"/>
          <p:cNvSpPr txBox="1"/>
          <p:nvPr/>
        </p:nvSpPr>
        <p:spPr>
          <a:xfrm>
            <a:off x="6096436" y="4837176"/>
            <a:ext cx="3502151" cy="219456"/>
          </a:xfrm>
          <a:prstGeom prst="rect">
            <a:avLst/>
          </a:prstGeom>
          <a:noFill/>
        </p:spPr>
        <p:txBody>
          <a:bodyPr wrap="square">
            <a:spAutoFit/>
          </a:bodyPr>
          <a:lstStyle/>
          <a:p>
            <a:pPr algn="l">
              <a:defRPr sz="1000" b="1">
                <a:solidFill>
                  <a:srgbClr val="147A3A"/>
                </a:solidFill>
                <a:latin typeface="Calibri"/>
              </a:defRPr>
            </a:pPr>
            <a:r>
              <a:t>Explicit feature → model table added</a:t>
            </a:r>
          </a:p>
        </p:txBody>
      </p:sp>
      <p:sp>
        <p:nvSpPr>
          <p:cNvPr id="53" name="TextBox 52"/>
          <p:cNvSpPr txBox="1"/>
          <p:nvPr/>
        </p:nvSpPr>
        <p:spPr>
          <a:xfrm>
            <a:off x="6096436" y="5056632"/>
            <a:ext cx="3502151" cy="237744"/>
          </a:xfrm>
          <a:prstGeom prst="rect">
            <a:avLst/>
          </a:prstGeom>
          <a:noFill/>
        </p:spPr>
        <p:txBody>
          <a:bodyPr wrap="square">
            <a:spAutoFit/>
          </a:bodyPr>
          <a:lstStyle/>
          <a:p>
            <a:pPr algn="l">
              <a:defRPr sz="900" b="0">
                <a:solidFill>
                  <a:srgbClr val="002A55"/>
                </a:solidFill>
                <a:latin typeface="Calibri"/>
              </a:defRPr>
            </a:pPr>
            <a:r>
              <a:t>EfficientNet/EasyOCR/YOLO/action-log → classifiers.</a:t>
            </a:r>
          </a:p>
        </p:txBody>
      </p:sp>
      <p:sp>
        <p:nvSpPr>
          <p:cNvPr id="54" name="TextBox 53"/>
          <p:cNvSpPr txBox="1"/>
          <p:nvPr/>
        </p:nvSpPr>
        <p:spPr>
          <a:xfrm>
            <a:off x="5291764" y="3794760"/>
            <a:ext cx="402336" cy="402336"/>
          </a:xfrm>
          <a:prstGeom prst="rect">
            <a:avLst/>
          </a:prstGeom>
          <a:noFill/>
        </p:spPr>
        <p:txBody>
          <a:bodyPr wrap="square">
            <a:spAutoFit/>
          </a:bodyPr>
          <a:lstStyle/>
          <a:p>
            <a:pPr algn="ctr">
              <a:defRPr sz="3400" b="1">
                <a:solidFill>
                  <a:srgbClr val="FFC107"/>
                </a:solidFill>
                <a:latin typeface="Calibri"/>
              </a:defRPr>
            </a:pPr>
            <a:r>
              <a:t>⇒</a:t>
            </a:r>
          </a:p>
        </p:txBody>
      </p:sp>
      <p:sp>
        <p:nvSpPr>
          <p:cNvPr id="55" name="Rounded Rectangle 54"/>
          <p:cNvSpPr/>
          <p:nvPr/>
        </p:nvSpPr>
        <p:spPr>
          <a:xfrm>
            <a:off x="1332412" y="5925312"/>
            <a:ext cx="8503920" cy="27432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515292" y="5961888"/>
            <a:ext cx="8138160" cy="219456"/>
          </a:xfrm>
          <a:prstGeom prst="rect">
            <a:avLst/>
          </a:prstGeom>
          <a:noFill/>
        </p:spPr>
        <p:txBody>
          <a:bodyPr wrap="square">
            <a:spAutoFit/>
          </a:bodyPr>
          <a:lstStyle/>
          <a:p>
            <a:pPr algn="l">
              <a:defRPr sz="1000" b="1">
                <a:solidFill>
                  <a:srgbClr val="FFFFFF"/>
                </a:solidFill>
                <a:latin typeface="Calibri"/>
              </a:defRPr>
            </a:pPr>
            <a:r>
              <a:t>Result: Focused scope → rigorous evaluation → 6 models, 3 research questions, F1 Macro 0.884 — presented Oct 30.</a:t>
            </a:r>
          </a:p>
        </p:txBody>
      </p:sp>
      <p:sp>
        <p:nvSpPr>
          <p:cNvPr id="57" name="Rectangle 56"/>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59" name="Rectangle 58"/>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nus_iss_logo_transparent.png"/>
          <p:cNvPicPr>
            <a:picLocks noChangeAspect="1"/>
          </p:cNvPicPr>
          <p:nvPr/>
        </p:nvPicPr>
        <p:blipFill>
          <a:blip r:embed="rId4"/>
          <a:stretch>
            <a:fillRect/>
          </a:stretch>
        </p:blipFill>
        <p:spPr>
          <a:xfrm>
            <a:off x="9555480" y="82296"/>
            <a:ext cx="2514600" cy="5852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3D7C"/>
        </a:solidFill>
        <a:effectLst/>
      </p:bgPr>
    </p:bg>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91440"/>
            <a:ext cx="8686800" cy="640080"/>
          </a:xfrm>
          <a:prstGeom prst="rect">
            <a:avLst/>
          </a:prstGeom>
          <a:noFill/>
        </p:spPr>
        <p:txBody>
          <a:bodyPr wrap="square">
            <a:spAutoFit/>
          </a:bodyPr>
          <a:lstStyle/>
          <a:p>
            <a:pPr algn="l">
              <a:defRPr sz="3200" b="1">
                <a:solidFill>
                  <a:srgbClr val="FFFFFF"/>
                </a:solidFill>
                <a:latin typeface="Calibri"/>
              </a:defRPr>
            </a:pPr>
            <a:r>
              <a:t>Training Overview — 4 Phases</a:t>
            </a:r>
          </a:p>
        </p:txBody>
      </p:sp>
      <p:sp>
        <p:nvSpPr>
          <p:cNvPr id="7" name="TextBox 6"/>
          <p:cNvSpPr txBox="1"/>
          <p:nvPr/>
        </p:nvSpPr>
        <p:spPr>
          <a:xfrm>
            <a:off x="1188720" y="594360"/>
            <a:ext cx="8686800" cy="457200"/>
          </a:xfrm>
          <a:prstGeom prst="rect">
            <a:avLst/>
          </a:prstGeom>
          <a:noFill/>
        </p:spPr>
        <p:txBody>
          <a:bodyPr wrap="square">
            <a:spAutoFit/>
          </a:bodyPr>
          <a:lstStyle/>
          <a:p>
            <a:pPr algn="l">
              <a:defRPr sz="2000" b="0">
                <a:solidFill>
                  <a:srgbClr val="FFFFFF"/>
                </a:solidFill>
                <a:latin typeface="Calibri"/>
              </a:defRPr>
            </a:pPr>
            <a:r>
              <a:t>End-to-end pipeline: raw VideoCUA dataset → trained .pkl classifiers</a:t>
            </a:r>
          </a:p>
        </p:txBody>
      </p:sp>
      <p:sp>
        <p:nvSpPr>
          <p:cNvPr id="8" name="Rectangle 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0" name="Rounded Rectangle 9"/>
          <p:cNvSpPr/>
          <p:nvPr/>
        </p:nvSpPr>
        <p:spPr>
          <a:xfrm>
            <a:off x="1188720" y="1554480"/>
            <a:ext cx="201168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Phase 1</a:t>
            </a:r>
          </a:p>
        </p:txBody>
      </p:sp>
      <p:sp>
        <p:nvSpPr>
          <p:cNvPr id="11" name="Rounded Rectangle 10"/>
          <p:cNvSpPr/>
          <p:nvPr/>
        </p:nvSpPr>
        <p:spPr>
          <a:xfrm>
            <a:off x="1188720" y="1920240"/>
            <a:ext cx="2011680" cy="301752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80160" y="2011680"/>
            <a:ext cx="1828800" cy="274320"/>
          </a:xfrm>
          <a:prstGeom prst="rect">
            <a:avLst/>
          </a:prstGeom>
          <a:noFill/>
        </p:spPr>
        <p:txBody>
          <a:bodyPr wrap="square">
            <a:spAutoFit/>
          </a:bodyPr>
          <a:lstStyle/>
          <a:p>
            <a:pPr algn="l">
              <a:spcAft>
                <a:spcPts val="600"/>
              </a:spcAft>
              <a:defRPr sz="1300" b="1">
                <a:solidFill>
                  <a:srgbClr val="007ACC"/>
                </a:solidFill>
                <a:latin typeface="Calibri"/>
              </a:defRPr>
            </a:pPr>
            <a:r>
              <a:t>Data Preparation</a:t>
            </a:r>
          </a:p>
        </p:txBody>
      </p:sp>
      <p:sp>
        <p:nvSpPr>
          <p:cNvPr id="13" name="TextBox 12"/>
          <p:cNvSpPr txBox="1"/>
          <p:nvPr/>
        </p:nvSpPr>
        <p:spPr>
          <a:xfrm>
            <a:off x="1280160" y="2377440"/>
            <a:ext cx="1828800" cy="2286000"/>
          </a:xfrm>
          <a:prstGeom prst="rect">
            <a:avLst/>
          </a:prstGeom>
          <a:noFill/>
        </p:spPr>
        <p:txBody>
          <a:bodyPr wrap="square">
            <a:spAutoFit/>
          </a:bodyPr>
          <a:lstStyle/>
          <a:p>
            <a:pPr algn="l">
              <a:spcAft>
                <a:spcPts val="600"/>
              </a:spcAft>
              <a:defRPr sz="1100" b="0">
                <a:solidFill>
                  <a:srgbClr val="002A55"/>
                </a:solidFill>
                <a:latin typeface="Calibri"/>
              </a:defRPr>
            </a:pPr>
            <a:r>
              <a:t>277 tasks · 8 apps</a:t>
            </a:r>
          </a:p>
          <a:p>
            <a:pPr algn="l">
              <a:spcAft>
                <a:spcPts val="600"/>
              </a:spcAft>
              <a:defRPr sz="1100" b="0">
                <a:solidFill>
                  <a:srgbClr val="002A55"/>
                </a:solidFill>
                <a:latin typeface="Calibri"/>
              </a:defRPr>
            </a:pPr>
            <a:r>
              <a:t>80% train / 20% test</a:t>
            </a:r>
          </a:p>
          <a:p>
            <a:pPr algn="l">
              <a:spcAft>
                <a:spcPts val="600"/>
              </a:spcAft>
              <a:defRPr sz="1100" b="0">
                <a:solidFill>
                  <a:srgbClr val="002A55"/>
                </a:solidFill>
                <a:latin typeface="Calibri"/>
              </a:defRPr>
            </a:pPr>
            <a:r>
              <a:t>Stratified by app label</a:t>
            </a:r>
          </a:p>
        </p:txBody>
      </p:sp>
      <p:sp>
        <p:nvSpPr>
          <p:cNvPr id="14" name="TextBox 13"/>
          <p:cNvSpPr txBox="1"/>
          <p:nvPr/>
        </p:nvSpPr>
        <p:spPr>
          <a:xfrm>
            <a:off x="3154680" y="2926080"/>
            <a:ext cx="365760" cy="365760"/>
          </a:xfrm>
          <a:prstGeom prst="rect">
            <a:avLst/>
          </a:prstGeom>
          <a:noFill/>
        </p:spPr>
        <p:txBody>
          <a:bodyPr wrap="square">
            <a:spAutoFit/>
          </a:bodyPr>
          <a:lstStyle/>
          <a:p>
            <a:pPr algn="ctr">
              <a:defRPr sz="1800" b="1">
                <a:solidFill>
                  <a:srgbClr val="007ACC"/>
                </a:solidFill>
                <a:latin typeface="Calibri"/>
              </a:defRPr>
            </a:pPr>
            <a:r>
              <a:t>→</a:t>
            </a:r>
          </a:p>
        </p:txBody>
      </p:sp>
      <p:sp>
        <p:nvSpPr>
          <p:cNvPr id="15" name="Rounded Rectangle 14"/>
          <p:cNvSpPr/>
          <p:nvPr/>
        </p:nvSpPr>
        <p:spPr>
          <a:xfrm>
            <a:off x="3337560" y="1554480"/>
            <a:ext cx="201168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Phase 2</a:t>
            </a:r>
          </a:p>
        </p:txBody>
      </p:sp>
      <p:sp>
        <p:nvSpPr>
          <p:cNvPr id="16" name="Rounded Rectangle 15"/>
          <p:cNvSpPr/>
          <p:nvPr/>
        </p:nvSpPr>
        <p:spPr>
          <a:xfrm>
            <a:off x="3337560" y="1920240"/>
            <a:ext cx="2011680" cy="301752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29000" y="2011680"/>
            <a:ext cx="1828800" cy="274320"/>
          </a:xfrm>
          <a:prstGeom prst="rect">
            <a:avLst/>
          </a:prstGeom>
          <a:noFill/>
        </p:spPr>
        <p:txBody>
          <a:bodyPr wrap="square">
            <a:spAutoFit/>
          </a:bodyPr>
          <a:lstStyle/>
          <a:p>
            <a:pPr algn="l">
              <a:spcAft>
                <a:spcPts val="600"/>
              </a:spcAft>
              <a:defRPr sz="1300" b="1">
                <a:solidFill>
                  <a:srgbClr val="28A745"/>
                </a:solidFill>
                <a:latin typeface="Calibri"/>
              </a:defRPr>
            </a:pPr>
            <a:r>
              <a:t>Feature Extraction</a:t>
            </a:r>
          </a:p>
        </p:txBody>
      </p:sp>
      <p:sp>
        <p:nvSpPr>
          <p:cNvPr id="18" name="TextBox 17"/>
          <p:cNvSpPr txBox="1"/>
          <p:nvPr/>
        </p:nvSpPr>
        <p:spPr>
          <a:xfrm>
            <a:off x="3429000" y="2377440"/>
            <a:ext cx="1828800" cy="2286000"/>
          </a:xfrm>
          <a:prstGeom prst="rect">
            <a:avLst/>
          </a:prstGeom>
          <a:noFill/>
        </p:spPr>
        <p:txBody>
          <a:bodyPr wrap="square">
            <a:spAutoFit/>
          </a:bodyPr>
          <a:lstStyle/>
          <a:p>
            <a:pPr algn="l">
              <a:spcAft>
                <a:spcPts val="600"/>
              </a:spcAft>
              <a:defRPr sz="1100" b="0">
                <a:solidFill>
                  <a:srgbClr val="002A55"/>
                </a:solidFill>
                <a:latin typeface="Calibri"/>
              </a:defRPr>
            </a:pPr>
            <a:r>
              <a:t>Video frames + action logs</a:t>
            </a:r>
          </a:p>
          <a:p>
            <a:pPr algn="l">
              <a:spcAft>
                <a:spcPts val="600"/>
              </a:spcAft>
              <a:defRPr sz="1100" b="0">
                <a:solidFill>
                  <a:srgbClr val="002A55"/>
                </a:solidFill>
                <a:latin typeface="Calibri"/>
              </a:defRPr>
            </a:pPr>
            <a:r>
              <a:t>→ 1,391-dim feature vector</a:t>
            </a:r>
          </a:p>
          <a:p>
            <a:pPr algn="l">
              <a:spcAft>
                <a:spcPts val="600"/>
              </a:spcAft>
              <a:defRPr sz="1100" b="0">
                <a:solidFill>
                  <a:srgbClr val="002A55"/>
                </a:solidFill>
                <a:latin typeface="Calibri"/>
              </a:defRPr>
            </a:pPr>
            <a:r>
              <a:t>per task</a:t>
            </a:r>
          </a:p>
        </p:txBody>
      </p:sp>
      <p:sp>
        <p:nvSpPr>
          <p:cNvPr id="19" name="TextBox 18"/>
          <p:cNvSpPr txBox="1"/>
          <p:nvPr/>
        </p:nvSpPr>
        <p:spPr>
          <a:xfrm>
            <a:off x="5303520" y="2926080"/>
            <a:ext cx="365760" cy="365760"/>
          </a:xfrm>
          <a:prstGeom prst="rect">
            <a:avLst/>
          </a:prstGeom>
          <a:noFill/>
        </p:spPr>
        <p:txBody>
          <a:bodyPr wrap="square">
            <a:spAutoFit/>
          </a:bodyPr>
          <a:lstStyle/>
          <a:p>
            <a:pPr algn="ctr">
              <a:defRPr sz="1800" b="1">
                <a:solidFill>
                  <a:srgbClr val="28A745"/>
                </a:solidFill>
                <a:latin typeface="Calibri"/>
              </a:defRPr>
            </a:pPr>
            <a:r>
              <a:t>→</a:t>
            </a:r>
          </a:p>
        </p:txBody>
      </p:sp>
      <p:sp>
        <p:nvSpPr>
          <p:cNvPr id="20" name="Rounded Rectangle 19"/>
          <p:cNvSpPr/>
          <p:nvPr/>
        </p:nvSpPr>
        <p:spPr>
          <a:xfrm>
            <a:off x="5486400" y="1554480"/>
            <a:ext cx="2011680" cy="32004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Phase 3</a:t>
            </a:r>
          </a:p>
        </p:txBody>
      </p:sp>
      <p:sp>
        <p:nvSpPr>
          <p:cNvPr id="21" name="Rounded Rectangle 20"/>
          <p:cNvSpPr/>
          <p:nvPr/>
        </p:nvSpPr>
        <p:spPr>
          <a:xfrm>
            <a:off x="5486400" y="1920240"/>
            <a:ext cx="2011680" cy="3017520"/>
          </a:xfrm>
          <a:prstGeom prst="round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577840" y="2011680"/>
            <a:ext cx="1828800" cy="274320"/>
          </a:xfrm>
          <a:prstGeom prst="rect">
            <a:avLst/>
          </a:prstGeom>
          <a:noFill/>
        </p:spPr>
        <p:txBody>
          <a:bodyPr wrap="square">
            <a:spAutoFit/>
          </a:bodyPr>
          <a:lstStyle/>
          <a:p>
            <a:pPr algn="l">
              <a:spcAft>
                <a:spcPts val="600"/>
              </a:spcAft>
              <a:defRPr sz="1300" b="1">
                <a:solidFill>
                  <a:srgbClr val="EF7C00"/>
                </a:solidFill>
                <a:latin typeface="Calibri"/>
              </a:defRPr>
            </a:pPr>
            <a:r>
              <a:t>Model Training</a:t>
            </a:r>
          </a:p>
        </p:txBody>
      </p:sp>
      <p:sp>
        <p:nvSpPr>
          <p:cNvPr id="23" name="TextBox 22"/>
          <p:cNvSpPr txBox="1"/>
          <p:nvPr/>
        </p:nvSpPr>
        <p:spPr>
          <a:xfrm>
            <a:off x="5577840" y="2377440"/>
            <a:ext cx="1828800" cy="2286000"/>
          </a:xfrm>
          <a:prstGeom prst="rect">
            <a:avLst/>
          </a:prstGeom>
          <a:noFill/>
        </p:spPr>
        <p:txBody>
          <a:bodyPr wrap="square">
            <a:spAutoFit/>
          </a:bodyPr>
          <a:lstStyle/>
          <a:p>
            <a:pPr algn="l">
              <a:spcAft>
                <a:spcPts val="600"/>
              </a:spcAft>
              <a:defRPr sz="1100" b="0">
                <a:solidFill>
                  <a:srgbClr val="002A55"/>
                </a:solidFill>
                <a:latin typeface="Calibri"/>
              </a:defRPr>
            </a:pPr>
            <a:r>
              <a:t>13 classifiers trained</a:t>
            </a:r>
          </a:p>
          <a:p>
            <a:pPr algn="l">
              <a:spcAft>
                <a:spcPts val="600"/>
              </a:spcAft>
              <a:defRPr sz="1100" b="0">
                <a:solidFill>
                  <a:srgbClr val="002A55"/>
                </a:solidFill>
                <a:latin typeface="Calibri"/>
              </a:defRPr>
            </a:pPr>
            <a:r>
              <a:t>on feature matrix</a:t>
            </a:r>
          </a:p>
          <a:p>
            <a:pPr algn="l">
              <a:spcAft>
                <a:spcPts val="600"/>
              </a:spcAft>
              <a:defRPr sz="1100" b="0">
                <a:solidFill>
                  <a:srgbClr val="002A55"/>
                </a:solidFill>
                <a:latin typeface="Calibri"/>
              </a:defRPr>
            </a:pPr>
            <a:r>
              <a:t>(Tier 1 → 2 → 3)</a:t>
            </a:r>
          </a:p>
        </p:txBody>
      </p:sp>
      <p:sp>
        <p:nvSpPr>
          <p:cNvPr id="24" name="TextBox 23"/>
          <p:cNvSpPr txBox="1"/>
          <p:nvPr/>
        </p:nvSpPr>
        <p:spPr>
          <a:xfrm>
            <a:off x="7452360" y="2926080"/>
            <a:ext cx="365760" cy="365760"/>
          </a:xfrm>
          <a:prstGeom prst="rect">
            <a:avLst/>
          </a:prstGeom>
          <a:noFill/>
        </p:spPr>
        <p:txBody>
          <a:bodyPr wrap="square">
            <a:spAutoFit/>
          </a:bodyPr>
          <a:lstStyle/>
          <a:p>
            <a:pPr algn="ctr">
              <a:defRPr sz="1800" b="1">
                <a:solidFill>
                  <a:srgbClr val="EF7C00"/>
                </a:solidFill>
                <a:latin typeface="Calibri"/>
              </a:defRPr>
            </a:pPr>
            <a:r>
              <a:t>→</a:t>
            </a:r>
          </a:p>
        </p:txBody>
      </p:sp>
      <p:sp>
        <p:nvSpPr>
          <p:cNvPr id="25" name="Rounded Rectangle 24"/>
          <p:cNvSpPr/>
          <p:nvPr/>
        </p:nvSpPr>
        <p:spPr>
          <a:xfrm>
            <a:off x="7635240" y="1554480"/>
            <a:ext cx="2011680" cy="32004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Phase 4</a:t>
            </a:r>
          </a:p>
        </p:txBody>
      </p:sp>
      <p:sp>
        <p:nvSpPr>
          <p:cNvPr id="26" name="Rounded Rectangle 25"/>
          <p:cNvSpPr/>
          <p:nvPr/>
        </p:nvSpPr>
        <p:spPr>
          <a:xfrm>
            <a:off x="7635240" y="1920240"/>
            <a:ext cx="2011680" cy="3017520"/>
          </a:xfrm>
          <a:prstGeom prst="round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26680" y="2011680"/>
            <a:ext cx="1828800" cy="274320"/>
          </a:xfrm>
          <a:prstGeom prst="rect">
            <a:avLst/>
          </a:prstGeom>
          <a:noFill/>
        </p:spPr>
        <p:txBody>
          <a:bodyPr wrap="square">
            <a:spAutoFit/>
          </a:bodyPr>
          <a:lstStyle/>
          <a:p>
            <a:pPr algn="l">
              <a:spcAft>
                <a:spcPts val="600"/>
              </a:spcAft>
              <a:defRPr sz="1300" b="1">
                <a:solidFill>
                  <a:srgbClr val="6F42C1"/>
                </a:solidFill>
                <a:latin typeface="Calibri"/>
              </a:defRPr>
            </a:pPr>
            <a:r>
              <a:t>Evaluation</a:t>
            </a:r>
          </a:p>
        </p:txBody>
      </p:sp>
      <p:sp>
        <p:nvSpPr>
          <p:cNvPr id="28" name="TextBox 27"/>
          <p:cNvSpPr txBox="1"/>
          <p:nvPr/>
        </p:nvSpPr>
        <p:spPr>
          <a:xfrm>
            <a:off x="7726680" y="2377440"/>
            <a:ext cx="1828800" cy="2286000"/>
          </a:xfrm>
          <a:prstGeom prst="rect">
            <a:avLst/>
          </a:prstGeom>
          <a:noFill/>
        </p:spPr>
        <p:txBody>
          <a:bodyPr wrap="square">
            <a:spAutoFit/>
          </a:bodyPr>
          <a:lstStyle/>
          <a:p>
            <a:pPr algn="l">
              <a:spcAft>
                <a:spcPts val="600"/>
              </a:spcAft>
              <a:defRPr sz="1100" b="0">
                <a:solidFill>
                  <a:srgbClr val="002A55"/>
                </a:solidFill>
                <a:latin typeface="Calibri"/>
              </a:defRPr>
            </a:pPr>
            <a:r>
              <a:t>Test set → F1 Macro</a:t>
            </a:r>
          </a:p>
          <a:p>
            <a:pPr algn="l">
              <a:spcAft>
                <a:spcPts val="600"/>
              </a:spcAft>
              <a:defRPr sz="1100" b="0">
                <a:solidFill>
                  <a:srgbClr val="002A55"/>
                </a:solidFill>
                <a:latin typeface="Calibri"/>
              </a:defRPr>
            </a:pPr>
            <a:r>
              <a:t>→ Confusion matrix</a:t>
            </a:r>
          </a:p>
          <a:p>
            <a:pPr algn="l">
              <a:spcAft>
                <a:spcPts val="600"/>
              </a:spcAft>
              <a:defRPr sz="1100" b="0">
                <a:solidFill>
                  <a:srgbClr val="002A55"/>
                </a:solidFill>
                <a:latin typeface="Calibri"/>
              </a:defRPr>
            </a:pPr>
            <a:r>
              <a:t>→ Best = Voting 0.884</a:t>
            </a:r>
          </a:p>
        </p:txBody>
      </p:sp>
      <p:sp>
        <p:nvSpPr>
          <p:cNvPr id="29" name="Rounded Rectangle 28"/>
          <p:cNvSpPr/>
          <p:nvPr/>
        </p:nvSpPr>
        <p:spPr>
          <a:xfrm>
            <a:off x="1188720" y="5029200"/>
            <a:ext cx="8412480" cy="73152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325880" y="5120640"/>
            <a:ext cx="8138160" cy="548640"/>
          </a:xfrm>
          <a:prstGeom prst="rect">
            <a:avLst/>
          </a:prstGeom>
          <a:noFill/>
        </p:spPr>
        <p:txBody>
          <a:bodyPr wrap="square">
            <a:spAutoFit/>
          </a:bodyPr>
          <a:lstStyle/>
          <a:p>
            <a:pPr algn="l">
              <a:spcAft>
                <a:spcPts val="200"/>
              </a:spcAft>
              <a:defRPr sz="1000" b="0">
                <a:solidFill>
                  <a:srgbClr val="28A745"/>
                </a:solidFill>
                <a:latin typeface="Courier New"/>
              </a:defRPr>
            </a:pPr>
            <a:r>
              <a:t>$ python -m app.train --dataset-root ./dataset --model-dir ./models</a:t>
            </a:r>
          </a:p>
          <a:p>
            <a:pPr algn="l">
              <a:spcAft>
                <a:spcPts val="200"/>
              </a:spcAft>
              <a:defRPr sz="1000" b="0">
                <a:solidFill>
                  <a:srgbClr val="28A745"/>
                </a:solidFill>
                <a:latin typeface="Courier New"/>
              </a:defRPr>
            </a:pPr>
            <a:r>
              <a:t># Trains all 13 models, evaluates on held-out test set, logs to MLflow</a:t>
            </a:r>
          </a:p>
        </p:txBody>
      </p:sp>
      <p:sp>
        <p:nvSpPr>
          <p:cNvPr id="31" name="Rectangle 30"/>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33" name="Rectangle 32"/>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nus_iss_logo_transparent.png"/>
          <p:cNvPicPr>
            <a:picLocks noChangeAspect="1"/>
          </p:cNvPicPr>
          <p:nvPr/>
        </p:nvPicPr>
        <p:blipFill>
          <a:blip r:embed="rId2"/>
          <a:stretch>
            <a:fillRect/>
          </a:stretch>
        </p:blipFill>
        <p:spPr>
          <a:xfrm>
            <a:off x="9555480" y="82296"/>
            <a:ext cx="2514600" cy="5852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3D7C"/>
        </a:solidFill>
        <a:effectLst/>
      </p:bgPr>
    </p:bg>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91440"/>
            <a:ext cx="8686800" cy="640080"/>
          </a:xfrm>
          <a:prstGeom prst="rect">
            <a:avLst/>
          </a:prstGeom>
          <a:noFill/>
        </p:spPr>
        <p:txBody>
          <a:bodyPr wrap="square">
            <a:spAutoFit/>
          </a:bodyPr>
          <a:lstStyle/>
          <a:p>
            <a:pPr algn="l">
              <a:defRPr sz="3200" b="1">
                <a:solidFill>
                  <a:srgbClr val="FFFFFF"/>
                </a:solidFill>
                <a:latin typeface="Calibri"/>
              </a:defRPr>
            </a:pPr>
            <a:r>
              <a:t>Step 1 — Dataset &amp; Activity Labels</a:t>
            </a:r>
          </a:p>
        </p:txBody>
      </p:sp>
      <p:sp>
        <p:nvSpPr>
          <p:cNvPr id="7" name="TextBox 6"/>
          <p:cNvSpPr txBox="1"/>
          <p:nvPr/>
        </p:nvSpPr>
        <p:spPr>
          <a:xfrm>
            <a:off x="1188720" y="594360"/>
            <a:ext cx="8686800" cy="457200"/>
          </a:xfrm>
          <a:prstGeom prst="rect">
            <a:avLst/>
          </a:prstGeom>
          <a:noFill/>
        </p:spPr>
        <p:txBody>
          <a:bodyPr wrap="square">
            <a:spAutoFit/>
          </a:bodyPr>
          <a:lstStyle/>
          <a:p>
            <a:pPr algn="l">
              <a:defRPr sz="2000" b="0">
                <a:solidFill>
                  <a:srgbClr val="FFFFFF"/>
                </a:solidFill>
                <a:latin typeface="Calibri"/>
              </a:defRPr>
            </a:pPr>
            <a:r>
              <a:t>VideoCUA subset: 277 expert desktop task recordings across 8 apps</a:t>
            </a:r>
          </a:p>
        </p:txBody>
      </p:sp>
      <p:sp>
        <p:nvSpPr>
          <p:cNvPr id="8" name="Rectangle 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0" name="Rounded Rectangle 9"/>
          <p:cNvSpPr/>
          <p:nvPr/>
        </p:nvSpPr>
        <p:spPr>
          <a:xfrm>
            <a:off x="1280160" y="1554480"/>
            <a:ext cx="1828800" cy="27432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App</a:t>
            </a:r>
          </a:p>
        </p:txBody>
      </p:sp>
      <p:sp>
        <p:nvSpPr>
          <p:cNvPr id="11" name="Rounded Rectangle 10"/>
          <p:cNvSpPr/>
          <p:nvPr/>
        </p:nvSpPr>
        <p:spPr>
          <a:xfrm>
            <a:off x="3108960" y="1554480"/>
            <a:ext cx="822960" cy="27432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Tasks</a:t>
            </a:r>
          </a:p>
        </p:txBody>
      </p:sp>
      <p:sp>
        <p:nvSpPr>
          <p:cNvPr id="12" name="Rounded Rectangle 11"/>
          <p:cNvSpPr/>
          <p:nvPr/>
        </p:nvSpPr>
        <p:spPr>
          <a:xfrm>
            <a:off x="3931920" y="1554480"/>
            <a:ext cx="2011680" cy="27432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Activity Label</a:t>
            </a:r>
          </a:p>
        </p:txBody>
      </p:sp>
      <p:sp>
        <p:nvSpPr>
          <p:cNvPr id="13" name="Rounded Rectangle 12"/>
          <p:cNvSpPr/>
          <p:nvPr/>
        </p:nvSpPr>
        <p:spPr>
          <a:xfrm>
            <a:off x="1280160" y="1847088"/>
            <a:ext cx="1828800" cy="274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VSCode</a:t>
            </a:r>
          </a:p>
        </p:txBody>
      </p:sp>
      <p:sp>
        <p:nvSpPr>
          <p:cNvPr id="14" name="Rounded Rectangle 13"/>
          <p:cNvSpPr/>
          <p:nvPr/>
        </p:nvSpPr>
        <p:spPr>
          <a:xfrm>
            <a:off x="3108960" y="1847088"/>
            <a:ext cx="822960" cy="274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106</a:t>
            </a:r>
          </a:p>
        </p:txBody>
      </p:sp>
      <p:sp>
        <p:nvSpPr>
          <p:cNvPr id="15" name="Rounded Rectangle 14"/>
          <p:cNvSpPr/>
          <p:nvPr/>
        </p:nvSpPr>
        <p:spPr>
          <a:xfrm>
            <a:off x="3931920" y="1847088"/>
            <a:ext cx="2011680" cy="274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coding_editing</a:t>
            </a:r>
          </a:p>
        </p:txBody>
      </p:sp>
      <p:sp>
        <p:nvSpPr>
          <p:cNvPr id="16" name="Rounded Rectangle 15"/>
          <p:cNvSpPr/>
          <p:nvPr/>
        </p:nvSpPr>
        <p:spPr>
          <a:xfrm>
            <a:off x="1280160" y="2139696"/>
            <a:ext cx="1828800" cy="2743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OpenShot</a:t>
            </a:r>
          </a:p>
        </p:txBody>
      </p:sp>
      <p:sp>
        <p:nvSpPr>
          <p:cNvPr id="17" name="Rounded Rectangle 16"/>
          <p:cNvSpPr/>
          <p:nvPr/>
        </p:nvSpPr>
        <p:spPr>
          <a:xfrm>
            <a:off x="3108960" y="2139696"/>
            <a:ext cx="822960" cy="2743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75</a:t>
            </a:r>
          </a:p>
        </p:txBody>
      </p:sp>
      <p:sp>
        <p:nvSpPr>
          <p:cNvPr id="18" name="Rounded Rectangle 17"/>
          <p:cNvSpPr/>
          <p:nvPr/>
        </p:nvSpPr>
        <p:spPr>
          <a:xfrm>
            <a:off x="3931920" y="2139696"/>
            <a:ext cx="2011680" cy="2743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media_editing</a:t>
            </a:r>
          </a:p>
        </p:txBody>
      </p:sp>
      <p:sp>
        <p:nvSpPr>
          <p:cNvPr id="19" name="Rounded Rectangle 18"/>
          <p:cNvSpPr/>
          <p:nvPr/>
        </p:nvSpPr>
        <p:spPr>
          <a:xfrm>
            <a:off x="1280160" y="2432304"/>
            <a:ext cx="1828800" cy="274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IntelliJ IDEA</a:t>
            </a:r>
          </a:p>
        </p:txBody>
      </p:sp>
      <p:sp>
        <p:nvSpPr>
          <p:cNvPr id="20" name="Rounded Rectangle 19"/>
          <p:cNvSpPr/>
          <p:nvPr/>
        </p:nvSpPr>
        <p:spPr>
          <a:xfrm>
            <a:off x="3108960" y="2432304"/>
            <a:ext cx="822960" cy="274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46</a:t>
            </a:r>
          </a:p>
        </p:txBody>
      </p:sp>
      <p:sp>
        <p:nvSpPr>
          <p:cNvPr id="21" name="Rounded Rectangle 20"/>
          <p:cNvSpPr/>
          <p:nvPr/>
        </p:nvSpPr>
        <p:spPr>
          <a:xfrm>
            <a:off x="3931920" y="2432304"/>
            <a:ext cx="2011680" cy="274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coding_editing</a:t>
            </a:r>
          </a:p>
        </p:txBody>
      </p:sp>
      <p:sp>
        <p:nvSpPr>
          <p:cNvPr id="22" name="Rounded Rectangle 21"/>
          <p:cNvSpPr/>
          <p:nvPr/>
        </p:nvSpPr>
        <p:spPr>
          <a:xfrm>
            <a:off x="1280160" y="2724912"/>
            <a:ext cx="1828800" cy="2743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draw.io</a:t>
            </a:r>
          </a:p>
        </p:txBody>
      </p:sp>
      <p:sp>
        <p:nvSpPr>
          <p:cNvPr id="23" name="Rounded Rectangle 22"/>
          <p:cNvSpPr/>
          <p:nvPr/>
        </p:nvSpPr>
        <p:spPr>
          <a:xfrm>
            <a:off x="3108960" y="2724912"/>
            <a:ext cx="822960" cy="2743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10</a:t>
            </a:r>
          </a:p>
        </p:txBody>
      </p:sp>
      <p:sp>
        <p:nvSpPr>
          <p:cNvPr id="24" name="Rounded Rectangle 23"/>
          <p:cNvSpPr/>
          <p:nvPr/>
        </p:nvSpPr>
        <p:spPr>
          <a:xfrm>
            <a:off x="3931920" y="2724912"/>
            <a:ext cx="2011680" cy="2743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diagram_design</a:t>
            </a:r>
          </a:p>
        </p:txBody>
      </p:sp>
      <p:sp>
        <p:nvSpPr>
          <p:cNvPr id="25" name="Rounded Rectangle 24"/>
          <p:cNvSpPr/>
          <p:nvPr/>
        </p:nvSpPr>
        <p:spPr>
          <a:xfrm>
            <a:off x="1280160" y="3017520"/>
            <a:ext cx="1828800" cy="274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Bash</a:t>
            </a:r>
          </a:p>
        </p:txBody>
      </p:sp>
      <p:sp>
        <p:nvSpPr>
          <p:cNvPr id="26" name="Rounded Rectangle 25"/>
          <p:cNvSpPr/>
          <p:nvPr/>
        </p:nvSpPr>
        <p:spPr>
          <a:xfrm>
            <a:off x="3108960" y="3017520"/>
            <a:ext cx="822960" cy="274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10</a:t>
            </a:r>
          </a:p>
        </p:txBody>
      </p:sp>
      <p:sp>
        <p:nvSpPr>
          <p:cNvPr id="27" name="Rounded Rectangle 26"/>
          <p:cNvSpPr/>
          <p:nvPr/>
        </p:nvSpPr>
        <p:spPr>
          <a:xfrm>
            <a:off x="3931920" y="3017520"/>
            <a:ext cx="2011680" cy="274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terminal_ops</a:t>
            </a:r>
          </a:p>
        </p:txBody>
      </p:sp>
      <p:sp>
        <p:nvSpPr>
          <p:cNvPr id="28" name="Rounded Rectangle 27"/>
          <p:cNvSpPr/>
          <p:nvPr/>
        </p:nvSpPr>
        <p:spPr>
          <a:xfrm>
            <a:off x="1280160" y="3310128"/>
            <a:ext cx="1828800" cy="2743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Chromium</a:t>
            </a:r>
          </a:p>
        </p:txBody>
      </p:sp>
      <p:sp>
        <p:nvSpPr>
          <p:cNvPr id="29" name="Rounded Rectangle 28"/>
          <p:cNvSpPr/>
          <p:nvPr/>
        </p:nvSpPr>
        <p:spPr>
          <a:xfrm>
            <a:off x="3108960" y="3310128"/>
            <a:ext cx="822960" cy="2743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10</a:t>
            </a:r>
          </a:p>
        </p:txBody>
      </p:sp>
      <p:sp>
        <p:nvSpPr>
          <p:cNvPr id="30" name="Rounded Rectangle 29"/>
          <p:cNvSpPr/>
          <p:nvPr/>
        </p:nvSpPr>
        <p:spPr>
          <a:xfrm>
            <a:off x="3931920" y="3310128"/>
            <a:ext cx="2011680" cy="2743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web_browsing</a:t>
            </a:r>
          </a:p>
        </p:txBody>
      </p:sp>
      <p:sp>
        <p:nvSpPr>
          <p:cNvPr id="31" name="Rounded Rectangle 30"/>
          <p:cNvSpPr/>
          <p:nvPr/>
        </p:nvSpPr>
        <p:spPr>
          <a:xfrm>
            <a:off x="1280160" y="3602736"/>
            <a:ext cx="1828800" cy="274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Eclipse</a:t>
            </a:r>
          </a:p>
        </p:txBody>
      </p:sp>
      <p:sp>
        <p:nvSpPr>
          <p:cNvPr id="32" name="Rounded Rectangle 31"/>
          <p:cNvSpPr/>
          <p:nvPr/>
        </p:nvSpPr>
        <p:spPr>
          <a:xfrm>
            <a:off x="3108960" y="3602736"/>
            <a:ext cx="822960" cy="274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10</a:t>
            </a:r>
          </a:p>
        </p:txBody>
      </p:sp>
      <p:sp>
        <p:nvSpPr>
          <p:cNvPr id="33" name="Rounded Rectangle 32"/>
          <p:cNvSpPr/>
          <p:nvPr/>
        </p:nvSpPr>
        <p:spPr>
          <a:xfrm>
            <a:off x="3931920" y="3602736"/>
            <a:ext cx="2011680" cy="274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coding_editing</a:t>
            </a:r>
          </a:p>
        </p:txBody>
      </p:sp>
      <p:sp>
        <p:nvSpPr>
          <p:cNvPr id="34" name="Rounded Rectangle 33"/>
          <p:cNvSpPr/>
          <p:nvPr/>
        </p:nvSpPr>
        <p:spPr>
          <a:xfrm>
            <a:off x="1280160" y="3895344"/>
            <a:ext cx="1828800" cy="2743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Mozilla Firefox</a:t>
            </a:r>
          </a:p>
        </p:txBody>
      </p:sp>
      <p:sp>
        <p:nvSpPr>
          <p:cNvPr id="35" name="Rounded Rectangle 34"/>
          <p:cNvSpPr/>
          <p:nvPr/>
        </p:nvSpPr>
        <p:spPr>
          <a:xfrm>
            <a:off x="3108960" y="3895344"/>
            <a:ext cx="822960" cy="2743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10</a:t>
            </a:r>
          </a:p>
        </p:txBody>
      </p:sp>
      <p:sp>
        <p:nvSpPr>
          <p:cNvPr id="36" name="Rounded Rectangle 35"/>
          <p:cNvSpPr/>
          <p:nvPr/>
        </p:nvSpPr>
        <p:spPr>
          <a:xfrm>
            <a:off x="3931920" y="3895344"/>
            <a:ext cx="2011680" cy="2743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web_browsing</a:t>
            </a:r>
          </a:p>
        </p:txBody>
      </p:sp>
      <p:sp>
        <p:nvSpPr>
          <p:cNvPr id="37" name="Rounded Rectangle 36"/>
          <p:cNvSpPr/>
          <p:nvPr/>
        </p:nvSpPr>
        <p:spPr>
          <a:xfrm>
            <a:off x="7299962" y="1554480"/>
            <a:ext cx="3566160" cy="420624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482842" y="1691640"/>
            <a:ext cx="1371600" cy="320040"/>
          </a:xfrm>
          <a:prstGeom prst="rect">
            <a:avLst/>
          </a:prstGeom>
          <a:noFill/>
        </p:spPr>
        <p:txBody>
          <a:bodyPr wrap="square">
            <a:spAutoFit/>
          </a:bodyPr>
          <a:lstStyle/>
          <a:p>
            <a:pPr algn="l">
              <a:defRPr sz="1100" b="1">
                <a:solidFill>
                  <a:srgbClr val="003D7C"/>
                </a:solidFill>
                <a:latin typeface="Calibri"/>
              </a:defRPr>
            </a:pPr>
            <a:r>
              <a:t>Total tasks:</a:t>
            </a:r>
          </a:p>
        </p:txBody>
      </p:sp>
      <p:sp>
        <p:nvSpPr>
          <p:cNvPr id="39" name="TextBox 38"/>
          <p:cNvSpPr txBox="1"/>
          <p:nvPr/>
        </p:nvSpPr>
        <p:spPr>
          <a:xfrm>
            <a:off x="8854442" y="1691640"/>
            <a:ext cx="1920240" cy="320040"/>
          </a:xfrm>
          <a:prstGeom prst="rect">
            <a:avLst/>
          </a:prstGeom>
          <a:noFill/>
        </p:spPr>
        <p:txBody>
          <a:bodyPr wrap="square">
            <a:spAutoFit/>
          </a:bodyPr>
          <a:lstStyle/>
          <a:p>
            <a:pPr algn="l">
              <a:defRPr sz="1100" b="0">
                <a:solidFill>
                  <a:srgbClr val="002A55"/>
                </a:solidFill>
                <a:latin typeface="Calibri"/>
              </a:defRPr>
            </a:pPr>
            <a:r>
              <a:t>277</a:t>
            </a:r>
          </a:p>
        </p:txBody>
      </p:sp>
      <p:sp>
        <p:nvSpPr>
          <p:cNvPr id="40" name="TextBox 39"/>
          <p:cNvSpPr txBox="1"/>
          <p:nvPr/>
        </p:nvSpPr>
        <p:spPr>
          <a:xfrm>
            <a:off x="7482842" y="2103120"/>
            <a:ext cx="1371600" cy="320040"/>
          </a:xfrm>
          <a:prstGeom prst="rect">
            <a:avLst/>
          </a:prstGeom>
          <a:noFill/>
        </p:spPr>
        <p:txBody>
          <a:bodyPr wrap="square">
            <a:spAutoFit/>
          </a:bodyPr>
          <a:lstStyle/>
          <a:p>
            <a:pPr algn="l">
              <a:defRPr sz="1100" b="1">
                <a:solidFill>
                  <a:srgbClr val="003D7C"/>
                </a:solidFill>
                <a:latin typeface="Calibri"/>
              </a:defRPr>
            </a:pPr>
            <a:r>
              <a:t>Apps:</a:t>
            </a:r>
          </a:p>
        </p:txBody>
      </p:sp>
      <p:sp>
        <p:nvSpPr>
          <p:cNvPr id="41" name="TextBox 40"/>
          <p:cNvSpPr txBox="1"/>
          <p:nvPr/>
        </p:nvSpPr>
        <p:spPr>
          <a:xfrm>
            <a:off x="8854442" y="2103120"/>
            <a:ext cx="1920240" cy="320040"/>
          </a:xfrm>
          <a:prstGeom prst="rect">
            <a:avLst/>
          </a:prstGeom>
          <a:noFill/>
        </p:spPr>
        <p:txBody>
          <a:bodyPr wrap="square">
            <a:spAutoFit/>
          </a:bodyPr>
          <a:lstStyle/>
          <a:p>
            <a:pPr algn="l">
              <a:defRPr sz="1100" b="0">
                <a:solidFill>
                  <a:srgbClr val="002A55"/>
                </a:solidFill>
                <a:latin typeface="Calibri"/>
              </a:defRPr>
            </a:pPr>
            <a:r>
              <a:t>8</a:t>
            </a:r>
          </a:p>
        </p:txBody>
      </p:sp>
      <p:sp>
        <p:nvSpPr>
          <p:cNvPr id="42" name="TextBox 41"/>
          <p:cNvSpPr txBox="1"/>
          <p:nvPr/>
        </p:nvSpPr>
        <p:spPr>
          <a:xfrm>
            <a:off x="7482842" y="2514600"/>
            <a:ext cx="1371600" cy="320040"/>
          </a:xfrm>
          <a:prstGeom prst="rect">
            <a:avLst/>
          </a:prstGeom>
          <a:noFill/>
        </p:spPr>
        <p:txBody>
          <a:bodyPr wrap="square">
            <a:spAutoFit/>
          </a:bodyPr>
          <a:lstStyle/>
          <a:p>
            <a:pPr algn="l">
              <a:defRPr sz="1100" b="1">
                <a:solidFill>
                  <a:srgbClr val="003D7C"/>
                </a:solidFill>
                <a:latin typeface="Calibri"/>
              </a:defRPr>
            </a:pPr>
            <a:r>
              <a:t>Duration range:</a:t>
            </a:r>
          </a:p>
        </p:txBody>
      </p:sp>
      <p:sp>
        <p:nvSpPr>
          <p:cNvPr id="43" name="TextBox 42"/>
          <p:cNvSpPr txBox="1"/>
          <p:nvPr/>
        </p:nvSpPr>
        <p:spPr>
          <a:xfrm>
            <a:off x="8854442" y="2514600"/>
            <a:ext cx="1920240" cy="320040"/>
          </a:xfrm>
          <a:prstGeom prst="rect">
            <a:avLst/>
          </a:prstGeom>
          <a:noFill/>
        </p:spPr>
        <p:txBody>
          <a:bodyPr wrap="square">
            <a:spAutoFit/>
          </a:bodyPr>
          <a:lstStyle/>
          <a:p>
            <a:pPr algn="l">
              <a:defRPr sz="1100" b="0">
                <a:solidFill>
                  <a:srgbClr val="002A55"/>
                </a:solidFill>
                <a:latin typeface="Calibri"/>
              </a:defRPr>
            </a:pPr>
            <a:r>
              <a:t>3.7 s – 117 s</a:t>
            </a:r>
          </a:p>
        </p:txBody>
      </p:sp>
      <p:sp>
        <p:nvSpPr>
          <p:cNvPr id="44" name="TextBox 43"/>
          <p:cNvSpPr txBox="1"/>
          <p:nvPr/>
        </p:nvSpPr>
        <p:spPr>
          <a:xfrm>
            <a:off x="7482842" y="2926080"/>
            <a:ext cx="1371600" cy="320040"/>
          </a:xfrm>
          <a:prstGeom prst="rect">
            <a:avLst/>
          </a:prstGeom>
          <a:noFill/>
        </p:spPr>
        <p:txBody>
          <a:bodyPr wrap="square">
            <a:spAutoFit/>
          </a:bodyPr>
          <a:lstStyle/>
          <a:p>
            <a:pPr algn="l">
              <a:defRPr sz="1100" b="1">
                <a:solidFill>
                  <a:srgbClr val="003D7C"/>
                </a:solidFill>
                <a:latin typeface="Calibri"/>
              </a:defRPr>
            </a:pPr>
            <a:r>
              <a:t>Mean duration:</a:t>
            </a:r>
          </a:p>
        </p:txBody>
      </p:sp>
      <p:sp>
        <p:nvSpPr>
          <p:cNvPr id="45" name="TextBox 44"/>
          <p:cNvSpPr txBox="1"/>
          <p:nvPr/>
        </p:nvSpPr>
        <p:spPr>
          <a:xfrm>
            <a:off x="8854442" y="2926080"/>
            <a:ext cx="1920240" cy="320040"/>
          </a:xfrm>
          <a:prstGeom prst="rect">
            <a:avLst/>
          </a:prstGeom>
          <a:noFill/>
        </p:spPr>
        <p:txBody>
          <a:bodyPr wrap="square">
            <a:spAutoFit/>
          </a:bodyPr>
          <a:lstStyle/>
          <a:p>
            <a:pPr algn="l">
              <a:defRPr sz="1100" b="0">
                <a:solidFill>
                  <a:srgbClr val="002A55"/>
                </a:solidFill>
                <a:latin typeface="Calibri"/>
              </a:defRPr>
            </a:pPr>
            <a:r>
              <a:t>~18 s</a:t>
            </a:r>
          </a:p>
        </p:txBody>
      </p:sp>
      <p:sp>
        <p:nvSpPr>
          <p:cNvPr id="46" name="TextBox 45"/>
          <p:cNvSpPr txBox="1"/>
          <p:nvPr/>
        </p:nvSpPr>
        <p:spPr>
          <a:xfrm>
            <a:off x="7482842" y="3337560"/>
            <a:ext cx="1371600" cy="320040"/>
          </a:xfrm>
          <a:prstGeom prst="rect">
            <a:avLst/>
          </a:prstGeom>
          <a:noFill/>
        </p:spPr>
        <p:txBody>
          <a:bodyPr wrap="square">
            <a:spAutoFit/>
          </a:bodyPr>
          <a:lstStyle/>
          <a:p>
            <a:pPr algn="l">
              <a:defRPr sz="1100" b="1">
                <a:solidFill>
                  <a:srgbClr val="003D7C"/>
                </a:solidFill>
                <a:latin typeface="Calibri"/>
              </a:defRPr>
            </a:pPr>
            <a:r>
              <a:t>Total size:</a:t>
            </a:r>
          </a:p>
        </p:txBody>
      </p:sp>
      <p:sp>
        <p:nvSpPr>
          <p:cNvPr id="47" name="TextBox 46"/>
          <p:cNvSpPr txBox="1"/>
          <p:nvPr/>
        </p:nvSpPr>
        <p:spPr>
          <a:xfrm>
            <a:off x="8854442" y="3337560"/>
            <a:ext cx="1920240" cy="320040"/>
          </a:xfrm>
          <a:prstGeom prst="rect">
            <a:avLst/>
          </a:prstGeom>
          <a:noFill/>
        </p:spPr>
        <p:txBody>
          <a:bodyPr wrap="square">
            <a:spAutoFit/>
          </a:bodyPr>
          <a:lstStyle/>
          <a:p>
            <a:pPr algn="l">
              <a:defRPr sz="1100" b="0">
                <a:solidFill>
                  <a:srgbClr val="002A55"/>
                </a:solidFill>
                <a:latin typeface="Calibri"/>
              </a:defRPr>
            </a:pPr>
            <a:r>
              <a:t>~2.3 GB</a:t>
            </a:r>
          </a:p>
        </p:txBody>
      </p:sp>
      <p:sp>
        <p:nvSpPr>
          <p:cNvPr id="48" name="TextBox 47"/>
          <p:cNvSpPr txBox="1"/>
          <p:nvPr/>
        </p:nvSpPr>
        <p:spPr>
          <a:xfrm>
            <a:off x="7482842" y="3749040"/>
            <a:ext cx="1371600" cy="320040"/>
          </a:xfrm>
          <a:prstGeom prst="rect">
            <a:avLst/>
          </a:prstGeom>
          <a:noFill/>
        </p:spPr>
        <p:txBody>
          <a:bodyPr wrap="square">
            <a:spAutoFit/>
          </a:bodyPr>
          <a:lstStyle/>
          <a:p>
            <a:pPr algn="l">
              <a:defRPr sz="1100" b="1">
                <a:solidFill>
                  <a:srgbClr val="003D7C"/>
                </a:solidFill>
                <a:latin typeface="Calibri"/>
              </a:defRPr>
            </a:pPr>
            <a:r>
              <a:t>FPS:</a:t>
            </a:r>
          </a:p>
        </p:txBody>
      </p:sp>
      <p:sp>
        <p:nvSpPr>
          <p:cNvPr id="49" name="TextBox 48"/>
          <p:cNvSpPr txBox="1"/>
          <p:nvPr/>
        </p:nvSpPr>
        <p:spPr>
          <a:xfrm>
            <a:off x="8854442" y="3749040"/>
            <a:ext cx="1920240" cy="320040"/>
          </a:xfrm>
          <a:prstGeom prst="rect">
            <a:avLst/>
          </a:prstGeom>
          <a:noFill/>
        </p:spPr>
        <p:txBody>
          <a:bodyPr wrap="square">
            <a:spAutoFit/>
          </a:bodyPr>
          <a:lstStyle/>
          <a:p>
            <a:pPr algn="l">
              <a:defRPr sz="1100" b="0">
                <a:solidFill>
                  <a:srgbClr val="002A55"/>
                </a:solidFill>
                <a:latin typeface="Calibri"/>
              </a:defRPr>
            </a:pPr>
            <a:r>
              <a:t>30 fps (some 60 fps Retina)</a:t>
            </a:r>
          </a:p>
        </p:txBody>
      </p:sp>
      <p:sp>
        <p:nvSpPr>
          <p:cNvPr id="50" name="TextBox 49"/>
          <p:cNvSpPr txBox="1"/>
          <p:nvPr/>
        </p:nvSpPr>
        <p:spPr>
          <a:xfrm>
            <a:off x="7482842" y="4160520"/>
            <a:ext cx="1371600" cy="320040"/>
          </a:xfrm>
          <a:prstGeom prst="rect">
            <a:avLst/>
          </a:prstGeom>
          <a:noFill/>
        </p:spPr>
        <p:txBody>
          <a:bodyPr wrap="square">
            <a:spAutoFit/>
          </a:bodyPr>
          <a:lstStyle/>
          <a:p>
            <a:pPr algn="l">
              <a:defRPr sz="1100" b="1">
                <a:solidFill>
                  <a:srgbClr val="003D7C"/>
                </a:solidFill>
                <a:latin typeface="Calibri"/>
              </a:defRPr>
            </a:pPr>
            <a:r>
              <a:t>Resolutions:</a:t>
            </a:r>
          </a:p>
        </p:txBody>
      </p:sp>
      <p:sp>
        <p:nvSpPr>
          <p:cNvPr id="51" name="TextBox 50"/>
          <p:cNvSpPr txBox="1"/>
          <p:nvPr/>
        </p:nvSpPr>
        <p:spPr>
          <a:xfrm>
            <a:off x="8854442" y="4160520"/>
            <a:ext cx="1920240" cy="320040"/>
          </a:xfrm>
          <a:prstGeom prst="rect">
            <a:avLst/>
          </a:prstGeom>
          <a:noFill/>
        </p:spPr>
        <p:txBody>
          <a:bodyPr wrap="square">
            <a:spAutoFit/>
          </a:bodyPr>
          <a:lstStyle/>
          <a:p>
            <a:pPr algn="l">
              <a:defRPr sz="1100" b="0">
                <a:solidFill>
                  <a:srgbClr val="002A55"/>
                </a:solidFill>
                <a:latin typeface="Calibri"/>
              </a:defRPr>
            </a:pPr>
            <a:r>
              <a:t>1920×1080 (primary)</a:t>
            </a:r>
          </a:p>
        </p:txBody>
      </p:sp>
      <p:sp>
        <p:nvSpPr>
          <p:cNvPr id="52" name="TextBox 51"/>
          <p:cNvSpPr txBox="1"/>
          <p:nvPr/>
        </p:nvSpPr>
        <p:spPr>
          <a:xfrm>
            <a:off x="7482842" y="4572000"/>
            <a:ext cx="1371600" cy="320040"/>
          </a:xfrm>
          <a:prstGeom prst="rect">
            <a:avLst/>
          </a:prstGeom>
          <a:noFill/>
        </p:spPr>
        <p:txBody>
          <a:bodyPr wrap="square">
            <a:spAutoFit/>
          </a:bodyPr>
          <a:lstStyle/>
          <a:p>
            <a:pPr algn="l">
              <a:defRPr sz="1100" b="1">
                <a:solidFill>
                  <a:srgbClr val="003D7C"/>
                </a:solidFill>
                <a:latin typeface="Calibri"/>
              </a:defRPr>
            </a:pPr>
            <a:r>
              <a:t>Split:</a:t>
            </a:r>
          </a:p>
        </p:txBody>
      </p:sp>
      <p:sp>
        <p:nvSpPr>
          <p:cNvPr id="53" name="TextBox 52"/>
          <p:cNvSpPr txBox="1"/>
          <p:nvPr/>
        </p:nvSpPr>
        <p:spPr>
          <a:xfrm>
            <a:off x="8854442" y="4572000"/>
            <a:ext cx="1920240" cy="320040"/>
          </a:xfrm>
          <a:prstGeom prst="rect">
            <a:avLst/>
          </a:prstGeom>
          <a:noFill/>
        </p:spPr>
        <p:txBody>
          <a:bodyPr wrap="square">
            <a:spAutoFit/>
          </a:bodyPr>
          <a:lstStyle/>
          <a:p>
            <a:pPr algn="l">
              <a:defRPr sz="1100" b="0">
                <a:solidFill>
                  <a:srgbClr val="002A55"/>
                </a:solidFill>
                <a:latin typeface="Calibri"/>
              </a:defRPr>
            </a:pPr>
            <a:r>
              <a:t>80 % train / 20 % test</a:t>
            </a:r>
          </a:p>
        </p:txBody>
      </p:sp>
      <p:sp>
        <p:nvSpPr>
          <p:cNvPr id="54" name="TextBox 53"/>
          <p:cNvSpPr txBox="1"/>
          <p:nvPr/>
        </p:nvSpPr>
        <p:spPr>
          <a:xfrm>
            <a:off x="7482842" y="4983480"/>
            <a:ext cx="1371600" cy="320040"/>
          </a:xfrm>
          <a:prstGeom prst="rect">
            <a:avLst/>
          </a:prstGeom>
          <a:noFill/>
        </p:spPr>
        <p:txBody>
          <a:bodyPr wrap="square">
            <a:spAutoFit/>
          </a:bodyPr>
          <a:lstStyle/>
          <a:p>
            <a:pPr algn="l">
              <a:defRPr sz="1100" b="1">
                <a:solidFill>
                  <a:srgbClr val="003D7C"/>
                </a:solidFill>
                <a:latin typeface="Calibri"/>
              </a:defRPr>
            </a:pPr>
            <a:r>
              <a:t>Stratified by:</a:t>
            </a:r>
          </a:p>
        </p:txBody>
      </p:sp>
      <p:sp>
        <p:nvSpPr>
          <p:cNvPr id="55" name="TextBox 54"/>
          <p:cNvSpPr txBox="1"/>
          <p:nvPr/>
        </p:nvSpPr>
        <p:spPr>
          <a:xfrm>
            <a:off x="8854442" y="4983480"/>
            <a:ext cx="1920240" cy="320040"/>
          </a:xfrm>
          <a:prstGeom prst="rect">
            <a:avLst/>
          </a:prstGeom>
          <a:noFill/>
        </p:spPr>
        <p:txBody>
          <a:bodyPr wrap="square">
            <a:spAutoFit/>
          </a:bodyPr>
          <a:lstStyle/>
          <a:p>
            <a:pPr algn="l">
              <a:defRPr sz="1100" b="0">
                <a:solidFill>
                  <a:srgbClr val="002A55"/>
                </a:solidFill>
                <a:latin typeface="Calibri"/>
              </a:defRPr>
            </a:pPr>
            <a:r>
              <a:t>app → activity label</a:t>
            </a:r>
          </a:p>
        </p:txBody>
      </p:sp>
      <p:sp>
        <p:nvSpPr>
          <p:cNvPr id="56" name="TextBox 55"/>
          <p:cNvSpPr txBox="1"/>
          <p:nvPr/>
        </p:nvSpPr>
        <p:spPr>
          <a:xfrm>
            <a:off x="1280160" y="5029200"/>
            <a:ext cx="8412480" cy="274320"/>
          </a:xfrm>
          <a:prstGeom prst="rect">
            <a:avLst/>
          </a:prstGeom>
          <a:noFill/>
        </p:spPr>
        <p:txBody>
          <a:bodyPr wrap="square">
            <a:spAutoFit/>
          </a:bodyPr>
          <a:lstStyle/>
          <a:p>
            <a:pPr algn="l">
              <a:defRPr sz="1100" b="1">
                <a:solidFill>
                  <a:srgbClr val="CC2233"/>
                </a:solidFill>
                <a:latin typeface="Calibri"/>
              </a:defRPr>
            </a:pPr>
            <a:r>
              <a:t>⚠  Class Imbalance: VSCode (106) + OpenShot (75) = 65% of data → use Macro-F1, not Accuracy</a:t>
            </a:r>
          </a:p>
        </p:txBody>
      </p:sp>
      <p:sp>
        <p:nvSpPr>
          <p:cNvPr id="57" name="Rectangle 56"/>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59" name="Rectangle 58"/>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nus_iss_logo_transparent.png"/>
          <p:cNvPicPr>
            <a:picLocks noChangeAspect="1"/>
          </p:cNvPicPr>
          <p:nvPr/>
        </p:nvPicPr>
        <p:blipFill>
          <a:blip r:embed="rId2"/>
          <a:stretch>
            <a:fillRect/>
          </a:stretch>
        </p:blipFill>
        <p:spPr>
          <a:xfrm>
            <a:off x="9555480" y="82296"/>
            <a:ext cx="2514600" cy="5852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3D7C"/>
        </a:solidFill>
        <a:effectLst/>
      </p:bgPr>
    </p:bg>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91440"/>
            <a:ext cx="8686800" cy="640080"/>
          </a:xfrm>
          <a:prstGeom prst="rect">
            <a:avLst/>
          </a:prstGeom>
          <a:noFill/>
        </p:spPr>
        <p:txBody>
          <a:bodyPr wrap="square">
            <a:spAutoFit/>
          </a:bodyPr>
          <a:lstStyle/>
          <a:p>
            <a:pPr algn="l">
              <a:defRPr sz="3200" b="1">
                <a:solidFill>
                  <a:srgbClr val="FFFFFF"/>
                </a:solidFill>
                <a:latin typeface="Calibri"/>
              </a:defRPr>
            </a:pPr>
            <a:r>
              <a:t>Step 1b — Train/Test Split &amp; Leakage Prevention</a:t>
            </a:r>
          </a:p>
        </p:txBody>
      </p:sp>
      <p:sp>
        <p:nvSpPr>
          <p:cNvPr id="7" name="TextBox 6"/>
          <p:cNvSpPr txBox="1"/>
          <p:nvPr/>
        </p:nvSpPr>
        <p:spPr>
          <a:xfrm>
            <a:off x="1188720" y="594360"/>
            <a:ext cx="8686800" cy="457200"/>
          </a:xfrm>
          <a:prstGeom prst="rect">
            <a:avLst/>
          </a:prstGeom>
          <a:noFill/>
        </p:spPr>
        <p:txBody>
          <a:bodyPr wrap="square">
            <a:spAutoFit/>
          </a:bodyPr>
          <a:lstStyle/>
          <a:p>
            <a:pPr algn="l">
              <a:defRPr sz="2000" b="0">
                <a:solidFill>
                  <a:srgbClr val="FFFFFF"/>
                </a:solidFill>
                <a:latin typeface="Calibri"/>
              </a:defRPr>
            </a:pPr>
            <a:r>
              <a:t>Splitting at the task/video level — the non-negotiable leakage rule</a:t>
            </a:r>
          </a:p>
        </p:txBody>
      </p:sp>
      <p:sp>
        <p:nvSpPr>
          <p:cNvPr id="8" name="Rectangle 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0" name="Rounded Rectangle 9"/>
          <p:cNvSpPr/>
          <p:nvPr/>
        </p:nvSpPr>
        <p:spPr>
          <a:xfrm>
            <a:off x="1249680" y="1394460"/>
            <a:ext cx="5029200" cy="182880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32560" y="1440180"/>
            <a:ext cx="4663440" cy="1737360"/>
          </a:xfrm>
          <a:prstGeom prst="rect">
            <a:avLst/>
          </a:prstGeom>
          <a:noFill/>
        </p:spPr>
        <p:txBody>
          <a:bodyPr wrap="square">
            <a:spAutoFit/>
          </a:bodyPr>
          <a:lstStyle/>
          <a:p>
            <a:pPr algn="l">
              <a:spcAft>
                <a:spcPts val="600"/>
              </a:spcAft>
              <a:defRPr sz="1100" b="0">
                <a:solidFill>
                  <a:srgbClr val="002A55"/>
                </a:solidFill>
                <a:latin typeface="Calibri"/>
              </a:defRPr>
            </a:pPr>
            <a:r>
              <a:t>Stratified Train / Test Split</a:t>
            </a:r>
          </a:p>
          <a:p>
            <a:pPr algn="l">
              <a:spcAft>
                <a:spcPts val="600"/>
              </a:spcAft>
              <a:defRPr sz="1100" b="0">
                <a:solidFill>
                  <a:srgbClr val="002A55"/>
                </a:solidFill>
                <a:latin typeface="Calibri"/>
              </a:defRPr>
            </a:pPr>
            <a:r>
              <a:t>sklearn.model_selection.train_test_split(stratify=y, test_size=0.2, random_state=42)</a:t>
            </a:r>
          </a:p>
          <a:p>
            <a:pPr algn="l">
              <a:spcAft>
                <a:spcPts val="600"/>
              </a:spcAft>
              <a:defRPr sz="1100" b="0">
                <a:solidFill>
                  <a:srgbClr val="002A55"/>
                </a:solidFill>
                <a:latin typeface="Calibri"/>
              </a:defRPr>
            </a:pPr>
            <a:endParaRPr/>
          </a:p>
          <a:p>
            <a:pPr algn="l">
              <a:spcAft>
                <a:spcPts val="600"/>
              </a:spcAft>
              <a:defRPr sz="1100" b="0">
                <a:solidFill>
                  <a:srgbClr val="002A55"/>
                </a:solidFill>
                <a:latin typeface="Calibri"/>
              </a:defRPr>
            </a:pPr>
            <a:r>
              <a:t>277 tasks  →  222 train (80%)  +  55 test (20%)</a:t>
            </a:r>
          </a:p>
          <a:p>
            <a:pPr algn="l">
              <a:spcAft>
                <a:spcPts val="600"/>
              </a:spcAft>
              <a:defRPr sz="1100" b="0">
                <a:solidFill>
                  <a:srgbClr val="002A55"/>
                </a:solidFill>
                <a:latin typeface="Calibri"/>
              </a:defRPr>
            </a:pPr>
            <a:r>
              <a:t>Same label proportions preserved in both splits</a:t>
            </a:r>
          </a:p>
          <a:p>
            <a:pPr algn="l">
              <a:spcAft>
                <a:spcPts val="600"/>
              </a:spcAft>
              <a:defRPr sz="1100" b="0">
                <a:solidFill>
                  <a:srgbClr val="002A55"/>
                </a:solidFill>
                <a:latin typeface="Calibri"/>
              </a:defRPr>
            </a:pPr>
            <a:r>
              <a:t>Ensures test set is representative — minority classes included</a:t>
            </a:r>
          </a:p>
        </p:txBody>
      </p:sp>
      <p:sp>
        <p:nvSpPr>
          <p:cNvPr id="12" name="Rounded Rectangle 11"/>
          <p:cNvSpPr/>
          <p:nvPr/>
        </p:nvSpPr>
        <p:spPr>
          <a:xfrm>
            <a:off x="1249680" y="3360420"/>
            <a:ext cx="5181600" cy="2103120"/>
          </a:xfrm>
          <a:prstGeom prst="roundRect">
            <a:avLst/>
          </a:prstGeom>
          <a:solidFill>
            <a:srgbClr val="FDE8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32560" y="3406140"/>
            <a:ext cx="4815840" cy="1492716"/>
          </a:xfrm>
          <a:prstGeom prst="rect">
            <a:avLst/>
          </a:prstGeom>
          <a:noFill/>
        </p:spPr>
        <p:txBody>
          <a:bodyPr wrap="square">
            <a:spAutoFit/>
          </a:bodyPr>
          <a:lstStyle/>
          <a:p>
            <a:pPr algn="l">
              <a:spcAft>
                <a:spcPts val="600"/>
              </a:spcAft>
              <a:defRPr sz="1100" b="0">
                <a:solidFill>
                  <a:srgbClr val="002A55"/>
                </a:solidFill>
                <a:latin typeface="Calibri"/>
              </a:defRPr>
            </a:pPr>
            <a:r>
              <a:t>⚠  Leakage Rule (non-negotiable)</a:t>
            </a:r>
          </a:p>
          <a:p>
            <a:pPr algn="l">
              <a:spcAft>
                <a:spcPts val="600"/>
              </a:spcAft>
              <a:defRPr sz="1100" b="0">
                <a:solidFill>
                  <a:srgbClr val="002A55"/>
                </a:solidFill>
                <a:latin typeface="Calibri"/>
              </a:defRPr>
            </a:pPr>
            <a:endParaRPr/>
          </a:p>
          <a:p>
            <a:pPr algn="l">
              <a:spcAft>
                <a:spcPts val="600"/>
              </a:spcAft>
              <a:defRPr sz="1100" b="0">
                <a:solidFill>
                  <a:srgbClr val="002A55"/>
                </a:solidFill>
                <a:latin typeface="Calibri"/>
              </a:defRPr>
            </a:pPr>
            <a:r>
              <a:t>Split at the TASK level, never at frame/segment level.</a:t>
            </a:r>
          </a:p>
          <a:p>
            <a:pPr algn="l">
              <a:spcAft>
                <a:spcPts val="600"/>
              </a:spcAft>
              <a:defRPr sz="1100" b="0">
                <a:solidFill>
                  <a:srgbClr val="002A55"/>
                </a:solidFill>
                <a:latin typeface="Calibri"/>
              </a:defRPr>
            </a:pPr>
            <a:r>
              <a:t>All frames from task #12345 go entirely into train OR test.</a:t>
            </a:r>
          </a:p>
          <a:p>
            <a:pPr algn="l">
              <a:spcAft>
                <a:spcPts val="600"/>
              </a:spcAft>
              <a:defRPr sz="1100" b="0">
                <a:solidFill>
                  <a:srgbClr val="002A55"/>
                </a:solidFill>
                <a:latin typeface="Calibri"/>
              </a:defRPr>
            </a:pPr>
            <a:r>
              <a:t>If frames from one recording appear in both splits,</a:t>
            </a:r>
          </a:p>
          <a:p>
            <a:pPr algn="l">
              <a:spcAft>
                <a:spcPts val="600"/>
              </a:spcAft>
              <a:defRPr sz="1100" b="0">
                <a:solidFill>
                  <a:srgbClr val="002A55"/>
                </a:solidFill>
                <a:latin typeface="Calibri"/>
              </a:defRPr>
            </a:pPr>
            <a:r>
              <a:t>the model memorises the recording — not the activity.</a:t>
            </a:r>
          </a:p>
        </p:txBody>
      </p:sp>
      <p:sp>
        <p:nvSpPr>
          <p:cNvPr id="14" name="Rounded Rectangle 13"/>
          <p:cNvSpPr/>
          <p:nvPr/>
        </p:nvSpPr>
        <p:spPr>
          <a:xfrm>
            <a:off x="6461760" y="1394460"/>
            <a:ext cx="3291840" cy="1828800"/>
          </a:xfrm>
          <a:prstGeom prst="round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44640" y="1440180"/>
            <a:ext cx="3017520" cy="1737360"/>
          </a:xfrm>
          <a:prstGeom prst="rect">
            <a:avLst/>
          </a:prstGeom>
          <a:noFill/>
        </p:spPr>
        <p:txBody>
          <a:bodyPr wrap="square">
            <a:spAutoFit/>
          </a:bodyPr>
          <a:lstStyle/>
          <a:p>
            <a:pPr algn="l">
              <a:spcAft>
                <a:spcPts val="600"/>
              </a:spcAft>
              <a:defRPr sz="1100" b="0">
                <a:solidFill>
                  <a:srgbClr val="002A55"/>
                </a:solidFill>
                <a:latin typeface="Calibri"/>
              </a:defRPr>
            </a:pPr>
            <a:r>
              <a:t>Class Distribution (v3b training set)</a:t>
            </a:r>
          </a:p>
          <a:p>
            <a:pPr algn="l">
              <a:spcAft>
                <a:spcPts val="600"/>
              </a:spcAft>
              <a:defRPr sz="1100" b="0">
                <a:solidFill>
                  <a:srgbClr val="002A55"/>
                </a:solidFill>
                <a:latin typeface="Calibri"/>
              </a:defRPr>
            </a:pPr>
            <a:endParaRPr/>
          </a:p>
          <a:p>
            <a:pPr algn="l">
              <a:spcAft>
                <a:spcPts val="600"/>
              </a:spcAft>
              <a:defRPr sz="1100" b="0">
                <a:solidFill>
                  <a:srgbClr val="002A55"/>
                </a:solidFill>
                <a:latin typeface="Calibri"/>
              </a:defRPr>
            </a:pPr>
            <a:r>
              <a:t>coding_editing    ~65%</a:t>
            </a:r>
          </a:p>
          <a:p>
            <a:pPr algn="l">
              <a:spcAft>
                <a:spcPts val="600"/>
              </a:spcAft>
              <a:defRPr sz="1100" b="0">
                <a:solidFill>
                  <a:srgbClr val="002A55"/>
                </a:solidFill>
                <a:latin typeface="Calibri"/>
              </a:defRPr>
            </a:pPr>
            <a:r>
              <a:t>media_editing     ~27%</a:t>
            </a:r>
          </a:p>
          <a:p>
            <a:pPr algn="l">
              <a:spcAft>
                <a:spcPts val="600"/>
              </a:spcAft>
              <a:defRPr sz="1100" b="0">
                <a:solidFill>
                  <a:srgbClr val="002A55"/>
                </a:solidFill>
                <a:latin typeface="Calibri"/>
              </a:defRPr>
            </a:pPr>
            <a:r>
              <a:t>web_browsing       ~7%</a:t>
            </a:r>
          </a:p>
          <a:p>
            <a:pPr algn="l">
              <a:spcAft>
                <a:spcPts val="600"/>
              </a:spcAft>
              <a:defRPr sz="1100" b="0">
                <a:solidFill>
                  <a:srgbClr val="002A55"/>
                </a:solidFill>
                <a:latin typeface="Calibri"/>
              </a:defRPr>
            </a:pPr>
            <a:r>
              <a:t>terminal_ops       ~1%</a:t>
            </a:r>
          </a:p>
          <a:p>
            <a:pPr algn="l">
              <a:spcAft>
                <a:spcPts val="600"/>
              </a:spcAft>
              <a:defRPr sz="1100" b="0">
                <a:solidFill>
                  <a:srgbClr val="002A55"/>
                </a:solidFill>
                <a:latin typeface="Calibri"/>
              </a:defRPr>
            </a:pPr>
            <a:r>
              <a:t>(others &lt; 1% each)</a:t>
            </a:r>
          </a:p>
        </p:txBody>
      </p:sp>
      <p:sp>
        <p:nvSpPr>
          <p:cNvPr id="16" name="Rounded Rectangle 15"/>
          <p:cNvSpPr/>
          <p:nvPr/>
        </p:nvSpPr>
        <p:spPr>
          <a:xfrm>
            <a:off x="6461760" y="3360420"/>
            <a:ext cx="3413760" cy="2103120"/>
          </a:xfrm>
          <a:prstGeom prst="round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44640" y="3406140"/>
            <a:ext cx="3017520" cy="1737360"/>
          </a:xfrm>
          <a:prstGeom prst="rect">
            <a:avLst/>
          </a:prstGeom>
          <a:noFill/>
        </p:spPr>
        <p:txBody>
          <a:bodyPr wrap="square">
            <a:spAutoFit/>
          </a:bodyPr>
          <a:lstStyle/>
          <a:p>
            <a:pPr algn="l">
              <a:spcAft>
                <a:spcPts val="600"/>
              </a:spcAft>
              <a:defRPr sz="1100" b="0">
                <a:solidFill>
                  <a:srgbClr val="002A55"/>
                </a:solidFill>
                <a:latin typeface="Calibri"/>
              </a:defRPr>
            </a:pPr>
            <a:r>
              <a:rPr dirty="0"/>
              <a:t>Data Augmentation</a:t>
            </a:r>
          </a:p>
          <a:p>
            <a:pPr algn="l">
              <a:spcAft>
                <a:spcPts val="600"/>
              </a:spcAft>
              <a:defRPr sz="1100" b="0">
                <a:solidFill>
                  <a:srgbClr val="002A55"/>
                </a:solidFill>
                <a:latin typeface="Calibri"/>
              </a:defRPr>
            </a:pPr>
            <a:endParaRPr dirty="0"/>
          </a:p>
          <a:p>
            <a:pPr algn="l">
              <a:spcAft>
                <a:spcPts val="600"/>
              </a:spcAft>
              <a:defRPr sz="1100" b="0">
                <a:solidFill>
                  <a:srgbClr val="002A55"/>
                </a:solidFill>
                <a:latin typeface="Calibri"/>
              </a:defRPr>
            </a:pPr>
            <a:r>
              <a:rPr dirty="0"/>
              <a:t>Classes with &lt; 100 training samples</a:t>
            </a:r>
          </a:p>
          <a:p>
            <a:pPr algn="l">
              <a:spcAft>
                <a:spcPts val="600"/>
              </a:spcAft>
              <a:defRPr sz="1100" b="0">
                <a:solidFill>
                  <a:srgbClr val="002A55"/>
                </a:solidFill>
                <a:latin typeface="Calibri"/>
              </a:defRPr>
            </a:pPr>
            <a:r>
              <a:rPr dirty="0"/>
              <a:t>receive 5× synthetic augmentation:</a:t>
            </a:r>
          </a:p>
          <a:p>
            <a:pPr algn="l">
              <a:spcAft>
                <a:spcPts val="600"/>
              </a:spcAft>
              <a:defRPr sz="1100" b="0">
                <a:solidFill>
                  <a:srgbClr val="002A55"/>
                </a:solidFill>
                <a:latin typeface="Calibri"/>
              </a:defRPr>
            </a:pPr>
            <a:r>
              <a:rPr dirty="0"/>
              <a:t>  • Gaussian noise on feature values</a:t>
            </a:r>
          </a:p>
          <a:p>
            <a:pPr algn="l">
              <a:spcAft>
                <a:spcPts val="600"/>
              </a:spcAft>
              <a:defRPr sz="1100" b="0">
                <a:solidFill>
                  <a:srgbClr val="002A55"/>
                </a:solidFill>
                <a:latin typeface="Calibri"/>
              </a:defRPr>
            </a:pPr>
            <a:r>
              <a:rPr dirty="0"/>
              <a:t>  • Random feature dropout (10%)</a:t>
            </a:r>
          </a:p>
          <a:p>
            <a:pPr algn="l">
              <a:spcAft>
                <a:spcPts val="600"/>
              </a:spcAft>
              <a:defRPr sz="1100" b="0">
                <a:solidFill>
                  <a:srgbClr val="002A55"/>
                </a:solidFill>
                <a:latin typeface="Calibri"/>
              </a:defRPr>
            </a:pPr>
            <a:r>
              <a:rPr dirty="0"/>
              <a:t>Prevents minority classes from being</a:t>
            </a:r>
          </a:p>
          <a:p>
            <a:pPr algn="l">
              <a:spcAft>
                <a:spcPts val="600"/>
              </a:spcAft>
              <a:defRPr sz="1100" b="0">
                <a:solidFill>
                  <a:srgbClr val="002A55"/>
                </a:solidFill>
                <a:latin typeface="Calibri"/>
              </a:defRPr>
            </a:pPr>
            <a:r>
              <a:rPr dirty="0"/>
              <a:t>ignored during training.</a:t>
            </a:r>
          </a:p>
        </p:txBody>
      </p:sp>
      <p:sp>
        <p:nvSpPr>
          <p:cNvPr id="18" name="Rectangle 1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20" name="Rectangle 19"/>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nus_iss_logo_transparent.png"/>
          <p:cNvPicPr>
            <a:picLocks noChangeAspect="1"/>
          </p:cNvPicPr>
          <p:nvPr/>
        </p:nvPicPr>
        <p:blipFill>
          <a:blip r:embed="rId2"/>
          <a:stretch>
            <a:fillRect/>
          </a:stretch>
        </p:blipFill>
        <p:spPr>
          <a:xfrm>
            <a:off x="9555480" y="82296"/>
            <a:ext cx="2514600" cy="5852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3D7C"/>
        </a:solidFill>
        <a:effectLst/>
      </p:bgPr>
    </p:bg>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91440"/>
            <a:ext cx="8686800" cy="640080"/>
          </a:xfrm>
          <a:prstGeom prst="rect">
            <a:avLst/>
          </a:prstGeom>
          <a:noFill/>
        </p:spPr>
        <p:txBody>
          <a:bodyPr wrap="square">
            <a:spAutoFit/>
          </a:bodyPr>
          <a:lstStyle/>
          <a:p>
            <a:pPr algn="l">
              <a:defRPr sz="3200" b="1">
                <a:solidFill>
                  <a:srgbClr val="FFFFFF"/>
                </a:solidFill>
                <a:latin typeface="Calibri"/>
              </a:defRPr>
            </a:pPr>
            <a:r>
              <a:t>Step 2 — Multimodal Feature Extraction</a:t>
            </a:r>
          </a:p>
        </p:txBody>
      </p:sp>
      <p:sp>
        <p:nvSpPr>
          <p:cNvPr id="7" name="TextBox 6"/>
          <p:cNvSpPr txBox="1"/>
          <p:nvPr/>
        </p:nvSpPr>
        <p:spPr>
          <a:xfrm>
            <a:off x="1188720" y="594360"/>
            <a:ext cx="8686800" cy="457200"/>
          </a:xfrm>
          <a:prstGeom prst="rect">
            <a:avLst/>
          </a:prstGeom>
          <a:noFill/>
        </p:spPr>
        <p:txBody>
          <a:bodyPr wrap="square">
            <a:spAutoFit/>
          </a:bodyPr>
          <a:lstStyle/>
          <a:p>
            <a:pPr algn="l">
              <a:defRPr sz="2000" b="0">
                <a:solidFill>
                  <a:srgbClr val="FFFFFF"/>
                </a:solidFill>
                <a:latin typeface="Calibri"/>
              </a:defRPr>
            </a:pPr>
            <a:r>
              <a:t>1,391-dimensional feature vector fused from 4 independent extractors</a:t>
            </a:r>
          </a:p>
        </p:txBody>
      </p:sp>
      <p:sp>
        <p:nvSpPr>
          <p:cNvPr id="8" name="Rectangle 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0" name="Rounded Rectangle 9"/>
          <p:cNvSpPr/>
          <p:nvPr/>
        </p:nvSpPr>
        <p:spPr>
          <a:xfrm>
            <a:off x="1373778" y="1463040"/>
            <a:ext cx="210312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defRPr>
            </a:pPr>
            <a:r>
              <a:t>Visual (EfficientNet-B0)</a:t>
            </a:r>
          </a:p>
        </p:txBody>
      </p:sp>
      <p:sp>
        <p:nvSpPr>
          <p:cNvPr id="11" name="Rounded Rectangle 10"/>
          <p:cNvSpPr/>
          <p:nvPr/>
        </p:nvSpPr>
        <p:spPr>
          <a:xfrm>
            <a:off x="1373778" y="1783080"/>
            <a:ext cx="2103120" cy="26517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465218" y="1874519"/>
            <a:ext cx="1920240" cy="347472"/>
          </a:xfrm>
          <a:prstGeom prst="rect">
            <a:avLst/>
          </a:prstGeom>
          <a:noFill/>
        </p:spPr>
        <p:txBody>
          <a:bodyPr wrap="square">
            <a:spAutoFit/>
          </a:bodyPr>
          <a:lstStyle/>
          <a:p>
            <a:pPr algn="l">
              <a:defRPr sz="1000" b="0">
                <a:solidFill>
                  <a:srgbClr val="002A55"/>
                </a:solidFill>
                <a:latin typeface="Calibri"/>
              </a:defRPr>
            </a:pPr>
            <a:r>
              <a:t>CNN pretrained on ImageNet</a:t>
            </a:r>
          </a:p>
        </p:txBody>
      </p:sp>
      <p:sp>
        <p:nvSpPr>
          <p:cNvPr id="13" name="TextBox 12"/>
          <p:cNvSpPr txBox="1"/>
          <p:nvPr/>
        </p:nvSpPr>
        <p:spPr>
          <a:xfrm>
            <a:off x="1465218" y="2258568"/>
            <a:ext cx="1920240" cy="347472"/>
          </a:xfrm>
          <a:prstGeom prst="rect">
            <a:avLst/>
          </a:prstGeom>
          <a:noFill/>
        </p:spPr>
        <p:txBody>
          <a:bodyPr wrap="square">
            <a:spAutoFit/>
          </a:bodyPr>
          <a:lstStyle/>
          <a:p>
            <a:pPr algn="l">
              <a:defRPr sz="1000" b="0">
                <a:solidFill>
                  <a:srgbClr val="002A55"/>
                </a:solidFill>
                <a:latin typeface="Calibri"/>
              </a:defRPr>
            </a:pPr>
            <a:r>
              <a:t>Frames → global avg pool → 1,280-dim</a:t>
            </a:r>
          </a:p>
        </p:txBody>
      </p:sp>
      <p:sp>
        <p:nvSpPr>
          <p:cNvPr id="14" name="TextBox 13"/>
          <p:cNvSpPr txBox="1"/>
          <p:nvPr/>
        </p:nvSpPr>
        <p:spPr>
          <a:xfrm>
            <a:off x="1465218" y="2642615"/>
            <a:ext cx="1920240" cy="347472"/>
          </a:xfrm>
          <a:prstGeom prst="rect">
            <a:avLst/>
          </a:prstGeom>
          <a:noFill/>
        </p:spPr>
        <p:txBody>
          <a:bodyPr wrap="square">
            <a:spAutoFit/>
          </a:bodyPr>
          <a:lstStyle/>
          <a:p>
            <a:pPr algn="l">
              <a:defRPr sz="1000" b="0">
                <a:solidFill>
                  <a:srgbClr val="002A55"/>
                </a:solidFill>
                <a:latin typeface="Calibri"/>
              </a:defRPr>
            </a:pPr>
            <a:r>
              <a:t>Captures UI layout, colour palette,</a:t>
            </a:r>
          </a:p>
        </p:txBody>
      </p:sp>
      <p:sp>
        <p:nvSpPr>
          <p:cNvPr id="15" name="TextBox 14"/>
          <p:cNvSpPr txBox="1"/>
          <p:nvPr/>
        </p:nvSpPr>
        <p:spPr>
          <a:xfrm>
            <a:off x="1465218" y="3026663"/>
            <a:ext cx="1920240" cy="347472"/>
          </a:xfrm>
          <a:prstGeom prst="rect">
            <a:avLst/>
          </a:prstGeom>
          <a:noFill/>
        </p:spPr>
        <p:txBody>
          <a:bodyPr wrap="square">
            <a:spAutoFit/>
          </a:bodyPr>
          <a:lstStyle/>
          <a:p>
            <a:pPr algn="l">
              <a:defRPr sz="1000" b="0">
                <a:solidFill>
                  <a:srgbClr val="002A55"/>
                </a:solidFill>
                <a:latin typeface="Calibri"/>
              </a:defRPr>
            </a:pPr>
            <a:r>
              <a:t>window structure</a:t>
            </a:r>
          </a:p>
        </p:txBody>
      </p:sp>
      <p:sp>
        <p:nvSpPr>
          <p:cNvPr id="16" name="Rounded Rectangle 15"/>
          <p:cNvSpPr/>
          <p:nvPr/>
        </p:nvSpPr>
        <p:spPr>
          <a:xfrm>
            <a:off x="1739538" y="4160520"/>
            <a:ext cx="1371600" cy="27432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t>1,280 dims</a:t>
            </a:r>
          </a:p>
        </p:txBody>
      </p:sp>
      <p:sp>
        <p:nvSpPr>
          <p:cNvPr id="17" name="Rounded Rectangle 16"/>
          <p:cNvSpPr/>
          <p:nvPr/>
        </p:nvSpPr>
        <p:spPr>
          <a:xfrm>
            <a:off x="3614058" y="1463040"/>
            <a:ext cx="210312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defRPr>
            </a:pPr>
            <a:r>
              <a:t>OCR Text (EasyOCR)</a:t>
            </a:r>
          </a:p>
        </p:txBody>
      </p:sp>
      <p:sp>
        <p:nvSpPr>
          <p:cNvPr id="18" name="Rounded Rectangle 17"/>
          <p:cNvSpPr/>
          <p:nvPr/>
        </p:nvSpPr>
        <p:spPr>
          <a:xfrm>
            <a:off x="3614058" y="1783080"/>
            <a:ext cx="2103120" cy="265176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705498" y="1874519"/>
            <a:ext cx="1920240" cy="347472"/>
          </a:xfrm>
          <a:prstGeom prst="rect">
            <a:avLst/>
          </a:prstGeom>
          <a:noFill/>
        </p:spPr>
        <p:txBody>
          <a:bodyPr wrap="square">
            <a:spAutoFit/>
          </a:bodyPr>
          <a:lstStyle/>
          <a:p>
            <a:pPr algn="l">
              <a:defRPr sz="1000" b="0">
                <a:solidFill>
                  <a:srgbClr val="002A55"/>
                </a:solidFill>
                <a:latin typeface="Calibri"/>
              </a:defRPr>
            </a:pPr>
            <a:r>
              <a:t>Text regions detected &amp; extracted</a:t>
            </a:r>
          </a:p>
        </p:txBody>
      </p:sp>
      <p:sp>
        <p:nvSpPr>
          <p:cNvPr id="20" name="TextBox 19"/>
          <p:cNvSpPr txBox="1"/>
          <p:nvPr/>
        </p:nvSpPr>
        <p:spPr>
          <a:xfrm>
            <a:off x="3705498" y="2258568"/>
            <a:ext cx="1920240" cy="347472"/>
          </a:xfrm>
          <a:prstGeom prst="rect">
            <a:avLst/>
          </a:prstGeom>
          <a:noFill/>
        </p:spPr>
        <p:txBody>
          <a:bodyPr wrap="square">
            <a:spAutoFit/>
          </a:bodyPr>
          <a:lstStyle/>
          <a:p>
            <a:pPr algn="l">
              <a:defRPr sz="1000" b="0">
                <a:solidFill>
                  <a:srgbClr val="002A55"/>
                </a:solidFill>
                <a:latin typeface="Calibri"/>
              </a:defRPr>
            </a:pPr>
            <a:r>
              <a:t>TF-IDF on app-keyword vocabulary</a:t>
            </a:r>
          </a:p>
        </p:txBody>
      </p:sp>
      <p:sp>
        <p:nvSpPr>
          <p:cNvPr id="21" name="TextBox 20"/>
          <p:cNvSpPr txBox="1"/>
          <p:nvPr/>
        </p:nvSpPr>
        <p:spPr>
          <a:xfrm>
            <a:off x="3705498" y="2642615"/>
            <a:ext cx="1920240" cy="347472"/>
          </a:xfrm>
          <a:prstGeom prst="rect">
            <a:avLst/>
          </a:prstGeom>
          <a:noFill/>
        </p:spPr>
        <p:txBody>
          <a:bodyPr wrap="square">
            <a:spAutoFit/>
          </a:bodyPr>
          <a:lstStyle/>
          <a:p>
            <a:pPr algn="l">
              <a:defRPr sz="1000" b="0">
                <a:solidFill>
                  <a:srgbClr val="002A55"/>
                </a:solidFill>
                <a:latin typeface="Calibri"/>
              </a:defRPr>
            </a:pPr>
            <a:r>
              <a:t>Identifies IDE names, CLI commands,</a:t>
            </a:r>
          </a:p>
        </p:txBody>
      </p:sp>
      <p:sp>
        <p:nvSpPr>
          <p:cNvPr id="22" name="TextBox 21"/>
          <p:cNvSpPr txBox="1"/>
          <p:nvPr/>
        </p:nvSpPr>
        <p:spPr>
          <a:xfrm>
            <a:off x="3705498" y="3026663"/>
            <a:ext cx="1920240" cy="347472"/>
          </a:xfrm>
          <a:prstGeom prst="rect">
            <a:avLst/>
          </a:prstGeom>
          <a:noFill/>
        </p:spPr>
        <p:txBody>
          <a:bodyPr wrap="square">
            <a:spAutoFit/>
          </a:bodyPr>
          <a:lstStyle/>
          <a:p>
            <a:pPr algn="l">
              <a:defRPr sz="1000" b="0">
                <a:solidFill>
                  <a:srgbClr val="002A55"/>
                </a:solidFill>
                <a:latin typeface="Calibri"/>
              </a:defRPr>
            </a:pPr>
            <a:r>
              <a:t>browser URLs, error messages</a:t>
            </a:r>
          </a:p>
        </p:txBody>
      </p:sp>
      <p:sp>
        <p:nvSpPr>
          <p:cNvPr id="23" name="Rounded Rectangle 22"/>
          <p:cNvSpPr/>
          <p:nvPr/>
        </p:nvSpPr>
        <p:spPr>
          <a:xfrm>
            <a:off x="3979818" y="4160520"/>
            <a:ext cx="1371600" cy="2743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t>50 dims</a:t>
            </a:r>
          </a:p>
        </p:txBody>
      </p:sp>
      <p:sp>
        <p:nvSpPr>
          <p:cNvPr id="24" name="Rounded Rectangle 23"/>
          <p:cNvSpPr/>
          <p:nvPr/>
        </p:nvSpPr>
        <p:spPr>
          <a:xfrm>
            <a:off x="5854338" y="1463040"/>
            <a:ext cx="2103120" cy="32004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defRPr>
            </a:pPr>
            <a:r>
              <a:t>UI Objects (YOLO)</a:t>
            </a:r>
          </a:p>
        </p:txBody>
      </p:sp>
      <p:sp>
        <p:nvSpPr>
          <p:cNvPr id="25" name="Rounded Rectangle 24"/>
          <p:cNvSpPr/>
          <p:nvPr/>
        </p:nvSpPr>
        <p:spPr>
          <a:xfrm>
            <a:off x="5854338" y="1783080"/>
            <a:ext cx="2103120" cy="2651760"/>
          </a:xfrm>
          <a:prstGeom prst="round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945778" y="1874519"/>
            <a:ext cx="1920240" cy="347472"/>
          </a:xfrm>
          <a:prstGeom prst="rect">
            <a:avLst/>
          </a:prstGeom>
          <a:noFill/>
        </p:spPr>
        <p:txBody>
          <a:bodyPr wrap="square">
            <a:spAutoFit/>
          </a:bodyPr>
          <a:lstStyle/>
          <a:p>
            <a:pPr algn="l">
              <a:defRPr sz="1000" b="0">
                <a:solidFill>
                  <a:srgbClr val="002A55"/>
                </a:solidFill>
                <a:latin typeface="Calibri"/>
              </a:defRPr>
            </a:pPr>
            <a:r>
              <a:t>YOLOv8 detects UI widgets:</a:t>
            </a:r>
          </a:p>
        </p:txBody>
      </p:sp>
      <p:sp>
        <p:nvSpPr>
          <p:cNvPr id="27" name="TextBox 26"/>
          <p:cNvSpPr txBox="1"/>
          <p:nvPr/>
        </p:nvSpPr>
        <p:spPr>
          <a:xfrm>
            <a:off x="5945778" y="2258568"/>
            <a:ext cx="1920240" cy="347472"/>
          </a:xfrm>
          <a:prstGeom prst="rect">
            <a:avLst/>
          </a:prstGeom>
          <a:noFill/>
        </p:spPr>
        <p:txBody>
          <a:bodyPr wrap="square">
            <a:spAutoFit/>
          </a:bodyPr>
          <a:lstStyle/>
          <a:p>
            <a:pPr algn="l">
              <a:defRPr sz="1000" b="0">
                <a:solidFill>
                  <a:srgbClr val="002A55"/>
                </a:solidFill>
                <a:latin typeface="Calibri"/>
              </a:defRPr>
            </a:pPr>
            <a:r>
              <a:t>buttons, menus, text fields,</a:t>
            </a:r>
          </a:p>
        </p:txBody>
      </p:sp>
      <p:sp>
        <p:nvSpPr>
          <p:cNvPr id="28" name="TextBox 27"/>
          <p:cNvSpPr txBox="1"/>
          <p:nvPr/>
        </p:nvSpPr>
        <p:spPr>
          <a:xfrm>
            <a:off x="5945778" y="2642615"/>
            <a:ext cx="1920240" cy="347472"/>
          </a:xfrm>
          <a:prstGeom prst="rect">
            <a:avLst/>
          </a:prstGeom>
          <a:noFill/>
        </p:spPr>
        <p:txBody>
          <a:bodyPr wrap="square">
            <a:spAutoFit/>
          </a:bodyPr>
          <a:lstStyle/>
          <a:p>
            <a:pPr algn="l">
              <a:defRPr sz="1000" b="0">
                <a:solidFill>
                  <a:srgbClr val="002A55"/>
                </a:solidFill>
                <a:latin typeface="Calibri"/>
              </a:defRPr>
            </a:pPr>
            <a:r>
              <a:t>terminal windows</a:t>
            </a:r>
          </a:p>
        </p:txBody>
      </p:sp>
      <p:sp>
        <p:nvSpPr>
          <p:cNvPr id="29" name="TextBox 28"/>
          <p:cNvSpPr txBox="1"/>
          <p:nvPr/>
        </p:nvSpPr>
        <p:spPr>
          <a:xfrm>
            <a:off x="5945778" y="3026663"/>
            <a:ext cx="1920240" cy="347472"/>
          </a:xfrm>
          <a:prstGeom prst="rect">
            <a:avLst/>
          </a:prstGeom>
          <a:noFill/>
        </p:spPr>
        <p:txBody>
          <a:bodyPr wrap="square">
            <a:spAutoFit/>
          </a:bodyPr>
          <a:lstStyle/>
          <a:p>
            <a:pPr algn="l">
              <a:defRPr sz="1000" b="0">
                <a:solidFill>
                  <a:srgbClr val="002A55"/>
                </a:solidFill>
                <a:latin typeface="Calibri"/>
              </a:defRPr>
            </a:pPr>
            <a:r>
              <a:t>Count + position features</a:t>
            </a:r>
          </a:p>
        </p:txBody>
      </p:sp>
      <p:sp>
        <p:nvSpPr>
          <p:cNvPr id="30" name="Rounded Rectangle 29"/>
          <p:cNvSpPr/>
          <p:nvPr/>
        </p:nvSpPr>
        <p:spPr>
          <a:xfrm>
            <a:off x="6220098" y="4160520"/>
            <a:ext cx="1371600" cy="27432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t>30 dims</a:t>
            </a:r>
          </a:p>
        </p:txBody>
      </p:sp>
      <p:sp>
        <p:nvSpPr>
          <p:cNvPr id="31" name="Rounded Rectangle 30"/>
          <p:cNvSpPr/>
          <p:nvPr/>
        </p:nvSpPr>
        <p:spPr>
          <a:xfrm>
            <a:off x="8094618" y="1463040"/>
            <a:ext cx="2103120" cy="32004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defRPr>
            </a:pPr>
            <a:r>
              <a:t>Interaction Stats</a:t>
            </a:r>
          </a:p>
        </p:txBody>
      </p:sp>
      <p:sp>
        <p:nvSpPr>
          <p:cNvPr id="32" name="Rounded Rectangle 31"/>
          <p:cNvSpPr/>
          <p:nvPr/>
        </p:nvSpPr>
        <p:spPr>
          <a:xfrm>
            <a:off x="8094618" y="1783080"/>
            <a:ext cx="2103120" cy="2651760"/>
          </a:xfrm>
          <a:prstGeom prst="round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186058" y="1874519"/>
            <a:ext cx="1920240" cy="347472"/>
          </a:xfrm>
          <a:prstGeom prst="rect">
            <a:avLst/>
          </a:prstGeom>
          <a:noFill/>
        </p:spPr>
        <p:txBody>
          <a:bodyPr wrap="square">
            <a:spAutoFit/>
          </a:bodyPr>
          <a:lstStyle/>
          <a:p>
            <a:pPr algn="l">
              <a:defRPr sz="1000" b="0">
                <a:solidFill>
                  <a:srgbClr val="002A55"/>
                </a:solidFill>
                <a:latin typeface="Calibri"/>
              </a:defRPr>
            </a:pPr>
            <a:r>
              <a:t>From action_log.json:</a:t>
            </a:r>
          </a:p>
        </p:txBody>
      </p:sp>
      <p:sp>
        <p:nvSpPr>
          <p:cNvPr id="34" name="TextBox 33"/>
          <p:cNvSpPr txBox="1"/>
          <p:nvPr/>
        </p:nvSpPr>
        <p:spPr>
          <a:xfrm>
            <a:off x="8186058" y="2258568"/>
            <a:ext cx="1920240" cy="347472"/>
          </a:xfrm>
          <a:prstGeom prst="rect">
            <a:avLst/>
          </a:prstGeom>
          <a:noFill/>
        </p:spPr>
        <p:txBody>
          <a:bodyPr wrap="square">
            <a:spAutoFit/>
          </a:bodyPr>
          <a:lstStyle/>
          <a:p>
            <a:pPr algn="l">
              <a:defRPr sz="1000" b="0">
                <a:solidFill>
                  <a:srgbClr val="002A55"/>
                </a:solidFill>
                <a:latin typeface="Calibri"/>
              </a:defRPr>
            </a:pPr>
            <a:r>
              <a:t>click rate, typing rate,</a:t>
            </a:r>
          </a:p>
        </p:txBody>
      </p:sp>
      <p:sp>
        <p:nvSpPr>
          <p:cNvPr id="35" name="TextBox 34"/>
          <p:cNvSpPr txBox="1"/>
          <p:nvPr/>
        </p:nvSpPr>
        <p:spPr>
          <a:xfrm>
            <a:off x="8186058" y="2642615"/>
            <a:ext cx="1920240" cy="347472"/>
          </a:xfrm>
          <a:prstGeom prst="rect">
            <a:avLst/>
          </a:prstGeom>
          <a:noFill/>
        </p:spPr>
        <p:txBody>
          <a:bodyPr wrap="square">
            <a:spAutoFit/>
          </a:bodyPr>
          <a:lstStyle/>
          <a:p>
            <a:pPr algn="l">
              <a:defRPr sz="1000" b="0">
                <a:solidFill>
                  <a:srgbClr val="002A55"/>
                </a:solidFill>
                <a:latin typeface="Calibri"/>
              </a:defRPr>
            </a:pPr>
            <a:r>
              <a:t>mouse travel distance,</a:t>
            </a:r>
          </a:p>
        </p:txBody>
      </p:sp>
      <p:sp>
        <p:nvSpPr>
          <p:cNvPr id="36" name="TextBox 35"/>
          <p:cNvSpPr txBox="1"/>
          <p:nvPr/>
        </p:nvSpPr>
        <p:spPr>
          <a:xfrm>
            <a:off x="8186058" y="3026663"/>
            <a:ext cx="1920240" cy="347472"/>
          </a:xfrm>
          <a:prstGeom prst="rect">
            <a:avLst/>
          </a:prstGeom>
          <a:noFill/>
        </p:spPr>
        <p:txBody>
          <a:bodyPr wrap="square">
            <a:spAutoFit/>
          </a:bodyPr>
          <a:lstStyle/>
          <a:p>
            <a:pPr algn="l">
              <a:defRPr sz="1000" b="0">
                <a:solidFill>
                  <a:srgbClr val="002A55"/>
                </a:solidFill>
                <a:latin typeface="Calibri"/>
              </a:defRPr>
            </a:pPr>
            <a:r>
              <a:t>scroll frequency, hotkey ratio</a:t>
            </a:r>
          </a:p>
        </p:txBody>
      </p:sp>
      <p:sp>
        <p:nvSpPr>
          <p:cNvPr id="37" name="Rounded Rectangle 36"/>
          <p:cNvSpPr/>
          <p:nvPr/>
        </p:nvSpPr>
        <p:spPr>
          <a:xfrm>
            <a:off x="8460378" y="4160520"/>
            <a:ext cx="1371600" cy="27432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t>30 dims</a:t>
            </a:r>
          </a:p>
        </p:txBody>
      </p:sp>
      <p:sp>
        <p:nvSpPr>
          <p:cNvPr id="38" name="TextBox 37"/>
          <p:cNvSpPr txBox="1"/>
          <p:nvPr/>
        </p:nvSpPr>
        <p:spPr>
          <a:xfrm>
            <a:off x="1373778" y="4572000"/>
            <a:ext cx="8595360" cy="228600"/>
          </a:xfrm>
          <a:prstGeom prst="rect">
            <a:avLst/>
          </a:prstGeom>
          <a:noFill/>
        </p:spPr>
        <p:txBody>
          <a:bodyPr wrap="square">
            <a:spAutoFit/>
          </a:bodyPr>
          <a:lstStyle/>
          <a:p>
            <a:pPr algn="ctr">
              <a:defRPr sz="1300" b="1">
                <a:solidFill>
                  <a:srgbClr val="003D7C"/>
                </a:solidFill>
                <a:latin typeface="Calibri"/>
              </a:defRPr>
            </a:pPr>
            <a:r>
              <a:t>1,280 + 50 + 30 + 30 + 1  =  1,391 dims  →  one row per task (CNN backend)</a:t>
            </a:r>
          </a:p>
        </p:txBody>
      </p:sp>
      <p:sp>
        <p:nvSpPr>
          <p:cNvPr id="39" name="Rounded Rectangle 38"/>
          <p:cNvSpPr/>
          <p:nvPr/>
        </p:nvSpPr>
        <p:spPr>
          <a:xfrm>
            <a:off x="1373778" y="4892040"/>
            <a:ext cx="8595360" cy="77724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510938" y="4983480"/>
            <a:ext cx="8321040" cy="594360"/>
          </a:xfrm>
          <a:prstGeom prst="rect">
            <a:avLst/>
          </a:prstGeom>
          <a:noFill/>
        </p:spPr>
        <p:txBody>
          <a:bodyPr wrap="square">
            <a:spAutoFit/>
          </a:bodyPr>
          <a:lstStyle/>
          <a:p>
            <a:pPr algn="l">
              <a:spcAft>
                <a:spcPts val="200"/>
              </a:spcAft>
              <a:defRPr sz="1000" b="0">
                <a:solidFill>
                  <a:srgbClr val="28A745"/>
                </a:solidFill>
                <a:latin typeface="Courier New"/>
              </a:defRPr>
            </a:pPr>
            <a:r>
              <a:t>X_train.shape = (222, 1391)   # 222 training tasks × 1,391 features</a:t>
            </a:r>
          </a:p>
          <a:p>
            <a:pPr algn="l">
              <a:spcAft>
                <a:spcPts val="200"/>
              </a:spcAft>
              <a:defRPr sz="1000" b="0">
                <a:solidFill>
                  <a:srgbClr val="28A745"/>
                </a:solidFill>
                <a:latin typeface="Courier New"/>
              </a:defRPr>
            </a:pPr>
            <a:r>
              <a:t>y_train.shape = (222,)         # integer class index 0–7</a:t>
            </a:r>
          </a:p>
          <a:p>
            <a:pPr algn="l">
              <a:spcAft>
                <a:spcPts val="200"/>
              </a:spcAft>
              <a:defRPr sz="1000" b="0">
                <a:solidFill>
                  <a:srgbClr val="28A745"/>
                </a:solidFill>
                <a:latin typeface="Courier New"/>
              </a:defRPr>
            </a:pPr>
            <a:r>
              <a:t>X[0] = [0.42, 0.18, ..., 0.03] # one row = one complete task</a:t>
            </a:r>
          </a:p>
        </p:txBody>
      </p:sp>
      <p:sp>
        <p:nvSpPr>
          <p:cNvPr id="41" name="Rectangle 40"/>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43" name="Rectangle 42"/>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nus_iss_logo_transparent.png"/>
          <p:cNvPicPr>
            <a:picLocks noChangeAspect="1"/>
          </p:cNvPicPr>
          <p:nvPr/>
        </p:nvPicPr>
        <p:blipFill>
          <a:blip r:embed="rId2"/>
          <a:stretch>
            <a:fillRect/>
          </a:stretch>
        </p:blipFill>
        <p:spPr>
          <a:xfrm>
            <a:off x="9555480" y="82296"/>
            <a:ext cx="2514600" cy="5852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3D7C"/>
        </a:solidFill>
        <a:effectLst/>
      </p:bgPr>
    </p:bg>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91440"/>
            <a:ext cx="8686800" cy="640080"/>
          </a:xfrm>
          <a:prstGeom prst="rect">
            <a:avLst/>
          </a:prstGeom>
          <a:noFill/>
        </p:spPr>
        <p:txBody>
          <a:bodyPr wrap="square">
            <a:spAutoFit/>
          </a:bodyPr>
          <a:lstStyle/>
          <a:p>
            <a:pPr algn="l">
              <a:defRPr sz="3200" b="1">
                <a:solidFill>
                  <a:srgbClr val="FFFFFF"/>
                </a:solidFill>
                <a:latin typeface="Calibri"/>
              </a:defRPr>
            </a:pPr>
            <a:r>
              <a:t>Step 3 — Three-Tier Classifier Architecture</a:t>
            </a:r>
          </a:p>
        </p:txBody>
      </p:sp>
      <p:sp>
        <p:nvSpPr>
          <p:cNvPr id="7" name="TextBox 6"/>
          <p:cNvSpPr txBox="1"/>
          <p:nvPr/>
        </p:nvSpPr>
        <p:spPr>
          <a:xfrm>
            <a:off x="1188720" y="594360"/>
            <a:ext cx="8686800" cy="457200"/>
          </a:xfrm>
          <a:prstGeom prst="rect">
            <a:avLst/>
          </a:prstGeom>
          <a:noFill/>
        </p:spPr>
        <p:txBody>
          <a:bodyPr wrap="square">
            <a:spAutoFit/>
          </a:bodyPr>
          <a:lstStyle/>
          <a:p>
            <a:pPr algn="l">
              <a:defRPr sz="2000" b="0">
                <a:solidFill>
                  <a:srgbClr val="FFFFFF"/>
                </a:solidFill>
                <a:latin typeface="Calibri"/>
              </a:defRPr>
            </a:pPr>
            <a:r>
              <a:t>14 models trained in parallel; Tier 3 ensembles combine Tier 1 + 2 outputs</a:t>
            </a:r>
          </a:p>
        </p:txBody>
      </p:sp>
      <p:sp>
        <p:nvSpPr>
          <p:cNvPr id="8" name="Rectangle 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0" name="Rounded Rectangle 9"/>
          <p:cNvSpPr/>
          <p:nvPr/>
        </p:nvSpPr>
        <p:spPr>
          <a:xfrm>
            <a:off x="1297578" y="1417320"/>
            <a:ext cx="283464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Tier 1 — Classical ML  (7 models)</a:t>
            </a:r>
          </a:p>
        </p:txBody>
      </p:sp>
      <p:sp>
        <p:nvSpPr>
          <p:cNvPr id="11" name="Rounded Rectangle 10"/>
          <p:cNvSpPr/>
          <p:nvPr/>
        </p:nvSpPr>
        <p:spPr>
          <a:xfrm>
            <a:off x="1297578" y="1737360"/>
            <a:ext cx="2834640" cy="3054096"/>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434738" y="1828800"/>
            <a:ext cx="2560320" cy="320040"/>
          </a:xfrm>
          <a:prstGeom prst="rect">
            <a:avLst/>
          </a:prstGeom>
          <a:noFill/>
        </p:spPr>
        <p:txBody>
          <a:bodyPr wrap="square">
            <a:spAutoFit/>
          </a:bodyPr>
          <a:lstStyle/>
          <a:p>
            <a:pPr algn="l">
              <a:defRPr sz="1100" b="0">
                <a:solidFill>
                  <a:srgbClr val="002A55"/>
                </a:solidFill>
                <a:latin typeface="Calibri"/>
              </a:defRPr>
            </a:pPr>
            <a:r>
              <a:t>• SVM (RBF kernel)</a:t>
            </a:r>
          </a:p>
        </p:txBody>
      </p:sp>
      <p:sp>
        <p:nvSpPr>
          <p:cNvPr id="13" name="TextBox 12"/>
          <p:cNvSpPr txBox="1"/>
          <p:nvPr/>
        </p:nvSpPr>
        <p:spPr>
          <a:xfrm>
            <a:off x="1434738" y="2176272"/>
            <a:ext cx="2560320" cy="320040"/>
          </a:xfrm>
          <a:prstGeom prst="rect">
            <a:avLst/>
          </a:prstGeom>
          <a:noFill/>
        </p:spPr>
        <p:txBody>
          <a:bodyPr wrap="square">
            <a:spAutoFit/>
          </a:bodyPr>
          <a:lstStyle/>
          <a:p>
            <a:pPr algn="l">
              <a:defRPr sz="1100" b="0">
                <a:solidFill>
                  <a:srgbClr val="002A55"/>
                </a:solidFill>
                <a:latin typeface="Calibri"/>
              </a:defRPr>
            </a:pPr>
            <a:r>
              <a:t>• Random Forest (100 trees)</a:t>
            </a:r>
          </a:p>
        </p:txBody>
      </p:sp>
      <p:sp>
        <p:nvSpPr>
          <p:cNvPr id="14" name="TextBox 13"/>
          <p:cNvSpPr txBox="1"/>
          <p:nvPr/>
        </p:nvSpPr>
        <p:spPr>
          <a:xfrm>
            <a:off x="1434738" y="2523744"/>
            <a:ext cx="2560320" cy="320040"/>
          </a:xfrm>
          <a:prstGeom prst="rect">
            <a:avLst/>
          </a:prstGeom>
          <a:noFill/>
        </p:spPr>
        <p:txBody>
          <a:bodyPr wrap="square">
            <a:spAutoFit/>
          </a:bodyPr>
          <a:lstStyle/>
          <a:p>
            <a:pPr algn="l">
              <a:defRPr sz="1100" b="0">
                <a:solidFill>
                  <a:srgbClr val="002A55"/>
                </a:solidFill>
                <a:latin typeface="Calibri"/>
              </a:defRPr>
            </a:pPr>
            <a:r>
              <a:t>• Decision Tree</a:t>
            </a:r>
          </a:p>
        </p:txBody>
      </p:sp>
      <p:sp>
        <p:nvSpPr>
          <p:cNvPr id="15" name="TextBox 14"/>
          <p:cNvSpPr txBox="1"/>
          <p:nvPr/>
        </p:nvSpPr>
        <p:spPr>
          <a:xfrm>
            <a:off x="1434738" y="2871216"/>
            <a:ext cx="2560320" cy="320040"/>
          </a:xfrm>
          <a:prstGeom prst="rect">
            <a:avLst/>
          </a:prstGeom>
          <a:noFill/>
        </p:spPr>
        <p:txBody>
          <a:bodyPr wrap="square">
            <a:spAutoFit/>
          </a:bodyPr>
          <a:lstStyle/>
          <a:p>
            <a:pPr algn="l">
              <a:defRPr sz="1100" b="0">
                <a:solidFill>
                  <a:srgbClr val="002A55"/>
                </a:solidFill>
                <a:latin typeface="Calibri"/>
              </a:defRPr>
            </a:pPr>
            <a:r>
              <a:t>• k-NN (k=5)</a:t>
            </a:r>
          </a:p>
        </p:txBody>
      </p:sp>
      <p:sp>
        <p:nvSpPr>
          <p:cNvPr id="16" name="TextBox 15"/>
          <p:cNvSpPr txBox="1"/>
          <p:nvPr/>
        </p:nvSpPr>
        <p:spPr>
          <a:xfrm>
            <a:off x="1434738" y="3218688"/>
            <a:ext cx="2560320" cy="320040"/>
          </a:xfrm>
          <a:prstGeom prst="rect">
            <a:avLst/>
          </a:prstGeom>
          <a:noFill/>
        </p:spPr>
        <p:txBody>
          <a:bodyPr wrap="square">
            <a:spAutoFit/>
          </a:bodyPr>
          <a:lstStyle/>
          <a:p>
            <a:pPr algn="l">
              <a:defRPr sz="1100" b="0">
                <a:solidFill>
                  <a:srgbClr val="002A55"/>
                </a:solidFill>
                <a:latin typeface="Calibri"/>
              </a:defRPr>
            </a:pPr>
            <a:r>
              <a:t>• Naive Bayes (Gaussian)</a:t>
            </a:r>
          </a:p>
        </p:txBody>
      </p:sp>
      <p:sp>
        <p:nvSpPr>
          <p:cNvPr id="17" name="TextBox 16"/>
          <p:cNvSpPr txBox="1"/>
          <p:nvPr/>
        </p:nvSpPr>
        <p:spPr>
          <a:xfrm>
            <a:off x="1434738" y="3566160"/>
            <a:ext cx="2560320" cy="320040"/>
          </a:xfrm>
          <a:prstGeom prst="rect">
            <a:avLst/>
          </a:prstGeom>
          <a:noFill/>
        </p:spPr>
        <p:txBody>
          <a:bodyPr wrap="square">
            <a:spAutoFit/>
          </a:bodyPr>
          <a:lstStyle/>
          <a:p>
            <a:pPr algn="l">
              <a:defRPr sz="1100" b="0">
                <a:solidFill>
                  <a:srgbClr val="002A55"/>
                </a:solidFill>
                <a:latin typeface="Calibri"/>
              </a:defRPr>
            </a:pPr>
            <a:r>
              <a:t>• XGBoost (100 rounds)</a:t>
            </a:r>
          </a:p>
        </p:txBody>
      </p:sp>
      <p:sp>
        <p:nvSpPr>
          <p:cNvPr id="18" name="TextBox 17"/>
          <p:cNvSpPr txBox="1"/>
          <p:nvPr/>
        </p:nvSpPr>
        <p:spPr>
          <a:xfrm>
            <a:off x="1434738" y="3913632"/>
            <a:ext cx="2560320" cy="320040"/>
          </a:xfrm>
          <a:prstGeom prst="rect">
            <a:avLst/>
          </a:prstGeom>
          <a:noFill/>
        </p:spPr>
        <p:txBody>
          <a:bodyPr wrap="square">
            <a:spAutoFit/>
          </a:bodyPr>
          <a:lstStyle/>
          <a:p>
            <a:pPr algn="l">
              <a:defRPr sz="1100" b="0">
                <a:solidFill>
                  <a:srgbClr val="002A55"/>
                </a:solidFill>
                <a:latin typeface="Calibri"/>
              </a:defRPr>
            </a:pPr>
            <a:r>
              <a:t>• LightGBM (100 rounds)</a:t>
            </a:r>
          </a:p>
        </p:txBody>
      </p:sp>
      <p:sp>
        <p:nvSpPr>
          <p:cNvPr id="19" name="TextBox 18"/>
          <p:cNvSpPr txBox="1"/>
          <p:nvPr/>
        </p:nvSpPr>
        <p:spPr>
          <a:xfrm>
            <a:off x="1434738" y="4261104"/>
            <a:ext cx="2560320" cy="320040"/>
          </a:xfrm>
          <a:prstGeom prst="rect">
            <a:avLst/>
          </a:prstGeom>
          <a:noFill/>
        </p:spPr>
        <p:txBody>
          <a:bodyPr wrap="square">
            <a:spAutoFit/>
          </a:bodyPr>
          <a:lstStyle/>
          <a:p>
            <a:pPr algn="l">
              <a:defRPr sz="1100" b="0">
                <a:solidFill>
                  <a:srgbClr val="002A55"/>
                </a:solidFill>
                <a:latin typeface="Calibri"/>
              </a:defRPr>
            </a:pPr>
            <a:r>
              <a:t/>
            </a:r>
          </a:p>
        </p:txBody>
      </p:sp>
      <p:sp>
        <p:nvSpPr>
          <p:cNvPr id="20" name="Rounded Rectangle 19"/>
          <p:cNvSpPr/>
          <p:nvPr/>
        </p:nvSpPr>
        <p:spPr>
          <a:xfrm>
            <a:off x="4315097" y="1417320"/>
            <a:ext cx="2834640" cy="32004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Tier 2 — Deep Learning  (4)</a:t>
            </a:r>
          </a:p>
        </p:txBody>
      </p:sp>
      <p:sp>
        <p:nvSpPr>
          <p:cNvPr id="21" name="Rounded Rectangle 20"/>
          <p:cNvSpPr/>
          <p:nvPr/>
        </p:nvSpPr>
        <p:spPr>
          <a:xfrm>
            <a:off x="4315097" y="1737360"/>
            <a:ext cx="2834640" cy="1664208"/>
          </a:xfrm>
          <a:prstGeom prst="round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52257" y="1828800"/>
            <a:ext cx="2560320" cy="320040"/>
          </a:xfrm>
          <a:prstGeom prst="rect">
            <a:avLst/>
          </a:prstGeom>
          <a:noFill/>
        </p:spPr>
        <p:txBody>
          <a:bodyPr wrap="square">
            <a:spAutoFit/>
          </a:bodyPr>
          <a:lstStyle/>
          <a:p>
            <a:pPr algn="l">
              <a:defRPr sz="1100" b="0">
                <a:solidFill>
                  <a:srgbClr val="002A55"/>
                </a:solidFill>
                <a:latin typeface="Calibri"/>
              </a:defRPr>
            </a:pPr>
            <a:r>
              <a:t>• MLP  (1391→128→128→8)</a:t>
            </a:r>
          </a:p>
        </p:txBody>
      </p:sp>
      <p:sp>
        <p:nvSpPr>
          <p:cNvPr id="23" name="TextBox 22"/>
          <p:cNvSpPr txBox="1"/>
          <p:nvPr/>
        </p:nvSpPr>
        <p:spPr>
          <a:xfrm>
            <a:off x="4452257" y="2176272"/>
            <a:ext cx="2560320" cy="320040"/>
          </a:xfrm>
          <a:prstGeom prst="rect">
            <a:avLst/>
          </a:prstGeom>
          <a:noFill/>
        </p:spPr>
        <p:txBody>
          <a:bodyPr wrap="square">
            <a:spAutoFit/>
          </a:bodyPr>
          <a:lstStyle/>
          <a:p>
            <a:pPr algn="l">
              <a:defRPr sz="1100" b="0">
                <a:solidFill>
                  <a:srgbClr val="002A55"/>
                </a:solidFill>
                <a:latin typeface="Calibri"/>
              </a:defRPr>
            </a:pPr>
            <a:r>
              <a:t>• CNN-1D (temporal conv)</a:t>
            </a:r>
          </a:p>
        </p:txBody>
      </p:sp>
      <p:sp>
        <p:nvSpPr>
          <p:cNvPr id="24" name="TextBox 23"/>
          <p:cNvSpPr txBox="1"/>
          <p:nvPr/>
        </p:nvSpPr>
        <p:spPr>
          <a:xfrm>
            <a:off x="4452257" y="2523744"/>
            <a:ext cx="2560320" cy="320040"/>
          </a:xfrm>
          <a:prstGeom prst="rect">
            <a:avLst/>
          </a:prstGeom>
          <a:noFill/>
        </p:spPr>
        <p:txBody>
          <a:bodyPr wrap="square">
            <a:spAutoFit/>
          </a:bodyPr>
          <a:lstStyle/>
          <a:p>
            <a:pPr algn="l">
              <a:defRPr sz="1100" b="0">
                <a:solidFill>
                  <a:srgbClr val="002A55"/>
                </a:solidFill>
                <a:latin typeface="Calibri"/>
              </a:defRPr>
            </a:pPr>
            <a:r>
              <a:t>• LSTM (1 layer)</a:t>
            </a:r>
          </a:p>
        </p:txBody>
      </p:sp>
      <p:sp>
        <p:nvSpPr>
          <p:cNvPr id="25" name="TextBox 24"/>
          <p:cNvSpPr txBox="1"/>
          <p:nvPr/>
        </p:nvSpPr>
        <p:spPr>
          <a:xfrm>
            <a:off x="4452257" y="2871216"/>
            <a:ext cx="2560320" cy="320040"/>
          </a:xfrm>
          <a:prstGeom prst="rect">
            <a:avLst/>
          </a:prstGeom>
          <a:noFill/>
        </p:spPr>
        <p:txBody>
          <a:bodyPr wrap="square">
            <a:spAutoFit/>
          </a:bodyPr>
          <a:lstStyle/>
          <a:p>
            <a:pPr algn="l">
              <a:defRPr sz="1100" b="0">
                <a:solidFill>
                  <a:srgbClr val="002A55"/>
                </a:solidFill>
                <a:latin typeface="Calibri"/>
              </a:defRPr>
            </a:pPr>
            <a:r>
              <a:t>• Transformer (2 heads)</a:t>
            </a:r>
          </a:p>
        </p:txBody>
      </p:sp>
      <p:sp>
        <p:nvSpPr>
          <p:cNvPr id="26" name="Rounded Rectangle 25"/>
          <p:cNvSpPr/>
          <p:nvPr/>
        </p:nvSpPr>
        <p:spPr>
          <a:xfrm>
            <a:off x="7332617" y="1417320"/>
            <a:ext cx="283464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Tier 3 — Ensemble  (3)</a:t>
            </a:r>
          </a:p>
        </p:txBody>
      </p:sp>
      <p:sp>
        <p:nvSpPr>
          <p:cNvPr id="27" name="Rounded Rectangle 26"/>
          <p:cNvSpPr/>
          <p:nvPr/>
        </p:nvSpPr>
        <p:spPr>
          <a:xfrm>
            <a:off x="7332617" y="1737360"/>
            <a:ext cx="2834640" cy="1316736"/>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69777" y="1828800"/>
            <a:ext cx="2560320" cy="320040"/>
          </a:xfrm>
          <a:prstGeom prst="rect">
            <a:avLst/>
          </a:prstGeom>
          <a:noFill/>
        </p:spPr>
        <p:txBody>
          <a:bodyPr wrap="square">
            <a:spAutoFit/>
          </a:bodyPr>
          <a:lstStyle/>
          <a:p>
            <a:pPr algn="l">
              <a:defRPr sz="1100" b="0">
                <a:solidFill>
                  <a:srgbClr val="002A55"/>
                </a:solidFill>
                <a:latin typeface="Calibri"/>
              </a:defRPr>
            </a:pPr>
            <a:r>
              <a:t>• Voting (soft probability avg)</a:t>
            </a:r>
          </a:p>
        </p:txBody>
      </p:sp>
      <p:sp>
        <p:nvSpPr>
          <p:cNvPr id="29" name="TextBox 28"/>
          <p:cNvSpPr txBox="1"/>
          <p:nvPr/>
        </p:nvSpPr>
        <p:spPr>
          <a:xfrm>
            <a:off x="7469777" y="2176272"/>
            <a:ext cx="2560320" cy="320040"/>
          </a:xfrm>
          <a:prstGeom prst="rect">
            <a:avLst/>
          </a:prstGeom>
          <a:noFill/>
        </p:spPr>
        <p:txBody>
          <a:bodyPr wrap="square">
            <a:spAutoFit/>
          </a:bodyPr>
          <a:lstStyle/>
          <a:p>
            <a:pPr algn="l">
              <a:defRPr sz="1100" b="0">
                <a:solidFill>
                  <a:srgbClr val="002A55"/>
                </a:solidFill>
                <a:latin typeface="Calibri"/>
              </a:defRPr>
            </a:pPr>
            <a:r>
              <a:t>• Stacking (meta-learner)</a:t>
            </a:r>
          </a:p>
        </p:txBody>
      </p:sp>
      <p:sp>
        <p:nvSpPr>
          <p:cNvPr id="30" name="TextBox 29"/>
          <p:cNvSpPr txBox="1"/>
          <p:nvPr/>
        </p:nvSpPr>
        <p:spPr>
          <a:xfrm>
            <a:off x="7469777" y="2523744"/>
            <a:ext cx="2560320" cy="320040"/>
          </a:xfrm>
          <a:prstGeom prst="rect">
            <a:avLst/>
          </a:prstGeom>
          <a:noFill/>
        </p:spPr>
        <p:txBody>
          <a:bodyPr wrap="square">
            <a:spAutoFit/>
          </a:bodyPr>
          <a:lstStyle/>
          <a:p>
            <a:pPr algn="l">
              <a:defRPr sz="1100" b="0">
                <a:solidFill>
                  <a:srgbClr val="002A55"/>
                </a:solidFill>
                <a:latin typeface="Calibri"/>
              </a:defRPr>
            </a:pPr>
            <a:r>
              <a:t>• Late Fusion (modality meta-learner)</a:t>
            </a:r>
          </a:p>
        </p:txBody>
      </p:sp>
      <p:sp>
        <p:nvSpPr>
          <p:cNvPr id="31" name="TextBox 30"/>
          <p:cNvSpPr txBox="1"/>
          <p:nvPr/>
        </p:nvSpPr>
        <p:spPr>
          <a:xfrm>
            <a:off x="4086498" y="2834640"/>
            <a:ext cx="365760" cy="320040"/>
          </a:xfrm>
          <a:prstGeom prst="rect">
            <a:avLst/>
          </a:prstGeom>
          <a:noFill/>
        </p:spPr>
        <p:txBody>
          <a:bodyPr wrap="square">
            <a:spAutoFit/>
          </a:bodyPr>
          <a:lstStyle/>
          <a:p>
            <a:pPr algn="ctr">
              <a:defRPr sz="2000" b="1">
                <a:solidFill>
                  <a:srgbClr val="007ACC"/>
                </a:solidFill>
                <a:latin typeface="Calibri"/>
              </a:defRPr>
            </a:pPr>
            <a:r>
              <a:t>→</a:t>
            </a:r>
          </a:p>
        </p:txBody>
      </p:sp>
      <p:sp>
        <p:nvSpPr>
          <p:cNvPr id="32" name="TextBox 31"/>
          <p:cNvSpPr txBox="1"/>
          <p:nvPr/>
        </p:nvSpPr>
        <p:spPr>
          <a:xfrm>
            <a:off x="7104018" y="2834640"/>
            <a:ext cx="365760" cy="320040"/>
          </a:xfrm>
          <a:prstGeom prst="rect">
            <a:avLst/>
          </a:prstGeom>
          <a:noFill/>
        </p:spPr>
        <p:txBody>
          <a:bodyPr wrap="square">
            <a:spAutoFit/>
          </a:bodyPr>
          <a:lstStyle/>
          <a:p>
            <a:pPr algn="ctr">
              <a:defRPr sz="2000" b="1">
                <a:solidFill>
                  <a:srgbClr val="007ACC"/>
                </a:solidFill>
                <a:latin typeface="Calibri"/>
              </a:defRPr>
            </a:pPr>
            <a:r>
              <a:t>→</a:t>
            </a:r>
          </a:p>
        </p:txBody>
      </p:sp>
      <p:sp>
        <p:nvSpPr>
          <p:cNvPr id="33" name="Rounded Rectangle 32"/>
          <p:cNvSpPr/>
          <p:nvPr/>
        </p:nvSpPr>
        <p:spPr>
          <a:xfrm>
            <a:off x="1297578" y="5029200"/>
            <a:ext cx="8595360" cy="59436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480458" y="5074920"/>
            <a:ext cx="8229600" cy="548640"/>
          </a:xfrm>
          <a:prstGeom prst="rect">
            <a:avLst/>
          </a:prstGeom>
          <a:noFill/>
        </p:spPr>
        <p:txBody>
          <a:bodyPr wrap="square">
            <a:spAutoFit/>
          </a:bodyPr>
          <a:lstStyle/>
          <a:p>
            <a:pPr algn="l">
              <a:spcAft>
                <a:spcPts val="600"/>
              </a:spcAft>
              <a:defRPr sz="1100" b="1">
                <a:solidFill>
                  <a:srgbClr val="003D7C"/>
                </a:solidFill>
                <a:latin typeface="Calibri"/>
              </a:defRPr>
            </a:pPr>
            <a:r>
              <a:t>Best Model: Voting Ensemble (Tier 3)  →  F1 Macro 0.884  |  Accuracy 0.891 84 ms</a:t>
            </a:r>
          </a:p>
          <a:p>
            <a:pPr algn="l">
              <a:spcAft>
                <a:spcPts val="600"/>
              </a:spcAft>
              <a:defRPr sz="1100" b="1">
                <a:solidFill>
                  <a:srgbClr val="003D7C"/>
                </a:solidFill>
                <a:latin typeface="Calibri"/>
              </a:defRPr>
            </a:pPr>
            <a:r>
              <a:t>Base models: SVM + Random Forest + XGBoost + MLP (soft probability averaging)</a:t>
            </a:r>
          </a:p>
        </p:txBody>
      </p:sp>
      <p:sp>
        <p:nvSpPr>
          <p:cNvPr id="35" name="Rectangle 34"/>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37" name="Rectangle 36"/>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nus_iss_logo_transparent.png"/>
          <p:cNvPicPr>
            <a:picLocks noChangeAspect="1"/>
          </p:cNvPicPr>
          <p:nvPr/>
        </p:nvPicPr>
        <p:blipFill>
          <a:blip r:embed="rId2"/>
          <a:stretch>
            <a:fillRect/>
          </a:stretch>
        </p:blipFill>
        <p:spPr>
          <a:xfrm>
            <a:off x="9555480" y="82296"/>
            <a:ext cx="2514600" cy="5852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3D7C"/>
        </a:solidFill>
        <a:effectLst/>
      </p:bgPr>
    </p:bg>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91440"/>
            <a:ext cx="8686800" cy="640080"/>
          </a:xfrm>
          <a:prstGeom prst="rect">
            <a:avLst/>
          </a:prstGeom>
          <a:noFill/>
        </p:spPr>
        <p:txBody>
          <a:bodyPr wrap="square">
            <a:spAutoFit/>
          </a:bodyPr>
          <a:lstStyle/>
          <a:p>
            <a:pPr algn="l">
              <a:defRPr sz="3200" b="1">
                <a:solidFill>
                  <a:srgbClr val="FFFFFF"/>
                </a:solidFill>
                <a:latin typeface="Calibri"/>
              </a:defRPr>
            </a:pPr>
            <a:r>
              <a:t>Tier 1 — SVM: Maximum Margin Classifier</a:t>
            </a:r>
          </a:p>
        </p:txBody>
      </p:sp>
      <p:sp>
        <p:nvSpPr>
          <p:cNvPr id="7" name="TextBox 6"/>
          <p:cNvSpPr txBox="1"/>
          <p:nvPr/>
        </p:nvSpPr>
        <p:spPr>
          <a:xfrm>
            <a:off x="1188720" y="594360"/>
            <a:ext cx="8686800" cy="457200"/>
          </a:xfrm>
          <a:prstGeom prst="rect">
            <a:avLst/>
          </a:prstGeom>
          <a:noFill/>
        </p:spPr>
        <p:txBody>
          <a:bodyPr wrap="square">
            <a:spAutoFit/>
          </a:bodyPr>
          <a:lstStyle/>
          <a:p>
            <a:pPr algn="l">
              <a:defRPr sz="2000" b="0">
                <a:solidFill>
                  <a:srgbClr val="FFFFFF"/>
                </a:solidFill>
                <a:latin typeface="Calibri"/>
              </a:defRPr>
            </a:pPr>
            <a:r>
              <a:t>Finds the hyperplane that maximises the gap between classes in 1,391-dim space</a:t>
            </a:r>
          </a:p>
        </p:txBody>
      </p:sp>
      <p:sp>
        <p:nvSpPr>
          <p:cNvPr id="8" name="Rectangle 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0" name="Rounded Rectangle 9"/>
          <p:cNvSpPr/>
          <p:nvPr/>
        </p:nvSpPr>
        <p:spPr>
          <a:xfrm>
            <a:off x="1171304" y="1417320"/>
            <a:ext cx="5064472" cy="374904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54184" y="1508760"/>
            <a:ext cx="4663440" cy="228600"/>
          </a:xfrm>
          <a:prstGeom prst="rect">
            <a:avLst/>
          </a:prstGeom>
          <a:noFill/>
        </p:spPr>
        <p:txBody>
          <a:bodyPr wrap="square">
            <a:spAutoFit/>
          </a:bodyPr>
          <a:lstStyle/>
          <a:p>
            <a:pPr algn="l">
              <a:defRPr sz="1100" b="1">
                <a:solidFill>
                  <a:srgbClr val="003D7C"/>
                </a:solidFill>
                <a:latin typeface="Calibri"/>
              </a:defRPr>
            </a:pPr>
            <a:r>
              <a:t>RBF Kernel:  K(x, x') = exp(−γ ‖x − x'‖²)</a:t>
            </a:r>
          </a:p>
        </p:txBody>
      </p:sp>
      <p:sp>
        <p:nvSpPr>
          <p:cNvPr id="12" name="TextBox 11"/>
          <p:cNvSpPr txBox="1"/>
          <p:nvPr/>
        </p:nvSpPr>
        <p:spPr>
          <a:xfrm>
            <a:off x="1354184" y="1755648"/>
            <a:ext cx="4663440" cy="228600"/>
          </a:xfrm>
          <a:prstGeom prst="rect">
            <a:avLst/>
          </a:prstGeom>
          <a:noFill/>
        </p:spPr>
        <p:txBody>
          <a:bodyPr wrap="square">
            <a:spAutoFit/>
          </a:bodyPr>
          <a:lstStyle/>
          <a:p>
            <a:pPr algn="l">
              <a:defRPr sz="1100" b="0">
                <a:solidFill>
                  <a:srgbClr val="002A55"/>
                </a:solidFill>
                <a:latin typeface="Calibri"/>
              </a:defRPr>
            </a:pPr>
            <a:endParaRPr/>
          </a:p>
        </p:txBody>
      </p:sp>
      <p:sp>
        <p:nvSpPr>
          <p:cNvPr id="13" name="TextBox 12"/>
          <p:cNvSpPr txBox="1"/>
          <p:nvPr/>
        </p:nvSpPr>
        <p:spPr>
          <a:xfrm>
            <a:off x="1354184" y="2002536"/>
            <a:ext cx="4663440" cy="228600"/>
          </a:xfrm>
          <a:prstGeom prst="rect">
            <a:avLst/>
          </a:prstGeom>
          <a:noFill/>
        </p:spPr>
        <p:txBody>
          <a:bodyPr wrap="square">
            <a:spAutoFit/>
          </a:bodyPr>
          <a:lstStyle/>
          <a:p>
            <a:pPr algn="l">
              <a:defRPr sz="1100" b="0">
                <a:solidFill>
                  <a:srgbClr val="002A55"/>
                </a:solidFill>
                <a:latin typeface="Calibri"/>
              </a:defRPr>
            </a:pPr>
            <a:r>
              <a:t>Maps 1,391-dim input to a higher-dimensional</a:t>
            </a:r>
          </a:p>
        </p:txBody>
      </p:sp>
      <p:sp>
        <p:nvSpPr>
          <p:cNvPr id="14" name="TextBox 13"/>
          <p:cNvSpPr txBox="1"/>
          <p:nvPr/>
        </p:nvSpPr>
        <p:spPr>
          <a:xfrm>
            <a:off x="1354184" y="2249424"/>
            <a:ext cx="4663440" cy="228600"/>
          </a:xfrm>
          <a:prstGeom prst="rect">
            <a:avLst/>
          </a:prstGeom>
          <a:noFill/>
        </p:spPr>
        <p:txBody>
          <a:bodyPr wrap="square">
            <a:spAutoFit/>
          </a:bodyPr>
          <a:lstStyle/>
          <a:p>
            <a:pPr algn="l">
              <a:defRPr sz="1100" b="0">
                <a:solidFill>
                  <a:srgbClr val="002A55"/>
                </a:solidFill>
                <a:latin typeface="Calibri"/>
              </a:defRPr>
            </a:pPr>
            <a:r>
              <a:t>Reproducing Kernel Hilbert Space (RKHS) where</a:t>
            </a:r>
          </a:p>
        </p:txBody>
      </p:sp>
      <p:sp>
        <p:nvSpPr>
          <p:cNvPr id="15" name="TextBox 14"/>
          <p:cNvSpPr txBox="1"/>
          <p:nvPr/>
        </p:nvSpPr>
        <p:spPr>
          <a:xfrm>
            <a:off x="1354184" y="2496312"/>
            <a:ext cx="4663440" cy="228600"/>
          </a:xfrm>
          <a:prstGeom prst="rect">
            <a:avLst/>
          </a:prstGeom>
          <a:noFill/>
        </p:spPr>
        <p:txBody>
          <a:bodyPr wrap="square">
            <a:spAutoFit/>
          </a:bodyPr>
          <a:lstStyle/>
          <a:p>
            <a:pPr algn="l">
              <a:defRPr sz="1100" b="0">
                <a:solidFill>
                  <a:srgbClr val="002A55"/>
                </a:solidFill>
                <a:latin typeface="Calibri"/>
              </a:defRPr>
            </a:pPr>
            <a:r>
              <a:t>classes become linearly separable.</a:t>
            </a:r>
          </a:p>
        </p:txBody>
      </p:sp>
      <p:sp>
        <p:nvSpPr>
          <p:cNvPr id="16" name="TextBox 15"/>
          <p:cNvSpPr txBox="1"/>
          <p:nvPr/>
        </p:nvSpPr>
        <p:spPr>
          <a:xfrm>
            <a:off x="1354184" y="2743200"/>
            <a:ext cx="4663440" cy="228600"/>
          </a:xfrm>
          <a:prstGeom prst="rect">
            <a:avLst/>
          </a:prstGeom>
          <a:noFill/>
        </p:spPr>
        <p:txBody>
          <a:bodyPr wrap="square">
            <a:spAutoFit/>
          </a:bodyPr>
          <a:lstStyle/>
          <a:p>
            <a:pPr algn="l">
              <a:defRPr sz="1100" b="0">
                <a:solidFill>
                  <a:srgbClr val="002A55"/>
                </a:solidFill>
                <a:latin typeface="Calibri"/>
              </a:defRPr>
            </a:pPr>
            <a:endParaRPr/>
          </a:p>
        </p:txBody>
      </p:sp>
      <p:sp>
        <p:nvSpPr>
          <p:cNvPr id="17" name="TextBox 16"/>
          <p:cNvSpPr txBox="1"/>
          <p:nvPr/>
        </p:nvSpPr>
        <p:spPr>
          <a:xfrm>
            <a:off x="1354184" y="2990088"/>
            <a:ext cx="4663440" cy="228600"/>
          </a:xfrm>
          <a:prstGeom prst="rect">
            <a:avLst/>
          </a:prstGeom>
          <a:noFill/>
        </p:spPr>
        <p:txBody>
          <a:bodyPr wrap="square">
            <a:spAutoFit/>
          </a:bodyPr>
          <a:lstStyle/>
          <a:p>
            <a:pPr algn="l">
              <a:defRPr sz="1100" b="1">
                <a:solidFill>
                  <a:srgbClr val="003D7C"/>
                </a:solidFill>
                <a:latin typeface="Calibri"/>
              </a:defRPr>
            </a:pPr>
            <a:r>
              <a:t>Objective:</a:t>
            </a:r>
          </a:p>
        </p:txBody>
      </p:sp>
      <p:sp>
        <p:nvSpPr>
          <p:cNvPr id="18" name="TextBox 17"/>
          <p:cNvSpPr txBox="1"/>
          <p:nvPr/>
        </p:nvSpPr>
        <p:spPr>
          <a:xfrm>
            <a:off x="1354184" y="3236976"/>
            <a:ext cx="4663440" cy="228600"/>
          </a:xfrm>
          <a:prstGeom prst="rect">
            <a:avLst/>
          </a:prstGeom>
          <a:noFill/>
        </p:spPr>
        <p:txBody>
          <a:bodyPr wrap="square">
            <a:spAutoFit/>
          </a:bodyPr>
          <a:lstStyle/>
          <a:p>
            <a:pPr algn="l">
              <a:defRPr sz="1100" b="0">
                <a:solidFill>
                  <a:srgbClr val="002A55"/>
                </a:solidFill>
                <a:latin typeface="Calibri"/>
              </a:defRPr>
            </a:pPr>
            <a:r>
              <a:t>  Maximise margin  2/‖w‖</a:t>
            </a:r>
          </a:p>
        </p:txBody>
      </p:sp>
      <p:sp>
        <p:nvSpPr>
          <p:cNvPr id="19" name="TextBox 18"/>
          <p:cNvSpPr txBox="1"/>
          <p:nvPr/>
        </p:nvSpPr>
        <p:spPr>
          <a:xfrm>
            <a:off x="1354184" y="3483864"/>
            <a:ext cx="4663440" cy="228600"/>
          </a:xfrm>
          <a:prstGeom prst="rect">
            <a:avLst/>
          </a:prstGeom>
          <a:noFill/>
        </p:spPr>
        <p:txBody>
          <a:bodyPr wrap="square">
            <a:spAutoFit/>
          </a:bodyPr>
          <a:lstStyle/>
          <a:p>
            <a:pPr algn="l">
              <a:defRPr sz="1100" b="0">
                <a:solidFill>
                  <a:srgbClr val="002A55"/>
                </a:solidFill>
                <a:latin typeface="Calibri"/>
              </a:defRPr>
            </a:pPr>
            <a:r>
              <a:t>  Subject to: yᵢ(w·xᵢ + b) ≥ 1  ∀ i</a:t>
            </a:r>
          </a:p>
        </p:txBody>
      </p:sp>
      <p:sp>
        <p:nvSpPr>
          <p:cNvPr id="20" name="TextBox 19"/>
          <p:cNvSpPr txBox="1"/>
          <p:nvPr/>
        </p:nvSpPr>
        <p:spPr>
          <a:xfrm>
            <a:off x="1354184" y="3730752"/>
            <a:ext cx="4663440" cy="228600"/>
          </a:xfrm>
          <a:prstGeom prst="rect">
            <a:avLst/>
          </a:prstGeom>
          <a:noFill/>
        </p:spPr>
        <p:txBody>
          <a:bodyPr wrap="square">
            <a:spAutoFit/>
          </a:bodyPr>
          <a:lstStyle/>
          <a:p>
            <a:pPr algn="l">
              <a:defRPr sz="1100" b="0">
                <a:solidFill>
                  <a:srgbClr val="002A55"/>
                </a:solidFill>
                <a:latin typeface="Calibri"/>
              </a:defRPr>
            </a:pPr>
            <a:endParaRPr/>
          </a:p>
        </p:txBody>
      </p:sp>
      <p:sp>
        <p:nvSpPr>
          <p:cNvPr id="21" name="TextBox 20"/>
          <p:cNvSpPr txBox="1"/>
          <p:nvPr/>
        </p:nvSpPr>
        <p:spPr>
          <a:xfrm>
            <a:off x="1354184" y="3977639"/>
            <a:ext cx="4663440" cy="228600"/>
          </a:xfrm>
          <a:prstGeom prst="rect">
            <a:avLst/>
          </a:prstGeom>
          <a:noFill/>
        </p:spPr>
        <p:txBody>
          <a:bodyPr wrap="square">
            <a:spAutoFit/>
          </a:bodyPr>
          <a:lstStyle/>
          <a:p>
            <a:pPr algn="l">
              <a:defRPr sz="1100" b="1">
                <a:solidFill>
                  <a:srgbClr val="003D7C"/>
                </a:solidFill>
                <a:latin typeface="Calibri"/>
              </a:defRPr>
            </a:pPr>
            <a:r>
              <a:t>Multi-class strategy: One-vs-One</a:t>
            </a:r>
          </a:p>
        </p:txBody>
      </p:sp>
      <p:sp>
        <p:nvSpPr>
          <p:cNvPr id="22" name="TextBox 21"/>
          <p:cNvSpPr txBox="1"/>
          <p:nvPr/>
        </p:nvSpPr>
        <p:spPr>
          <a:xfrm>
            <a:off x="1354184" y="4224528"/>
            <a:ext cx="4663440" cy="228600"/>
          </a:xfrm>
          <a:prstGeom prst="rect">
            <a:avLst/>
          </a:prstGeom>
          <a:noFill/>
        </p:spPr>
        <p:txBody>
          <a:bodyPr wrap="square">
            <a:spAutoFit/>
          </a:bodyPr>
          <a:lstStyle/>
          <a:p>
            <a:pPr algn="l">
              <a:defRPr sz="1100" b="0">
                <a:solidFill>
                  <a:srgbClr val="002A55"/>
                </a:solidFill>
                <a:latin typeface="Calibri"/>
              </a:defRPr>
            </a:pPr>
            <a:r>
              <a:t>  8 classes → 28 binary SVMs</a:t>
            </a:r>
          </a:p>
        </p:txBody>
      </p:sp>
      <p:sp>
        <p:nvSpPr>
          <p:cNvPr id="23" name="TextBox 22"/>
          <p:cNvSpPr txBox="1"/>
          <p:nvPr/>
        </p:nvSpPr>
        <p:spPr>
          <a:xfrm>
            <a:off x="1354184" y="4471416"/>
            <a:ext cx="4663440" cy="228600"/>
          </a:xfrm>
          <a:prstGeom prst="rect">
            <a:avLst/>
          </a:prstGeom>
          <a:noFill/>
        </p:spPr>
        <p:txBody>
          <a:bodyPr wrap="square">
            <a:spAutoFit/>
          </a:bodyPr>
          <a:lstStyle/>
          <a:p>
            <a:pPr algn="l">
              <a:defRPr sz="1100" b="0">
                <a:solidFill>
                  <a:srgbClr val="002A55"/>
                </a:solidFill>
                <a:latin typeface="Calibri"/>
              </a:defRPr>
            </a:pPr>
            <a:r>
              <a:t>  Final class = winner of majority vote</a:t>
            </a:r>
          </a:p>
        </p:txBody>
      </p:sp>
      <p:sp>
        <p:nvSpPr>
          <p:cNvPr id="24" name="TextBox 23"/>
          <p:cNvSpPr txBox="1"/>
          <p:nvPr/>
        </p:nvSpPr>
        <p:spPr>
          <a:xfrm>
            <a:off x="1354184" y="4718304"/>
            <a:ext cx="4663440" cy="228600"/>
          </a:xfrm>
          <a:prstGeom prst="rect">
            <a:avLst/>
          </a:prstGeom>
          <a:noFill/>
        </p:spPr>
        <p:txBody>
          <a:bodyPr wrap="square">
            <a:spAutoFit/>
          </a:bodyPr>
          <a:lstStyle/>
          <a:p>
            <a:pPr algn="l">
              <a:defRPr sz="1100" b="0">
                <a:solidFill>
                  <a:srgbClr val="002A55"/>
                </a:solidFill>
                <a:latin typeface="Calibri"/>
              </a:defRPr>
            </a:pPr>
            <a:endParaRPr/>
          </a:p>
        </p:txBody>
      </p:sp>
      <p:sp>
        <p:nvSpPr>
          <p:cNvPr id="25" name="TextBox 24"/>
          <p:cNvSpPr txBox="1"/>
          <p:nvPr/>
        </p:nvSpPr>
        <p:spPr>
          <a:xfrm>
            <a:off x="1432560" y="5141664"/>
            <a:ext cx="4663440" cy="261610"/>
          </a:xfrm>
          <a:prstGeom prst="rect">
            <a:avLst/>
          </a:prstGeom>
          <a:noFill/>
        </p:spPr>
        <p:txBody>
          <a:bodyPr wrap="square">
            <a:spAutoFit/>
          </a:bodyPr>
          <a:lstStyle/>
          <a:p>
            <a:pPr algn="l">
              <a:defRPr sz="1100" b="1">
                <a:solidFill>
                  <a:srgbClr val="003D7C"/>
                </a:solidFill>
                <a:latin typeface="Calibri"/>
              </a:defRPr>
            </a:pPr>
            <a:r>
              <a:rPr dirty="0">
                <a:solidFill>
                  <a:schemeClr val="bg2"/>
                </a:solidFill>
              </a:rPr>
              <a:t>Hyperparameters:</a:t>
            </a:r>
            <a:r>
              <a:rPr dirty="0" err="1">
                <a:solidFill>
                  <a:schemeClr val="bg2"/>
                </a:solidFill>
              </a:rPr>
              <a:t/>
            </a:r>
            <a:r>
              <a:rPr dirty="0">
                <a:solidFill>
                  <a:schemeClr val="bg2"/>
                </a:solidFill>
              </a:rPr>
              <a:t/>
            </a:r>
          </a:p>
        </p:txBody>
      </p:sp>
      <p:sp>
        <p:nvSpPr>
          <p:cNvPr id="26" name="TextBox 25"/>
          <p:cNvSpPr txBox="1"/>
          <p:nvPr/>
        </p:nvSpPr>
        <p:spPr>
          <a:xfrm>
            <a:off x="1354184" y="5374059"/>
            <a:ext cx="4663440" cy="261610"/>
          </a:xfrm>
          <a:prstGeom prst="rect">
            <a:avLst/>
          </a:prstGeom>
          <a:noFill/>
        </p:spPr>
        <p:txBody>
          <a:bodyPr wrap="square">
            <a:spAutoFit/>
          </a:bodyPr>
          <a:lstStyle/>
          <a:p>
            <a:pPr algn="l">
              <a:defRPr sz="1100" b="0">
                <a:solidFill>
                  <a:srgbClr val="002A55"/>
                </a:solidFill>
                <a:latin typeface="Calibri"/>
              </a:defRPr>
            </a:pPr>
            <a:r>
              <a:rPr dirty="0">
                <a:solidFill>
                  <a:schemeClr val="bg2"/>
                </a:solidFill>
              </a:rPr>
              <a:t>  C = 1.0   (regularisation — default)</a:t>
            </a:r>
            <a:r>
              <a:rPr dirty="0" err="1">
                <a:solidFill>
                  <a:schemeClr val="bg2"/>
                </a:solidFill>
              </a:rPr>
              <a:t/>
            </a:r>
            <a:r>
              <a:rPr dirty="0">
                <a:solidFill>
                  <a:schemeClr val="bg2"/>
                </a:solidFill>
              </a:rPr>
              <a:t/>
            </a:r>
          </a:p>
        </p:txBody>
      </p:sp>
      <p:sp>
        <p:nvSpPr>
          <p:cNvPr id="27" name="TextBox 26"/>
          <p:cNvSpPr txBox="1"/>
          <p:nvPr/>
        </p:nvSpPr>
        <p:spPr>
          <a:xfrm>
            <a:off x="1354184" y="5620947"/>
            <a:ext cx="4663440" cy="261610"/>
          </a:xfrm>
          <a:prstGeom prst="rect">
            <a:avLst/>
          </a:prstGeom>
          <a:noFill/>
        </p:spPr>
        <p:txBody>
          <a:bodyPr wrap="square">
            <a:spAutoFit/>
          </a:bodyPr>
          <a:lstStyle/>
          <a:p>
            <a:pPr algn="l">
              <a:defRPr sz="1100" b="0">
                <a:solidFill>
                  <a:srgbClr val="002A55"/>
                </a:solidFill>
                <a:latin typeface="Calibri"/>
              </a:defRPr>
            </a:pPr>
            <a:r>
              <a:rPr dirty="0">
                <a:solidFill>
                  <a:schemeClr val="bg2"/>
                </a:solidFill>
              </a:rPr>
              <a:t>  γ = 'scale'  (RBF bandwidth — default)</a:t>
            </a:r>
            <a:r>
              <a:rPr dirty="0" err="1">
                <a:solidFill>
                  <a:schemeClr val="bg2"/>
                </a:solidFill>
              </a:rPr>
              <a:t/>
            </a:r>
            <a:r>
              <a:rPr dirty="0">
                <a:solidFill>
                  <a:schemeClr val="bg2"/>
                </a:solidFill>
              </a:rPr>
              <a:t/>
            </a:r>
          </a:p>
        </p:txBody>
      </p:sp>
      <p:sp>
        <p:nvSpPr>
          <p:cNvPr id="28" name="Rounded Rectangle 27"/>
          <p:cNvSpPr/>
          <p:nvPr/>
        </p:nvSpPr>
        <p:spPr>
          <a:xfrm>
            <a:off x="6383384" y="1417320"/>
            <a:ext cx="3291840" cy="164592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66264" y="1463040"/>
            <a:ext cx="3017520" cy="1554480"/>
          </a:xfrm>
          <a:prstGeom prst="rect">
            <a:avLst/>
          </a:prstGeom>
          <a:noFill/>
        </p:spPr>
        <p:txBody>
          <a:bodyPr wrap="square">
            <a:spAutoFit/>
          </a:bodyPr>
          <a:lstStyle/>
          <a:p>
            <a:pPr algn="l">
              <a:spcAft>
                <a:spcPts val="600"/>
              </a:spcAft>
              <a:defRPr sz="1200" b="0">
                <a:solidFill>
                  <a:srgbClr val="002A55"/>
                </a:solidFill>
                <a:latin typeface="Calibri"/>
              </a:defRPr>
            </a:pPr>
            <a:r>
              <a:t>v3b Results</a:t>
            </a:r>
          </a:p>
          <a:p>
            <a:pPr algn="l">
              <a:spcAft>
                <a:spcPts val="600"/>
              </a:spcAft>
              <a:defRPr sz="1200" b="0">
                <a:solidFill>
                  <a:srgbClr val="002A55"/>
                </a:solidFill>
                <a:latin typeface="Calibri"/>
              </a:defRPr>
            </a:pPr>
            <a:endParaRPr/>
          </a:p>
          <a:p>
            <a:pPr algn="l">
              <a:spcAft>
                <a:spcPts val="600"/>
              </a:spcAft>
              <a:defRPr sz="1200" b="0">
                <a:solidFill>
                  <a:srgbClr val="002A55"/>
                </a:solidFill>
                <a:latin typeface="Calibri"/>
              </a:defRPr>
            </a:pPr>
            <a:r>
              <a:t>F1 Macro:    0.812</a:t>
            </a:r>
          </a:p>
          <a:p>
            <a:pPr algn="l">
              <a:spcAft>
                <a:spcPts val="600"/>
              </a:spcAft>
              <a:defRPr sz="1200" b="0">
                <a:solidFill>
                  <a:srgbClr val="002A55"/>
                </a:solidFill>
                <a:latin typeface="Calibri"/>
              </a:defRPr>
            </a:pPr>
            <a:r>
              <a:t>Accuracy:    0.836</a:t>
            </a:r>
          </a:p>
          <a:p>
            <a:pPr algn="l">
              <a:spcAft>
                <a:spcPts val="600"/>
              </a:spcAft>
              <a:defRPr sz="1200" b="0">
                <a:solidFill>
                  <a:srgbClr val="002A55"/>
                </a:solidFill>
                <a:latin typeface="Calibri"/>
              </a:defRPr>
            </a:pPr>
            <a:r>
              <a:t>Training:   52.6 s</a:t>
            </a:r>
          </a:p>
          <a:p>
            <a:pPr algn="l">
              <a:spcAft>
                <a:spcPts val="600"/>
              </a:spcAft>
              <a:defRPr sz="1200" b="0">
                <a:solidFill>
                  <a:srgbClr val="002A55"/>
                </a:solidFill>
                <a:latin typeface="Calibri"/>
              </a:defRPr>
            </a:pPr>
            <a:r>
              <a:t>Inference:  1,392 ms / batch</a:t>
            </a:r>
          </a:p>
        </p:txBody>
      </p:sp>
      <p:sp>
        <p:nvSpPr>
          <p:cNvPr id="30" name="Rounded Rectangle 29"/>
          <p:cNvSpPr/>
          <p:nvPr/>
        </p:nvSpPr>
        <p:spPr>
          <a:xfrm>
            <a:off x="6383384" y="3200400"/>
            <a:ext cx="3348008" cy="2240280"/>
          </a:xfrm>
          <a:prstGeom prst="round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66264" y="3246120"/>
            <a:ext cx="3017520" cy="1828800"/>
          </a:xfrm>
          <a:prstGeom prst="rect">
            <a:avLst/>
          </a:prstGeom>
          <a:noFill/>
        </p:spPr>
        <p:txBody>
          <a:bodyPr wrap="square">
            <a:spAutoFit/>
          </a:bodyPr>
          <a:lstStyle/>
          <a:p>
            <a:pPr algn="l">
              <a:spcAft>
                <a:spcPts val="600"/>
              </a:spcAft>
              <a:defRPr sz="1100" b="0">
                <a:solidFill>
                  <a:srgbClr val="002A55"/>
                </a:solidFill>
                <a:latin typeface="Calibri"/>
              </a:defRPr>
            </a:pPr>
            <a:r>
              <a:t>Why SVM works here</a:t>
            </a:r>
          </a:p>
          <a:p>
            <a:pPr algn="l">
              <a:spcAft>
                <a:spcPts val="600"/>
              </a:spcAft>
              <a:defRPr sz="1100" b="0">
                <a:solidFill>
                  <a:srgbClr val="002A55"/>
                </a:solidFill>
                <a:latin typeface="Calibri"/>
              </a:defRPr>
            </a:pPr>
            <a:endParaRPr/>
          </a:p>
          <a:p>
            <a:pPr algn="l">
              <a:spcAft>
                <a:spcPts val="600"/>
              </a:spcAft>
              <a:defRPr sz="1100" b="0">
                <a:solidFill>
                  <a:srgbClr val="002A55"/>
                </a:solidFill>
                <a:latin typeface="Calibri"/>
              </a:defRPr>
            </a:pPr>
            <a:r>
              <a:t>• High-dimensional (1,391 dims) — SVM</a:t>
            </a:r>
          </a:p>
          <a:p>
            <a:pPr algn="l">
              <a:spcAft>
                <a:spcPts val="600"/>
              </a:spcAft>
              <a:defRPr sz="1100" b="0">
                <a:solidFill>
                  <a:srgbClr val="002A55"/>
                </a:solidFill>
                <a:latin typeface="Calibri"/>
              </a:defRPr>
            </a:pPr>
            <a:r>
              <a:t>  is effective when d &gt;&gt; n</a:t>
            </a:r>
          </a:p>
          <a:p>
            <a:pPr algn="l">
              <a:spcAft>
                <a:spcPts val="600"/>
              </a:spcAft>
              <a:defRPr sz="1100" b="0">
                <a:solidFill>
                  <a:srgbClr val="002A55"/>
                </a:solidFill>
                <a:latin typeface="Calibri"/>
              </a:defRPr>
            </a:pPr>
            <a:r>
              <a:t>• RBF kernel captures non-linear</a:t>
            </a:r>
          </a:p>
          <a:p>
            <a:pPr algn="l">
              <a:spcAft>
                <a:spcPts val="600"/>
              </a:spcAft>
              <a:defRPr sz="1100" b="0">
                <a:solidFill>
                  <a:srgbClr val="002A55"/>
                </a:solidFill>
                <a:latin typeface="Calibri"/>
              </a:defRPr>
            </a:pPr>
            <a:r>
              <a:t>  boundaries between activity types</a:t>
            </a:r>
          </a:p>
          <a:p>
            <a:pPr algn="l">
              <a:spcAft>
                <a:spcPts val="600"/>
              </a:spcAft>
              <a:defRPr sz="1100" b="0">
                <a:solidFill>
                  <a:srgbClr val="002A55"/>
                </a:solidFill>
                <a:latin typeface="Calibri"/>
              </a:defRPr>
            </a:pPr>
            <a:r>
              <a:t>• Support vectors = most informative</a:t>
            </a:r>
          </a:p>
          <a:p>
            <a:pPr algn="l">
              <a:spcAft>
                <a:spcPts val="600"/>
              </a:spcAft>
              <a:defRPr sz="1100" b="0">
                <a:solidFill>
                  <a:srgbClr val="002A55"/>
                </a:solidFill>
                <a:latin typeface="Calibri"/>
              </a:defRPr>
            </a:pPr>
            <a:r>
              <a:t>  task examples at class boundaries</a:t>
            </a:r>
          </a:p>
        </p:txBody>
      </p:sp>
      <p:sp>
        <p:nvSpPr>
          <p:cNvPr id="32" name="Rectangle 31"/>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34" name="Rectangle 33"/>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nus_iss_logo_transparent.png"/>
          <p:cNvPicPr>
            <a:picLocks noChangeAspect="1"/>
          </p:cNvPicPr>
          <p:nvPr/>
        </p:nvPicPr>
        <p:blipFill>
          <a:blip r:embed="rId2"/>
          <a:stretch>
            <a:fillRect/>
          </a:stretch>
        </p:blipFill>
        <p:spPr>
          <a:xfrm>
            <a:off x="9555480" y="82296"/>
            <a:ext cx="2514600" cy="58521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172200"/>
            <a:ext cx="12188952"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00"/>
            <a:ext cx="7315200" cy="274320"/>
          </a:xfrm>
          <a:prstGeom prst="rect">
            <a:avLst/>
          </a:prstGeom>
          <a:noFill/>
        </p:spPr>
        <p:txBody>
          <a:bodyPr wrap="square">
            <a:spAutoFit/>
          </a:bodyPr>
          <a:lstStyle/>
          <a:p>
            <a:pPr algn="l"/>
            <a:r>
              <a:rPr sz="700" b="0">
                <a:solidFill>
                  <a:srgbClr val="003D7C"/>
                </a:solidFill>
              </a:rPr>
              <a:t>© Copyright National University of Singapore. All Rights Reserved.</a:t>
            </a:r>
          </a:p>
        </p:txBody>
      </p:sp>
      <p:sp>
        <p:nvSpPr>
          <p:cNvPr id="6" name="TextBox 5"/>
          <p:cNvSpPr txBox="1"/>
          <p:nvPr/>
        </p:nvSpPr>
        <p:spPr>
          <a:xfrm>
            <a:off x="1188720" y="91440"/>
            <a:ext cx="9692640" cy="502920"/>
          </a:xfrm>
          <a:prstGeom prst="rect">
            <a:avLst/>
          </a:prstGeom>
          <a:noFill/>
        </p:spPr>
        <p:txBody>
          <a:bodyPr wrap="square">
            <a:spAutoFit/>
          </a:bodyPr>
          <a:lstStyle/>
          <a:p>
            <a:pPr algn="l"/>
            <a:r>
              <a:rPr sz="1600" b="1">
                <a:solidFill>
                  <a:srgbClr val="FFFFFF"/>
                </a:solidFill>
              </a:rPr>
              <a:t>Step 3b — Model Selection after Professor Feedback</a:t>
            </a:r>
          </a:p>
        </p:txBody>
      </p:sp>
      <p:sp>
        <p:nvSpPr>
          <p:cNvPr id="7" name="TextBox 6"/>
          <p:cNvSpPr txBox="1"/>
          <p:nvPr/>
        </p:nvSpPr>
        <p:spPr>
          <a:xfrm>
            <a:off x="1188720" y="548640"/>
            <a:ext cx="9692640" cy="411480"/>
          </a:xfrm>
          <a:prstGeom prst="rect">
            <a:avLst/>
          </a:prstGeom>
          <a:noFill/>
        </p:spPr>
        <p:txBody>
          <a:bodyPr wrap="square">
            <a:spAutoFit/>
          </a:bodyPr>
          <a:lstStyle/>
          <a:p>
            <a:pPr algn="l"/>
            <a:r>
              <a:rPr sz="1000" b="0">
                <a:solidFill>
                  <a:srgbClr val="FFFFFF"/>
                </a:solidFill>
              </a:rPr>
              <a:t>Reduced from 14 → 6 representative models; covers all 3 tiers and all 3 RQs</a:t>
            </a:r>
          </a:p>
        </p:txBody>
      </p:sp>
      <p:sp>
        <p:nvSpPr>
          <p:cNvPr id="8" name="Rectangle 7"/>
          <p:cNvSpPr/>
          <p:nvPr/>
        </p:nvSpPr>
        <p:spPr>
          <a:xfrm>
            <a:off x="1188720" y="1024128"/>
            <a:ext cx="10698480" cy="502920"/>
          </a:xfrm>
          <a:prstGeom prst="rect">
            <a:avLst/>
          </a:prstGeom>
          <a:solidFill>
            <a:srgbClr val="FEF3E2"/>
          </a:solidFill>
          <a:ln w="19050">
            <a:solidFill>
              <a:srgbClr val="EF7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0" y="1069848"/>
            <a:ext cx="10515600" cy="420624"/>
          </a:xfrm>
          <a:prstGeom prst="rect">
            <a:avLst/>
          </a:prstGeom>
          <a:noFill/>
        </p:spPr>
        <p:txBody>
          <a:bodyPr wrap="square">
            <a:spAutoFit/>
          </a:bodyPr>
          <a:lstStyle/>
          <a:p>
            <a:pPr algn="l"/>
            <a:r>
              <a:rPr sz="1000" b="1">
                <a:solidFill>
                  <a:srgbClr val="EF7C00"/>
                </a:solidFill>
              </a:rPr>
              <a:t>⚠  Professor Feedback:  Scope is too broad — narrow to a minimum viable set that still answers all three research questions.</a:t>
            </a:r>
          </a:p>
        </p:txBody>
      </p:sp>
      <p:sp>
        <p:nvSpPr>
          <p:cNvPr id="10" name="Rectangle 9"/>
          <p:cNvSpPr/>
          <p:nvPr/>
        </p:nvSpPr>
        <p:spPr>
          <a:xfrm>
            <a:off x="1188720" y="1618488"/>
            <a:ext cx="3291840" cy="292608"/>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61872" y="1655064"/>
            <a:ext cx="3145536" cy="228600"/>
          </a:xfrm>
          <a:prstGeom prst="rect">
            <a:avLst/>
          </a:prstGeom>
          <a:noFill/>
        </p:spPr>
        <p:txBody>
          <a:bodyPr wrap="square">
            <a:spAutoFit/>
          </a:bodyPr>
          <a:lstStyle/>
          <a:p>
            <a:pPr algn="l"/>
            <a:r>
              <a:rPr sz="900" b="1">
                <a:solidFill>
                  <a:srgbClr val="FFFFFF"/>
                </a:solidFill>
              </a:rPr>
              <a:t>Tier 1 — Classical ML</a:t>
            </a:r>
          </a:p>
        </p:txBody>
      </p:sp>
      <p:sp>
        <p:nvSpPr>
          <p:cNvPr id="12" name="TextBox 11"/>
          <p:cNvSpPr txBox="1"/>
          <p:nvPr/>
        </p:nvSpPr>
        <p:spPr>
          <a:xfrm>
            <a:off x="1261872" y="1929384"/>
            <a:ext cx="3145536" cy="201168"/>
          </a:xfrm>
          <a:prstGeom prst="rect">
            <a:avLst/>
          </a:prstGeom>
          <a:noFill/>
        </p:spPr>
        <p:txBody>
          <a:bodyPr wrap="square">
            <a:spAutoFit/>
          </a:bodyPr>
          <a:lstStyle/>
          <a:p>
            <a:pPr algn="l"/>
            <a:r>
              <a:rPr sz="800" b="0">
                <a:solidFill>
                  <a:srgbClr val="007ACC"/>
                </a:solidFill>
              </a:rPr>
              <a:t>3 of 7 selected</a:t>
            </a:r>
          </a:p>
        </p:txBody>
      </p:sp>
      <p:sp>
        <p:nvSpPr>
          <p:cNvPr id="13" name="Rectangle 12"/>
          <p:cNvSpPr/>
          <p:nvPr/>
        </p:nvSpPr>
        <p:spPr>
          <a:xfrm>
            <a:off x="1188720" y="2167128"/>
            <a:ext cx="3291840" cy="256032"/>
          </a:xfrm>
          <a:prstGeom prst="rect">
            <a:avLst/>
          </a:prstGeom>
          <a:solidFill>
            <a:srgbClr val="D1FAE5"/>
          </a:solidFill>
          <a:ln w="1016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185416"/>
            <a:ext cx="182880" cy="219456"/>
          </a:xfrm>
          <a:prstGeom prst="rect">
            <a:avLst/>
          </a:prstGeom>
          <a:noFill/>
        </p:spPr>
        <p:txBody>
          <a:bodyPr wrap="square">
            <a:spAutoFit/>
          </a:bodyPr>
          <a:lstStyle/>
          <a:p>
            <a:pPr algn="l"/>
            <a:r>
              <a:rPr sz="900" b="1">
                <a:solidFill>
                  <a:srgbClr val="28A745"/>
                </a:solidFill>
              </a:rPr>
              <a:t>✓</a:t>
            </a:r>
          </a:p>
        </p:txBody>
      </p:sp>
      <p:sp>
        <p:nvSpPr>
          <p:cNvPr id="15" name="TextBox 14"/>
          <p:cNvSpPr txBox="1"/>
          <p:nvPr/>
        </p:nvSpPr>
        <p:spPr>
          <a:xfrm>
            <a:off x="1417320" y="2185416"/>
            <a:ext cx="3017520" cy="219456"/>
          </a:xfrm>
          <a:prstGeom prst="rect">
            <a:avLst/>
          </a:prstGeom>
          <a:noFill/>
        </p:spPr>
        <p:txBody>
          <a:bodyPr wrap="square">
            <a:spAutoFit/>
          </a:bodyPr>
          <a:lstStyle/>
          <a:p>
            <a:pPr algn="l"/>
            <a:r>
              <a:rPr sz="900" b="0">
                <a:solidFill>
                  <a:srgbClr val="002A55"/>
                </a:solidFill>
              </a:rPr>
              <a:t>SVM</a:t>
            </a:r>
          </a:p>
        </p:txBody>
      </p:sp>
      <p:sp>
        <p:nvSpPr>
          <p:cNvPr id="16" name="Rectangle 15"/>
          <p:cNvSpPr/>
          <p:nvPr/>
        </p:nvSpPr>
        <p:spPr>
          <a:xfrm>
            <a:off x="1188720" y="2459736"/>
            <a:ext cx="3291840" cy="256032"/>
          </a:xfrm>
          <a:prstGeom prst="rect">
            <a:avLst/>
          </a:prstGeom>
          <a:solidFill>
            <a:srgbClr val="D1FAE5"/>
          </a:solidFill>
          <a:ln w="1016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34440" y="2478024"/>
            <a:ext cx="182880" cy="219456"/>
          </a:xfrm>
          <a:prstGeom prst="rect">
            <a:avLst/>
          </a:prstGeom>
          <a:noFill/>
        </p:spPr>
        <p:txBody>
          <a:bodyPr wrap="square">
            <a:spAutoFit/>
          </a:bodyPr>
          <a:lstStyle/>
          <a:p>
            <a:pPr algn="l"/>
            <a:r>
              <a:rPr sz="900" b="1">
                <a:solidFill>
                  <a:srgbClr val="28A745"/>
                </a:solidFill>
              </a:rPr>
              <a:t>✓</a:t>
            </a:r>
          </a:p>
        </p:txBody>
      </p:sp>
      <p:sp>
        <p:nvSpPr>
          <p:cNvPr id="18" name="TextBox 17"/>
          <p:cNvSpPr txBox="1"/>
          <p:nvPr/>
        </p:nvSpPr>
        <p:spPr>
          <a:xfrm>
            <a:off x="1417320" y="2478024"/>
            <a:ext cx="3017520" cy="219456"/>
          </a:xfrm>
          <a:prstGeom prst="rect">
            <a:avLst/>
          </a:prstGeom>
          <a:noFill/>
        </p:spPr>
        <p:txBody>
          <a:bodyPr wrap="square">
            <a:spAutoFit/>
          </a:bodyPr>
          <a:lstStyle/>
          <a:p>
            <a:pPr algn="l"/>
            <a:r>
              <a:rPr sz="900" b="0">
                <a:solidFill>
                  <a:srgbClr val="002A55"/>
                </a:solidFill>
              </a:rPr>
              <a:t>Decision Tree</a:t>
            </a:r>
          </a:p>
        </p:txBody>
      </p:sp>
      <p:sp>
        <p:nvSpPr>
          <p:cNvPr id="19" name="Rectangle 18"/>
          <p:cNvSpPr/>
          <p:nvPr/>
        </p:nvSpPr>
        <p:spPr>
          <a:xfrm>
            <a:off x="1188720" y="2752344"/>
            <a:ext cx="3291840" cy="256032"/>
          </a:xfrm>
          <a:prstGeom prst="rect">
            <a:avLst/>
          </a:prstGeom>
          <a:solidFill>
            <a:srgbClr val="D1FAE5"/>
          </a:solidFill>
          <a:ln w="1016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4440" y="2770632"/>
            <a:ext cx="182880" cy="219456"/>
          </a:xfrm>
          <a:prstGeom prst="rect">
            <a:avLst/>
          </a:prstGeom>
          <a:noFill/>
        </p:spPr>
        <p:txBody>
          <a:bodyPr wrap="square">
            <a:spAutoFit/>
          </a:bodyPr>
          <a:lstStyle/>
          <a:p>
            <a:pPr algn="l"/>
            <a:r>
              <a:rPr sz="900" b="1">
                <a:solidFill>
                  <a:srgbClr val="28A745"/>
                </a:solidFill>
              </a:rPr>
              <a:t>✓</a:t>
            </a:r>
          </a:p>
        </p:txBody>
      </p:sp>
      <p:sp>
        <p:nvSpPr>
          <p:cNvPr id="21" name="TextBox 20"/>
          <p:cNvSpPr txBox="1"/>
          <p:nvPr/>
        </p:nvSpPr>
        <p:spPr>
          <a:xfrm>
            <a:off x="1417320" y="2770632"/>
            <a:ext cx="3017520" cy="219456"/>
          </a:xfrm>
          <a:prstGeom prst="rect">
            <a:avLst/>
          </a:prstGeom>
          <a:noFill/>
        </p:spPr>
        <p:txBody>
          <a:bodyPr wrap="square">
            <a:spAutoFit/>
          </a:bodyPr>
          <a:lstStyle/>
          <a:p>
            <a:pPr algn="l"/>
            <a:r>
              <a:rPr sz="900" b="0">
                <a:solidFill>
                  <a:srgbClr val="002A55"/>
                </a:solidFill>
              </a:rPr>
              <a:t>Random Forest</a:t>
            </a:r>
          </a:p>
        </p:txBody>
      </p:sp>
      <p:sp>
        <p:nvSpPr>
          <p:cNvPr id="22" name="Rectangle 21"/>
          <p:cNvSpPr/>
          <p:nvPr/>
        </p:nvSpPr>
        <p:spPr>
          <a:xfrm>
            <a:off x="1188720" y="3044951"/>
            <a:ext cx="3291840" cy="256032"/>
          </a:xfrm>
          <a:prstGeom prst="rect">
            <a:avLst/>
          </a:prstGeom>
          <a:solidFill>
            <a:srgbClr val="F1F5F9"/>
          </a:solidFill>
          <a:ln w="10160">
            <a:solidFill>
              <a:srgbClr val="A0AE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34440" y="3063239"/>
            <a:ext cx="182880" cy="219456"/>
          </a:xfrm>
          <a:prstGeom prst="rect">
            <a:avLst/>
          </a:prstGeom>
          <a:noFill/>
        </p:spPr>
        <p:txBody>
          <a:bodyPr wrap="square">
            <a:spAutoFit/>
          </a:bodyPr>
          <a:lstStyle/>
          <a:p>
            <a:pPr algn="l"/>
            <a:r>
              <a:rPr sz="900" b="1">
                <a:solidFill>
                  <a:srgbClr val="A0AEC0"/>
                </a:solidFill>
              </a:rPr>
              <a:t>✗</a:t>
            </a:r>
          </a:p>
        </p:txBody>
      </p:sp>
      <p:sp>
        <p:nvSpPr>
          <p:cNvPr id="24" name="TextBox 23"/>
          <p:cNvSpPr txBox="1"/>
          <p:nvPr/>
        </p:nvSpPr>
        <p:spPr>
          <a:xfrm>
            <a:off x="1417320" y="3063239"/>
            <a:ext cx="3017520" cy="219456"/>
          </a:xfrm>
          <a:prstGeom prst="rect">
            <a:avLst/>
          </a:prstGeom>
          <a:noFill/>
        </p:spPr>
        <p:txBody>
          <a:bodyPr wrap="square">
            <a:spAutoFit/>
          </a:bodyPr>
          <a:lstStyle/>
          <a:p>
            <a:pPr algn="l"/>
            <a:r>
              <a:rPr sz="900" b="0">
                <a:solidFill>
                  <a:srgbClr val="A0AEC0"/>
                </a:solidFill>
              </a:rPr>
              <a:t>k-NN</a:t>
            </a:r>
          </a:p>
        </p:txBody>
      </p:sp>
      <p:sp>
        <p:nvSpPr>
          <p:cNvPr id="25" name="Rectangle 24"/>
          <p:cNvSpPr/>
          <p:nvPr/>
        </p:nvSpPr>
        <p:spPr>
          <a:xfrm>
            <a:off x="1188720" y="3337559"/>
            <a:ext cx="3291840" cy="256032"/>
          </a:xfrm>
          <a:prstGeom prst="rect">
            <a:avLst/>
          </a:prstGeom>
          <a:solidFill>
            <a:srgbClr val="F1F5F9"/>
          </a:solidFill>
          <a:ln w="10160">
            <a:solidFill>
              <a:srgbClr val="A0AE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34440" y="3355847"/>
            <a:ext cx="182880" cy="219456"/>
          </a:xfrm>
          <a:prstGeom prst="rect">
            <a:avLst/>
          </a:prstGeom>
          <a:noFill/>
        </p:spPr>
        <p:txBody>
          <a:bodyPr wrap="square">
            <a:spAutoFit/>
          </a:bodyPr>
          <a:lstStyle/>
          <a:p>
            <a:pPr algn="l"/>
            <a:r>
              <a:rPr sz="900" b="1">
                <a:solidFill>
                  <a:srgbClr val="A0AEC0"/>
                </a:solidFill>
              </a:rPr>
              <a:t>✗</a:t>
            </a:r>
          </a:p>
        </p:txBody>
      </p:sp>
      <p:sp>
        <p:nvSpPr>
          <p:cNvPr id="27" name="TextBox 26"/>
          <p:cNvSpPr txBox="1"/>
          <p:nvPr/>
        </p:nvSpPr>
        <p:spPr>
          <a:xfrm>
            <a:off x="1417320" y="3355847"/>
            <a:ext cx="3017520" cy="219456"/>
          </a:xfrm>
          <a:prstGeom prst="rect">
            <a:avLst/>
          </a:prstGeom>
          <a:noFill/>
        </p:spPr>
        <p:txBody>
          <a:bodyPr wrap="square">
            <a:spAutoFit/>
          </a:bodyPr>
          <a:lstStyle/>
          <a:p>
            <a:pPr algn="l"/>
            <a:r>
              <a:rPr sz="900" b="0">
                <a:solidFill>
                  <a:srgbClr val="A0AEC0"/>
                </a:solidFill>
              </a:rPr>
              <a:t>Naive Bayes</a:t>
            </a:r>
          </a:p>
        </p:txBody>
      </p:sp>
      <p:sp>
        <p:nvSpPr>
          <p:cNvPr id="28" name="Rectangle 27"/>
          <p:cNvSpPr/>
          <p:nvPr/>
        </p:nvSpPr>
        <p:spPr>
          <a:xfrm>
            <a:off x="1188720" y="3630167"/>
            <a:ext cx="3291840" cy="256032"/>
          </a:xfrm>
          <a:prstGeom prst="rect">
            <a:avLst/>
          </a:prstGeom>
          <a:solidFill>
            <a:srgbClr val="F1F5F9"/>
          </a:solidFill>
          <a:ln w="10160">
            <a:solidFill>
              <a:srgbClr val="A0AE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34440" y="3648455"/>
            <a:ext cx="182880" cy="219456"/>
          </a:xfrm>
          <a:prstGeom prst="rect">
            <a:avLst/>
          </a:prstGeom>
          <a:noFill/>
        </p:spPr>
        <p:txBody>
          <a:bodyPr wrap="square">
            <a:spAutoFit/>
          </a:bodyPr>
          <a:lstStyle/>
          <a:p>
            <a:pPr algn="l"/>
            <a:r>
              <a:rPr sz="900" b="1">
                <a:solidFill>
                  <a:srgbClr val="A0AEC0"/>
                </a:solidFill>
              </a:rPr>
              <a:t>✗</a:t>
            </a:r>
          </a:p>
        </p:txBody>
      </p:sp>
      <p:sp>
        <p:nvSpPr>
          <p:cNvPr id="30" name="TextBox 29"/>
          <p:cNvSpPr txBox="1"/>
          <p:nvPr/>
        </p:nvSpPr>
        <p:spPr>
          <a:xfrm>
            <a:off x="1417320" y="3648455"/>
            <a:ext cx="3017520" cy="219456"/>
          </a:xfrm>
          <a:prstGeom prst="rect">
            <a:avLst/>
          </a:prstGeom>
          <a:noFill/>
        </p:spPr>
        <p:txBody>
          <a:bodyPr wrap="square">
            <a:spAutoFit/>
          </a:bodyPr>
          <a:lstStyle/>
          <a:p>
            <a:pPr algn="l"/>
            <a:r>
              <a:rPr sz="900" b="0">
                <a:solidFill>
                  <a:srgbClr val="A0AEC0"/>
                </a:solidFill>
              </a:rPr>
              <a:t>XGBoost</a:t>
            </a:r>
          </a:p>
        </p:txBody>
      </p:sp>
      <p:sp>
        <p:nvSpPr>
          <p:cNvPr id="31" name="Rectangle 30"/>
          <p:cNvSpPr/>
          <p:nvPr/>
        </p:nvSpPr>
        <p:spPr>
          <a:xfrm>
            <a:off x="1188720" y="3922775"/>
            <a:ext cx="3291840" cy="256032"/>
          </a:xfrm>
          <a:prstGeom prst="rect">
            <a:avLst/>
          </a:prstGeom>
          <a:solidFill>
            <a:srgbClr val="F1F5F9"/>
          </a:solidFill>
          <a:ln w="10160">
            <a:solidFill>
              <a:srgbClr val="A0AE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34440" y="3941063"/>
            <a:ext cx="182880" cy="219456"/>
          </a:xfrm>
          <a:prstGeom prst="rect">
            <a:avLst/>
          </a:prstGeom>
          <a:noFill/>
        </p:spPr>
        <p:txBody>
          <a:bodyPr wrap="square">
            <a:spAutoFit/>
          </a:bodyPr>
          <a:lstStyle/>
          <a:p>
            <a:pPr algn="l"/>
            <a:r>
              <a:rPr sz="900" b="1">
                <a:solidFill>
                  <a:srgbClr val="A0AEC0"/>
                </a:solidFill>
              </a:rPr>
              <a:t>✗</a:t>
            </a:r>
          </a:p>
        </p:txBody>
      </p:sp>
      <p:sp>
        <p:nvSpPr>
          <p:cNvPr id="33" name="TextBox 32"/>
          <p:cNvSpPr txBox="1"/>
          <p:nvPr/>
        </p:nvSpPr>
        <p:spPr>
          <a:xfrm>
            <a:off x="1417320" y="3941063"/>
            <a:ext cx="3017520" cy="219456"/>
          </a:xfrm>
          <a:prstGeom prst="rect">
            <a:avLst/>
          </a:prstGeom>
          <a:noFill/>
        </p:spPr>
        <p:txBody>
          <a:bodyPr wrap="square">
            <a:spAutoFit/>
          </a:bodyPr>
          <a:lstStyle/>
          <a:p>
            <a:pPr algn="l"/>
            <a:r>
              <a:rPr sz="900" b="0">
                <a:solidFill>
                  <a:srgbClr val="A0AEC0"/>
                </a:solidFill>
              </a:rPr>
              <a:t>LightGBM</a:t>
            </a:r>
          </a:p>
        </p:txBody>
      </p:sp>
      <p:sp>
        <p:nvSpPr>
          <p:cNvPr id="34" name="Rectangle 33"/>
          <p:cNvSpPr/>
          <p:nvPr/>
        </p:nvSpPr>
        <p:spPr>
          <a:xfrm>
            <a:off x="4663440" y="1618488"/>
            <a:ext cx="2926080" cy="292608"/>
          </a:xfrm>
          <a:prstGeom prst="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36592" y="1655064"/>
            <a:ext cx="2779776" cy="228600"/>
          </a:xfrm>
          <a:prstGeom prst="rect">
            <a:avLst/>
          </a:prstGeom>
          <a:noFill/>
        </p:spPr>
        <p:txBody>
          <a:bodyPr wrap="square">
            <a:spAutoFit/>
          </a:bodyPr>
          <a:lstStyle/>
          <a:p>
            <a:pPr algn="l"/>
            <a:r>
              <a:rPr sz="900" b="1">
                <a:solidFill>
                  <a:srgbClr val="FFFFFF"/>
                </a:solidFill>
              </a:rPr>
              <a:t>Tier 2 — Deep Learning</a:t>
            </a:r>
          </a:p>
        </p:txBody>
      </p:sp>
      <p:sp>
        <p:nvSpPr>
          <p:cNvPr id="36" name="TextBox 35"/>
          <p:cNvSpPr txBox="1"/>
          <p:nvPr/>
        </p:nvSpPr>
        <p:spPr>
          <a:xfrm>
            <a:off x="4736592" y="1929384"/>
            <a:ext cx="2779776" cy="201168"/>
          </a:xfrm>
          <a:prstGeom prst="rect">
            <a:avLst/>
          </a:prstGeom>
          <a:noFill/>
        </p:spPr>
        <p:txBody>
          <a:bodyPr wrap="square">
            <a:spAutoFit/>
          </a:bodyPr>
          <a:lstStyle/>
          <a:p>
            <a:pPr algn="l"/>
            <a:r>
              <a:rPr sz="800" b="0">
                <a:solidFill>
                  <a:srgbClr val="6F42C1"/>
                </a:solidFill>
              </a:rPr>
              <a:t>1 of 4 selected</a:t>
            </a:r>
          </a:p>
        </p:txBody>
      </p:sp>
      <p:sp>
        <p:nvSpPr>
          <p:cNvPr id="37" name="Rectangle 36"/>
          <p:cNvSpPr/>
          <p:nvPr/>
        </p:nvSpPr>
        <p:spPr>
          <a:xfrm>
            <a:off x="4663440" y="2167128"/>
            <a:ext cx="2926080" cy="256032"/>
          </a:xfrm>
          <a:prstGeom prst="rect">
            <a:avLst/>
          </a:prstGeom>
          <a:solidFill>
            <a:srgbClr val="D1FAE5"/>
          </a:solidFill>
          <a:ln w="1016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09159" y="2185416"/>
            <a:ext cx="182880" cy="219456"/>
          </a:xfrm>
          <a:prstGeom prst="rect">
            <a:avLst/>
          </a:prstGeom>
          <a:noFill/>
        </p:spPr>
        <p:txBody>
          <a:bodyPr wrap="square">
            <a:spAutoFit/>
          </a:bodyPr>
          <a:lstStyle/>
          <a:p>
            <a:pPr algn="l"/>
            <a:r>
              <a:rPr sz="900" b="1">
                <a:solidFill>
                  <a:srgbClr val="28A745"/>
                </a:solidFill>
              </a:rPr>
              <a:t>✓</a:t>
            </a:r>
          </a:p>
        </p:txBody>
      </p:sp>
      <p:sp>
        <p:nvSpPr>
          <p:cNvPr id="39" name="TextBox 38"/>
          <p:cNvSpPr txBox="1"/>
          <p:nvPr/>
        </p:nvSpPr>
        <p:spPr>
          <a:xfrm>
            <a:off x="4892040" y="2185416"/>
            <a:ext cx="2651760" cy="219456"/>
          </a:xfrm>
          <a:prstGeom prst="rect">
            <a:avLst/>
          </a:prstGeom>
          <a:noFill/>
        </p:spPr>
        <p:txBody>
          <a:bodyPr wrap="square">
            <a:spAutoFit/>
          </a:bodyPr>
          <a:lstStyle/>
          <a:p>
            <a:pPr algn="l"/>
            <a:r>
              <a:rPr sz="900" b="0">
                <a:solidFill>
                  <a:srgbClr val="002A55"/>
                </a:solidFill>
              </a:rPr>
              <a:t>MLP</a:t>
            </a:r>
          </a:p>
        </p:txBody>
      </p:sp>
      <p:sp>
        <p:nvSpPr>
          <p:cNvPr id="40" name="Rectangle 39"/>
          <p:cNvSpPr/>
          <p:nvPr/>
        </p:nvSpPr>
        <p:spPr>
          <a:xfrm>
            <a:off x="4663440" y="2459736"/>
            <a:ext cx="2926080" cy="256032"/>
          </a:xfrm>
          <a:prstGeom prst="rect">
            <a:avLst/>
          </a:prstGeom>
          <a:solidFill>
            <a:srgbClr val="F1F5F9"/>
          </a:solidFill>
          <a:ln w="10160">
            <a:solidFill>
              <a:srgbClr val="A0AE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09159" y="2478024"/>
            <a:ext cx="182880" cy="219456"/>
          </a:xfrm>
          <a:prstGeom prst="rect">
            <a:avLst/>
          </a:prstGeom>
          <a:noFill/>
        </p:spPr>
        <p:txBody>
          <a:bodyPr wrap="square">
            <a:spAutoFit/>
          </a:bodyPr>
          <a:lstStyle/>
          <a:p>
            <a:pPr algn="l"/>
            <a:r>
              <a:rPr sz="900" b="1">
                <a:solidFill>
                  <a:srgbClr val="A0AEC0"/>
                </a:solidFill>
              </a:rPr>
              <a:t>✗</a:t>
            </a:r>
          </a:p>
        </p:txBody>
      </p:sp>
      <p:sp>
        <p:nvSpPr>
          <p:cNvPr id="42" name="TextBox 41"/>
          <p:cNvSpPr txBox="1"/>
          <p:nvPr/>
        </p:nvSpPr>
        <p:spPr>
          <a:xfrm>
            <a:off x="4892040" y="2478024"/>
            <a:ext cx="2651760" cy="219456"/>
          </a:xfrm>
          <a:prstGeom prst="rect">
            <a:avLst/>
          </a:prstGeom>
          <a:noFill/>
        </p:spPr>
        <p:txBody>
          <a:bodyPr wrap="square">
            <a:spAutoFit/>
          </a:bodyPr>
          <a:lstStyle/>
          <a:p>
            <a:pPr algn="l"/>
            <a:r>
              <a:rPr sz="900" b="0">
                <a:solidFill>
                  <a:srgbClr val="A0AEC0"/>
                </a:solidFill>
              </a:rPr>
              <a:t>CNN-1D</a:t>
            </a:r>
          </a:p>
        </p:txBody>
      </p:sp>
      <p:sp>
        <p:nvSpPr>
          <p:cNvPr id="43" name="Rectangle 42"/>
          <p:cNvSpPr/>
          <p:nvPr/>
        </p:nvSpPr>
        <p:spPr>
          <a:xfrm>
            <a:off x="4663440" y="2752344"/>
            <a:ext cx="2926080" cy="256032"/>
          </a:xfrm>
          <a:prstGeom prst="rect">
            <a:avLst/>
          </a:prstGeom>
          <a:solidFill>
            <a:srgbClr val="F1F5F9"/>
          </a:solidFill>
          <a:ln w="10160">
            <a:solidFill>
              <a:srgbClr val="A0AE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709159" y="2770632"/>
            <a:ext cx="182880" cy="219456"/>
          </a:xfrm>
          <a:prstGeom prst="rect">
            <a:avLst/>
          </a:prstGeom>
          <a:noFill/>
        </p:spPr>
        <p:txBody>
          <a:bodyPr wrap="square">
            <a:spAutoFit/>
          </a:bodyPr>
          <a:lstStyle/>
          <a:p>
            <a:pPr algn="l"/>
            <a:r>
              <a:rPr sz="900" b="1">
                <a:solidFill>
                  <a:srgbClr val="A0AEC0"/>
                </a:solidFill>
              </a:rPr>
              <a:t>✗</a:t>
            </a:r>
          </a:p>
        </p:txBody>
      </p:sp>
      <p:sp>
        <p:nvSpPr>
          <p:cNvPr id="45" name="TextBox 44"/>
          <p:cNvSpPr txBox="1"/>
          <p:nvPr/>
        </p:nvSpPr>
        <p:spPr>
          <a:xfrm>
            <a:off x="4892040" y="2770632"/>
            <a:ext cx="2651760" cy="219456"/>
          </a:xfrm>
          <a:prstGeom prst="rect">
            <a:avLst/>
          </a:prstGeom>
          <a:noFill/>
        </p:spPr>
        <p:txBody>
          <a:bodyPr wrap="square">
            <a:spAutoFit/>
          </a:bodyPr>
          <a:lstStyle/>
          <a:p>
            <a:pPr algn="l"/>
            <a:r>
              <a:rPr sz="900" b="0">
                <a:solidFill>
                  <a:srgbClr val="A0AEC0"/>
                </a:solidFill>
              </a:rPr>
              <a:t>LSTM</a:t>
            </a:r>
          </a:p>
        </p:txBody>
      </p:sp>
      <p:sp>
        <p:nvSpPr>
          <p:cNvPr id="46" name="Rectangle 45"/>
          <p:cNvSpPr/>
          <p:nvPr/>
        </p:nvSpPr>
        <p:spPr>
          <a:xfrm>
            <a:off x="4663440" y="3044951"/>
            <a:ext cx="2926080" cy="256032"/>
          </a:xfrm>
          <a:prstGeom prst="rect">
            <a:avLst/>
          </a:prstGeom>
          <a:solidFill>
            <a:srgbClr val="F1F5F9"/>
          </a:solidFill>
          <a:ln w="10160">
            <a:solidFill>
              <a:srgbClr val="A0AE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709159" y="3063239"/>
            <a:ext cx="182880" cy="219456"/>
          </a:xfrm>
          <a:prstGeom prst="rect">
            <a:avLst/>
          </a:prstGeom>
          <a:noFill/>
        </p:spPr>
        <p:txBody>
          <a:bodyPr wrap="square">
            <a:spAutoFit/>
          </a:bodyPr>
          <a:lstStyle/>
          <a:p>
            <a:pPr algn="l"/>
            <a:r>
              <a:rPr sz="900" b="1">
                <a:solidFill>
                  <a:srgbClr val="A0AEC0"/>
                </a:solidFill>
              </a:rPr>
              <a:t>✗</a:t>
            </a:r>
          </a:p>
        </p:txBody>
      </p:sp>
      <p:sp>
        <p:nvSpPr>
          <p:cNvPr id="48" name="TextBox 47"/>
          <p:cNvSpPr txBox="1"/>
          <p:nvPr/>
        </p:nvSpPr>
        <p:spPr>
          <a:xfrm>
            <a:off x="4892040" y="3063239"/>
            <a:ext cx="2651760" cy="219456"/>
          </a:xfrm>
          <a:prstGeom prst="rect">
            <a:avLst/>
          </a:prstGeom>
          <a:noFill/>
        </p:spPr>
        <p:txBody>
          <a:bodyPr wrap="square">
            <a:spAutoFit/>
          </a:bodyPr>
          <a:lstStyle/>
          <a:p>
            <a:pPr algn="l"/>
            <a:r>
              <a:rPr sz="900" b="0">
                <a:solidFill>
                  <a:srgbClr val="A0AEC0"/>
                </a:solidFill>
              </a:rPr>
              <a:t>Transformer</a:t>
            </a:r>
          </a:p>
        </p:txBody>
      </p:sp>
      <p:sp>
        <p:nvSpPr>
          <p:cNvPr id="49" name="Rectangle 48"/>
          <p:cNvSpPr/>
          <p:nvPr/>
        </p:nvSpPr>
        <p:spPr>
          <a:xfrm>
            <a:off x="7772400" y="1618488"/>
            <a:ext cx="4114800" cy="29260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845552" y="1655064"/>
            <a:ext cx="3968496" cy="228600"/>
          </a:xfrm>
          <a:prstGeom prst="rect">
            <a:avLst/>
          </a:prstGeom>
          <a:noFill/>
        </p:spPr>
        <p:txBody>
          <a:bodyPr wrap="square">
            <a:spAutoFit/>
          </a:bodyPr>
          <a:lstStyle/>
          <a:p>
            <a:pPr algn="l"/>
            <a:r>
              <a:rPr sz="900" b="1">
                <a:solidFill>
                  <a:srgbClr val="FFFFFF"/>
                </a:solidFill>
              </a:rPr>
              <a:t>Tier 3 — Ensemble</a:t>
            </a:r>
          </a:p>
        </p:txBody>
      </p:sp>
      <p:sp>
        <p:nvSpPr>
          <p:cNvPr id="51" name="TextBox 50"/>
          <p:cNvSpPr txBox="1"/>
          <p:nvPr/>
        </p:nvSpPr>
        <p:spPr>
          <a:xfrm>
            <a:off x="7845552" y="1929384"/>
            <a:ext cx="3968496" cy="201168"/>
          </a:xfrm>
          <a:prstGeom prst="rect">
            <a:avLst/>
          </a:prstGeom>
          <a:noFill/>
        </p:spPr>
        <p:txBody>
          <a:bodyPr wrap="square">
            <a:spAutoFit/>
          </a:bodyPr>
          <a:lstStyle/>
          <a:p>
            <a:pPr algn="l"/>
            <a:r>
              <a:rPr sz="800" b="0">
                <a:solidFill>
                  <a:srgbClr val="28A745"/>
                </a:solidFill>
              </a:rPr>
              <a:t>2 of 3 selected</a:t>
            </a:r>
          </a:p>
        </p:txBody>
      </p:sp>
      <p:sp>
        <p:nvSpPr>
          <p:cNvPr id="52" name="Rectangle 51"/>
          <p:cNvSpPr/>
          <p:nvPr/>
        </p:nvSpPr>
        <p:spPr>
          <a:xfrm>
            <a:off x="7772400" y="2167128"/>
            <a:ext cx="4114800" cy="256032"/>
          </a:xfrm>
          <a:prstGeom prst="rect">
            <a:avLst/>
          </a:prstGeom>
          <a:solidFill>
            <a:srgbClr val="D1FAE5"/>
          </a:solidFill>
          <a:ln w="1016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818120" y="2185416"/>
            <a:ext cx="182880" cy="219456"/>
          </a:xfrm>
          <a:prstGeom prst="rect">
            <a:avLst/>
          </a:prstGeom>
          <a:noFill/>
        </p:spPr>
        <p:txBody>
          <a:bodyPr wrap="square">
            <a:spAutoFit/>
          </a:bodyPr>
          <a:lstStyle/>
          <a:p>
            <a:pPr algn="l"/>
            <a:r>
              <a:rPr sz="900" b="1">
                <a:solidFill>
                  <a:srgbClr val="28A745"/>
                </a:solidFill>
              </a:rPr>
              <a:t>✓</a:t>
            </a:r>
          </a:p>
        </p:txBody>
      </p:sp>
      <p:sp>
        <p:nvSpPr>
          <p:cNvPr id="54" name="TextBox 53"/>
          <p:cNvSpPr txBox="1"/>
          <p:nvPr/>
        </p:nvSpPr>
        <p:spPr>
          <a:xfrm>
            <a:off x="8001000" y="2185416"/>
            <a:ext cx="3840480" cy="219456"/>
          </a:xfrm>
          <a:prstGeom prst="rect">
            <a:avLst/>
          </a:prstGeom>
          <a:noFill/>
        </p:spPr>
        <p:txBody>
          <a:bodyPr wrap="square">
            <a:spAutoFit/>
          </a:bodyPr>
          <a:lstStyle/>
          <a:p>
            <a:pPr algn="l"/>
            <a:r>
              <a:rPr sz="900" b="0">
                <a:solidFill>
                  <a:srgbClr val="002A55"/>
                </a:solidFill>
              </a:rPr>
              <a:t>Voting</a:t>
            </a:r>
          </a:p>
        </p:txBody>
      </p:sp>
      <p:sp>
        <p:nvSpPr>
          <p:cNvPr id="55" name="Rectangle 54"/>
          <p:cNvSpPr/>
          <p:nvPr/>
        </p:nvSpPr>
        <p:spPr>
          <a:xfrm>
            <a:off x="7772400" y="2459736"/>
            <a:ext cx="4114800" cy="256032"/>
          </a:xfrm>
          <a:prstGeom prst="rect">
            <a:avLst/>
          </a:prstGeom>
          <a:solidFill>
            <a:srgbClr val="D1FAE5"/>
          </a:solidFill>
          <a:ln w="1016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818120" y="2478024"/>
            <a:ext cx="182880" cy="219456"/>
          </a:xfrm>
          <a:prstGeom prst="rect">
            <a:avLst/>
          </a:prstGeom>
          <a:noFill/>
        </p:spPr>
        <p:txBody>
          <a:bodyPr wrap="square">
            <a:spAutoFit/>
          </a:bodyPr>
          <a:lstStyle/>
          <a:p>
            <a:pPr algn="l"/>
            <a:r>
              <a:rPr sz="900" b="1">
                <a:solidFill>
                  <a:srgbClr val="28A745"/>
                </a:solidFill>
              </a:rPr>
              <a:t>✓</a:t>
            </a:r>
          </a:p>
        </p:txBody>
      </p:sp>
      <p:sp>
        <p:nvSpPr>
          <p:cNvPr id="57" name="TextBox 56"/>
          <p:cNvSpPr txBox="1"/>
          <p:nvPr/>
        </p:nvSpPr>
        <p:spPr>
          <a:xfrm>
            <a:off x="8001000" y="2478024"/>
            <a:ext cx="3840480" cy="219456"/>
          </a:xfrm>
          <a:prstGeom prst="rect">
            <a:avLst/>
          </a:prstGeom>
          <a:noFill/>
        </p:spPr>
        <p:txBody>
          <a:bodyPr wrap="square">
            <a:spAutoFit/>
          </a:bodyPr>
          <a:lstStyle/>
          <a:p>
            <a:pPr algn="l"/>
            <a:r>
              <a:rPr sz="900" b="0">
                <a:solidFill>
                  <a:srgbClr val="002A55"/>
                </a:solidFill>
              </a:rPr>
              <a:t>Late Fusion</a:t>
            </a:r>
          </a:p>
        </p:txBody>
      </p:sp>
      <p:sp>
        <p:nvSpPr>
          <p:cNvPr id="58" name="Rectangle 57"/>
          <p:cNvSpPr/>
          <p:nvPr/>
        </p:nvSpPr>
        <p:spPr>
          <a:xfrm>
            <a:off x="7772400" y="2752344"/>
            <a:ext cx="4114800" cy="256032"/>
          </a:xfrm>
          <a:prstGeom prst="rect">
            <a:avLst/>
          </a:prstGeom>
          <a:solidFill>
            <a:srgbClr val="F1F5F9"/>
          </a:solidFill>
          <a:ln w="10160">
            <a:solidFill>
              <a:srgbClr val="A0AE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818120" y="2770632"/>
            <a:ext cx="182880" cy="219456"/>
          </a:xfrm>
          <a:prstGeom prst="rect">
            <a:avLst/>
          </a:prstGeom>
          <a:noFill/>
        </p:spPr>
        <p:txBody>
          <a:bodyPr wrap="square">
            <a:spAutoFit/>
          </a:bodyPr>
          <a:lstStyle/>
          <a:p>
            <a:pPr algn="l"/>
            <a:r>
              <a:rPr sz="900" b="1">
                <a:solidFill>
                  <a:srgbClr val="A0AEC0"/>
                </a:solidFill>
              </a:rPr>
              <a:t>✗</a:t>
            </a:r>
          </a:p>
        </p:txBody>
      </p:sp>
      <p:sp>
        <p:nvSpPr>
          <p:cNvPr id="60" name="TextBox 59"/>
          <p:cNvSpPr txBox="1"/>
          <p:nvPr/>
        </p:nvSpPr>
        <p:spPr>
          <a:xfrm>
            <a:off x="8001000" y="2770632"/>
            <a:ext cx="3840480" cy="219456"/>
          </a:xfrm>
          <a:prstGeom prst="rect">
            <a:avLst/>
          </a:prstGeom>
          <a:noFill/>
        </p:spPr>
        <p:txBody>
          <a:bodyPr wrap="square">
            <a:spAutoFit/>
          </a:bodyPr>
          <a:lstStyle/>
          <a:p>
            <a:pPr algn="l"/>
            <a:r>
              <a:rPr sz="900" b="0">
                <a:solidFill>
                  <a:srgbClr val="A0AEC0"/>
                </a:solidFill>
              </a:rPr>
              <a:t>Stacking</a:t>
            </a:r>
          </a:p>
        </p:txBody>
      </p:sp>
      <p:sp>
        <p:nvSpPr>
          <p:cNvPr id="61" name="Rectangle 60"/>
          <p:cNvSpPr/>
          <p:nvPr/>
        </p:nvSpPr>
        <p:spPr>
          <a:xfrm>
            <a:off x="1188720" y="5230368"/>
            <a:ext cx="10698480" cy="731520"/>
          </a:xfrm>
          <a:prstGeom prst="rect">
            <a:avLst/>
          </a:prstGeom>
          <a:solidFill>
            <a:srgbClr val="EFF6FF"/>
          </a:solidFill>
          <a:ln w="12700">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325880" y="5276088"/>
            <a:ext cx="10424160" cy="640080"/>
          </a:xfrm>
          <a:prstGeom prst="rect">
            <a:avLst/>
          </a:prstGeom>
          <a:noFill/>
        </p:spPr>
        <p:txBody>
          <a:bodyPr wrap="square">
            <a:spAutoFit/>
          </a:bodyPr>
          <a:lstStyle/>
          <a:p>
            <a:pPr algn="l"/>
            <a:r>
              <a:rPr sz="900" b="0">
                <a:solidFill>
                  <a:srgbClr val="002A55"/>
                </a:solidFill>
              </a:rPr>
              <a:t>RQ coverage of the 6 selected models:
  RQ1 (Classical vs Deep):  SVM, Decision Tree, Random Forest  vs  MLP
  RQ2 (Multimodal fusion):  Late Fusion  →  modality ablation study
  RQ3 (Workflow patterns):  Voting Ensemble output feeds workflow-level LSTM</a:t>
            </a:r>
          </a:p>
        </p:txBody>
      </p:sp>
      <p:sp>
        <p:nvSpPr>
          <p:cNvPr id="63" name="Rectangle 62"/>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image.png"/>
          <p:cNvPicPr>
            <a:picLocks noChangeAspect="1"/>
          </p:cNvPicPr>
          <p:nvPr/>
        </p:nvPicPr>
        <p:blipFill>
          <a:blip r:embed="rId2"/>
          <a:stretch>
            <a:fillRect/>
          </a:stretch>
        </p:blipFill>
        <p:spPr>
          <a:xfrm>
            <a:off x="9555480" y="82296"/>
            <a:ext cx="2514600" cy="5852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3D7C"/>
        </a:solidFill>
        <a:effectLst/>
      </p:bgPr>
    </p:bg>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91440"/>
            <a:ext cx="8686800" cy="640080"/>
          </a:xfrm>
          <a:prstGeom prst="rect">
            <a:avLst/>
          </a:prstGeom>
          <a:noFill/>
        </p:spPr>
        <p:txBody>
          <a:bodyPr wrap="square">
            <a:spAutoFit/>
          </a:bodyPr>
          <a:lstStyle/>
          <a:p>
            <a:pPr algn="l">
              <a:defRPr sz="3200" b="1">
                <a:solidFill>
                  <a:srgbClr val="FFFFFF"/>
                </a:solidFill>
                <a:latin typeface="Calibri"/>
              </a:defRPr>
            </a:pPr>
            <a:r>
              <a:t>Tier 1 — Random Forest &amp; Decision Tree</a:t>
            </a:r>
          </a:p>
        </p:txBody>
      </p:sp>
      <p:sp>
        <p:nvSpPr>
          <p:cNvPr id="7" name="TextBox 6"/>
          <p:cNvSpPr txBox="1"/>
          <p:nvPr/>
        </p:nvSpPr>
        <p:spPr>
          <a:xfrm>
            <a:off x="1188720" y="594360"/>
            <a:ext cx="8686800" cy="457200"/>
          </a:xfrm>
          <a:prstGeom prst="rect">
            <a:avLst/>
          </a:prstGeom>
          <a:noFill/>
        </p:spPr>
        <p:txBody>
          <a:bodyPr wrap="square">
            <a:spAutoFit/>
          </a:bodyPr>
          <a:lstStyle/>
          <a:p>
            <a:pPr algn="l">
              <a:defRPr sz="2000" b="0">
                <a:solidFill>
                  <a:srgbClr val="FFFFFF"/>
                </a:solidFill>
                <a:latin typeface="Calibri"/>
              </a:defRPr>
            </a:pPr>
            <a:r>
              <a:t>Random Forest (bagging) vs. Decision Tree (single interpretable tree)</a:t>
            </a:r>
          </a:p>
        </p:txBody>
      </p:sp>
      <p:sp>
        <p:nvSpPr>
          <p:cNvPr id="8" name="Rectangle 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0" name="Rounded Rectangle 9"/>
          <p:cNvSpPr/>
          <p:nvPr/>
        </p:nvSpPr>
        <p:spPr>
          <a:xfrm>
            <a:off x="1275808" y="1417320"/>
            <a:ext cx="420624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defRPr>
            </a:pPr>
            <a:r>
              <a:t>Random Forest — Bagging (Bootstrap Aggregation)</a:t>
            </a:r>
          </a:p>
        </p:txBody>
      </p:sp>
      <p:sp>
        <p:nvSpPr>
          <p:cNvPr id="11" name="Rounded Rectangle 10"/>
          <p:cNvSpPr/>
          <p:nvPr/>
        </p:nvSpPr>
        <p:spPr>
          <a:xfrm>
            <a:off x="1275808" y="1737360"/>
            <a:ext cx="4206240" cy="347472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412968" y="1828800"/>
            <a:ext cx="3931920" cy="228600"/>
          </a:xfrm>
          <a:prstGeom prst="rect">
            <a:avLst/>
          </a:prstGeom>
          <a:noFill/>
        </p:spPr>
        <p:txBody>
          <a:bodyPr wrap="square">
            <a:spAutoFit/>
          </a:bodyPr>
          <a:lstStyle/>
          <a:p>
            <a:pPr algn="l">
              <a:defRPr sz="1100" b="0">
                <a:solidFill>
                  <a:srgbClr val="002A55"/>
                </a:solidFill>
                <a:latin typeface="Calibri"/>
              </a:defRPr>
            </a:pPr>
            <a:r>
              <a:t>100 decision trees, each trained on a</a:t>
            </a:r>
          </a:p>
        </p:txBody>
      </p:sp>
      <p:sp>
        <p:nvSpPr>
          <p:cNvPr id="13" name="TextBox 12"/>
          <p:cNvSpPr txBox="1"/>
          <p:nvPr/>
        </p:nvSpPr>
        <p:spPr>
          <a:xfrm>
            <a:off x="1412968" y="2075688"/>
            <a:ext cx="3931920" cy="228600"/>
          </a:xfrm>
          <a:prstGeom prst="rect">
            <a:avLst/>
          </a:prstGeom>
          <a:noFill/>
        </p:spPr>
        <p:txBody>
          <a:bodyPr wrap="square">
            <a:spAutoFit/>
          </a:bodyPr>
          <a:lstStyle/>
          <a:p>
            <a:pPr algn="l">
              <a:defRPr sz="1100" b="0">
                <a:solidFill>
                  <a:srgbClr val="002A55"/>
                </a:solidFill>
                <a:latin typeface="Calibri"/>
              </a:defRPr>
            </a:pPr>
            <a:r>
              <a:t>random bootstrap sample (sampling with replacement).</a:t>
            </a:r>
          </a:p>
        </p:txBody>
      </p:sp>
      <p:sp>
        <p:nvSpPr>
          <p:cNvPr id="14" name="TextBox 13"/>
          <p:cNvSpPr txBox="1"/>
          <p:nvPr/>
        </p:nvSpPr>
        <p:spPr>
          <a:xfrm>
            <a:off x="1412968" y="2322576"/>
            <a:ext cx="3931920" cy="228600"/>
          </a:xfrm>
          <a:prstGeom prst="rect">
            <a:avLst/>
          </a:prstGeom>
          <a:noFill/>
        </p:spPr>
        <p:txBody>
          <a:bodyPr wrap="square">
            <a:spAutoFit/>
          </a:bodyPr>
          <a:lstStyle/>
          <a:p>
            <a:pPr algn="l">
              <a:defRPr sz="1100" b="0">
                <a:solidFill>
                  <a:srgbClr val="002A55"/>
                </a:solidFill>
                <a:latin typeface="Calibri"/>
              </a:defRPr>
            </a:pPr>
            <a:endParaRPr/>
          </a:p>
        </p:txBody>
      </p:sp>
      <p:sp>
        <p:nvSpPr>
          <p:cNvPr id="15" name="TextBox 14"/>
          <p:cNvSpPr txBox="1"/>
          <p:nvPr/>
        </p:nvSpPr>
        <p:spPr>
          <a:xfrm>
            <a:off x="1412968" y="2569464"/>
            <a:ext cx="3931920" cy="228600"/>
          </a:xfrm>
          <a:prstGeom prst="rect">
            <a:avLst/>
          </a:prstGeom>
          <a:noFill/>
        </p:spPr>
        <p:txBody>
          <a:bodyPr wrap="square">
            <a:spAutoFit/>
          </a:bodyPr>
          <a:lstStyle/>
          <a:p>
            <a:pPr algn="l">
              <a:defRPr sz="1100" b="0">
                <a:solidFill>
                  <a:srgbClr val="002A55"/>
                </a:solidFill>
                <a:latin typeface="Calibri"/>
              </a:defRPr>
            </a:pPr>
            <a:r>
              <a:t>At each split: only √1391 ≈ 37 random features</a:t>
            </a:r>
          </a:p>
        </p:txBody>
      </p:sp>
      <p:sp>
        <p:nvSpPr>
          <p:cNvPr id="16" name="TextBox 15"/>
          <p:cNvSpPr txBox="1"/>
          <p:nvPr/>
        </p:nvSpPr>
        <p:spPr>
          <a:xfrm>
            <a:off x="1412968" y="2816352"/>
            <a:ext cx="3931920" cy="228600"/>
          </a:xfrm>
          <a:prstGeom prst="rect">
            <a:avLst/>
          </a:prstGeom>
          <a:noFill/>
        </p:spPr>
        <p:txBody>
          <a:bodyPr wrap="square">
            <a:spAutoFit/>
          </a:bodyPr>
          <a:lstStyle/>
          <a:p>
            <a:pPr algn="l">
              <a:defRPr sz="1100" b="0">
                <a:solidFill>
                  <a:srgbClr val="002A55"/>
                </a:solidFill>
                <a:latin typeface="Calibri"/>
              </a:defRPr>
            </a:pPr>
            <a:r>
              <a:t>are considered → decorrelates the trees.</a:t>
            </a:r>
          </a:p>
        </p:txBody>
      </p:sp>
      <p:sp>
        <p:nvSpPr>
          <p:cNvPr id="17" name="TextBox 16"/>
          <p:cNvSpPr txBox="1"/>
          <p:nvPr/>
        </p:nvSpPr>
        <p:spPr>
          <a:xfrm>
            <a:off x="1412968" y="3063240"/>
            <a:ext cx="3931920" cy="228600"/>
          </a:xfrm>
          <a:prstGeom prst="rect">
            <a:avLst/>
          </a:prstGeom>
          <a:noFill/>
        </p:spPr>
        <p:txBody>
          <a:bodyPr wrap="square">
            <a:spAutoFit/>
          </a:bodyPr>
          <a:lstStyle/>
          <a:p>
            <a:pPr algn="l">
              <a:defRPr sz="1100" b="0">
                <a:solidFill>
                  <a:srgbClr val="002A55"/>
                </a:solidFill>
                <a:latin typeface="Calibri"/>
              </a:defRPr>
            </a:pPr>
            <a:endParaRPr/>
          </a:p>
        </p:txBody>
      </p:sp>
      <p:sp>
        <p:nvSpPr>
          <p:cNvPr id="18" name="TextBox 17"/>
          <p:cNvSpPr txBox="1"/>
          <p:nvPr/>
        </p:nvSpPr>
        <p:spPr>
          <a:xfrm>
            <a:off x="1412968" y="3310128"/>
            <a:ext cx="3931920" cy="228600"/>
          </a:xfrm>
          <a:prstGeom prst="rect">
            <a:avLst/>
          </a:prstGeom>
          <a:noFill/>
        </p:spPr>
        <p:txBody>
          <a:bodyPr wrap="square">
            <a:spAutoFit/>
          </a:bodyPr>
          <a:lstStyle/>
          <a:p>
            <a:pPr algn="l">
              <a:defRPr sz="1100" b="0">
                <a:solidFill>
                  <a:srgbClr val="002A55"/>
                </a:solidFill>
                <a:latin typeface="Calibri"/>
              </a:defRPr>
            </a:pPr>
            <a:r>
              <a:t>Prediction = majority vote of 100 trees:</a:t>
            </a:r>
          </a:p>
        </p:txBody>
      </p:sp>
      <p:sp>
        <p:nvSpPr>
          <p:cNvPr id="19" name="TextBox 18"/>
          <p:cNvSpPr txBox="1"/>
          <p:nvPr/>
        </p:nvSpPr>
        <p:spPr>
          <a:xfrm>
            <a:off x="1412968" y="3557016"/>
            <a:ext cx="3931920" cy="228600"/>
          </a:xfrm>
          <a:prstGeom prst="rect">
            <a:avLst/>
          </a:prstGeom>
          <a:noFill/>
        </p:spPr>
        <p:txBody>
          <a:bodyPr wrap="square">
            <a:spAutoFit/>
          </a:bodyPr>
          <a:lstStyle/>
          <a:p>
            <a:pPr algn="l">
              <a:defRPr sz="1100" b="0">
                <a:solidFill>
                  <a:srgbClr val="002A55"/>
                </a:solidFill>
                <a:latin typeface="Calibri"/>
              </a:defRPr>
            </a:pPr>
            <a:r>
              <a:t>  ŷ = mode { T₁(x), T₂(x), ..., T₁₀₀(x) }</a:t>
            </a:r>
          </a:p>
        </p:txBody>
      </p:sp>
      <p:sp>
        <p:nvSpPr>
          <p:cNvPr id="20" name="TextBox 19"/>
          <p:cNvSpPr txBox="1"/>
          <p:nvPr/>
        </p:nvSpPr>
        <p:spPr>
          <a:xfrm>
            <a:off x="1412968" y="3803904"/>
            <a:ext cx="3931920" cy="228600"/>
          </a:xfrm>
          <a:prstGeom prst="rect">
            <a:avLst/>
          </a:prstGeom>
          <a:noFill/>
        </p:spPr>
        <p:txBody>
          <a:bodyPr wrap="square">
            <a:spAutoFit/>
          </a:bodyPr>
          <a:lstStyle/>
          <a:p>
            <a:pPr algn="l">
              <a:defRPr sz="1100" b="0">
                <a:solidFill>
                  <a:srgbClr val="002A55"/>
                </a:solidFill>
                <a:latin typeface="Calibri"/>
              </a:defRPr>
            </a:pPr>
            <a:endParaRPr/>
          </a:p>
        </p:txBody>
      </p:sp>
      <p:sp>
        <p:nvSpPr>
          <p:cNvPr id="21" name="TextBox 20"/>
          <p:cNvSpPr txBox="1"/>
          <p:nvPr/>
        </p:nvSpPr>
        <p:spPr>
          <a:xfrm>
            <a:off x="1412968" y="4050791"/>
            <a:ext cx="3931920" cy="228600"/>
          </a:xfrm>
          <a:prstGeom prst="rect">
            <a:avLst/>
          </a:prstGeom>
          <a:noFill/>
        </p:spPr>
        <p:txBody>
          <a:bodyPr wrap="square">
            <a:spAutoFit/>
          </a:bodyPr>
          <a:lstStyle/>
          <a:p>
            <a:pPr algn="l">
              <a:defRPr sz="1100" b="1">
                <a:solidFill>
                  <a:srgbClr val="003D7C"/>
                </a:solidFill>
                <a:latin typeface="Calibri"/>
              </a:defRPr>
            </a:pPr>
            <a:r>
              <a:t>Gini Impurity (split criterion):</a:t>
            </a:r>
          </a:p>
        </p:txBody>
      </p:sp>
      <p:sp>
        <p:nvSpPr>
          <p:cNvPr id="22" name="TextBox 21"/>
          <p:cNvSpPr txBox="1"/>
          <p:nvPr/>
        </p:nvSpPr>
        <p:spPr>
          <a:xfrm>
            <a:off x="1412968" y="4297680"/>
            <a:ext cx="3931920" cy="228600"/>
          </a:xfrm>
          <a:prstGeom prst="rect">
            <a:avLst/>
          </a:prstGeom>
          <a:noFill/>
        </p:spPr>
        <p:txBody>
          <a:bodyPr wrap="square">
            <a:spAutoFit/>
          </a:bodyPr>
          <a:lstStyle/>
          <a:p>
            <a:pPr algn="l">
              <a:defRPr sz="1100" b="0">
                <a:solidFill>
                  <a:srgbClr val="002A55"/>
                </a:solidFill>
                <a:latin typeface="Calibri"/>
              </a:defRPr>
            </a:pPr>
            <a:r>
              <a:t>  Gini = 1 − Σ pᵢ²</a:t>
            </a:r>
          </a:p>
        </p:txBody>
      </p:sp>
      <p:sp>
        <p:nvSpPr>
          <p:cNvPr id="23" name="TextBox 22"/>
          <p:cNvSpPr txBox="1"/>
          <p:nvPr/>
        </p:nvSpPr>
        <p:spPr>
          <a:xfrm>
            <a:off x="1412968" y="4544568"/>
            <a:ext cx="3931920" cy="228600"/>
          </a:xfrm>
          <a:prstGeom prst="rect">
            <a:avLst/>
          </a:prstGeom>
          <a:noFill/>
        </p:spPr>
        <p:txBody>
          <a:bodyPr wrap="square">
            <a:spAutoFit/>
          </a:bodyPr>
          <a:lstStyle/>
          <a:p>
            <a:pPr algn="l">
              <a:defRPr sz="1100" b="0">
                <a:solidFill>
                  <a:srgbClr val="002A55"/>
                </a:solidFill>
                <a:latin typeface="Calibri"/>
              </a:defRPr>
            </a:pPr>
            <a:endParaRPr/>
          </a:p>
        </p:txBody>
      </p:sp>
      <p:sp>
        <p:nvSpPr>
          <p:cNvPr id="24" name="TextBox 23"/>
          <p:cNvSpPr txBox="1"/>
          <p:nvPr/>
        </p:nvSpPr>
        <p:spPr>
          <a:xfrm>
            <a:off x="1412968" y="4791456"/>
            <a:ext cx="3931920" cy="228600"/>
          </a:xfrm>
          <a:prstGeom prst="rect">
            <a:avLst/>
          </a:prstGeom>
          <a:noFill/>
        </p:spPr>
        <p:txBody>
          <a:bodyPr wrap="square">
            <a:spAutoFit/>
          </a:bodyPr>
          <a:lstStyle/>
          <a:p>
            <a:pPr algn="l">
              <a:defRPr sz="1100" b="1">
                <a:solidFill>
                  <a:srgbClr val="003D7C"/>
                </a:solidFill>
                <a:latin typeface="Calibri"/>
              </a:defRPr>
            </a:pPr>
            <a:r>
              <a:t>v3b:  F1 0.841 | Accuracy 0.855 | 0.8 s train</a:t>
            </a:r>
          </a:p>
        </p:txBody>
      </p:sp>
      <p:sp>
        <p:nvSpPr>
          <p:cNvPr id="26" name="Rounded Rectangle 25"/>
          <p:cNvSpPr/>
          <p:nvPr/>
        </p:nvSpPr>
        <p:spPr>
          <a:xfrm>
            <a:off x="5756368" y="1737360"/>
            <a:ext cx="4206240" cy="347472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893528" y="2322576"/>
            <a:ext cx="3931920" cy="228600"/>
          </a:xfrm>
          <a:prstGeom prst="rect">
            <a:avLst/>
          </a:prstGeom>
          <a:noFill/>
        </p:spPr>
        <p:txBody>
          <a:bodyPr wrap="square">
            <a:spAutoFit/>
          </a:bodyPr>
          <a:lstStyle/>
          <a:p>
            <a:pPr algn="l">
              <a:defRPr sz="1100" b="0">
                <a:solidFill>
                  <a:srgbClr val="002A55"/>
                </a:solidFill>
                <a:latin typeface="Calibri"/>
              </a:defRPr>
            </a:pPr>
            <a:r>
              <a:t>of all previous trees.</a:t>
            </a:r>
          </a:p>
        </p:txBody>
      </p:sp>
      <p:sp>
        <p:nvSpPr>
          <p:cNvPr id="30" name="TextBox 29"/>
          <p:cNvSpPr txBox="1"/>
          <p:nvPr/>
        </p:nvSpPr>
        <p:spPr>
          <a:xfrm>
            <a:off x="5893528" y="2569464"/>
            <a:ext cx="3931920" cy="228600"/>
          </a:xfrm>
          <a:prstGeom prst="rect">
            <a:avLst/>
          </a:prstGeom>
          <a:noFill/>
        </p:spPr>
        <p:txBody>
          <a:bodyPr wrap="square">
            <a:spAutoFit/>
          </a:bodyPr>
          <a:lstStyle/>
          <a:p>
            <a:pPr algn="l">
              <a:defRPr sz="1100" b="0">
                <a:solidFill>
                  <a:srgbClr val="002A55"/>
                </a:solidFill>
                <a:latin typeface="Calibri"/>
              </a:defRPr>
            </a:pPr>
            <a:endParaRPr/>
          </a:p>
        </p:txBody>
      </p:sp>
      <p:sp>
        <p:nvSpPr>
          <p:cNvPr id="34" name="TextBox 33"/>
          <p:cNvSpPr txBox="1"/>
          <p:nvPr/>
        </p:nvSpPr>
        <p:spPr>
          <a:xfrm>
            <a:off x="5893528" y="3557016"/>
            <a:ext cx="3931920" cy="228600"/>
          </a:xfrm>
          <a:prstGeom prst="rect">
            <a:avLst/>
          </a:prstGeom>
          <a:noFill/>
        </p:spPr>
        <p:txBody>
          <a:bodyPr wrap="square">
            <a:spAutoFit/>
          </a:bodyPr>
          <a:lstStyle/>
          <a:p>
            <a:pPr algn="l">
              <a:defRPr sz="1100" b="0">
                <a:solidFill>
                  <a:srgbClr val="002A55"/>
                </a:solidFill>
                <a:latin typeface="Calibri"/>
              </a:defRPr>
            </a:pPr>
            <a:endParaRPr/>
          </a:p>
        </p:txBody>
      </p:sp>
      <p:sp>
        <p:nvSpPr>
          <p:cNvPr id="38" name="TextBox 37"/>
          <p:cNvSpPr txBox="1"/>
          <p:nvPr/>
        </p:nvSpPr>
        <p:spPr>
          <a:xfrm>
            <a:off x="5893528" y="4544568"/>
            <a:ext cx="3931920" cy="228600"/>
          </a:xfrm>
          <a:prstGeom prst="rect">
            <a:avLst/>
          </a:prstGeom>
          <a:noFill/>
        </p:spPr>
        <p:txBody>
          <a:bodyPr wrap="square">
            <a:spAutoFit/>
          </a:bodyPr>
          <a:lstStyle/>
          <a:p>
            <a:pPr algn="l">
              <a:defRPr sz="1100" b="0">
                <a:solidFill>
                  <a:srgbClr val="002A55"/>
                </a:solidFill>
                <a:latin typeface="Calibri"/>
              </a:defRPr>
            </a:pPr>
            <a:endParaRPr/>
          </a:p>
        </p:txBody>
      </p:sp>
      <p:sp>
        <p:nvSpPr>
          <p:cNvPr id="40" name="Rectangle 39"/>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42" name="Rectangle 41"/>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nus_iss_logo_transparent.png"/>
          <p:cNvPicPr>
            <a:picLocks noChangeAspect="1"/>
          </p:cNvPicPr>
          <p:nvPr/>
        </p:nvPicPr>
        <p:blipFill>
          <a:blip r:embed="rId2"/>
          <a:stretch>
            <a:fillRect/>
          </a:stretch>
        </p:blipFill>
        <p:spPr>
          <a:xfrm>
            <a:off x="9555480" y="82296"/>
            <a:ext cx="2514600" cy="585216"/>
          </a:xfrm>
          <a:prstGeom prst="rect">
            <a:avLst/>
          </a:prstGeom>
        </p:spPr>
      </p:pic>
      <p:sp>
        <p:nvSpPr>
          <p:cNvPr id="44" name="Rectangle 43"/>
          <p:cNvSpPr/>
          <p:nvPr/>
        </p:nvSpPr>
        <p:spPr>
          <a:xfrm>
            <a:off x="5760720" y="1417320"/>
            <a:ext cx="4206240" cy="32004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760720" y="1417320"/>
            <a:ext cx="4206240" cy="320040"/>
          </a:xfrm>
          <a:prstGeom prst="rect">
            <a:avLst/>
          </a:prstGeom>
          <a:noFill/>
        </p:spPr>
        <p:txBody>
          <a:bodyPr wrap="square">
            <a:spAutoFit/>
          </a:bodyPr>
          <a:lstStyle/>
          <a:p>
            <a:pPr algn="ctr"/>
            <a:r>
              <a:rPr sz="1000" b="1">
                <a:solidFill>
                  <a:srgbClr val="FFFFFF"/>
                </a:solidFill>
              </a:rPr>
              <a:t>Decision Tree</a:t>
            </a:r>
          </a:p>
        </p:txBody>
      </p:sp>
      <p:sp>
        <p:nvSpPr>
          <p:cNvPr id="46" name="Rectangle 45"/>
          <p:cNvSpPr/>
          <p:nvPr/>
        </p:nvSpPr>
        <p:spPr>
          <a:xfrm>
            <a:off x="5760720" y="1737360"/>
            <a:ext cx="4206240" cy="3474720"/>
          </a:xfrm>
          <a:prstGeom prst="rect">
            <a:avLst/>
          </a:prstGeom>
          <a:solidFill>
            <a:srgbClr val="E8F4FD"/>
          </a:solidFill>
          <a:ln w="10160">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897880" y="1828800"/>
            <a:ext cx="3931920" cy="228600"/>
          </a:xfrm>
          <a:prstGeom prst="rect">
            <a:avLst/>
          </a:prstGeom>
          <a:noFill/>
        </p:spPr>
        <p:txBody>
          <a:bodyPr wrap="square">
            <a:spAutoFit/>
          </a:bodyPr>
          <a:lstStyle/>
          <a:p>
            <a:pPr algn="l"/>
            <a:r>
              <a:rPr sz="900" b="0">
                <a:solidFill>
                  <a:srgbClr val="002A55"/>
                </a:solidFill>
              </a:rPr>
              <a:t>Single tree via recursive binary splitting.</a:t>
            </a:r>
          </a:p>
        </p:txBody>
      </p:sp>
      <p:sp>
        <p:nvSpPr>
          <p:cNvPr id="48" name="TextBox 47"/>
          <p:cNvSpPr txBox="1"/>
          <p:nvPr/>
        </p:nvSpPr>
        <p:spPr>
          <a:xfrm>
            <a:off x="5897880" y="2057400"/>
            <a:ext cx="3931920" cy="228600"/>
          </a:xfrm>
          <a:prstGeom prst="rect">
            <a:avLst/>
          </a:prstGeom>
          <a:noFill/>
        </p:spPr>
        <p:txBody>
          <a:bodyPr wrap="square">
            <a:spAutoFit/>
          </a:bodyPr>
          <a:lstStyle/>
          <a:p>
            <a:pPr algn="l"/>
            <a:r>
              <a:rPr sz="900" b="0">
                <a:solidFill>
                  <a:srgbClr val="002A55"/>
                </a:solidFill>
              </a:rPr>
              <a:t/>
            </a:r>
          </a:p>
        </p:txBody>
      </p:sp>
      <p:sp>
        <p:nvSpPr>
          <p:cNvPr id="49" name="TextBox 48"/>
          <p:cNvSpPr txBox="1"/>
          <p:nvPr/>
        </p:nvSpPr>
        <p:spPr>
          <a:xfrm>
            <a:off x="5897880" y="2286000"/>
            <a:ext cx="3931920" cy="228600"/>
          </a:xfrm>
          <a:prstGeom prst="rect">
            <a:avLst/>
          </a:prstGeom>
          <a:noFill/>
        </p:spPr>
        <p:txBody>
          <a:bodyPr wrap="square">
            <a:spAutoFit/>
          </a:bodyPr>
          <a:lstStyle/>
          <a:p>
            <a:pPr algn="l"/>
            <a:r>
              <a:rPr sz="900" b="0">
                <a:solidFill>
                  <a:srgbClr val="002A55"/>
                </a:solidFill>
              </a:rPr>
              <a:t>Split criterion — Gini Impurity:</a:t>
            </a:r>
          </a:p>
        </p:txBody>
      </p:sp>
      <p:sp>
        <p:nvSpPr>
          <p:cNvPr id="50" name="TextBox 49"/>
          <p:cNvSpPr txBox="1"/>
          <p:nvPr/>
        </p:nvSpPr>
        <p:spPr>
          <a:xfrm>
            <a:off x="5897880" y="2514600"/>
            <a:ext cx="3931920" cy="228600"/>
          </a:xfrm>
          <a:prstGeom prst="rect">
            <a:avLst/>
          </a:prstGeom>
          <a:noFill/>
        </p:spPr>
        <p:txBody>
          <a:bodyPr wrap="square">
            <a:spAutoFit/>
          </a:bodyPr>
          <a:lstStyle/>
          <a:p>
            <a:pPr algn="l"/>
            <a:r>
              <a:rPr sz="900" b="0">
                <a:solidFill>
                  <a:srgbClr val="EF7C00"/>
                </a:solidFill>
              </a:rPr>
              <a:t>  Gini(t) = 1 − Σ pᵢ²</a:t>
            </a:r>
          </a:p>
        </p:txBody>
      </p:sp>
      <p:sp>
        <p:nvSpPr>
          <p:cNvPr id="51" name="TextBox 50"/>
          <p:cNvSpPr txBox="1"/>
          <p:nvPr/>
        </p:nvSpPr>
        <p:spPr>
          <a:xfrm>
            <a:off x="5897880" y="2743200"/>
            <a:ext cx="3931920" cy="228600"/>
          </a:xfrm>
          <a:prstGeom prst="rect">
            <a:avLst/>
          </a:prstGeom>
          <a:noFill/>
        </p:spPr>
        <p:txBody>
          <a:bodyPr wrap="square">
            <a:spAutoFit/>
          </a:bodyPr>
          <a:lstStyle/>
          <a:p>
            <a:pPr algn="l"/>
            <a:r>
              <a:rPr sz="900" b="0">
                <a:solidFill>
                  <a:srgbClr val="002A55"/>
                </a:solidFill>
              </a:rPr>
              <a:t>  Pick feature + threshold that minimises</a:t>
            </a:r>
          </a:p>
        </p:txBody>
      </p:sp>
      <p:sp>
        <p:nvSpPr>
          <p:cNvPr id="52" name="TextBox 51"/>
          <p:cNvSpPr txBox="1"/>
          <p:nvPr/>
        </p:nvSpPr>
        <p:spPr>
          <a:xfrm>
            <a:off x="5897880" y="2971800"/>
            <a:ext cx="3931920" cy="228600"/>
          </a:xfrm>
          <a:prstGeom prst="rect">
            <a:avLst/>
          </a:prstGeom>
          <a:noFill/>
        </p:spPr>
        <p:txBody>
          <a:bodyPr wrap="square">
            <a:spAutoFit/>
          </a:bodyPr>
          <a:lstStyle/>
          <a:p>
            <a:pPr algn="l"/>
            <a:r>
              <a:rPr sz="900" b="0">
                <a:solidFill>
                  <a:srgbClr val="002A55"/>
                </a:solidFill>
              </a:rPr>
              <a:t>  weighted Gini of the two child nodes.</a:t>
            </a:r>
          </a:p>
        </p:txBody>
      </p:sp>
      <p:sp>
        <p:nvSpPr>
          <p:cNvPr id="53" name="TextBox 52"/>
          <p:cNvSpPr txBox="1"/>
          <p:nvPr/>
        </p:nvSpPr>
        <p:spPr>
          <a:xfrm>
            <a:off x="5897880" y="3200400"/>
            <a:ext cx="3931920" cy="228600"/>
          </a:xfrm>
          <a:prstGeom prst="rect">
            <a:avLst/>
          </a:prstGeom>
          <a:noFill/>
        </p:spPr>
        <p:txBody>
          <a:bodyPr wrap="square">
            <a:spAutoFit/>
          </a:bodyPr>
          <a:lstStyle/>
          <a:p>
            <a:pPr algn="l"/>
            <a:r>
              <a:rPr sz="900" b="0">
                <a:solidFill>
                  <a:srgbClr val="002A55"/>
                </a:solidFill>
              </a:rPr>
              <a:t/>
            </a:r>
          </a:p>
        </p:txBody>
      </p:sp>
      <p:sp>
        <p:nvSpPr>
          <p:cNvPr id="54" name="TextBox 53"/>
          <p:cNvSpPr txBox="1"/>
          <p:nvPr/>
        </p:nvSpPr>
        <p:spPr>
          <a:xfrm>
            <a:off x="5897880" y="3429000"/>
            <a:ext cx="3931920" cy="228600"/>
          </a:xfrm>
          <a:prstGeom prst="rect">
            <a:avLst/>
          </a:prstGeom>
          <a:noFill/>
        </p:spPr>
        <p:txBody>
          <a:bodyPr wrap="square">
            <a:spAutoFit/>
          </a:bodyPr>
          <a:lstStyle/>
          <a:p>
            <a:pPr algn="l"/>
            <a:r>
              <a:rPr sz="900" b="0">
                <a:solidFill>
                  <a:srgbClr val="002A55"/>
                </a:solidFill>
              </a:rPr>
              <a:t>Greedy top-down growth; no pruning.</a:t>
            </a:r>
          </a:p>
        </p:txBody>
      </p:sp>
      <p:sp>
        <p:nvSpPr>
          <p:cNvPr id="55" name="TextBox 54"/>
          <p:cNvSpPr txBox="1"/>
          <p:nvPr/>
        </p:nvSpPr>
        <p:spPr>
          <a:xfrm>
            <a:off x="5897880" y="3657600"/>
            <a:ext cx="3931920" cy="228600"/>
          </a:xfrm>
          <a:prstGeom prst="rect">
            <a:avLst/>
          </a:prstGeom>
          <a:noFill/>
        </p:spPr>
        <p:txBody>
          <a:bodyPr wrap="square">
            <a:spAutoFit/>
          </a:bodyPr>
          <a:lstStyle/>
          <a:p>
            <a:pPr algn="l"/>
            <a:r>
              <a:rPr sz="900" b="0">
                <a:solidFill>
                  <a:srgbClr val="002A55"/>
                </a:solidFill>
              </a:rPr>
              <a:t>Low bias, high variance — overfits on</a:t>
            </a:r>
          </a:p>
        </p:txBody>
      </p:sp>
      <p:sp>
        <p:nvSpPr>
          <p:cNvPr id="56" name="TextBox 55"/>
          <p:cNvSpPr txBox="1"/>
          <p:nvPr/>
        </p:nvSpPr>
        <p:spPr>
          <a:xfrm>
            <a:off x="5897880" y="3886200"/>
            <a:ext cx="3931920" cy="228600"/>
          </a:xfrm>
          <a:prstGeom prst="rect">
            <a:avLst/>
          </a:prstGeom>
          <a:noFill/>
        </p:spPr>
        <p:txBody>
          <a:bodyPr wrap="square">
            <a:spAutoFit/>
          </a:bodyPr>
          <a:lstStyle/>
          <a:p>
            <a:pPr algn="l"/>
            <a:r>
              <a:rPr sz="900" b="0">
                <a:solidFill>
                  <a:srgbClr val="002A55"/>
                </a:solidFill>
              </a:rPr>
              <a:t>small datasets.</a:t>
            </a:r>
          </a:p>
        </p:txBody>
      </p:sp>
      <p:sp>
        <p:nvSpPr>
          <p:cNvPr id="57" name="TextBox 56"/>
          <p:cNvSpPr txBox="1"/>
          <p:nvPr/>
        </p:nvSpPr>
        <p:spPr>
          <a:xfrm>
            <a:off x="5897880" y="4114800"/>
            <a:ext cx="3931920" cy="228600"/>
          </a:xfrm>
          <a:prstGeom prst="rect">
            <a:avLst/>
          </a:prstGeom>
          <a:noFill/>
        </p:spPr>
        <p:txBody>
          <a:bodyPr wrap="square">
            <a:spAutoFit/>
          </a:bodyPr>
          <a:lstStyle/>
          <a:p>
            <a:pPr algn="l"/>
            <a:r>
              <a:rPr sz="900" b="0">
                <a:solidFill>
                  <a:srgbClr val="002A55"/>
                </a:solidFill>
              </a:rPr>
              <a:t/>
            </a:r>
          </a:p>
        </p:txBody>
      </p:sp>
      <p:sp>
        <p:nvSpPr>
          <p:cNvPr id="58" name="TextBox 57"/>
          <p:cNvSpPr txBox="1"/>
          <p:nvPr/>
        </p:nvSpPr>
        <p:spPr>
          <a:xfrm>
            <a:off x="5897880" y="4343400"/>
            <a:ext cx="3931920" cy="228600"/>
          </a:xfrm>
          <a:prstGeom prst="rect">
            <a:avLst/>
          </a:prstGeom>
          <a:noFill/>
        </p:spPr>
        <p:txBody>
          <a:bodyPr wrap="square">
            <a:spAutoFit/>
          </a:bodyPr>
          <a:lstStyle/>
          <a:p>
            <a:pPr algn="l"/>
            <a:r>
              <a:rPr sz="900" b="0">
                <a:solidFill>
                  <a:srgbClr val="002A55"/>
                </a:solidFill>
              </a:rPr>
              <a:t>Strength: fully interpretable — every</a:t>
            </a:r>
          </a:p>
        </p:txBody>
      </p:sp>
      <p:sp>
        <p:nvSpPr>
          <p:cNvPr id="59" name="TextBox 58"/>
          <p:cNvSpPr txBox="1"/>
          <p:nvPr/>
        </p:nvSpPr>
        <p:spPr>
          <a:xfrm>
            <a:off x="5897880" y="4572000"/>
            <a:ext cx="3931920" cy="228600"/>
          </a:xfrm>
          <a:prstGeom prst="rect">
            <a:avLst/>
          </a:prstGeom>
          <a:noFill/>
        </p:spPr>
        <p:txBody>
          <a:bodyPr wrap="square">
            <a:spAutoFit/>
          </a:bodyPr>
          <a:lstStyle/>
          <a:p>
            <a:pPr algn="l"/>
            <a:r>
              <a:rPr sz="900" b="0">
                <a:solidFill>
                  <a:srgbClr val="002A55"/>
                </a:solidFill>
              </a:rPr>
              <a:t>prediction has an explicit if/else path.</a:t>
            </a:r>
          </a:p>
        </p:txBody>
      </p:sp>
      <p:sp>
        <p:nvSpPr>
          <p:cNvPr id="60" name="TextBox 59"/>
          <p:cNvSpPr txBox="1"/>
          <p:nvPr/>
        </p:nvSpPr>
        <p:spPr>
          <a:xfrm>
            <a:off x="5897880" y="4800600"/>
            <a:ext cx="3931920" cy="228600"/>
          </a:xfrm>
          <a:prstGeom prst="rect">
            <a:avLst/>
          </a:prstGeom>
          <a:noFill/>
        </p:spPr>
        <p:txBody>
          <a:bodyPr wrap="square">
            <a:spAutoFit/>
          </a:bodyPr>
          <a:lstStyle/>
          <a:p>
            <a:pPr algn="l"/>
            <a:r>
              <a:rPr sz="900" b="0">
                <a:solidFill>
                  <a:srgbClr val="002A55"/>
                </a:solidFill>
              </a:rPr>
              <a:t/>
            </a:r>
          </a:p>
        </p:txBody>
      </p:sp>
      <p:sp>
        <p:nvSpPr>
          <p:cNvPr id="61" name="TextBox 60"/>
          <p:cNvSpPr txBox="1"/>
          <p:nvPr/>
        </p:nvSpPr>
        <p:spPr>
          <a:xfrm>
            <a:off x="5897880" y="5029200"/>
            <a:ext cx="3931920" cy="228600"/>
          </a:xfrm>
          <a:prstGeom prst="rect">
            <a:avLst/>
          </a:prstGeom>
          <a:noFill/>
        </p:spPr>
        <p:txBody>
          <a:bodyPr wrap="square">
            <a:spAutoFit/>
          </a:bodyPr>
          <a:lstStyle/>
          <a:p>
            <a:pPr algn="l"/>
            <a:r>
              <a:rPr sz="900" b="0">
                <a:solidFill>
                  <a:srgbClr val="607D8B"/>
                </a:solidFill>
              </a:rPr>
              <a:t>v3b:  F1 0.762 | Accuracy 0.791 | 2 ms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3D7C"/>
        </a:solidFill>
        <a:effectLst/>
      </p:bgPr>
    </p:bg>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91440"/>
            <a:ext cx="8686800" cy="640080"/>
          </a:xfrm>
          <a:prstGeom prst="rect">
            <a:avLst/>
          </a:prstGeom>
          <a:noFill/>
        </p:spPr>
        <p:txBody>
          <a:bodyPr wrap="square">
            <a:spAutoFit/>
          </a:bodyPr>
          <a:lstStyle/>
          <a:p>
            <a:pPr algn="l">
              <a:defRPr sz="3200" b="1">
                <a:solidFill>
                  <a:srgbClr val="FFFFFF"/>
                </a:solidFill>
                <a:latin typeface="Calibri"/>
              </a:defRPr>
            </a:pPr>
            <a:r>
              <a:t>Tier 2 — MLP: Forward Pass &amp; Backpropagation</a:t>
            </a:r>
          </a:p>
        </p:txBody>
      </p:sp>
      <p:sp>
        <p:nvSpPr>
          <p:cNvPr id="7" name="TextBox 6"/>
          <p:cNvSpPr txBox="1"/>
          <p:nvPr/>
        </p:nvSpPr>
        <p:spPr>
          <a:xfrm>
            <a:off x="1188720" y="594360"/>
            <a:ext cx="8686800" cy="457200"/>
          </a:xfrm>
          <a:prstGeom prst="rect">
            <a:avLst/>
          </a:prstGeom>
          <a:noFill/>
        </p:spPr>
        <p:txBody>
          <a:bodyPr wrap="square">
            <a:spAutoFit/>
          </a:bodyPr>
          <a:lstStyle/>
          <a:p>
            <a:pPr algn="l">
              <a:defRPr sz="2000" b="0">
                <a:solidFill>
                  <a:srgbClr val="FFFFFF"/>
                </a:solidFill>
                <a:latin typeface="Calibri"/>
              </a:defRPr>
            </a:pPr>
            <a:r>
              <a:t>Feed-forward neural network: 1,391 inputs → 8 activity class probabilities</a:t>
            </a:r>
          </a:p>
        </p:txBody>
      </p:sp>
      <p:sp>
        <p:nvSpPr>
          <p:cNvPr id="8" name="Rectangle 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0" name="Rounded Rectangle 9"/>
          <p:cNvSpPr/>
          <p:nvPr/>
        </p:nvSpPr>
        <p:spPr>
          <a:xfrm>
            <a:off x="1291046" y="1417320"/>
            <a:ext cx="5029200" cy="3749039"/>
          </a:xfrm>
          <a:prstGeom prst="round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73926" y="1508760"/>
            <a:ext cx="4663440" cy="201168"/>
          </a:xfrm>
          <a:prstGeom prst="rect">
            <a:avLst/>
          </a:prstGeom>
          <a:noFill/>
        </p:spPr>
        <p:txBody>
          <a:bodyPr wrap="square">
            <a:spAutoFit/>
          </a:bodyPr>
          <a:lstStyle/>
          <a:p>
            <a:pPr algn="l">
              <a:defRPr sz="1000" b="1">
                <a:solidFill>
                  <a:srgbClr val="003D7C"/>
                </a:solidFill>
                <a:latin typeface="Calibri"/>
              </a:defRPr>
            </a:pPr>
            <a:r>
              <a:t>Architecture:   1391 → 128 → 128 → 8</a:t>
            </a:r>
          </a:p>
        </p:txBody>
      </p:sp>
      <p:sp>
        <p:nvSpPr>
          <p:cNvPr id="12" name="TextBox 11"/>
          <p:cNvSpPr txBox="1"/>
          <p:nvPr/>
        </p:nvSpPr>
        <p:spPr>
          <a:xfrm>
            <a:off x="1473926" y="1714500"/>
            <a:ext cx="4663440" cy="201168"/>
          </a:xfrm>
          <a:prstGeom prst="rect">
            <a:avLst/>
          </a:prstGeom>
          <a:noFill/>
        </p:spPr>
        <p:txBody>
          <a:bodyPr wrap="square">
            <a:spAutoFit/>
          </a:bodyPr>
          <a:lstStyle/>
          <a:p>
            <a:pPr algn="l">
              <a:defRPr sz="1000" b="0">
                <a:solidFill>
                  <a:srgbClr val="002A55"/>
                </a:solidFill>
                <a:latin typeface="Calibri"/>
              </a:defRPr>
            </a:pPr>
            <a:endParaRPr/>
          </a:p>
        </p:txBody>
      </p:sp>
      <p:sp>
        <p:nvSpPr>
          <p:cNvPr id="13" name="TextBox 12"/>
          <p:cNvSpPr txBox="1"/>
          <p:nvPr/>
        </p:nvSpPr>
        <p:spPr>
          <a:xfrm>
            <a:off x="1473926" y="1920240"/>
            <a:ext cx="4663440" cy="201168"/>
          </a:xfrm>
          <a:prstGeom prst="rect">
            <a:avLst/>
          </a:prstGeom>
          <a:noFill/>
        </p:spPr>
        <p:txBody>
          <a:bodyPr wrap="square">
            <a:spAutoFit/>
          </a:bodyPr>
          <a:lstStyle/>
          <a:p>
            <a:pPr algn="l">
              <a:defRPr sz="1000" b="1">
                <a:solidFill>
                  <a:srgbClr val="003D7C"/>
                </a:solidFill>
                <a:latin typeface="Calibri"/>
              </a:defRPr>
            </a:pPr>
            <a:r>
              <a:t>Forward Pass:</a:t>
            </a:r>
          </a:p>
        </p:txBody>
      </p:sp>
      <p:sp>
        <p:nvSpPr>
          <p:cNvPr id="14" name="TextBox 13"/>
          <p:cNvSpPr txBox="1"/>
          <p:nvPr/>
        </p:nvSpPr>
        <p:spPr>
          <a:xfrm>
            <a:off x="1473926" y="2125980"/>
            <a:ext cx="4663440" cy="201168"/>
          </a:xfrm>
          <a:prstGeom prst="rect">
            <a:avLst/>
          </a:prstGeom>
          <a:noFill/>
        </p:spPr>
        <p:txBody>
          <a:bodyPr wrap="square">
            <a:spAutoFit/>
          </a:bodyPr>
          <a:lstStyle/>
          <a:p>
            <a:pPr algn="l">
              <a:defRPr sz="1000" b="0">
                <a:solidFill>
                  <a:srgbClr val="002A55"/>
                </a:solidFill>
                <a:latin typeface="Calibri"/>
              </a:defRPr>
            </a:pPr>
            <a:r>
              <a:t>  h₁ = ReLU(W₁ · x + b₁)    # 128 neurons</a:t>
            </a:r>
          </a:p>
        </p:txBody>
      </p:sp>
      <p:sp>
        <p:nvSpPr>
          <p:cNvPr id="15" name="TextBox 14"/>
          <p:cNvSpPr txBox="1"/>
          <p:nvPr/>
        </p:nvSpPr>
        <p:spPr>
          <a:xfrm>
            <a:off x="1473926" y="2331720"/>
            <a:ext cx="4663440" cy="201168"/>
          </a:xfrm>
          <a:prstGeom prst="rect">
            <a:avLst/>
          </a:prstGeom>
          <a:noFill/>
        </p:spPr>
        <p:txBody>
          <a:bodyPr wrap="square">
            <a:spAutoFit/>
          </a:bodyPr>
          <a:lstStyle/>
          <a:p>
            <a:pPr algn="l">
              <a:defRPr sz="1000" b="0">
                <a:solidFill>
                  <a:srgbClr val="002A55"/>
                </a:solidFill>
                <a:latin typeface="Calibri"/>
              </a:defRPr>
            </a:pPr>
            <a:r>
              <a:t>  h₂ = ReLU(W₂ · h₁ + b₂)   # 128 neurons</a:t>
            </a:r>
          </a:p>
        </p:txBody>
      </p:sp>
      <p:sp>
        <p:nvSpPr>
          <p:cNvPr id="16" name="TextBox 15"/>
          <p:cNvSpPr txBox="1"/>
          <p:nvPr/>
        </p:nvSpPr>
        <p:spPr>
          <a:xfrm>
            <a:off x="1473926" y="2537460"/>
            <a:ext cx="4663440" cy="201168"/>
          </a:xfrm>
          <a:prstGeom prst="rect">
            <a:avLst/>
          </a:prstGeom>
          <a:noFill/>
        </p:spPr>
        <p:txBody>
          <a:bodyPr wrap="square">
            <a:spAutoFit/>
          </a:bodyPr>
          <a:lstStyle/>
          <a:p>
            <a:pPr algn="l">
              <a:defRPr sz="1000" b="0">
                <a:solidFill>
                  <a:srgbClr val="002A55"/>
                </a:solidFill>
                <a:latin typeface="Calibri"/>
              </a:defRPr>
            </a:pPr>
            <a:r>
              <a:t>  ŷ  = Softmax(W₃ · h₂ + b₃) # 8 class probabilities</a:t>
            </a:r>
          </a:p>
        </p:txBody>
      </p:sp>
      <p:sp>
        <p:nvSpPr>
          <p:cNvPr id="17" name="TextBox 16"/>
          <p:cNvSpPr txBox="1"/>
          <p:nvPr/>
        </p:nvSpPr>
        <p:spPr>
          <a:xfrm>
            <a:off x="1473926" y="2743200"/>
            <a:ext cx="4663440" cy="201168"/>
          </a:xfrm>
          <a:prstGeom prst="rect">
            <a:avLst/>
          </a:prstGeom>
          <a:noFill/>
        </p:spPr>
        <p:txBody>
          <a:bodyPr wrap="square">
            <a:spAutoFit/>
          </a:bodyPr>
          <a:lstStyle/>
          <a:p>
            <a:pPr algn="l">
              <a:defRPr sz="1000" b="0">
                <a:solidFill>
                  <a:srgbClr val="002A55"/>
                </a:solidFill>
                <a:latin typeface="Calibri"/>
              </a:defRPr>
            </a:pPr>
            <a:endParaRPr/>
          </a:p>
        </p:txBody>
      </p:sp>
      <p:sp>
        <p:nvSpPr>
          <p:cNvPr id="18" name="TextBox 17"/>
          <p:cNvSpPr txBox="1"/>
          <p:nvPr/>
        </p:nvSpPr>
        <p:spPr>
          <a:xfrm>
            <a:off x="1473926" y="2948939"/>
            <a:ext cx="4663440" cy="201168"/>
          </a:xfrm>
          <a:prstGeom prst="rect">
            <a:avLst/>
          </a:prstGeom>
          <a:noFill/>
        </p:spPr>
        <p:txBody>
          <a:bodyPr wrap="square">
            <a:spAutoFit/>
          </a:bodyPr>
          <a:lstStyle/>
          <a:p>
            <a:pPr algn="l">
              <a:defRPr sz="1000" b="1">
                <a:solidFill>
                  <a:srgbClr val="003D7C"/>
                </a:solidFill>
                <a:latin typeface="Calibri"/>
              </a:defRPr>
            </a:pPr>
            <a:r>
              <a:t>Loss:  CrossEntropy = −log( predicted prob of true class )</a:t>
            </a:r>
          </a:p>
        </p:txBody>
      </p:sp>
      <p:sp>
        <p:nvSpPr>
          <p:cNvPr id="19" name="TextBox 18"/>
          <p:cNvSpPr txBox="1"/>
          <p:nvPr/>
        </p:nvSpPr>
        <p:spPr>
          <a:xfrm>
            <a:off x="1473926" y="3154680"/>
            <a:ext cx="4663440" cy="201168"/>
          </a:xfrm>
          <a:prstGeom prst="rect">
            <a:avLst/>
          </a:prstGeom>
          <a:noFill/>
        </p:spPr>
        <p:txBody>
          <a:bodyPr wrap="square">
            <a:spAutoFit/>
          </a:bodyPr>
          <a:lstStyle/>
          <a:p>
            <a:pPr algn="l">
              <a:defRPr sz="1000" b="0">
                <a:solidFill>
                  <a:srgbClr val="002A55"/>
                </a:solidFill>
                <a:latin typeface="Calibri"/>
              </a:defRPr>
            </a:pPr>
            <a:endParaRPr/>
          </a:p>
        </p:txBody>
      </p:sp>
      <p:sp>
        <p:nvSpPr>
          <p:cNvPr id="20" name="TextBox 19"/>
          <p:cNvSpPr txBox="1"/>
          <p:nvPr/>
        </p:nvSpPr>
        <p:spPr>
          <a:xfrm>
            <a:off x="1473926" y="3360420"/>
            <a:ext cx="4663440" cy="201168"/>
          </a:xfrm>
          <a:prstGeom prst="rect">
            <a:avLst/>
          </a:prstGeom>
          <a:noFill/>
        </p:spPr>
        <p:txBody>
          <a:bodyPr wrap="square">
            <a:spAutoFit/>
          </a:bodyPr>
          <a:lstStyle/>
          <a:p>
            <a:pPr algn="l">
              <a:defRPr sz="1000" b="1">
                <a:solidFill>
                  <a:srgbClr val="003D7C"/>
                </a:solidFill>
                <a:latin typeface="Calibri"/>
              </a:defRPr>
            </a:pPr>
            <a:r>
              <a:t>Backward Pass (Backpropagation):</a:t>
            </a:r>
          </a:p>
        </p:txBody>
      </p:sp>
      <p:sp>
        <p:nvSpPr>
          <p:cNvPr id="21" name="TextBox 20"/>
          <p:cNvSpPr txBox="1"/>
          <p:nvPr/>
        </p:nvSpPr>
        <p:spPr>
          <a:xfrm>
            <a:off x="1473926" y="3566160"/>
            <a:ext cx="4663440" cy="201168"/>
          </a:xfrm>
          <a:prstGeom prst="rect">
            <a:avLst/>
          </a:prstGeom>
          <a:noFill/>
        </p:spPr>
        <p:txBody>
          <a:bodyPr wrap="square">
            <a:spAutoFit/>
          </a:bodyPr>
          <a:lstStyle/>
          <a:p>
            <a:pPr algn="l">
              <a:defRPr sz="1000" b="0">
                <a:solidFill>
                  <a:srgbClr val="002A55"/>
                </a:solidFill>
                <a:latin typeface="Calibri"/>
              </a:defRPr>
            </a:pPr>
            <a:r>
              <a:t>  ∂L/∂W₃ = δ₃ · h₂ᵀ</a:t>
            </a:r>
          </a:p>
        </p:txBody>
      </p:sp>
      <p:sp>
        <p:nvSpPr>
          <p:cNvPr id="22" name="TextBox 21"/>
          <p:cNvSpPr txBox="1"/>
          <p:nvPr/>
        </p:nvSpPr>
        <p:spPr>
          <a:xfrm>
            <a:off x="1473926" y="3771900"/>
            <a:ext cx="4663440" cy="201168"/>
          </a:xfrm>
          <a:prstGeom prst="rect">
            <a:avLst/>
          </a:prstGeom>
          <a:noFill/>
        </p:spPr>
        <p:txBody>
          <a:bodyPr wrap="square">
            <a:spAutoFit/>
          </a:bodyPr>
          <a:lstStyle/>
          <a:p>
            <a:pPr algn="l">
              <a:defRPr sz="1000" b="0">
                <a:solidFill>
                  <a:srgbClr val="002A55"/>
                </a:solidFill>
                <a:latin typeface="Calibri"/>
              </a:defRPr>
            </a:pPr>
            <a:r>
              <a:t>  ∂L/∂W₂ = δ₂ · h₁ᵀ  (chain rule)</a:t>
            </a:r>
          </a:p>
        </p:txBody>
      </p:sp>
      <p:sp>
        <p:nvSpPr>
          <p:cNvPr id="23" name="TextBox 22"/>
          <p:cNvSpPr txBox="1"/>
          <p:nvPr/>
        </p:nvSpPr>
        <p:spPr>
          <a:xfrm>
            <a:off x="1473926" y="3977639"/>
            <a:ext cx="4663440" cy="201168"/>
          </a:xfrm>
          <a:prstGeom prst="rect">
            <a:avLst/>
          </a:prstGeom>
          <a:noFill/>
        </p:spPr>
        <p:txBody>
          <a:bodyPr wrap="square">
            <a:spAutoFit/>
          </a:bodyPr>
          <a:lstStyle/>
          <a:p>
            <a:pPr algn="l">
              <a:defRPr sz="1000" b="0">
                <a:solidFill>
                  <a:srgbClr val="002A55"/>
                </a:solidFill>
                <a:latin typeface="Calibri"/>
              </a:defRPr>
            </a:pPr>
            <a:r>
              <a:t>  W = W − α × ∂L/∂W   (α = 0.001 learning rate)</a:t>
            </a:r>
          </a:p>
        </p:txBody>
      </p:sp>
      <p:sp>
        <p:nvSpPr>
          <p:cNvPr id="24" name="TextBox 23"/>
          <p:cNvSpPr txBox="1"/>
          <p:nvPr/>
        </p:nvSpPr>
        <p:spPr>
          <a:xfrm>
            <a:off x="1473926" y="4183380"/>
            <a:ext cx="4663440" cy="201168"/>
          </a:xfrm>
          <a:prstGeom prst="rect">
            <a:avLst/>
          </a:prstGeom>
          <a:noFill/>
        </p:spPr>
        <p:txBody>
          <a:bodyPr wrap="square">
            <a:spAutoFit/>
          </a:bodyPr>
          <a:lstStyle/>
          <a:p>
            <a:pPr algn="l">
              <a:defRPr sz="1000" b="0">
                <a:solidFill>
                  <a:srgbClr val="002A55"/>
                </a:solidFill>
                <a:latin typeface="Calibri"/>
              </a:defRPr>
            </a:pPr>
            <a:endParaRPr/>
          </a:p>
        </p:txBody>
      </p:sp>
      <p:sp>
        <p:nvSpPr>
          <p:cNvPr id="25" name="TextBox 24"/>
          <p:cNvSpPr txBox="1"/>
          <p:nvPr/>
        </p:nvSpPr>
        <p:spPr>
          <a:xfrm>
            <a:off x="1473926" y="4389120"/>
            <a:ext cx="4663440" cy="201168"/>
          </a:xfrm>
          <a:prstGeom prst="rect">
            <a:avLst/>
          </a:prstGeom>
          <a:noFill/>
        </p:spPr>
        <p:txBody>
          <a:bodyPr wrap="square">
            <a:spAutoFit/>
          </a:bodyPr>
          <a:lstStyle/>
          <a:p>
            <a:pPr algn="l">
              <a:defRPr sz="1000" b="1">
                <a:solidFill>
                  <a:srgbClr val="003D7C"/>
                </a:solidFill>
                <a:latin typeface="Calibri"/>
              </a:defRPr>
            </a:pPr>
            <a:r>
              <a:t>Regularisation: Dropout (p=0.3)</a:t>
            </a:r>
          </a:p>
        </p:txBody>
      </p:sp>
      <p:sp>
        <p:nvSpPr>
          <p:cNvPr id="26" name="TextBox 25"/>
          <p:cNvSpPr txBox="1"/>
          <p:nvPr/>
        </p:nvSpPr>
        <p:spPr>
          <a:xfrm>
            <a:off x="1473926" y="4594860"/>
            <a:ext cx="4663440" cy="201168"/>
          </a:xfrm>
          <a:prstGeom prst="rect">
            <a:avLst/>
          </a:prstGeom>
          <a:noFill/>
        </p:spPr>
        <p:txBody>
          <a:bodyPr wrap="square">
            <a:spAutoFit/>
          </a:bodyPr>
          <a:lstStyle/>
          <a:p>
            <a:pPr algn="l">
              <a:defRPr sz="1000" b="0">
                <a:solidFill>
                  <a:srgbClr val="002A55"/>
                </a:solidFill>
                <a:latin typeface="Calibri"/>
              </a:defRPr>
            </a:pPr>
            <a:endParaRPr/>
          </a:p>
        </p:txBody>
      </p:sp>
      <p:sp>
        <p:nvSpPr>
          <p:cNvPr id="27" name="TextBox 26"/>
          <p:cNvSpPr txBox="1"/>
          <p:nvPr/>
        </p:nvSpPr>
        <p:spPr>
          <a:xfrm>
            <a:off x="1473926" y="4800600"/>
            <a:ext cx="4663440" cy="201168"/>
          </a:xfrm>
          <a:prstGeom prst="rect">
            <a:avLst/>
          </a:prstGeom>
          <a:noFill/>
        </p:spPr>
        <p:txBody>
          <a:bodyPr wrap="square">
            <a:spAutoFit/>
          </a:bodyPr>
          <a:lstStyle/>
          <a:p>
            <a:pPr algn="l">
              <a:defRPr sz="1000" b="1">
                <a:solidFill>
                  <a:srgbClr val="003D7C"/>
                </a:solidFill>
                <a:latin typeface="Calibri"/>
              </a:defRPr>
            </a:pPr>
            <a:r>
              <a:t>Training: 222 samples × 20 epochs = 4,440 updates</a:t>
            </a:r>
          </a:p>
        </p:txBody>
      </p:sp>
      <p:sp>
        <p:nvSpPr>
          <p:cNvPr id="28" name="Rounded Rectangle 27"/>
          <p:cNvSpPr/>
          <p:nvPr/>
        </p:nvSpPr>
        <p:spPr>
          <a:xfrm>
            <a:off x="6503126" y="1417320"/>
            <a:ext cx="3291840" cy="3749039"/>
          </a:xfrm>
          <a:prstGeom prst="round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86006" y="1463040"/>
            <a:ext cx="3017520" cy="4693593"/>
          </a:xfrm>
          <a:prstGeom prst="rect">
            <a:avLst/>
          </a:prstGeom>
          <a:noFill/>
        </p:spPr>
        <p:txBody>
          <a:bodyPr wrap="square">
            <a:spAutoFit/>
          </a:bodyPr>
          <a:lstStyle/>
          <a:p>
            <a:pPr algn="l">
              <a:spcAft>
                <a:spcPts val="600"/>
              </a:spcAft>
              <a:defRPr sz="1100" b="0">
                <a:solidFill>
                  <a:srgbClr val="002A55"/>
                </a:solidFill>
                <a:latin typeface="Calibri"/>
              </a:defRPr>
            </a:pPr>
            <a:r>
              <a:rPr dirty="0"/>
              <a:t>Parameter Count</a:t>
            </a:r>
          </a:p>
          <a:p>
            <a:pPr algn="l">
              <a:spcAft>
                <a:spcPts val="600"/>
              </a:spcAft>
              <a:defRPr sz="1100" b="0">
                <a:solidFill>
                  <a:srgbClr val="002A55"/>
                </a:solidFill>
                <a:latin typeface="Calibri"/>
              </a:defRPr>
            </a:pPr>
            <a:endParaRPr dirty="0"/>
          </a:p>
          <a:p>
            <a:pPr algn="l">
              <a:spcAft>
                <a:spcPts val="600"/>
              </a:spcAft>
              <a:defRPr sz="1100" b="0">
                <a:solidFill>
                  <a:srgbClr val="002A55"/>
                </a:solidFill>
                <a:latin typeface="Calibri"/>
              </a:defRPr>
            </a:pPr>
            <a:r>
              <a:rPr dirty="0"/>
              <a:t>W₁: 1391×128 + 128 = 178,304</a:t>
            </a:r>
          </a:p>
          <a:p>
            <a:pPr algn="l">
              <a:spcAft>
                <a:spcPts val="600"/>
              </a:spcAft>
              <a:defRPr sz="1100" b="0">
                <a:solidFill>
                  <a:srgbClr val="002A55"/>
                </a:solidFill>
                <a:latin typeface="Calibri"/>
              </a:defRPr>
            </a:pPr>
            <a:r>
              <a:rPr dirty="0"/>
              <a:t>W₂: 128×128 + 128  =  16,512</a:t>
            </a:r>
          </a:p>
          <a:p>
            <a:pPr algn="l">
              <a:spcAft>
                <a:spcPts val="600"/>
              </a:spcAft>
              <a:defRPr sz="1100" b="0">
                <a:solidFill>
                  <a:srgbClr val="002A55"/>
                </a:solidFill>
                <a:latin typeface="Calibri"/>
              </a:defRPr>
            </a:pPr>
            <a:r>
              <a:rPr dirty="0"/>
              <a:t>W₃: 128×8 + 8  =   1,032</a:t>
            </a:r>
          </a:p>
          <a:p>
            <a:pPr algn="l">
              <a:spcAft>
                <a:spcPts val="600"/>
              </a:spcAft>
              <a:defRPr sz="1100" b="0">
                <a:solidFill>
                  <a:srgbClr val="002A55"/>
                </a:solidFill>
                <a:latin typeface="Calibri"/>
              </a:defRPr>
            </a:pPr>
            <a:r>
              <a:rPr dirty="0"/>
              <a:t>─────────────────────────────</a:t>
            </a:r>
          </a:p>
          <a:p>
            <a:pPr algn="l">
              <a:spcAft>
                <a:spcPts val="600"/>
              </a:spcAft>
              <a:defRPr sz="1100" b="0">
                <a:solidFill>
                  <a:srgbClr val="002A55"/>
                </a:solidFill>
                <a:latin typeface="Calibri"/>
              </a:defRPr>
            </a:pPr>
            <a:r>
              <a:rPr dirty="0"/>
              <a:t>Total:              = 195,848</a:t>
            </a:r>
          </a:p>
          <a:p>
            <a:pPr algn="l">
              <a:spcAft>
                <a:spcPts val="600"/>
              </a:spcAft>
              <a:defRPr sz="1100" b="0">
                <a:solidFill>
                  <a:srgbClr val="002A55"/>
                </a:solidFill>
                <a:latin typeface="Calibri"/>
              </a:defRPr>
            </a:pPr>
            <a:endParaRPr dirty="0"/>
          </a:p>
          <a:p>
            <a:pPr algn="l">
              <a:spcAft>
                <a:spcPts val="600"/>
              </a:spcAft>
              <a:defRPr sz="1100" b="0">
                <a:solidFill>
                  <a:srgbClr val="002A55"/>
                </a:solidFill>
                <a:latin typeface="Calibri"/>
              </a:defRPr>
            </a:pPr>
            <a:r>
              <a:rPr dirty="0"/>
              <a:t>v3b Results</a:t>
            </a:r>
          </a:p>
          <a:p>
            <a:pPr algn="l">
              <a:spcAft>
                <a:spcPts val="600"/>
              </a:spcAft>
              <a:defRPr sz="1100" b="0">
                <a:solidFill>
                  <a:srgbClr val="002A55"/>
                </a:solidFill>
                <a:latin typeface="Calibri"/>
              </a:defRPr>
            </a:pPr>
            <a:endParaRPr dirty="0"/>
          </a:p>
          <a:p>
            <a:pPr algn="l">
              <a:spcAft>
                <a:spcPts val="600"/>
              </a:spcAft>
              <a:defRPr sz="1100" b="0">
                <a:solidFill>
                  <a:srgbClr val="002A55"/>
                </a:solidFill>
                <a:latin typeface="Calibri"/>
              </a:defRPr>
            </a:pPr>
            <a:r>
              <a:rPr dirty="0"/>
              <a:t>F1 Macro:    0.798</a:t>
            </a:r>
          </a:p>
          <a:p>
            <a:pPr algn="l">
              <a:spcAft>
                <a:spcPts val="600"/>
              </a:spcAft>
              <a:defRPr sz="1100" b="0">
                <a:solidFill>
                  <a:srgbClr val="002A55"/>
                </a:solidFill>
                <a:latin typeface="Calibri"/>
              </a:defRPr>
            </a:pPr>
            <a:r>
              <a:rPr dirty="0"/>
              <a:t>Accuracy:    0.818</a:t>
            </a:r>
          </a:p>
          <a:p>
            <a:pPr algn="l">
              <a:spcAft>
                <a:spcPts val="600"/>
              </a:spcAft>
              <a:defRPr sz="1100" b="0">
                <a:solidFill>
                  <a:srgbClr val="002A55"/>
                </a:solidFill>
                <a:latin typeface="Calibri"/>
              </a:defRPr>
            </a:pPr>
            <a:r>
              <a:rPr dirty="0"/>
              <a:t>Training:   ~5 s (20 epochs)</a:t>
            </a:r>
          </a:p>
          <a:p>
            <a:pPr algn="l">
              <a:spcAft>
                <a:spcPts val="600"/>
              </a:spcAft>
              <a:defRPr sz="1100" b="0">
                <a:solidFill>
                  <a:srgbClr val="002A55"/>
                </a:solidFill>
                <a:latin typeface="Calibri"/>
              </a:defRPr>
            </a:pPr>
            <a:r>
              <a:rPr dirty="0"/>
              <a:t>Inference:   8 </a:t>
            </a:r>
            <a:r>
              <a:rPr dirty="0" err="1"/>
              <a:t>ms</a:t>
            </a:r>
            <a:r>
              <a:rPr dirty="0"/>
              <a:t> / batch</a:t>
            </a:r>
          </a:p>
          <a:p>
            <a:pPr algn="l">
              <a:spcAft>
                <a:spcPts val="600"/>
              </a:spcAft>
              <a:defRPr sz="1100" b="0">
                <a:solidFill>
                  <a:srgbClr val="002A55"/>
                </a:solidFill>
                <a:latin typeface="Calibri"/>
              </a:defRPr>
            </a:pPr>
            <a:endParaRPr dirty="0"/>
          </a:p>
          <a:p>
            <a:pPr algn="l">
              <a:spcAft>
                <a:spcPts val="600"/>
              </a:spcAft>
              <a:defRPr sz="1100" b="0">
                <a:solidFill>
                  <a:srgbClr val="002A55"/>
                </a:solidFill>
                <a:latin typeface="Calibri"/>
              </a:defRPr>
            </a:pPr>
            <a:r>
              <a:rPr dirty="0">
                <a:solidFill>
                  <a:schemeClr val="bg2"/>
                </a:solidFill>
              </a:rPr>
              <a:t>Note: Deep learning did not</a:t>
            </a:r>
          </a:p>
          <a:p>
            <a:pPr algn="l">
              <a:spcAft>
                <a:spcPts val="600"/>
              </a:spcAft>
              <a:defRPr sz="1100" b="0">
                <a:solidFill>
                  <a:srgbClr val="002A55"/>
                </a:solidFill>
                <a:latin typeface="Calibri"/>
              </a:defRPr>
            </a:pPr>
            <a:r>
              <a:rPr dirty="0">
                <a:solidFill>
                  <a:schemeClr val="bg2"/>
                </a:solidFill>
              </a:rPr>
              <a:t>outperform classical ML with</a:t>
            </a:r>
          </a:p>
          <a:p>
            <a:pPr algn="l">
              <a:spcAft>
                <a:spcPts val="600"/>
              </a:spcAft>
              <a:defRPr sz="1100" b="0">
                <a:solidFill>
                  <a:srgbClr val="002A55"/>
                </a:solidFill>
                <a:latin typeface="Calibri"/>
              </a:defRPr>
            </a:pPr>
            <a:r>
              <a:rPr dirty="0">
                <a:solidFill>
                  <a:schemeClr val="bg2"/>
                </a:solidFill>
              </a:rPr>
              <a:t>engineered features (277 tasks</a:t>
            </a:r>
          </a:p>
          <a:p>
            <a:pPr algn="l">
              <a:spcAft>
                <a:spcPts val="600"/>
              </a:spcAft>
              <a:defRPr sz="1100" b="0">
                <a:solidFill>
                  <a:srgbClr val="002A55"/>
                </a:solidFill>
                <a:latin typeface="Calibri"/>
              </a:defRPr>
            </a:pPr>
            <a:r>
              <a:rPr dirty="0">
                <a:solidFill>
                  <a:schemeClr val="bg2"/>
                </a:solidFill>
              </a:rPr>
              <a:t>is too small for DL to shine)</a:t>
            </a:r>
          </a:p>
        </p:txBody>
      </p:sp>
      <p:sp>
        <p:nvSpPr>
          <p:cNvPr id="30" name="Rectangle 29"/>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32" name="Rectangle 31"/>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nus_iss_logo_transparent.png"/>
          <p:cNvPicPr>
            <a:picLocks noChangeAspect="1"/>
          </p:cNvPicPr>
          <p:nvPr/>
        </p:nvPicPr>
        <p:blipFill>
          <a:blip r:embed="rId2"/>
          <a:stretch>
            <a:fillRect/>
          </a:stretch>
        </p:blipFill>
        <p:spPr>
          <a:xfrm>
            <a:off x="9555480" y="82296"/>
            <a:ext cx="2514600" cy="5852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3D7C"/>
        </a:solidFill>
        <a:effectLst/>
      </p:bgPr>
    </p:bg>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91440"/>
            <a:ext cx="8686800" cy="640080"/>
          </a:xfrm>
          <a:prstGeom prst="rect">
            <a:avLst/>
          </a:prstGeom>
          <a:noFill/>
        </p:spPr>
        <p:txBody>
          <a:bodyPr wrap="square">
            <a:spAutoFit/>
          </a:bodyPr>
          <a:lstStyle/>
          <a:p>
            <a:pPr algn="l">
              <a:defRPr sz="3200" b="1">
                <a:solidFill>
                  <a:srgbClr val="FFFFFF"/>
                </a:solidFill>
                <a:latin typeface="Calibri"/>
              </a:defRPr>
            </a:pPr>
            <a:r>
              <a:t>Tier 3 — Voting Ensemble (Best Model: F1 0.884)</a:t>
            </a:r>
          </a:p>
        </p:txBody>
      </p:sp>
      <p:sp>
        <p:nvSpPr>
          <p:cNvPr id="7" name="TextBox 6"/>
          <p:cNvSpPr txBox="1"/>
          <p:nvPr/>
        </p:nvSpPr>
        <p:spPr>
          <a:xfrm>
            <a:off x="1188720" y="594360"/>
            <a:ext cx="8686800" cy="457200"/>
          </a:xfrm>
          <a:prstGeom prst="rect">
            <a:avLst/>
          </a:prstGeom>
          <a:noFill/>
        </p:spPr>
        <p:txBody>
          <a:bodyPr wrap="square">
            <a:spAutoFit/>
          </a:bodyPr>
          <a:lstStyle/>
          <a:p>
            <a:pPr algn="l">
              <a:defRPr sz="2000" b="0">
                <a:solidFill>
                  <a:srgbClr val="FFFFFF"/>
                </a:solidFill>
                <a:latin typeface="Calibri"/>
              </a:defRPr>
            </a:pPr>
            <a:r>
              <a:t>Combines 4 base models via soft probability averaging — best of all worlds</a:t>
            </a:r>
          </a:p>
        </p:txBody>
      </p:sp>
      <p:sp>
        <p:nvSpPr>
          <p:cNvPr id="8" name="Rectangle 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0" name="Rounded Rectangle 9"/>
          <p:cNvSpPr/>
          <p:nvPr/>
        </p:nvSpPr>
        <p:spPr>
          <a:xfrm>
            <a:off x="1345472" y="1371600"/>
            <a:ext cx="8412480" cy="45720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28352" y="1417320"/>
            <a:ext cx="8138160" cy="365760"/>
          </a:xfrm>
          <a:prstGeom prst="rect">
            <a:avLst/>
          </a:prstGeom>
          <a:noFill/>
        </p:spPr>
        <p:txBody>
          <a:bodyPr wrap="square">
            <a:spAutoFit/>
          </a:bodyPr>
          <a:lstStyle/>
          <a:p>
            <a:pPr algn="l">
              <a:spcAft>
                <a:spcPts val="600"/>
              </a:spcAft>
              <a:defRPr sz="1200" b="1">
                <a:solidFill>
                  <a:srgbClr val="003D7C"/>
                </a:solidFill>
                <a:latin typeface="Calibri"/>
              </a:defRPr>
            </a:pPr>
            <a:r>
              <a:t>Base models (6-model MVP): SVM + Decision Tree + Random Forest + MLPP (F1 0.798)</a:t>
            </a:r>
          </a:p>
        </p:txBody>
      </p:sp>
      <p:sp>
        <p:nvSpPr>
          <p:cNvPr id="12" name="Rounded Rectangle 11"/>
          <p:cNvSpPr/>
          <p:nvPr/>
        </p:nvSpPr>
        <p:spPr>
          <a:xfrm>
            <a:off x="1345472" y="2011680"/>
            <a:ext cx="1920240" cy="73152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SVM</a:t>
            </a:r>
            <a:br/>
            <a:r>
              <a:t>F1 0.812</a:t>
            </a:r>
          </a:p>
        </p:txBody>
      </p:sp>
      <p:sp>
        <p:nvSpPr>
          <p:cNvPr id="13" name="TextBox 12"/>
          <p:cNvSpPr txBox="1"/>
          <p:nvPr/>
        </p:nvSpPr>
        <p:spPr>
          <a:xfrm>
            <a:off x="2122712" y="2834640"/>
            <a:ext cx="365760" cy="274320"/>
          </a:xfrm>
          <a:prstGeom prst="rect">
            <a:avLst/>
          </a:prstGeom>
          <a:noFill/>
        </p:spPr>
        <p:txBody>
          <a:bodyPr wrap="square">
            <a:spAutoFit/>
          </a:bodyPr>
          <a:lstStyle/>
          <a:p>
            <a:pPr algn="ctr">
              <a:defRPr sz="1400" b="1">
                <a:solidFill>
                  <a:srgbClr val="007ACC"/>
                </a:solidFill>
                <a:latin typeface="Calibri"/>
              </a:defRPr>
            </a:pPr>
            <a:r>
              <a:t>↓</a:t>
            </a:r>
          </a:p>
        </p:txBody>
      </p:sp>
      <p:sp>
        <p:nvSpPr>
          <p:cNvPr id="14" name="Rounded Rectangle 13"/>
          <p:cNvSpPr/>
          <p:nvPr/>
        </p:nvSpPr>
        <p:spPr>
          <a:xfrm>
            <a:off x="3494312" y="2011680"/>
            <a:ext cx="1920240" cy="7315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Random Forest</a:t>
            </a:r>
            <a:br/>
            <a:r>
              <a:t>F1 0.841</a:t>
            </a:r>
          </a:p>
        </p:txBody>
      </p:sp>
      <p:sp>
        <p:nvSpPr>
          <p:cNvPr id="15" name="TextBox 14"/>
          <p:cNvSpPr txBox="1"/>
          <p:nvPr/>
        </p:nvSpPr>
        <p:spPr>
          <a:xfrm>
            <a:off x="4271552" y="2834640"/>
            <a:ext cx="365760" cy="274320"/>
          </a:xfrm>
          <a:prstGeom prst="rect">
            <a:avLst/>
          </a:prstGeom>
          <a:noFill/>
        </p:spPr>
        <p:txBody>
          <a:bodyPr wrap="square">
            <a:spAutoFit/>
          </a:bodyPr>
          <a:lstStyle/>
          <a:p>
            <a:pPr algn="ctr">
              <a:defRPr sz="1400" b="1">
                <a:solidFill>
                  <a:srgbClr val="28A745"/>
                </a:solidFill>
                <a:latin typeface="Calibri"/>
              </a:defRPr>
            </a:pPr>
            <a:r>
              <a:t>↓</a:t>
            </a:r>
          </a:p>
        </p:txBody>
      </p:sp>
      <p:sp>
        <p:nvSpPr>
          <p:cNvPr id="16" name="Rounded Rectangle 15"/>
          <p:cNvSpPr/>
          <p:nvPr/>
        </p:nvSpPr>
        <p:spPr>
          <a:xfrm>
            <a:off x="5643152" y="2011680"/>
            <a:ext cx="1920240" cy="73152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Decision TreeF1 0.762</a:t>
            </a:r>
            <a:br/>
            <a:r>
              <a:t/>
            </a:r>
          </a:p>
        </p:txBody>
      </p:sp>
      <p:sp>
        <p:nvSpPr>
          <p:cNvPr id="17" name="TextBox 16"/>
          <p:cNvSpPr txBox="1"/>
          <p:nvPr/>
        </p:nvSpPr>
        <p:spPr>
          <a:xfrm>
            <a:off x="6420392" y="2834640"/>
            <a:ext cx="365760" cy="274320"/>
          </a:xfrm>
          <a:prstGeom prst="rect">
            <a:avLst/>
          </a:prstGeom>
          <a:noFill/>
        </p:spPr>
        <p:txBody>
          <a:bodyPr wrap="square">
            <a:spAutoFit/>
          </a:bodyPr>
          <a:lstStyle/>
          <a:p>
            <a:pPr algn="ctr">
              <a:defRPr sz="1400" b="1">
                <a:solidFill>
                  <a:srgbClr val="EF7C00"/>
                </a:solidFill>
                <a:latin typeface="Calibri"/>
              </a:defRPr>
            </a:pPr>
            <a:r>
              <a:t>↓</a:t>
            </a:r>
          </a:p>
        </p:txBody>
      </p:sp>
      <p:sp>
        <p:nvSpPr>
          <p:cNvPr id="18" name="Rounded Rectangle 17"/>
          <p:cNvSpPr/>
          <p:nvPr/>
        </p:nvSpPr>
        <p:spPr>
          <a:xfrm>
            <a:off x="7791992" y="2011680"/>
            <a:ext cx="1920240" cy="73152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MLP</a:t>
            </a:r>
            <a:br/>
            <a:r>
              <a:t>F1 0.798</a:t>
            </a:r>
          </a:p>
        </p:txBody>
      </p:sp>
      <p:sp>
        <p:nvSpPr>
          <p:cNvPr id="19" name="TextBox 18"/>
          <p:cNvSpPr txBox="1"/>
          <p:nvPr/>
        </p:nvSpPr>
        <p:spPr>
          <a:xfrm>
            <a:off x="8569232" y="2834640"/>
            <a:ext cx="365760" cy="274320"/>
          </a:xfrm>
          <a:prstGeom prst="rect">
            <a:avLst/>
          </a:prstGeom>
          <a:noFill/>
        </p:spPr>
        <p:txBody>
          <a:bodyPr wrap="square">
            <a:spAutoFit/>
          </a:bodyPr>
          <a:lstStyle/>
          <a:p>
            <a:pPr algn="ctr">
              <a:defRPr sz="1400" b="1">
                <a:solidFill>
                  <a:srgbClr val="6F42C1"/>
                </a:solidFill>
                <a:latin typeface="Calibri"/>
              </a:defRPr>
            </a:pPr>
            <a:r>
              <a:t>↓</a:t>
            </a:r>
          </a:p>
        </p:txBody>
      </p:sp>
      <p:sp>
        <p:nvSpPr>
          <p:cNvPr id="20" name="Rounded Rectangle 19"/>
          <p:cNvSpPr/>
          <p:nvPr/>
        </p:nvSpPr>
        <p:spPr>
          <a:xfrm>
            <a:off x="1345472" y="3200400"/>
            <a:ext cx="8412480" cy="82296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528352" y="3246120"/>
            <a:ext cx="8138160" cy="731520"/>
          </a:xfrm>
          <a:prstGeom prst="rect">
            <a:avLst/>
          </a:prstGeom>
          <a:noFill/>
        </p:spPr>
        <p:txBody>
          <a:bodyPr wrap="square">
            <a:spAutoFit/>
          </a:bodyPr>
          <a:lstStyle/>
          <a:p>
            <a:pPr algn="l">
              <a:spcAft>
                <a:spcPts val="600"/>
              </a:spcAft>
              <a:defRPr sz="1100" b="0">
                <a:solidFill>
                  <a:srgbClr val="28A745"/>
                </a:solidFill>
                <a:latin typeface="Courier New"/>
              </a:defRPr>
            </a:pPr>
            <a:r>
              <a:t>Soft Voting — Average Probability Across All Models:</a:t>
            </a:r>
          </a:p>
          <a:p>
            <a:pPr algn="l">
              <a:spcAft>
                <a:spcPts val="600"/>
              </a:spcAft>
              <a:defRPr sz="1100" b="0">
                <a:solidFill>
                  <a:srgbClr val="28A745"/>
                </a:solidFill>
                <a:latin typeface="Courier New"/>
              </a:defRPr>
            </a:pPr>
            <a:r>
              <a:t>  P_avg(class=c) = (P_SVM + P_RF + P_XGB + P_MLP) / 4    →    ŷ = argmax P_avg</a:t>
            </a:r>
          </a:p>
        </p:txBody>
      </p:sp>
      <p:sp>
        <p:nvSpPr>
          <p:cNvPr id="22" name="Rounded Rectangle 21"/>
          <p:cNvSpPr/>
          <p:nvPr/>
        </p:nvSpPr>
        <p:spPr>
          <a:xfrm>
            <a:off x="1345472" y="4160520"/>
            <a:ext cx="4114800" cy="109728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528352" y="4206240"/>
            <a:ext cx="3840480" cy="1005840"/>
          </a:xfrm>
          <a:prstGeom prst="rect">
            <a:avLst/>
          </a:prstGeom>
          <a:noFill/>
        </p:spPr>
        <p:txBody>
          <a:bodyPr wrap="square">
            <a:spAutoFit/>
          </a:bodyPr>
          <a:lstStyle/>
          <a:p>
            <a:pPr algn="l">
              <a:spcAft>
                <a:spcPts val="600"/>
              </a:spcAft>
              <a:defRPr sz="1100" b="0">
                <a:solidFill>
                  <a:srgbClr val="002A55"/>
                </a:solidFill>
                <a:latin typeface="Calibri"/>
              </a:defRPr>
            </a:pPr>
            <a:r>
              <a:t>Why Voting &gt; Any Single Model</a:t>
            </a:r>
          </a:p>
          <a:p>
            <a:pPr algn="l">
              <a:spcAft>
                <a:spcPts val="600"/>
              </a:spcAft>
              <a:defRPr sz="1100" b="0">
                <a:solidFill>
                  <a:srgbClr val="002A55"/>
                </a:solidFill>
                <a:latin typeface="Calibri"/>
              </a:defRPr>
            </a:pPr>
            <a:endParaRPr/>
          </a:p>
          <a:p>
            <a:pPr algn="l">
              <a:spcAft>
                <a:spcPts val="600"/>
              </a:spcAft>
              <a:defRPr sz="1100" b="0">
                <a:solidFill>
                  <a:srgbClr val="002A55"/>
                </a:solidFill>
                <a:latin typeface="Calibri"/>
              </a:defRPr>
            </a:pPr>
            <a:r>
              <a:t>Each model has different error patterns.</a:t>
            </a:r>
          </a:p>
          <a:p>
            <a:pPr algn="l">
              <a:spcAft>
                <a:spcPts val="600"/>
              </a:spcAft>
              <a:defRPr sz="1100" b="0">
                <a:solidFill>
                  <a:srgbClr val="002A55"/>
                </a:solidFill>
                <a:latin typeface="Calibri"/>
              </a:defRPr>
            </a:pPr>
            <a:r>
              <a:t>When SVM is wrong, RF or XGBoost is often right.</a:t>
            </a:r>
          </a:p>
          <a:p>
            <a:pPr algn="l">
              <a:spcAft>
                <a:spcPts val="600"/>
              </a:spcAft>
              <a:defRPr sz="1100" b="0">
                <a:solidFill>
                  <a:srgbClr val="002A55"/>
                </a:solidFill>
                <a:latin typeface="Calibri"/>
              </a:defRPr>
            </a:pPr>
            <a:r>
              <a:t>Averaging smooths out individual biases → higher F1.</a:t>
            </a:r>
          </a:p>
        </p:txBody>
      </p:sp>
      <p:sp>
        <p:nvSpPr>
          <p:cNvPr id="24" name="Rounded Rectangle 23"/>
          <p:cNvSpPr/>
          <p:nvPr/>
        </p:nvSpPr>
        <p:spPr>
          <a:xfrm>
            <a:off x="5643152" y="4160520"/>
            <a:ext cx="4114800" cy="1097280"/>
          </a:xfrm>
          <a:prstGeom prst="round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26032" y="4206240"/>
            <a:ext cx="3840480" cy="1005840"/>
          </a:xfrm>
          <a:prstGeom prst="rect">
            <a:avLst/>
          </a:prstGeom>
          <a:noFill/>
        </p:spPr>
        <p:txBody>
          <a:bodyPr wrap="square">
            <a:spAutoFit/>
          </a:bodyPr>
          <a:lstStyle/>
          <a:p>
            <a:pPr algn="l">
              <a:spcAft>
                <a:spcPts val="600"/>
              </a:spcAft>
              <a:defRPr sz="1100" b="1">
                <a:solidFill>
                  <a:srgbClr val="003D7C"/>
                </a:solidFill>
                <a:latin typeface="Calibri"/>
              </a:defRPr>
            </a:pPr>
            <a:r>
              <a:t>Voting Ensemble — v3b Final Results</a:t>
            </a:r>
          </a:p>
          <a:p>
            <a:pPr algn="l">
              <a:spcAft>
                <a:spcPts val="600"/>
              </a:spcAft>
              <a:defRPr sz="1100" b="1">
                <a:solidFill>
                  <a:srgbClr val="003D7C"/>
                </a:solidFill>
                <a:latin typeface="Calibri"/>
              </a:defRPr>
            </a:pPr>
            <a:endParaRPr/>
          </a:p>
          <a:p>
            <a:pPr algn="l">
              <a:spcAft>
                <a:spcPts val="600"/>
              </a:spcAft>
              <a:defRPr sz="1100" b="1">
                <a:solidFill>
                  <a:srgbClr val="003D7C"/>
                </a:solidFill>
                <a:latin typeface="Calibri"/>
              </a:defRPr>
            </a:pPr>
            <a:r>
              <a:t>F1 Macro: 0.884  |  Accuracy: 0.891</a:t>
            </a:r>
          </a:p>
          <a:p>
            <a:pPr algn="l">
              <a:spcAft>
                <a:spcPts val="600"/>
              </a:spcAft>
              <a:defRPr sz="1100" b="1">
                <a:solidFill>
                  <a:srgbClr val="003D7C"/>
                </a:solidFill>
                <a:latin typeface="Calibri"/>
              </a:defRPr>
            </a:pPr>
            <a:r>
              <a:t>Latency:   84 ms (4 model predictions + avg)</a:t>
            </a:r>
          </a:p>
          <a:p>
            <a:pPr algn="l">
              <a:spcAft>
                <a:spcPts val="600"/>
              </a:spcAft>
              <a:defRPr sz="1100" b="1">
                <a:solidFill>
                  <a:srgbClr val="003D7C"/>
                </a:solidFill>
                <a:latin typeface="Calibri"/>
              </a:defRPr>
            </a:pPr>
            <a:r>
              <a:t>+73% improvement over v2 baseline (KNN F1 0.51)</a:t>
            </a:r>
          </a:p>
        </p:txBody>
      </p:sp>
      <p:sp>
        <p:nvSpPr>
          <p:cNvPr id="26" name="Rectangle 25"/>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28" name="Rectangle 27"/>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nus_iss_logo_transparent.png"/>
          <p:cNvPicPr>
            <a:picLocks noChangeAspect="1"/>
          </p:cNvPicPr>
          <p:nvPr/>
        </p:nvPicPr>
        <p:blipFill>
          <a:blip r:embed="rId2"/>
          <a:stretch>
            <a:fillRect/>
          </a:stretch>
        </p:blipFill>
        <p:spPr>
          <a:xfrm>
            <a:off x="9555480" y="82296"/>
            <a:ext cx="2514600" cy="5852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3D7C"/>
        </a:solidFill>
        <a:effectLst/>
      </p:bgPr>
    </p:bg>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91440"/>
            <a:ext cx="10077994" cy="584775"/>
          </a:xfrm>
          <a:prstGeom prst="rect">
            <a:avLst/>
          </a:prstGeom>
          <a:noFill/>
        </p:spPr>
        <p:txBody>
          <a:bodyPr wrap="square">
            <a:spAutoFit/>
          </a:bodyPr>
          <a:lstStyle/>
          <a:p>
            <a:pPr algn="l">
              <a:defRPr sz="3200" b="1">
                <a:solidFill>
                  <a:srgbClr val="FFFFFF"/>
                </a:solidFill>
                <a:latin typeface="Calibri"/>
              </a:defRPr>
            </a:pPr>
            <a:r>
              <a:rPr dirty="0"/>
              <a:t>Step 4 — Evaluation: Why F1 Macro is the Primary Metric</a:t>
            </a:r>
          </a:p>
        </p:txBody>
      </p:sp>
      <p:sp>
        <p:nvSpPr>
          <p:cNvPr id="7" name="TextBox 6"/>
          <p:cNvSpPr txBox="1"/>
          <p:nvPr/>
        </p:nvSpPr>
        <p:spPr>
          <a:xfrm>
            <a:off x="1188720" y="594360"/>
            <a:ext cx="10001794" cy="400110"/>
          </a:xfrm>
          <a:prstGeom prst="rect">
            <a:avLst/>
          </a:prstGeom>
          <a:noFill/>
        </p:spPr>
        <p:txBody>
          <a:bodyPr wrap="square">
            <a:spAutoFit/>
          </a:bodyPr>
          <a:lstStyle/>
          <a:p>
            <a:pPr algn="l">
              <a:defRPr sz="2000" b="0">
                <a:solidFill>
                  <a:srgbClr val="FFFFFF"/>
                </a:solidFill>
                <a:latin typeface="Calibri"/>
              </a:defRPr>
            </a:pPr>
            <a:r>
              <a:rPr dirty="0"/>
              <a:t>Accuracy is misleading with imbalanced classes — F1 Macro treats all 8 classes equally</a:t>
            </a:r>
          </a:p>
        </p:txBody>
      </p:sp>
      <p:sp>
        <p:nvSpPr>
          <p:cNvPr id="8" name="Rectangle 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0" name="Rounded Rectangle 9"/>
          <p:cNvSpPr/>
          <p:nvPr/>
        </p:nvSpPr>
        <p:spPr>
          <a:xfrm>
            <a:off x="1334590" y="1417320"/>
            <a:ext cx="8412480" cy="1280160"/>
          </a:xfrm>
          <a:prstGeom prst="roundRect">
            <a:avLst/>
          </a:prstGeom>
          <a:solidFill>
            <a:srgbClr val="FDE8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17470" y="1463040"/>
            <a:ext cx="8138160" cy="1188720"/>
          </a:xfrm>
          <a:prstGeom prst="rect">
            <a:avLst/>
          </a:prstGeom>
          <a:noFill/>
        </p:spPr>
        <p:txBody>
          <a:bodyPr wrap="square">
            <a:spAutoFit/>
          </a:bodyPr>
          <a:lstStyle/>
          <a:p>
            <a:pPr algn="l">
              <a:spcAft>
                <a:spcPts val="600"/>
              </a:spcAft>
              <a:defRPr sz="1100" b="0">
                <a:solidFill>
                  <a:srgbClr val="002A55"/>
                </a:solidFill>
                <a:latin typeface="Calibri"/>
              </a:defRPr>
            </a:pPr>
            <a:r>
              <a:t>Why not just use Accuracy?</a:t>
            </a:r>
          </a:p>
          <a:p>
            <a:pPr algn="l">
              <a:spcAft>
                <a:spcPts val="600"/>
              </a:spcAft>
              <a:defRPr sz="1100" b="0">
                <a:solidFill>
                  <a:srgbClr val="002A55"/>
                </a:solidFill>
                <a:latin typeface="Calibri"/>
              </a:defRPr>
            </a:pPr>
            <a:r>
              <a:t>VSCode tasks dominate (~38% of data). A model that always predicts 'coding_editing'</a:t>
            </a:r>
          </a:p>
          <a:p>
            <a:pPr algn="l">
              <a:spcAft>
                <a:spcPts val="600"/>
              </a:spcAft>
              <a:defRPr sz="1100" b="0">
                <a:solidFill>
                  <a:srgbClr val="002A55"/>
                </a:solidFill>
                <a:latin typeface="Calibri"/>
              </a:defRPr>
            </a:pPr>
            <a:r>
              <a:t>gets ~38% accuracy yet F1 Macro ≈ 0.05 — it learned nothing about the other 7 classes.</a:t>
            </a:r>
          </a:p>
          <a:p>
            <a:pPr algn="l">
              <a:spcAft>
                <a:spcPts val="600"/>
              </a:spcAft>
              <a:defRPr sz="1100" b="0">
                <a:solidFill>
                  <a:srgbClr val="002A55"/>
                </a:solidFill>
                <a:latin typeface="Calibri"/>
              </a:defRPr>
            </a:pPr>
            <a:r>
              <a:t>F1 Macro averages per-class F1 scores, giving equal weight to rare and common classes.</a:t>
            </a:r>
          </a:p>
        </p:txBody>
      </p:sp>
      <p:sp>
        <p:nvSpPr>
          <p:cNvPr id="12" name="Rounded Rectangle 11"/>
          <p:cNvSpPr/>
          <p:nvPr/>
        </p:nvSpPr>
        <p:spPr>
          <a:xfrm>
            <a:off x="1334590" y="2834640"/>
            <a:ext cx="2286000" cy="3200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71750" y="2871216"/>
            <a:ext cx="2103120" cy="274320"/>
          </a:xfrm>
          <a:prstGeom prst="rect">
            <a:avLst/>
          </a:prstGeom>
          <a:noFill/>
        </p:spPr>
        <p:txBody>
          <a:bodyPr wrap="square">
            <a:spAutoFit/>
          </a:bodyPr>
          <a:lstStyle/>
          <a:p>
            <a:pPr algn="l">
              <a:defRPr sz="1000" b="1">
                <a:solidFill>
                  <a:srgbClr val="003D7C"/>
                </a:solidFill>
                <a:latin typeface="Calibri"/>
              </a:defRPr>
            </a:pPr>
            <a:r>
              <a:t>Precision (per class)</a:t>
            </a:r>
          </a:p>
        </p:txBody>
      </p:sp>
      <p:sp>
        <p:nvSpPr>
          <p:cNvPr id="14" name="Rounded Rectangle 13"/>
          <p:cNvSpPr/>
          <p:nvPr/>
        </p:nvSpPr>
        <p:spPr>
          <a:xfrm>
            <a:off x="3666310" y="2834640"/>
            <a:ext cx="2560320" cy="3200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57750" y="2871216"/>
            <a:ext cx="2377440" cy="274320"/>
          </a:xfrm>
          <a:prstGeom prst="rect">
            <a:avLst/>
          </a:prstGeom>
          <a:noFill/>
        </p:spPr>
        <p:txBody>
          <a:bodyPr wrap="square">
            <a:spAutoFit/>
          </a:bodyPr>
          <a:lstStyle/>
          <a:p>
            <a:pPr algn="l">
              <a:defRPr sz="1000" b="0">
                <a:solidFill>
                  <a:srgbClr val="002A55"/>
                </a:solidFill>
                <a:latin typeface="Courier New"/>
              </a:defRPr>
            </a:pPr>
            <a:r>
              <a:t>TP / (TP + FP)</a:t>
            </a:r>
          </a:p>
        </p:txBody>
      </p:sp>
      <p:sp>
        <p:nvSpPr>
          <p:cNvPr id="16" name="Rounded Rectangle 15"/>
          <p:cNvSpPr/>
          <p:nvPr/>
        </p:nvSpPr>
        <p:spPr>
          <a:xfrm>
            <a:off x="6272350" y="2834640"/>
            <a:ext cx="3566160" cy="3200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63790" y="2871216"/>
            <a:ext cx="3383280" cy="274320"/>
          </a:xfrm>
          <a:prstGeom prst="rect">
            <a:avLst/>
          </a:prstGeom>
          <a:noFill/>
        </p:spPr>
        <p:txBody>
          <a:bodyPr wrap="square">
            <a:spAutoFit/>
          </a:bodyPr>
          <a:lstStyle/>
          <a:p>
            <a:pPr algn="l">
              <a:defRPr sz="1000" b="0">
                <a:solidFill>
                  <a:srgbClr val="999999"/>
                </a:solidFill>
                <a:latin typeface="Calibri"/>
              </a:defRPr>
            </a:pPr>
            <a:r>
              <a:t>Of all tasks predicted as class C, how many truly are C?</a:t>
            </a:r>
          </a:p>
        </p:txBody>
      </p:sp>
      <p:sp>
        <p:nvSpPr>
          <p:cNvPr id="18" name="Rounded Rectangle 17"/>
          <p:cNvSpPr/>
          <p:nvPr/>
        </p:nvSpPr>
        <p:spPr>
          <a:xfrm>
            <a:off x="1334590" y="3218688"/>
            <a:ext cx="2286000" cy="32004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71750" y="3255264"/>
            <a:ext cx="2103120" cy="274320"/>
          </a:xfrm>
          <a:prstGeom prst="rect">
            <a:avLst/>
          </a:prstGeom>
          <a:noFill/>
        </p:spPr>
        <p:txBody>
          <a:bodyPr wrap="square">
            <a:spAutoFit/>
          </a:bodyPr>
          <a:lstStyle/>
          <a:p>
            <a:pPr algn="l">
              <a:defRPr sz="1000" b="1">
                <a:solidFill>
                  <a:srgbClr val="003D7C"/>
                </a:solidFill>
                <a:latin typeface="Calibri"/>
              </a:defRPr>
            </a:pPr>
            <a:r>
              <a:t>Recall (per class)</a:t>
            </a:r>
          </a:p>
        </p:txBody>
      </p:sp>
      <p:sp>
        <p:nvSpPr>
          <p:cNvPr id="20" name="Rounded Rectangle 19"/>
          <p:cNvSpPr/>
          <p:nvPr/>
        </p:nvSpPr>
        <p:spPr>
          <a:xfrm>
            <a:off x="3666310" y="3218688"/>
            <a:ext cx="2560320" cy="32004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57750" y="3255264"/>
            <a:ext cx="2377440" cy="274320"/>
          </a:xfrm>
          <a:prstGeom prst="rect">
            <a:avLst/>
          </a:prstGeom>
          <a:noFill/>
        </p:spPr>
        <p:txBody>
          <a:bodyPr wrap="square">
            <a:spAutoFit/>
          </a:bodyPr>
          <a:lstStyle/>
          <a:p>
            <a:pPr algn="l">
              <a:defRPr sz="1000" b="0">
                <a:solidFill>
                  <a:srgbClr val="002A55"/>
                </a:solidFill>
                <a:latin typeface="Courier New"/>
              </a:defRPr>
            </a:pPr>
            <a:r>
              <a:t>TP / (TP + FN)</a:t>
            </a:r>
          </a:p>
        </p:txBody>
      </p:sp>
      <p:sp>
        <p:nvSpPr>
          <p:cNvPr id="22" name="Rounded Rectangle 21"/>
          <p:cNvSpPr/>
          <p:nvPr/>
        </p:nvSpPr>
        <p:spPr>
          <a:xfrm>
            <a:off x="6272350" y="3218688"/>
            <a:ext cx="3566160" cy="32004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63790" y="3255264"/>
            <a:ext cx="3383280" cy="274320"/>
          </a:xfrm>
          <a:prstGeom prst="rect">
            <a:avLst/>
          </a:prstGeom>
          <a:noFill/>
        </p:spPr>
        <p:txBody>
          <a:bodyPr wrap="square">
            <a:spAutoFit/>
          </a:bodyPr>
          <a:lstStyle/>
          <a:p>
            <a:pPr algn="l">
              <a:defRPr sz="1000" b="0">
                <a:solidFill>
                  <a:srgbClr val="999999"/>
                </a:solidFill>
                <a:latin typeface="Calibri"/>
              </a:defRPr>
            </a:pPr>
            <a:r>
              <a:t>Of all true class C tasks, how many did we catch?</a:t>
            </a:r>
          </a:p>
        </p:txBody>
      </p:sp>
      <p:sp>
        <p:nvSpPr>
          <p:cNvPr id="24" name="Rounded Rectangle 23"/>
          <p:cNvSpPr/>
          <p:nvPr/>
        </p:nvSpPr>
        <p:spPr>
          <a:xfrm>
            <a:off x="1334590" y="3602736"/>
            <a:ext cx="2286000" cy="3200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471750" y="3639312"/>
            <a:ext cx="2103120" cy="274320"/>
          </a:xfrm>
          <a:prstGeom prst="rect">
            <a:avLst/>
          </a:prstGeom>
          <a:noFill/>
        </p:spPr>
        <p:txBody>
          <a:bodyPr wrap="square">
            <a:spAutoFit/>
          </a:bodyPr>
          <a:lstStyle/>
          <a:p>
            <a:pPr algn="l">
              <a:defRPr sz="1000" b="1">
                <a:solidFill>
                  <a:srgbClr val="003D7C"/>
                </a:solidFill>
                <a:latin typeface="Calibri"/>
              </a:defRPr>
            </a:pPr>
            <a:r>
              <a:t>F1 per class</a:t>
            </a:r>
          </a:p>
        </p:txBody>
      </p:sp>
      <p:sp>
        <p:nvSpPr>
          <p:cNvPr id="26" name="Rounded Rectangle 25"/>
          <p:cNvSpPr/>
          <p:nvPr/>
        </p:nvSpPr>
        <p:spPr>
          <a:xfrm>
            <a:off x="3666310" y="3602736"/>
            <a:ext cx="2560320" cy="3200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757750" y="3639312"/>
            <a:ext cx="2377440" cy="274320"/>
          </a:xfrm>
          <a:prstGeom prst="rect">
            <a:avLst/>
          </a:prstGeom>
          <a:noFill/>
        </p:spPr>
        <p:txBody>
          <a:bodyPr wrap="square">
            <a:spAutoFit/>
          </a:bodyPr>
          <a:lstStyle/>
          <a:p>
            <a:pPr algn="l">
              <a:defRPr sz="1000" b="0">
                <a:solidFill>
                  <a:srgbClr val="002A55"/>
                </a:solidFill>
                <a:latin typeface="Courier New"/>
              </a:defRPr>
            </a:pPr>
            <a:r>
              <a:t>2 × P × R / (P + R)</a:t>
            </a:r>
          </a:p>
        </p:txBody>
      </p:sp>
      <p:sp>
        <p:nvSpPr>
          <p:cNvPr id="28" name="Rounded Rectangle 27"/>
          <p:cNvSpPr/>
          <p:nvPr/>
        </p:nvSpPr>
        <p:spPr>
          <a:xfrm>
            <a:off x="6272350" y="3602736"/>
            <a:ext cx="3566160" cy="3200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63790" y="3639312"/>
            <a:ext cx="3383280" cy="274320"/>
          </a:xfrm>
          <a:prstGeom prst="rect">
            <a:avLst/>
          </a:prstGeom>
          <a:noFill/>
        </p:spPr>
        <p:txBody>
          <a:bodyPr wrap="square">
            <a:spAutoFit/>
          </a:bodyPr>
          <a:lstStyle/>
          <a:p>
            <a:pPr algn="l">
              <a:defRPr sz="1000" b="0">
                <a:solidFill>
                  <a:srgbClr val="999999"/>
                </a:solidFill>
                <a:latin typeface="Calibri"/>
              </a:defRPr>
            </a:pPr>
            <a:r>
              <a:t>Harmonic mean — balances false positives and false negatives</a:t>
            </a:r>
          </a:p>
        </p:txBody>
      </p:sp>
      <p:sp>
        <p:nvSpPr>
          <p:cNvPr id="30" name="Rounded Rectangle 29"/>
          <p:cNvSpPr/>
          <p:nvPr/>
        </p:nvSpPr>
        <p:spPr>
          <a:xfrm>
            <a:off x="1334590" y="3986784"/>
            <a:ext cx="2286000" cy="32004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471750" y="4023360"/>
            <a:ext cx="2103120" cy="274320"/>
          </a:xfrm>
          <a:prstGeom prst="rect">
            <a:avLst/>
          </a:prstGeom>
          <a:noFill/>
        </p:spPr>
        <p:txBody>
          <a:bodyPr wrap="square">
            <a:spAutoFit/>
          </a:bodyPr>
          <a:lstStyle/>
          <a:p>
            <a:pPr algn="l">
              <a:defRPr sz="1000" b="1">
                <a:solidFill>
                  <a:srgbClr val="003D7C"/>
                </a:solidFill>
                <a:latin typeface="Calibri"/>
              </a:defRPr>
            </a:pPr>
            <a:r>
              <a:t>F1 Macro</a:t>
            </a:r>
          </a:p>
        </p:txBody>
      </p:sp>
      <p:sp>
        <p:nvSpPr>
          <p:cNvPr id="32" name="Rounded Rectangle 31"/>
          <p:cNvSpPr/>
          <p:nvPr/>
        </p:nvSpPr>
        <p:spPr>
          <a:xfrm>
            <a:off x="3666310" y="3986784"/>
            <a:ext cx="2560320" cy="32004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757750" y="4023360"/>
            <a:ext cx="2377440" cy="274320"/>
          </a:xfrm>
          <a:prstGeom prst="rect">
            <a:avLst/>
          </a:prstGeom>
          <a:noFill/>
        </p:spPr>
        <p:txBody>
          <a:bodyPr wrap="square">
            <a:spAutoFit/>
          </a:bodyPr>
          <a:lstStyle/>
          <a:p>
            <a:pPr algn="l">
              <a:defRPr sz="1000" b="0">
                <a:solidFill>
                  <a:srgbClr val="002A55"/>
                </a:solidFill>
                <a:latin typeface="Courier New"/>
              </a:defRPr>
            </a:pPr>
            <a:r>
              <a:t>mean( F1_c  for c in {0..7} )</a:t>
            </a:r>
          </a:p>
        </p:txBody>
      </p:sp>
      <p:sp>
        <p:nvSpPr>
          <p:cNvPr id="34" name="Rounded Rectangle 33"/>
          <p:cNvSpPr/>
          <p:nvPr/>
        </p:nvSpPr>
        <p:spPr>
          <a:xfrm>
            <a:off x="6272350" y="3986784"/>
            <a:ext cx="3566160" cy="32004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63790" y="4023360"/>
            <a:ext cx="3383280" cy="274320"/>
          </a:xfrm>
          <a:prstGeom prst="rect">
            <a:avLst/>
          </a:prstGeom>
          <a:noFill/>
        </p:spPr>
        <p:txBody>
          <a:bodyPr wrap="square">
            <a:spAutoFit/>
          </a:bodyPr>
          <a:lstStyle/>
          <a:p>
            <a:pPr algn="l">
              <a:defRPr sz="1000" b="1">
                <a:solidFill>
                  <a:srgbClr val="28A745"/>
                </a:solidFill>
                <a:latin typeface="Calibri"/>
              </a:defRPr>
            </a:pPr>
            <a:r>
              <a:t>PRIMARY METRIC — unweighted average over all 8 classes</a:t>
            </a:r>
          </a:p>
        </p:txBody>
      </p:sp>
      <p:sp>
        <p:nvSpPr>
          <p:cNvPr id="36" name="Rounded Rectangle 35"/>
          <p:cNvSpPr/>
          <p:nvPr/>
        </p:nvSpPr>
        <p:spPr>
          <a:xfrm>
            <a:off x="1334590" y="4370832"/>
            <a:ext cx="2286000" cy="3200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471750" y="4407408"/>
            <a:ext cx="2103120" cy="274320"/>
          </a:xfrm>
          <a:prstGeom prst="rect">
            <a:avLst/>
          </a:prstGeom>
          <a:noFill/>
        </p:spPr>
        <p:txBody>
          <a:bodyPr wrap="square">
            <a:spAutoFit/>
          </a:bodyPr>
          <a:lstStyle/>
          <a:p>
            <a:pPr algn="l">
              <a:defRPr sz="1000" b="1">
                <a:solidFill>
                  <a:srgbClr val="003D7C"/>
                </a:solidFill>
                <a:latin typeface="Calibri"/>
              </a:defRPr>
            </a:pPr>
            <a:r>
              <a:t>F1 Weighted</a:t>
            </a:r>
          </a:p>
        </p:txBody>
      </p:sp>
      <p:sp>
        <p:nvSpPr>
          <p:cNvPr id="38" name="Rounded Rectangle 37"/>
          <p:cNvSpPr/>
          <p:nvPr/>
        </p:nvSpPr>
        <p:spPr>
          <a:xfrm>
            <a:off x="3666310" y="4370832"/>
            <a:ext cx="2560320" cy="3200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757750" y="4407408"/>
            <a:ext cx="2377440" cy="274320"/>
          </a:xfrm>
          <a:prstGeom prst="rect">
            <a:avLst/>
          </a:prstGeom>
          <a:noFill/>
        </p:spPr>
        <p:txBody>
          <a:bodyPr wrap="square">
            <a:spAutoFit/>
          </a:bodyPr>
          <a:lstStyle/>
          <a:p>
            <a:pPr algn="l">
              <a:defRPr sz="1000" b="0">
                <a:solidFill>
                  <a:srgbClr val="002A55"/>
                </a:solidFill>
                <a:latin typeface="Courier New"/>
              </a:defRPr>
            </a:pPr>
            <a:r>
              <a:t>Σ (support_c / n) × F1_c</a:t>
            </a:r>
          </a:p>
        </p:txBody>
      </p:sp>
      <p:sp>
        <p:nvSpPr>
          <p:cNvPr id="40" name="Rounded Rectangle 39"/>
          <p:cNvSpPr/>
          <p:nvPr/>
        </p:nvSpPr>
        <p:spPr>
          <a:xfrm>
            <a:off x="6272350" y="4370832"/>
            <a:ext cx="3566160" cy="3200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363790" y="4407408"/>
            <a:ext cx="3383280" cy="274320"/>
          </a:xfrm>
          <a:prstGeom prst="rect">
            <a:avLst/>
          </a:prstGeom>
          <a:noFill/>
        </p:spPr>
        <p:txBody>
          <a:bodyPr wrap="square">
            <a:spAutoFit/>
          </a:bodyPr>
          <a:lstStyle/>
          <a:p>
            <a:pPr algn="l">
              <a:defRPr sz="1000" b="0">
                <a:solidFill>
                  <a:srgbClr val="999999"/>
                </a:solidFill>
                <a:latin typeface="Calibri"/>
              </a:defRPr>
            </a:pPr>
            <a:r>
              <a:t>Weighted by class frequency — less useful here</a:t>
            </a:r>
          </a:p>
        </p:txBody>
      </p:sp>
      <p:sp>
        <p:nvSpPr>
          <p:cNvPr id="42" name="Rounded Rectangle 41"/>
          <p:cNvSpPr/>
          <p:nvPr/>
        </p:nvSpPr>
        <p:spPr>
          <a:xfrm>
            <a:off x="1334590" y="4754880"/>
            <a:ext cx="2286000" cy="32004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471750" y="4791456"/>
            <a:ext cx="2103120" cy="274320"/>
          </a:xfrm>
          <a:prstGeom prst="rect">
            <a:avLst/>
          </a:prstGeom>
          <a:noFill/>
        </p:spPr>
        <p:txBody>
          <a:bodyPr wrap="square">
            <a:spAutoFit/>
          </a:bodyPr>
          <a:lstStyle/>
          <a:p>
            <a:pPr algn="l">
              <a:defRPr sz="1000" b="1">
                <a:solidFill>
                  <a:srgbClr val="003D7C"/>
                </a:solidFill>
                <a:latin typeface="Calibri"/>
              </a:defRPr>
            </a:pPr>
            <a:r>
              <a:t>ROC-AUC (OvR)</a:t>
            </a:r>
          </a:p>
        </p:txBody>
      </p:sp>
      <p:sp>
        <p:nvSpPr>
          <p:cNvPr id="44" name="Rounded Rectangle 43"/>
          <p:cNvSpPr/>
          <p:nvPr/>
        </p:nvSpPr>
        <p:spPr>
          <a:xfrm>
            <a:off x="3666310" y="4754880"/>
            <a:ext cx="2560320" cy="32004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757750" y="4791456"/>
            <a:ext cx="2377440" cy="274320"/>
          </a:xfrm>
          <a:prstGeom prst="rect">
            <a:avLst/>
          </a:prstGeom>
          <a:noFill/>
        </p:spPr>
        <p:txBody>
          <a:bodyPr wrap="square">
            <a:spAutoFit/>
          </a:bodyPr>
          <a:lstStyle/>
          <a:p>
            <a:pPr algn="l">
              <a:defRPr sz="1000" b="0">
                <a:solidFill>
                  <a:srgbClr val="002A55"/>
                </a:solidFill>
                <a:latin typeface="Courier New"/>
              </a:defRPr>
            </a:pPr>
            <a:r>
              <a:t>Area under ROC curve (one-vs-rest)</a:t>
            </a:r>
          </a:p>
        </p:txBody>
      </p:sp>
      <p:sp>
        <p:nvSpPr>
          <p:cNvPr id="46" name="Rounded Rectangle 45"/>
          <p:cNvSpPr/>
          <p:nvPr/>
        </p:nvSpPr>
        <p:spPr>
          <a:xfrm>
            <a:off x="6272350" y="4754880"/>
            <a:ext cx="3566160" cy="32004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363790" y="4791456"/>
            <a:ext cx="3383280" cy="274320"/>
          </a:xfrm>
          <a:prstGeom prst="rect">
            <a:avLst/>
          </a:prstGeom>
          <a:noFill/>
        </p:spPr>
        <p:txBody>
          <a:bodyPr wrap="square">
            <a:spAutoFit/>
          </a:bodyPr>
          <a:lstStyle/>
          <a:p>
            <a:pPr algn="l">
              <a:defRPr sz="1000" b="0">
                <a:solidFill>
                  <a:srgbClr val="999999"/>
                </a:solidFill>
                <a:latin typeface="Calibri"/>
              </a:defRPr>
            </a:pPr>
            <a:r>
              <a:t>Discrimination ability; reported per class</a:t>
            </a:r>
          </a:p>
        </p:txBody>
      </p:sp>
      <p:sp>
        <p:nvSpPr>
          <p:cNvPr id="48" name="Rectangle 4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50" name="Rectangle 49"/>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nus_iss_logo_transparent.png"/>
          <p:cNvPicPr>
            <a:picLocks noChangeAspect="1"/>
          </p:cNvPicPr>
          <p:nvPr/>
        </p:nvPicPr>
        <p:blipFill>
          <a:blip r:embed="rId2"/>
          <a:stretch>
            <a:fillRect/>
          </a:stretch>
        </p:blipFill>
        <p:spPr>
          <a:xfrm>
            <a:off x="9555480" y="82296"/>
            <a:ext cx="2514600" cy="58521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3D7C"/>
        </a:solidFill>
        <a:effectLst/>
      </p:bgPr>
    </p:bg>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91440"/>
            <a:ext cx="8686800" cy="640080"/>
          </a:xfrm>
          <a:prstGeom prst="rect">
            <a:avLst/>
          </a:prstGeom>
          <a:noFill/>
        </p:spPr>
        <p:txBody>
          <a:bodyPr wrap="square">
            <a:spAutoFit/>
          </a:bodyPr>
          <a:lstStyle/>
          <a:p>
            <a:pPr algn="l">
              <a:defRPr sz="3200" b="1">
                <a:solidFill>
                  <a:srgbClr val="FFFFFF"/>
                </a:solidFill>
                <a:latin typeface="Calibri"/>
              </a:defRPr>
            </a:pPr>
            <a:r>
              <a:t>Training Results — 6 Selected Models (v3b)</a:t>
            </a:r>
          </a:p>
        </p:txBody>
      </p:sp>
      <p:sp>
        <p:nvSpPr>
          <p:cNvPr id="7" name="TextBox 6"/>
          <p:cNvSpPr txBox="1"/>
          <p:nvPr/>
        </p:nvSpPr>
        <p:spPr>
          <a:xfrm>
            <a:off x="1188719" y="594360"/>
            <a:ext cx="9664337" cy="400110"/>
          </a:xfrm>
          <a:prstGeom prst="rect">
            <a:avLst/>
          </a:prstGeom>
          <a:noFill/>
        </p:spPr>
        <p:txBody>
          <a:bodyPr wrap="square">
            <a:spAutoFit/>
          </a:bodyPr>
          <a:lstStyle/>
          <a:p>
            <a:pPr algn="l">
              <a:defRPr sz="2000" b="0">
                <a:solidFill>
                  <a:srgbClr val="FFFFFF"/>
                </a:solidFill>
                <a:latin typeface="Calibri"/>
              </a:defRPr>
            </a:pPr>
            <a:r>
              <a:rPr dirty="0"/>
              <a:t>6 models spanning Tier 1/2/3 — Voting best, classical ML beats deep learning here</a:t>
            </a:r>
          </a:p>
        </p:txBody>
      </p:sp>
      <p:sp>
        <p:nvSpPr>
          <p:cNvPr id="8" name="Rectangle 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0" name="Rounded Rectangle 9"/>
          <p:cNvSpPr/>
          <p:nvPr/>
        </p:nvSpPr>
        <p:spPr>
          <a:xfrm>
            <a:off x="1341120" y="1417320"/>
            <a:ext cx="274320" cy="27432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defRPr>
            </a:pPr>
            <a:r>
              <a:t>#</a:t>
            </a:r>
          </a:p>
        </p:txBody>
      </p:sp>
      <p:sp>
        <p:nvSpPr>
          <p:cNvPr id="11" name="Rounded Rectangle 10"/>
          <p:cNvSpPr/>
          <p:nvPr/>
        </p:nvSpPr>
        <p:spPr>
          <a:xfrm>
            <a:off x="1661160" y="1417320"/>
            <a:ext cx="2286000" cy="27432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defRPr>
            </a:pPr>
            <a:r>
              <a:t>Model</a:t>
            </a:r>
          </a:p>
        </p:txBody>
      </p:sp>
      <p:sp>
        <p:nvSpPr>
          <p:cNvPr id="12" name="Rounded Rectangle 11"/>
          <p:cNvSpPr/>
          <p:nvPr/>
        </p:nvSpPr>
        <p:spPr>
          <a:xfrm>
            <a:off x="3992880" y="1417320"/>
            <a:ext cx="1188720" cy="27432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defRPr>
            </a:pPr>
            <a:r>
              <a:t>Tier</a:t>
            </a:r>
          </a:p>
        </p:txBody>
      </p:sp>
      <p:sp>
        <p:nvSpPr>
          <p:cNvPr id="13" name="Rounded Rectangle 12"/>
          <p:cNvSpPr/>
          <p:nvPr/>
        </p:nvSpPr>
        <p:spPr>
          <a:xfrm>
            <a:off x="5227320" y="1417320"/>
            <a:ext cx="1005840" cy="27432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defRPr>
            </a:pPr>
            <a:r>
              <a:t>Accuracy</a:t>
            </a:r>
          </a:p>
        </p:txBody>
      </p:sp>
      <p:sp>
        <p:nvSpPr>
          <p:cNvPr id="14" name="Rounded Rectangle 13"/>
          <p:cNvSpPr/>
          <p:nvPr/>
        </p:nvSpPr>
        <p:spPr>
          <a:xfrm>
            <a:off x="6278880" y="1417320"/>
            <a:ext cx="1143000" cy="27432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defRPr>
            </a:pPr>
            <a:r>
              <a:t>F1 Macro</a:t>
            </a:r>
          </a:p>
        </p:txBody>
      </p:sp>
      <p:sp>
        <p:nvSpPr>
          <p:cNvPr id="15" name="Rounded Rectangle 14"/>
          <p:cNvSpPr/>
          <p:nvPr/>
        </p:nvSpPr>
        <p:spPr>
          <a:xfrm>
            <a:off x="7467600" y="1417320"/>
            <a:ext cx="1280160" cy="27432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defRPr>
            </a:pPr>
            <a:r>
              <a:t>Latency</a:t>
            </a:r>
          </a:p>
        </p:txBody>
      </p:sp>
      <p:sp>
        <p:nvSpPr>
          <p:cNvPr id="16" name="Rounded Rectangle 15"/>
          <p:cNvSpPr/>
          <p:nvPr/>
        </p:nvSpPr>
        <p:spPr>
          <a:xfrm>
            <a:off x="1341120" y="1691640"/>
            <a:ext cx="27432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86840" y="1719072"/>
            <a:ext cx="182880" cy="201168"/>
          </a:xfrm>
          <a:prstGeom prst="rect">
            <a:avLst/>
          </a:prstGeom>
          <a:noFill/>
        </p:spPr>
        <p:txBody>
          <a:bodyPr wrap="square">
            <a:spAutoFit/>
          </a:bodyPr>
          <a:lstStyle/>
          <a:p>
            <a:pPr algn="l">
              <a:defRPr sz="900" b="1">
                <a:solidFill>
                  <a:srgbClr val="002A55"/>
                </a:solidFill>
                <a:latin typeface="Calibri"/>
              </a:defRPr>
            </a:pPr>
            <a:r>
              <a:t>1</a:t>
            </a:r>
          </a:p>
        </p:txBody>
      </p:sp>
      <p:sp>
        <p:nvSpPr>
          <p:cNvPr id="18" name="Rounded Rectangle 17"/>
          <p:cNvSpPr/>
          <p:nvPr/>
        </p:nvSpPr>
        <p:spPr>
          <a:xfrm>
            <a:off x="1661160" y="1691640"/>
            <a:ext cx="228600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706880" y="1719072"/>
            <a:ext cx="2194560" cy="201168"/>
          </a:xfrm>
          <a:prstGeom prst="rect">
            <a:avLst/>
          </a:prstGeom>
          <a:noFill/>
        </p:spPr>
        <p:txBody>
          <a:bodyPr wrap="square">
            <a:spAutoFit/>
          </a:bodyPr>
          <a:lstStyle/>
          <a:p>
            <a:pPr algn="l">
              <a:defRPr sz="900" b="1">
                <a:solidFill>
                  <a:srgbClr val="28A745"/>
                </a:solidFill>
                <a:latin typeface="Calibri"/>
              </a:defRPr>
            </a:pPr>
            <a:r>
              <a:t>Voting (Tier 3)</a:t>
            </a:r>
          </a:p>
        </p:txBody>
      </p:sp>
      <p:sp>
        <p:nvSpPr>
          <p:cNvPr id="20" name="Rounded Rectangle 19"/>
          <p:cNvSpPr/>
          <p:nvPr/>
        </p:nvSpPr>
        <p:spPr>
          <a:xfrm>
            <a:off x="3992880" y="1691640"/>
            <a:ext cx="118872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038600" y="1719072"/>
            <a:ext cx="1097280" cy="201168"/>
          </a:xfrm>
          <a:prstGeom prst="rect">
            <a:avLst/>
          </a:prstGeom>
          <a:noFill/>
        </p:spPr>
        <p:txBody>
          <a:bodyPr wrap="square">
            <a:spAutoFit/>
          </a:bodyPr>
          <a:lstStyle/>
          <a:p>
            <a:pPr algn="l">
              <a:defRPr sz="900" b="1">
                <a:solidFill>
                  <a:srgbClr val="002A55"/>
                </a:solidFill>
                <a:latin typeface="Calibri"/>
              </a:defRPr>
            </a:pPr>
            <a:r>
              <a:t>tier3</a:t>
            </a:r>
          </a:p>
        </p:txBody>
      </p:sp>
      <p:sp>
        <p:nvSpPr>
          <p:cNvPr id="22" name="Rounded Rectangle 21"/>
          <p:cNvSpPr/>
          <p:nvPr/>
        </p:nvSpPr>
        <p:spPr>
          <a:xfrm>
            <a:off x="5227320" y="1691640"/>
            <a:ext cx="100584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273040" y="1719072"/>
            <a:ext cx="914400" cy="201168"/>
          </a:xfrm>
          <a:prstGeom prst="rect">
            <a:avLst/>
          </a:prstGeom>
          <a:noFill/>
        </p:spPr>
        <p:txBody>
          <a:bodyPr wrap="square">
            <a:spAutoFit/>
          </a:bodyPr>
          <a:lstStyle/>
          <a:p>
            <a:pPr algn="l">
              <a:defRPr sz="900" b="1">
                <a:solidFill>
                  <a:srgbClr val="002A55"/>
                </a:solidFill>
                <a:latin typeface="Calibri"/>
              </a:defRPr>
            </a:pPr>
            <a:r>
              <a:t>0.891</a:t>
            </a:r>
          </a:p>
        </p:txBody>
      </p:sp>
      <p:sp>
        <p:nvSpPr>
          <p:cNvPr id="24" name="Rounded Rectangle 23"/>
          <p:cNvSpPr/>
          <p:nvPr/>
        </p:nvSpPr>
        <p:spPr>
          <a:xfrm>
            <a:off x="6278880" y="1691640"/>
            <a:ext cx="114300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24600" y="1719072"/>
            <a:ext cx="1051560" cy="201168"/>
          </a:xfrm>
          <a:prstGeom prst="rect">
            <a:avLst/>
          </a:prstGeom>
          <a:noFill/>
        </p:spPr>
        <p:txBody>
          <a:bodyPr wrap="square">
            <a:spAutoFit/>
          </a:bodyPr>
          <a:lstStyle/>
          <a:p>
            <a:pPr algn="l">
              <a:defRPr sz="900" b="1">
                <a:solidFill>
                  <a:srgbClr val="28A745"/>
                </a:solidFill>
                <a:latin typeface="Calibri"/>
              </a:defRPr>
            </a:pPr>
            <a:r>
              <a:t>0.884</a:t>
            </a:r>
          </a:p>
        </p:txBody>
      </p:sp>
      <p:sp>
        <p:nvSpPr>
          <p:cNvPr id="26" name="Rounded Rectangle 25"/>
          <p:cNvSpPr/>
          <p:nvPr/>
        </p:nvSpPr>
        <p:spPr>
          <a:xfrm>
            <a:off x="7467600" y="1691640"/>
            <a:ext cx="128016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513320" y="1719072"/>
            <a:ext cx="1188720" cy="201168"/>
          </a:xfrm>
          <a:prstGeom prst="rect">
            <a:avLst/>
          </a:prstGeom>
          <a:noFill/>
        </p:spPr>
        <p:txBody>
          <a:bodyPr wrap="square">
            <a:spAutoFit/>
          </a:bodyPr>
          <a:lstStyle/>
          <a:p>
            <a:pPr algn="l">
              <a:defRPr sz="900" b="1">
                <a:solidFill>
                  <a:srgbClr val="002A55"/>
                </a:solidFill>
                <a:latin typeface="Calibri"/>
              </a:defRPr>
            </a:pPr>
            <a:r>
              <a:t>84 ms</a:t>
            </a:r>
          </a:p>
        </p:txBody>
      </p:sp>
      <p:sp>
        <p:nvSpPr>
          <p:cNvPr id="28" name="Rounded Rectangle 27"/>
          <p:cNvSpPr/>
          <p:nvPr/>
        </p:nvSpPr>
        <p:spPr>
          <a:xfrm>
            <a:off x="1341120" y="1956816"/>
            <a:ext cx="27432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1661160" y="1956816"/>
            <a:ext cx="228600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3992880" y="1956816"/>
            <a:ext cx="118872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5227320" y="1956816"/>
            <a:ext cx="100584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278880" y="1956816"/>
            <a:ext cx="114300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7467600" y="1956816"/>
            <a:ext cx="128016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1341120" y="2221992"/>
            <a:ext cx="27432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386840" y="2249424"/>
            <a:ext cx="182880" cy="201168"/>
          </a:xfrm>
          <a:prstGeom prst="rect">
            <a:avLst/>
          </a:prstGeom>
          <a:noFill/>
        </p:spPr>
        <p:txBody>
          <a:bodyPr wrap="square">
            <a:spAutoFit/>
          </a:bodyPr>
          <a:lstStyle/>
          <a:p>
            <a:pPr algn="l">
              <a:defRPr sz="900" b="0">
                <a:solidFill>
                  <a:srgbClr val="002A55"/>
                </a:solidFill>
                <a:latin typeface="Calibri"/>
              </a:defRPr>
            </a:pPr>
            <a:r>
              <a:t>3</a:t>
            </a:r>
          </a:p>
        </p:txBody>
      </p:sp>
      <p:sp>
        <p:nvSpPr>
          <p:cNvPr id="42" name="Rounded Rectangle 41"/>
          <p:cNvSpPr/>
          <p:nvPr/>
        </p:nvSpPr>
        <p:spPr>
          <a:xfrm>
            <a:off x="1661160" y="2221992"/>
            <a:ext cx="228600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706880" y="2249424"/>
            <a:ext cx="2194560" cy="201168"/>
          </a:xfrm>
          <a:prstGeom prst="rect">
            <a:avLst/>
          </a:prstGeom>
          <a:noFill/>
        </p:spPr>
        <p:txBody>
          <a:bodyPr wrap="square">
            <a:spAutoFit/>
          </a:bodyPr>
          <a:lstStyle/>
          <a:p>
            <a:pPr algn="l">
              <a:defRPr sz="900" b="0">
                <a:solidFill>
                  <a:srgbClr val="28A745"/>
                </a:solidFill>
                <a:latin typeface="Calibri"/>
              </a:defRPr>
            </a:pPr>
            <a:r>
              <a:t>Late Fusion (T3)</a:t>
            </a:r>
          </a:p>
        </p:txBody>
      </p:sp>
      <p:sp>
        <p:nvSpPr>
          <p:cNvPr id="44" name="Rounded Rectangle 43"/>
          <p:cNvSpPr/>
          <p:nvPr/>
        </p:nvSpPr>
        <p:spPr>
          <a:xfrm>
            <a:off x="3992880" y="2221992"/>
            <a:ext cx="118872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038600" y="2249424"/>
            <a:ext cx="1097280" cy="201168"/>
          </a:xfrm>
          <a:prstGeom prst="rect">
            <a:avLst/>
          </a:prstGeom>
          <a:noFill/>
        </p:spPr>
        <p:txBody>
          <a:bodyPr wrap="square">
            <a:spAutoFit/>
          </a:bodyPr>
          <a:lstStyle/>
          <a:p>
            <a:pPr algn="l">
              <a:defRPr sz="900" b="0">
                <a:solidFill>
                  <a:srgbClr val="002A55"/>
                </a:solidFill>
                <a:latin typeface="Calibri"/>
              </a:defRPr>
            </a:pPr>
            <a:r>
              <a:t>tier3</a:t>
            </a:r>
          </a:p>
        </p:txBody>
      </p:sp>
      <p:sp>
        <p:nvSpPr>
          <p:cNvPr id="46" name="Rounded Rectangle 45"/>
          <p:cNvSpPr/>
          <p:nvPr/>
        </p:nvSpPr>
        <p:spPr>
          <a:xfrm>
            <a:off x="5227320" y="2221992"/>
            <a:ext cx="100584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273040" y="2249424"/>
            <a:ext cx="914400" cy="201168"/>
          </a:xfrm>
          <a:prstGeom prst="rect">
            <a:avLst/>
          </a:prstGeom>
          <a:noFill/>
        </p:spPr>
        <p:txBody>
          <a:bodyPr wrap="square">
            <a:spAutoFit/>
          </a:bodyPr>
          <a:lstStyle/>
          <a:p>
            <a:pPr algn="l">
              <a:defRPr sz="900" b="0">
                <a:solidFill>
                  <a:srgbClr val="002A55"/>
                </a:solidFill>
                <a:latin typeface="Calibri"/>
              </a:defRPr>
            </a:pPr>
            <a:r>
              <a:t>0.875</a:t>
            </a:r>
          </a:p>
        </p:txBody>
      </p:sp>
      <p:sp>
        <p:nvSpPr>
          <p:cNvPr id="48" name="Rounded Rectangle 47"/>
          <p:cNvSpPr/>
          <p:nvPr/>
        </p:nvSpPr>
        <p:spPr>
          <a:xfrm>
            <a:off x="6278880" y="2221992"/>
            <a:ext cx="114300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324600" y="2249424"/>
            <a:ext cx="1051560" cy="201168"/>
          </a:xfrm>
          <a:prstGeom prst="rect">
            <a:avLst/>
          </a:prstGeom>
          <a:noFill/>
        </p:spPr>
        <p:txBody>
          <a:bodyPr wrap="square">
            <a:spAutoFit/>
          </a:bodyPr>
          <a:lstStyle/>
          <a:p>
            <a:pPr algn="l">
              <a:defRPr sz="900" b="0">
                <a:solidFill>
                  <a:srgbClr val="002A55"/>
                </a:solidFill>
                <a:latin typeface="Calibri"/>
              </a:defRPr>
            </a:pPr>
            <a:r>
              <a:t>0.861</a:t>
            </a:r>
          </a:p>
        </p:txBody>
      </p:sp>
      <p:sp>
        <p:nvSpPr>
          <p:cNvPr id="50" name="Rounded Rectangle 49"/>
          <p:cNvSpPr/>
          <p:nvPr/>
        </p:nvSpPr>
        <p:spPr>
          <a:xfrm>
            <a:off x="7467600" y="2221992"/>
            <a:ext cx="128016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513320" y="2249424"/>
            <a:ext cx="1188720" cy="201168"/>
          </a:xfrm>
          <a:prstGeom prst="rect">
            <a:avLst/>
          </a:prstGeom>
          <a:noFill/>
        </p:spPr>
        <p:txBody>
          <a:bodyPr wrap="square">
            <a:spAutoFit/>
          </a:bodyPr>
          <a:lstStyle/>
          <a:p>
            <a:pPr algn="l">
              <a:defRPr sz="900" b="0">
                <a:solidFill>
                  <a:srgbClr val="002A55"/>
                </a:solidFill>
                <a:latin typeface="Calibri"/>
              </a:defRPr>
            </a:pPr>
            <a:r>
              <a:t>78 ms</a:t>
            </a:r>
          </a:p>
        </p:txBody>
      </p:sp>
      <p:sp>
        <p:nvSpPr>
          <p:cNvPr id="52" name="Rounded Rectangle 51"/>
          <p:cNvSpPr/>
          <p:nvPr/>
        </p:nvSpPr>
        <p:spPr>
          <a:xfrm>
            <a:off x="1341120" y="2487168"/>
            <a:ext cx="27432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1661160" y="2487168"/>
            <a:ext cx="228600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55"/>
          <p:cNvSpPr/>
          <p:nvPr/>
        </p:nvSpPr>
        <p:spPr>
          <a:xfrm>
            <a:off x="3992880" y="2487168"/>
            <a:ext cx="118872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5227320" y="2487168"/>
            <a:ext cx="100584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6278880" y="2487168"/>
            <a:ext cx="114300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p:cNvSpPr/>
          <p:nvPr/>
        </p:nvSpPr>
        <p:spPr>
          <a:xfrm>
            <a:off x="7467600" y="2487168"/>
            <a:ext cx="128016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3"/>
          <p:cNvSpPr/>
          <p:nvPr/>
        </p:nvSpPr>
        <p:spPr>
          <a:xfrm>
            <a:off x="1341120" y="2752344"/>
            <a:ext cx="27432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1386840" y="2779776"/>
            <a:ext cx="182880" cy="201168"/>
          </a:xfrm>
          <a:prstGeom prst="rect">
            <a:avLst/>
          </a:prstGeom>
          <a:noFill/>
        </p:spPr>
        <p:txBody>
          <a:bodyPr wrap="square">
            <a:spAutoFit/>
          </a:bodyPr>
          <a:lstStyle/>
          <a:p>
            <a:pPr algn="l">
              <a:defRPr sz="900" b="0">
                <a:solidFill>
                  <a:srgbClr val="002A55"/>
                </a:solidFill>
                <a:latin typeface="Calibri"/>
              </a:defRPr>
            </a:pPr>
            <a:r>
              <a:t>5</a:t>
            </a:r>
          </a:p>
        </p:txBody>
      </p:sp>
      <p:sp>
        <p:nvSpPr>
          <p:cNvPr id="66" name="Rounded Rectangle 65"/>
          <p:cNvSpPr/>
          <p:nvPr/>
        </p:nvSpPr>
        <p:spPr>
          <a:xfrm>
            <a:off x="1661160" y="2752344"/>
            <a:ext cx="228600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706880" y="2779776"/>
            <a:ext cx="2194560" cy="201168"/>
          </a:xfrm>
          <a:prstGeom prst="rect">
            <a:avLst/>
          </a:prstGeom>
          <a:noFill/>
        </p:spPr>
        <p:txBody>
          <a:bodyPr wrap="square">
            <a:spAutoFit/>
          </a:bodyPr>
          <a:lstStyle/>
          <a:p>
            <a:pPr algn="l">
              <a:defRPr sz="900" b="0">
                <a:solidFill>
                  <a:srgbClr val="007ACC"/>
                </a:solidFill>
                <a:latin typeface="Calibri"/>
              </a:defRPr>
            </a:pPr>
            <a:r>
              <a:t>Random Forest</a:t>
            </a:r>
          </a:p>
        </p:txBody>
      </p:sp>
      <p:sp>
        <p:nvSpPr>
          <p:cNvPr id="68" name="Rounded Rectangle 67"/>
          <p:cNvSpPr/>
          <p:nvPr/>
        </p:nvSpPr>
        <p:spPr>
          <a:xfrm>
            <a:off x="3992880" y="2752344"/>
            <a:ext cx="118872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4038600" y="2779776"/>
            <a:ext cx="1097280" cy="201168"/>
          </a:xfrm>
          <a:prstGeom prst="rect">
            <a:avLst/>
          </a:prstGeom>
          <a:noFill/>
        </p:spPr>
        <p:txBody>
          <a:bodyPr wrap="square">
            <a:spAutoFit/>
          </a:bodyPr>
          <a:lstStyle/>
          <a:p>
            <a:pPr algn="l">
              <a:defRPr sz="900" b="0">
                <a:solidFill>
                  <a:srgbClr val="002A55"/>
                </a:solidFill>
                <a:latin typeface="Calibri"/>
              </a:defRPr>
            </a:pPr>
            <a:r>
              <a:t>tier1</a:t>
            </a:r>
          </a:p>
        </p:txBody>
      </p:sp>
      <p:sp>
        <p:nvSpPr>
          <p:cNvPr id="70" name="Rounded Rectangle 69"/>
          <p:cNvSpPr/>
          <p:nvPr/>
        </p:nvSpPr>
        <p:spPr>
          <a:xfrm>
            <a:off x="5227320" y="2752344"/>
            <a:ext cx="100584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5273040" y="2779776"/>
            <a:ext cx="914400" cy="201168"/>
          </a:xfrm>
          <a:prstGeom prst="rect">
            <a:avLst/>
          </a:prstGeom>
          <a:noFill/>
        </p:spPr>
        <p:txBody>
          <a:bodyPr wrap="square">
            <a:spAutoFit/>
          </a:bodyPr>
          <a:lstStyle/>
          <a:p>
            <a:pPr algn="l">
              <a:defRPr sz="900" b="0">
                <a:solidFill>
                  <a:srgbClr val="002A55"/>
                </a:solidFill>
                <a:latin typeface="Calibri"/>
              </a:defRPr>
            </a:pPr>
            <a:r>
              <a:t>0.855</a:t>
            </a:r>
          </a:p>
        </p:txBody>
      </p:sp>
      <p:sp>
        <p:nvSpPr>
          <p:cNvPr id="72" name="Rounded Rectangle 71"/>
          <p:cNvSpPr/>
          <p:nvPr/>
        </p:nvSpPr>
        <p:spPr>
          <a:xfrm>
            <a:off x="6278880" y="2752344"/>
            <a:ext cx="114300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324600" y="2779776"/>
            <a:ext cx="1051560" cy="201168"/>
          </a:xfrm>
          <a:prstGeom prst="rect">
            <a:avLst/>
          </a:prstGeom>
          <a:noFill/>
        </p:spPr>
        <p:txBody>
          <a:bodyPr wrap="square">
            <a:spAutoFit/>
          </a:bodyPr>
          <a:lstStyle/>
          <a:p>
            <a:pPr algn="l">
              <a:defRPr sz="900" b="0">
                <a:solidFill>
                  <a:srgbClr val="002A55"/>
                </a:solidFill>
                <a:latin typeface="Calibri"/>
              </a:defRPr>
            </a:pPr>
            <a:r>
              <a:t>0.841</a:t>
            </a:r>
          </a:p>
        </p:txBody>
      </p:sp>
      <p:sp>
        <p:nvSpPr>
          <p:cNvPr id="74" name="Rounded Rectangle 73"/>
          <p:cNvSpPr/>
          <p:nvPr/>
        </p:nvSpPr>
        <p:spPr>
          <a:xfrm>
            <a:off x="7467600" y="2752344"/>
            <a:ext cx="128016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7513320" y="2779776"/>
            <a:ext cx="1188720" cy="201168"/>
          </a:xfrm>
          <a:prstGeom prst="rect">
            <a:avLst/>
          </a:prstGeom>
          <a:noFill/>
        </p:spPr>
        <p:txBody>
          <a:bodyPr wrap="square">
            <a:spAutoFit/>
          </a:bodyPr>
          <a:lstStyle/>
          <a:p>
            <a:pPr algn="l">
              <a:defRPr sz="900" b="0">
                <a:solidFill>
                  <a:srgbClr val="002A55"/>
                </a:solidFill>
                <a:latin typeface="Calibri"/>
              </a:defRPr>
            </a:pPr>
            <a:r>
              <a:t>103 ms</a:t>
            </a:r>
          </a:p>
        </p:txBody>
      </p:sp>
      <p:sp>
        <p:nvSpPr>
          <p:cNvPr id="76" name="Rounded Rectangle 75"/>
          <p:cNvSpPr/>
          <p:nvPr/>
        </p:nvSpPr>
        <p:spPr>
          <a:xfrm>
            <a:off x="1341120" y="3017520"/>
            <a:ext cx="27432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1386840" y="3044952"/>
            <a:ext cx="182880" cy="201168"/>
          </a:xfrm>
          <a:prstGeom prst="rect">
            <a:avLst/>
          </a:prstGeom>
          <a:noFill/>
        </p:spPr>
        <p:txBody>
          <a:bodyPr wrap="square">
            <a:spAutoFit/>
          </a:bodyPr>
          <a:lstStyle/>
          <a:p>
            <a:pPr algn="l">
              <a:defRPr sz="900" b="0">
                <a:solidFill>
                  <a:srgbClr val="002A55"/>
                </a:solidFill>
                <a:latin typeface="Calibri"/>
              </a:defRPr>
            </a:pPr>
            <a:r>
              <a:t>6</a:t>
            </a:r>
          </a:p>
        </p:txBody>
      </p:sp>
      <p:sp>
        <p:nvSpPr>
          <p:cNvPr id="78" name="Rounded Rectangle 77"/>
          <p:cNvSpPr/>
          <p:nvPr/>
        </p:nvSpPr>
        <p:spPr>
          <a:xfrm>
            <a:off x="1661160" y="3017520"/>
            <a:ext cx="228600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1706880" y="3044952"/>
            <a:ext cx="2194560" cy="201168"/>
          </a:xfrm>
          <a:prstGeom prst="rect">
            <a:avLst/>
          </a:prstGeom>
          <a:noFill/>
        </p:spPr>
        <p:txBody>
          <a:bodyPr wrap="square">
            <a:spAutoFit/>
          </a:bodyPr>
          <a:lstStyle/>
          <a:p>
            <a:pPr algn="l">
              <a:defRPr sz="900" b="0">
                <a:solidFill>
                  <a:srgbClr val="007ACC"/>
                </a:solidFill>
                <a:latin typeface="Calibri"/>
              </a:defRPr>
            </a:pPr>
            <a:r>
              <a:t>SVM</a:t>
            </a:r>
          </a:p>
        </p:txBody>
      </p:sp>
      <p:sp>
        <p:nvSpPr>
          <p:cNvPr id="80" name="Rounded Rectangle 79"/>
          <p:cNvSpPr/>
          <p:nvPr/>
        </p:nvSpPr>
        <p:spPr>
          <a:xfrm>
            <a:off x="3992880" y="3017520"/>
            <a:ext cx="118872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4038600" y="3044952"/>
            <a:ext cx="1097280" cy="201168"/>
          </a:xfrm>
          <a:prstGeom prst="rect">
            <a:avLst/>
          </a:prstGeom>
          <a:noFill/>
        </p:spPr>
        <p:txBody>
          <a:bodyPr wrap="square">
            <a:spAutoFit/>
          </a:bodyPr>
          <a:lstStyle/>
          <a:p>
            <a:pPr algn="l">
              <a:defRPr sz="900" b="0">
                <a:solidFill>
                  <a:srgbClr val="002A55"/>
                </a:solidFill>
                <a:latin typeface="Calibri"/>
              </a:defRPr>
            </a:pPr>
            <a:r>
              <a:t>tier1</a:t>
            </a:r>
          </a:p>
        </p:txBody>
      </p:sp>
      <p:sp>
        <p:nvSpPr>
          <p:cNvPr id="82" name="Rounded Rectangle 81"/>
          <p:cNvSpPr/>
          <p:nvPr/>
        </p:nvSpPr>
        <p:spPr>
          <a:xfrm>
            <a:off x="5227320" y="3017520"/>
            <a:ext cx="100584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5273040" y="3044952"/>
            <a:ext cx="914400" cy="201168"/>
          </a:xfrm>
          <a:prstGeom prst="rect">
            <a:avLst/>
          </a:prstGeom>
          <a:noFill/>
        </p:spPr>
        <p:txBody>
          <a:bodyPr wrap="square">
            <a:spAutoFit/>
          </a:bodyPr>
          <a:lstStyle/>
          <a:p>
            <a:pPr algn="l">
              <a:defRPr sz="900" b="0">
                <a:solidFill>
                  <a:srgbClr val="002A55"/>
                </a:solidFill>
                <a:latin typeface="Calibri"/>
              </a:defRPr>
            </a:pPr>
            <a:r>
              <a:t>0.836</a:t>
            </a:r>
          </a:p>
        </p:txBody>
      </p:sp>
      <p:sp>
        <p:nvSpPr>
          <p:cNvPr id="84" name="Rounded Rectangle 83"/>
          <p:cNvSpPr/>
          <p:nvPr/>
        </p:nvSpPr>
        <p:spPr>
          <a:xfrm>
            <a:off x="6278880" y="3017520"/>
            <a:ext cx="114300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6324600" y="3044952"/>
            <a:ext cx="1051560" cy="201168"/>
          </a:xfrm>
          <a:prstGeom prst="rect">
            <a:avLst/>
          </a:prstGeom>
          <a:noFill/>
        </p:spPr>
        <p:txBody>
          <a:bodyPr wrap="square">
            <a:spAutoFit/>
          </a:bodyPr>
          <a:lstStyle/>
          <a:p>
            <a:pPr algn="l">
              <a:defRPr sz="900" b="0">
                <a:solidFill>
                  <a:srgbClr val="002A55"/>
                </a:solidFill>
                <a:latin typeface="Calibri"/>
              </a:defRPr>
            </a:pPr>
            <a:r>
              <a:t>0.812</a:t>
            </a:r>
          </a:p>
        </p:txBody>
      </p:sp>
      <p:sp>
        <p:nvSpPr>
          <p:cNvPr id="86" name="Rounded Rectangle 85"/>
          <p:cNvSpPr/>
          <p:nvPr/>
        </p:nvSpPr>
        <p:spPr>
          <a:xfrm>
            <a:off x="7467600" y="3017520"/>
            <a:ext cx="128016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7513320" y="3044952"/>
            <a:ext cx="1188720" cy="201168"/>
          </a:xfrm>
          <a:prstGeom prst="rect">
            <a:avLst/>
          </a:prstGeom>
          <a:noFill/>
        </p:spPr>
        <p:txBody>
          <a:bodyPr wrap="square">
            <a:spAutoFit/>
          </a:bodyPr>
          <a:lstStyle/>
          <a:p>
            <a:pPr algn="l">
              <a:defRPr sz="900" b="0">
                <a:solidFill>
                  <a:srgbClr val="002A55"/>
                </a:solidFill>
                <a:latin typeface="Calibri"/>
              </a:defRPr>
            </a:pPr>
            <a:r>
              <a:t>1,392 ms</a:t>
            </a:r>
          </a:p>
        </p:txBody>
      </p:sp>
      <p:sp>
        <p:nvSpPr>
          <p:cNvPr id="88" name="Rounded Rectangle 87"/>
          <p:cNvSpPr/>
          <p:nvPr/>
        </p:nvSpPr>
        <p:spPr>
          <a:xfrm>
            <a:off x="1341120" y="3282696"/>
            <a:ext cx="27432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ounded Rectangle 89"/>
          <p:cNvSpPr/>
          <p:nvPr/>
        </p:nvSpPr>
        <p:spPr>
          <a:xfrm>
            <a:off x="1661160" y="3282696"/>
            <a:ext cx="228600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ounded Rectangle 91"/>
          <p:cNvSpPr/>
          <p:nvPr/>
        </p:nvSpPr>
        <p:spPr>
          <a:xfrm>
            <a:off x="3992880" y="3282696"/>
            <a:ext cx="118872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ounded Rectangle 93"/>
          <p:cNvSpPr/>
          <p:nvPr/>
        </p:nvSpPr>
        <p:spPr>
          <a:xfrm>
            <a:off x="5227320" y="3282696"/>
            <a:ext cx="100584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ounded Rectangle 95"/>
          <p:cNvSpPr/>
          <p:nvPr/>
        </p:nvSpPr>
        <p:spPr>
          <a:xfrm>
            <a:off x="6278880" y="3282696"/>
            <a:ext cx="114300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ounded Rectangle 97"/>
          <p:cNvSpPr/>
          <p:nvPr/>
        </p:nvSpPr>
        <p:spPr>
          <a:xfrm>
            <a:off x="7467600" y="3282696"/>
            <a:ext cx="128016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ounded Rectangle 99"/>
          <p:cNvSpPr/>
          <p:nvPr/>
        </p:nvSpPr>
        <p:spPr>
          <a:xfrm>
            <a:off x="1341120" y="3547872"/>
            <a:ext cx="27432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1386840" y="3575304"/>
            <a:ext cx="182880" cy="201168"/>
          </a:xfrm>
          <a:prstGeom prst="rect">
            <a:avLst/>
          </a:prstGeom>
          <a:noFill/>
        </p:spPr>
        <p:txBody>
          <a:bodyPr wrap="square">
            <a:spAutoFit/>
          </a:bodyPr>
          <a:lstStyle/>
          <a:p>
            <a:pPr algn="l">
              <a:defRPr sz="900" b="0">
                <a:solidFill>
                  <a:srgbClr val="002A55"/>
                </a:solidFill>
                <a:latin typeface="Calibri"/>
              </a:defRPr>
            </a:pPr>
            <a:r>
              <a:t>8</a:t>
            </a:r>
          </a:p>
        </p:txBody>
      </p:sp>
      <p:sp>
        <p:nvSpPr>
          <p:cNvPr id="102" name="Rounded Rectangle 101"/>
          <p:cNvSpPr/>
          <p:nvPr/>
        </p:nvSpPr>
        <p:spPr>
          <a:xfrm>
            <a:off x="1661160" y="3547872"/>
            <a:ext cx="228600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1706880" y="3575304"/>
            <a:ext cx="2194560" cy="201168"/>
          </a:xfrm>
          <a:prstGeom prst="rect">
            <a:avLst/>
          </a:prstGeom>
          <a:noFill/>
        </p:spPr>
        <p:txBody>
          <a:bodyPr wrap="square">
            <a:spAutoFit/>
          </a:bodyPr>
          <a:lstStyle/>
          <a:p>
            <a:pPr algn="l">
              <a:defRPr sz="900" b="0">
                <a:solidFill>
                  <a:srgbClr val="EF7C00"/>
                </a:solidFill>
                <a:latin typeface="Calibri"/>
              </a:defRPr>
            </a:pPr>
            <a:r>
              <a:t>MLP</a:t>
            </a:r>
          </a:p>
        </p:txBody>
      </p:sp>
      <p:sp>
        <p:nvSpPr>
          <p:cNvPr id="104" name="Rounded Rectangle 103"/>
          <p:cNvSpPr/>
          <p:nvPr/>
        </p:nvSpPr>
        <p:spPr>
          <a:xfrm>
            <a:off x="3992880" y="3547872"/>
            <a:ext cx="118872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4038600" y="3575304"/>
            <a:ext cx="1097280" cy="201168"/>
          </a:xfrm>
          <a:prstGeom prst="rect">
            <a:avLst/>
          </a:prstGeom>
          <a:noFill/>
        </p:spPr>
        <p:txBody>
          <a:bodyPr wrap="square">
            <a:spAutoFit/>
          </a:bodyPr>
          <a:lstStyle/>
          <a:p>
            <a:pPr algn="l">
              <a:defRPr sz="900" b="0">
                <a:solidFill>
                  <a:srgbClr val="002A55"/>
                </a:solidFill>
                <a:latin typeface="Calibri"/>
              </a:defRPr>
            </a:pPr>
            <a:r>
              <a:t>tier2</a:t>
            </a:r>
          </a:p>
        </p:txBody>
      </p:sp>
      <p:sp>
        <p:nvSpPr>
          <p:cNvPr id="106" name="Rounded Rectangle 105"/>
          <p:cNvSpPr/>
          <p:nvPr/>
        </p:nvSpPr>
        <p:spPr>
          <a:xfrm>
            <a:off x="5227320" y="3547872"/>
            <a:ext cx="100584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5273040" y="3575304"/>
            <a:ext cx="914400" cy="201168"/>
          </a:xfrm>
          <a:prstGeom prst="rect">
            <a:avLst/>
          </a:prstGeom>
          <a:noFill/>
        </p:spPr>
        <p:txBody>
          <a:bodyPr wrap="square">
            <a:spAutoFit/>
          </a:bodyPr>
          <a:lstStyle/>
          <a:p>
            <a:pPr algn="l">
              <a:defRPr sz="900" b="0">
                <a:solidFill>
                  <a:srgbClr val="002A55"/>
                </a:solidFill>
                <a:latin typeface="Calibri"/>
              </a:defRPr>
            </a:pPr>
            <a:r>
              <a:t>0.818</a:t>
            </a:r>
          </a:p>
        </p:txBody>
      </p:sp>
      <p:sp>
        <p:nvSpPr>
          <p:cNvPr id="108" name="Rounded Rectangle 107"/>
          <p:cNvSpPr/>
          <p:nvPr/>
        </p:nvSpPr>
        <p:spPr>
          <a:xfrm>
            <a:off x="6278880" y="3547872"/>
            <a:ext cx="114300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6324600" y="3575304"/>
            <a:ext cx="1051560" cy="201168"/>
          </a:xfrm>
          <a:prstGeom prst="rect">
            <a:avLst/>
          </a:prstGeom>
          <a:noFill/>
        </p:spPr>
        <p:txBody>
          <a:bodyPr wrap="square">
            <a:spAutoFit/>
          </a:bodyPr>
          <a:lstStyle/>
          <a:p>
            <a:pPr algn="l">
              <a:defRPr sz="900" b="0">
                <a:solidFill>
                  <a:srgbClr val="002A55"/>
                </a:solidFill>
                <a:latin typeface="Calibri"/>
              </a:defRPr>
            </a:pPr>
            <a:r>
              <a:t>0.798</a:t>
            </a:r>
          </a:p>
        </p:txBody>
      </p:sp>
      <p:sp>
        <p:nvSpPr>
          <p:cNvPr id="110" name="Rounded Rectangle 109"/>
          <p:cNvSpPr/>
          <p:nvPr/>
        </p:nvSpPr>
        <p:spPr>
          <a:xfrm>
            <a:off x="7467600" y="3547872"/>
            <a:ext cx="128016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7513320" y="3575304"/>
            <a:ext cx="1188720" cy="201168"/>
          </a:xfrm>
          <a:prstGeom prst="rect">
            <a:avLst/>
          </a:prstGeom>
          <a:noFill/>
        </p:spPr>
        <p:txBody>
          <a:bodyPr wrap="square">
            <a:spAutoFit/>
          </a:bodyPr>
          <a:lstStyle/>
          <a:p>
            <a:pPr algn="l">
              <a:defRPr sz="900" b="0">
                <a:solidFill>
                  <a:srgbClr val="002A55"/>
                </a:solidFill>
                <a:latin typeface="Calibri"/>
              </a:defRPr>
            </a:pPr>
            <a:r>
              <a:t>8 ms</a:t>
            </a:r>
          </a:p>
        </p:txBody>
      </p:sp>
      <p:sp>
        <p:nvSpPr>
          <p:cNvPr id="112" name="Rounded Rectangle 111"/>
          <p:cNvSpPr/>
          <p:nvPr/>
        </p:nvSpPr>
        <p:spPr>
          <a:xfrm>
            <a:off x="1341120" y="3813048"/>
            <a:ext cx="27432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ounded Rectangle 113"/>
          <p:cNvSpPr/>
          <p:nvPr/>
        </p:nvSpPr>
        <p:spPr>
          <a:xfrm>
            <a:off x="1661160" y="3813048"/>
            <a:ext cx="228600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ounded Rectangle 115"/>
          <p:cNvSpPr/>
          <p:nvPr/>
        </p:nvSpPr>
        <p:spPr>
          <a:xfrm>
            <a:off x="3992880" y="3813048"/>
            <a:ext cx="118872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ounded Rectangle 117"/>
          <p:cNvSpPr/>
          <p:nvPr/>
        </p:nvSpPr>
        <p:spPr>
          <a:xfrm>
            <a:off x="5227320" y="3813048"/>
            <a:ext cx="100584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ounded Rectangle 119"/>
          <p:cNvSpPr/>
          <p:nvPr/>
        </p:nvSpPr>
        <p:spPr>
          <a:xfrm>
            <a:off x="6278880" y="3813048"/>
            <a:ext cx="114300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ounded Rectangle 121"/>
          <p:cNvSpPr/>
          <p:nvPr/>
        </p:nvSpPr>
        <p:spPr>
          <a:xfrm>
            <a:off x="7467600" y="3813048"/>
            <a:ext cx="128016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Rounded Rectangle 123"/>
          <p:cNvSpPr/>
          <p:nvPr/>
        </p:nvSpPr>
        <p:spPr>
          <a:xfrm>
            <a:off x="1341120" y="4078224"/>
            <a:ext cx="27432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Rounded Rectangle 125"/>
          <p:cNvSpPr/>
          <p:nvPr/>
        </p:nvSpPr>
        <p:spPr>
          <a:xfrm>
            <a:off x="1661160" y="4078224"/>
            <a:ext cx="228600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Rounded Rectangle 127"/>
          <p:cNvSpPr/>
          <p:nvPr/>
        </p:nvSpPr>
        <p:spPr>
          <a:xfrm>
            <a:off x="3992880" y="4078224"/>
            <a:ext cx="118872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Rounded Rectangle 129"/>
          <p:cNvSpPr/>
          <p:nvPr/>
        </p:nvSpPr>
        <p:spPr>
          <a:xfrm>
            <a:off x="5227320" y="4078224"/>
            <a:ext cx="100584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Rounded Rectangle 131"/>
          <p:cNvSpPr/>
          <p:nvPr/>
        </p:nvSpPr>
        <p:spPr>
          <a:xfrm>
            <a:off x="6278880" y="4078224"/>
            <a:ext cx="114300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Rounded Rectangle 133"/>
          <p:cNvSpPr/>
          <p:nvPr/>
        </p:nvSpPr>
        <p:spPr>
          <a:xfrm>
            <a:off x="7467600" y="4078224"/>
            <a:ext cx="128016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Rounded Rectangle 135"/>
          <p:cNvSpPr/>
          <p:nvPr/>
        </p:nvSpPr>
        <p:spPr>
          <a:xfrm>
            <a:off x="1341120" y="4343400"/>
            <a:ext cx="27432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p:cNvSpPr txBox="1"/>
          <p:nvPr/>
        </p:nvSpPr>
        <p:spPr>
          <a:xfrm>
            <a:off x="1386840" y="4370832"/>
            <a:ext cx="182880" cy="201168"/>
          </a:xfrm>
          <a:prstGeom prst="rect">
            <a:avLst/>
          </a:prstGeom>
          <a:noFill/>
        </p:spPr>
        <p:txBody>
          <a:bodyPr wrap="square">
            <a:spAutoFit/>
          </a:bodyPr>
          <a:lstStyle/>
          <a:p>
            <a:pPr algn="l">
              <a:defRPr sz="900" b="0">
                <a:solidFill>
                  <a:srgbClr val="002A55"/>
                </a:solidFill>
                <a:latin typeface="Calibri"/>
              </a:defRPr>
            </a:pPr>
            <a:r>
              <a:t>11</a:t>
            </a:r>
          </a:p>
        </p:txBody>
      </p:sp>
      <p:sp>
        <p:nvSpPr>
          <p:cNvPr id="138" name="Rounded Rectangle 137"/>
          <p:cNvSpPr/>
          <p:nvPr/>
        </p:nvSpPr>
        <p:spPr>
          <a:xfrm>
            <a:off x="1661160" y="4343400"/>
            <a:ext cx="228600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TextBox 138"/>
          <p:cNvSpPr txBox="1"/>
          <p:nvPr/>
        </p:nvSpPr>
        <p:spPr>
          <a:xfrm>
            <a:off x="1706880" y="4370832"/>
            <a:ext cx="2194560" cy="201168"/>
          </a:xfrm>
          <a:prstGeom prst="rect">
            <a:avLst/>
          </a:prstGeom>
          <a:noFill/>
        </p:spPr>
        <p:txBody>
          <a:bodyPr wrap="square">
            <a:spAutoFit/>
          </a:bodyPr>
          <a:lstStyle/>
          <a:p>
            <a:pPr algn="l">
              <a:defRPr sz="900" b="0">
                <a:solidFill>
                  <a:srgbClr val="007ACC"/>
                </a:solidFill>
                <a:latin typeface="Calibri"/>
              </a:defRPr>
            </a:pPr>
            <a:r>
              <a:t>Decision Tree</a:t>
            </a:r>
          </a:p>
        </p:txBody>
      </p:sp>
      <p:sp>
        <p:nvSpPr>
          <p:cNvPr id="140" name="Rounded Rectangle 139"/>
          <p:cNvSpPr/>
          <p:nvPr/>
        </p:nvSpPr>
        <p:spPr>
          <a:xfrm>
            <a:off x="3992880" y="4343400"/>
            <a:ext cx="118872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TextBox 140"/>
          <p:cNvSpPr txBox="1"/>
          <p:nvPr/>
        </p:nvSpPr>
        <p:spPr>
          <a:xfrm>
            <a:off x="4038600" y="4370832"/>
            <a:ext cx="1097280" cy="201168"/>
          </a:xfrm>
          <a:prstGeom prst="rect">
            <a:avLst/>
          </a:prstGeom>
          <a:noFill/>
        </p:spPr>
        <p:txBody>
          <a:bodyPr wrap="square">
            <a:spAutoFit/>
          </a:bodyPr>
          <a:lstStyle/>
          <a:p>
            <a:pPr algn="l">
              <a:defRPr sz="900" b="0">
                <a:solidFill>
                  <a:srgbClr val="002A55"/>
                </a:solidFill>
                <a:latin typeface="Calibri"/>
              </a:defRPr>
            </a:pPr>
            <a:r>
              <a:t>tier1</a:t>
            </a:r>
          </a:p>
        </p:txBody>
      </p:sp>
      <p:sp>
        <p:nvSpPr>
          <p:cNvPr id="142" name="Rounded Rectangle 141"/>
          <p:cNvSpPr/>
          <p:nvPr/>
        </p:nvSpPr>
        <p:spPr>
          <a:xfrm>
            <a:off x="5227320" y="4343400"/>
            <a:ext cx="100584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TextBox 142"/>
          <p:cNvSpPr txBox="1"/>
          <p:nvPr/>
        </p:nvSpPr>
        <p:spPr>
          <a:xfrm>
            <a:off x="5273040" y="4370832"/>
            <a:ext cx="914400" cy="201168"/>
          </a:xfrm>
          <a:prstGeom prst="rect">
            <a:avLst/>
          </a:prstGeom>
          <a:noFill/>
        </p:spPr>
        <p:txBody>
          <a:bodyPr wrap="square">
            <a:spAutoFit/>
          </a:bodyPr>
          <a:lstStyle/>
          <a:p>
            <a:pPr algn="l">
              <a:defRPr sz="900" b="0">
                <a:solidFill>
                  <a:srgbClr val="002A55"/>
                </a:solidFill>
                <a:latin typeface="Calibri"/>
              </a:defRPr>
            </a:pPr>
            <a:r>
              <a:t>0.791</a:t>
            </a:r>
          </a:p>
        </p:txBody>
      </p:sp>
      <p:sp>
        <p:nvSpPr>
          <p:cNvPr id="144" name="Rounded Rectangle 143"/>
          <p:cNvSpPr/>
          <p:nvPr/>
        </p:nvSpPr>
        <p:spPr>
          <a:xfrm>
            <a:off x="6278880" y="4343400"/>
            <a:ext cx="114300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TextBox 144"/>
          <p:cNvSpPr txBox="1"/>
          <p:nvPr/>
        </p:nvSpPr>
        <p:spPr>
          <a:xfrm>
            <a:off x="6324600" y="4370832"/>
            <a:ext cx="1051560" cy="201168"/>
          </a:xfrm>
          <a:prstGeom prst="rect">
            <a:avLst/>
          </a:prstGeom>
          <a:noFill/>
        </p:spPr>
        <p:txBody>
          <a:bodyPr wrap="square">
            <a:spAutoFit/>
          </a:bodyPr>
          <a:lstStyle/>
          <a:p>
            <a:pPr algn="l">
              <a:defRPr sz="900" b="0">
                <a:solidFill>
                  <a:srgbClr val="002A55"/>
                </a:solidFill>
                <a:latin typeface="Calibri"/>
              </a:defRPr>
            </a:pPr>
            <a:r>
              <a:t>0.762</a:t>
            </a:r>
          </a:p>
        </p:txBody>
      </p:sp>
      <p:sp>
        <p:nvSpPr>
          <p:cNvPr id="146" name="Rounded Rectangle 145"/>
          <p:cNvSpPr/>
          <p:nvPr/>
        </p:nvSpPr>
        <p:spPr>
          <a:xfrm>
            <a:off x="7467600" y="4343400"/>
            <a:ext cx="128016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TextBox 146"/>
          <p:cNvSpPr txBox="1"/>
          <p:nvPr/>
        </p:nvSpPr>
        <p:spPr>
          <a:xfrm>
            <a:off x="7513320" y="4370832"/>
            <a:ext cx="1188720" cy="201168"/>
          </a:xfrm>
          <a:prstGeom prst="rect">
            <a:avLst/>
          </a:prstGeom>
          <a:noFill/>
        </p:spPr>
        <p:txBody>
          <a:bodyPr wrap="square">
            <a:spAutoFit/>
          </a:bodyPr>
          <a:lstStyle/>
          <a:p>
            <a:pPr algn="l">
              <a:defRPr sz="900" b="0">
                <a:solidFill>
                  <a:srgbClr val="002A55"/>
                </a:solidFill>
                <a:latin typeface="Calibri"/>
              </a:defRPr>
            </a:pPr>
            <a:r>
              <a:t>2 ms</a:t>
            </a:r>
          </a:p>
        </p:txBody>
      </p:sp>
      <p:sp>
        <p:nvSpPr>
          <p:cNvPr id="148" name="Rounded Rectangle 147"/>
          <p:cNvSpPr/>
          <p:nvPr/>
        </p:nvSpPr>
        <p:spPr>
          <a:xfrm>
            <a:off x="1341120" y="4608576"/>
            <a:ext cx="27432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Rounded Rectangle 149"/>
          <p:cNvSpPr/>
          <p:nvPr/>
        </p:nvSpPr>
        <p:spPr>
          <a:xfrm>
            <a:off x="1661160" y="4608576"/>
            <a:ext cx="228600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Rounded Rectangle 151"/>
          <p:cNvSpPr/>
          <p:nvPr/>
        </p:nvSpPr>
        <p:spPr>
          <a:xfrm>
            <a:off x="3992880" y="4608576"/>
            <a:ext cx="118872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Rounded Rectangle 153"/>
          <p:cNvSpPr/>
          <p:nvPr/>
        </p:nvSpPr>
        <p:spPr>
          <a:xfrm>
            <a:off x="5227320" y="4608576"/>
            <a:ext cx="100584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Rounded Rectangle 155"/>
          <p:cNvSpPr/>
          <p:nvPr/>
        </p:nvSpPr>
        <p:spPr>
          <a:xfrm>
            <a:off x="6278880" y="4608576"/>
            <a:ext cx="114300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Rounded Rectangle 157"/>
          <p:cNvSpPr/>
          <p:nvPr/>
        </p:nvSpPr>
        <p:spPr>
          <a:xfrm>
            <a:off x="7467600" y="4608576"/>
            <a:ext cx="128016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Rounded Rectangle 159"/>
          <p:cNvSpPr/>
          <p:nvPr/>
        </p:nvSpPr>
        <p:spPr>
          <a:xfrm>
            <a:off x="1341120" y="4873752"/>
            <a:ext cx="27432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Rounded Rectangle 161"/>
          <p:cNvSpPr/>
          <p:nvPr/>
        </p:nvSpPr>
        <p:spPr>
          <a:xfrm>
            <a:off x="1661160" y="4873752"/>
            <a:ext cx="228600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Rounded Rectangle 163"/>
          <p:cNvSpPr/>
          <p:nvPr/>
        </p:nvSpPr>
        <p:spPr>
          <a:xfrm>
            <a:off x="3992880" y="4873752"/>
            <a:ext cx="118872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Rounded Rectangle 165"/>
          <p:cNvSpPr/>
          <p:nvPr/>
        </p:nvSpPr>
        <p:spPr>
          <a:xfrm>
            <a:off x="5227320" y="4873752"/>
            <a:ext cx="100584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Rounded Rectangle 167"/>
          <p:cNvSpPr/>
          <p:nvPr/>
        </p:nvSpPr>
        <p:spPr>
          <a:xfrm>
            <a:off x="6278880" y="4873752"/>
            <a:ext cx="114300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Rounded Rectangle 169"/>
          <p:cNvSpPr/>
          <p:nvPr/>
        </p:nvSpPr>
        <p:spPr>
          <a:xfrm>
            <a:off x="7467600" y="4873752"/>
            <a:ext cx="128016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TextBox 171"/>
          <p:cNvSpPr txBox="1"/>
          <p:nvPr/>
        </p:nvSpPr>
        <p:spPr>
          <a:xfrm>
            <a:off x="1341120" y="5166360"/>
            <a:ext cx="8595360" cy="228600"/>
          </a:xfrm>
          <a:prstGeom prst="rect">
            <a:avLst/>
          </a:prstGeom>
          <a:noFill/>
        </p:spPr>
        <p:txBody>
          <a:bodyPr wrap="square">
            <a:spAutoFit/>
          </a:bodyPr>
          <a:lstStyle/>
          <a:p>
            <a:pPr algn="l">
              <a:defRPr sz="1000" b="0">
                <a:solidFill>
                  <a:srgbClr val="999999"/>
                </a:solidFill>
                <a:latin typeface="Calibri"/>
              </a:defRPr>
            </a:pPr>
            <a:r>
              <a:t>Voting (Tier 3) tops all 6  •  Classical ML beats Deep Learning at this dataset sizelearning (Tier 2) ≈ classical ML at this dataset size</a:t>
            </a:r>
          </a:p>
        </p:txBody>
      </p:sp>
      <p:sp>
        <p:nvSpPr>
          <p:cNvPr id="173" name="Rectangle 172"/>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TextBox 173"/>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75" name="Rectangle 174"/>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6" name="Picture 175" descr="nus_iss_logo_transparent.png"/>
          <p:cNvPicPr>
            <a:picLocks noChangeAspect="1"/>
          </p:cNvPicPr>
          <p:nvPr/>
        </p:nvPicPr>
        <p:blipFill>
          <a:blip r:embed="rId2"/>
          <a:stretch>
            <a:fillRect/>
          </a:stretch>
        </p:blipFill>
        <p:spPr>
          <a:xfrm>
            <a:off x="9555480" y="82296"/>
            <a:ext cx="2514600" cy="58521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3D7C"/>
        </a:solidFill>
        <a:effectLst/>
      </p:bgPr>
    </p:bg>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91440"/>
            <a:ext cx="8686800" cy="640080"/>
          </a:xfrm>
          <a:prstGeom prst="rect">
            <a:avLst/>
          </a:prstGeom>
          <a:noFill/>
        </p:spPr>
        <p:txBody>
          <a:bodyPr wrap="square">
            <a:spAutoFit/>
          </a:bodyPr>
          <a:lstStyle/>
          <a:p>
            <a:pPr algn="l">
              <a:defRPr sz="3200" b="1">
                <a:solidFill>
                  <a:srgbClr val="FFFFFF"/>
                </a:solidFill>
                <a:latin typeface="Calibri"/>
              </a:defRPr>
            </a:pPr>
            <a:r>
              <a:t>Trained Models — Serialised Artefacts</a:t>
            </a:r>
          </a:p>
        </p:txBody>
      </p:sp>
      <p:sp>
        <p:nvSpPr>
          <p:cNvPr id="7" name="TextBox 6"/>
          <p:cNvSpPr txBox="1"/>
          <p:nvPr/>
        </p:nvSpPr>
        <p:spPr>
          <a:xfrm>
            <a:off x="1188720" y="594360"/>
            <a:ext cx="8686800" cy="457200"/>
          </a:xfrm>
          <a:prstGeom prst="rect">
            <a:avLst/>
          </a:prstGeom>
          <a:noFill/>
        </p:spPr>
        <p:txBody>
          <a:bodyPr wrap="square">
            <a:spAutoFit/>
          </a:bodyPr>
          <a:lstStyle/>
          <a:p>
            <a:pPr algn="l">
              <a:defRPr sz="2000" b="0">
                <a:solidFill>
                  <a:srgbClr val="FFFFFF"/>
                </a:solidFill>
                <a:latin typeface="Calibri"/>
              </a:defRPr>
            </a:pPr>
            <a:r>
              <a:t>Each model saved as .pkl via joblib; backend loads on startup — no retraining at inference</a:t>
            </a:r>
          </a:p>
        </p:txBody>
      </p:sp>
      <p:sp>
        <p:nvSpPr>
          <p:cNvPr id="8" name="Rectangle 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0" name="Rounded Rectangle 9"/>
          <p:cNvSpPr/>
          <p:nvPr/>
        </p:nvSpPr>
        <p:spPr>
          <a:xfrm>
            <a:off x="1258390" y="1417320"/>
            <a:ext cx="5120640" cy="4264586"/>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95550" y="1508760"/>
            <a:ext cx="4663440" cy="3474720"/>
          </a:xfrm>
          <a:prstGeom prst="rect">
            <a:avLst/>
          </a:prstGeom>
          <a:noFill/>
        </p:spPr>
        <p:txBody>
          <a:bodyPr wrap="square">
            <a:spAutoFit/>
          </a:bodyPr>
          <a:lstStyle/>
          <a:p>
            <a:pPr algn="l">
              <a:spcAft>
                <a:spcPts val="200"/>
              </a:spcAft>
              <a:defRPr sz="900" b="0">
                <a:solidFill>
                  <a:srgbClr val="28A745"/>
                </a:solidFill>
                <a:latin typeface="Courier New"/>
              </a:defRPr>
            </a:pPr>
            <a:r>
              <a:t>models/</a:t>
            </a:r>
          </a:p>
          <a:p>
            <a:pPr algn="l">
              <a:spcAft>
                <a:spcPts val="200"/>
              </a:spcAft>
              <a:defRPr sz="900" b="0">
                <a:solidFill>
                  <a:srgbClr val="28A745"/>
                </a:solidFill>
                <a:latin typeface="Courier New"/>
              </a:defRPr>
            </a:pPr>
            <a:r>
              <a:t>  svm.pkl           ~2.1 MB  (support vectors + kernel params)</a:t>
            </a:r>
          </a:p>
          <a:p>
            <a:pPr algn="l">
              <a:spcAft>
                <a:spcPts val="200"/>
              </a:spcAft>
              <a:defRPr sz="900" b="0">
                <a:solidFill>
                  <a:srgbClr val="28A745"/>
                </a:solidFill>
                <a:latin typeface="Courier New"/>
              </a:defRPr>
            </a:pPr>
            <a:r>
              <a:t>  naive_bayes.pkl   ~15 KB   (class priors + Gaussian likelihoods)</a:t>
            </a:r>
          </a:p>
          <a:p>
            <a:pPr algn="l">
              <a:spcAft>
                <a:spcPts val="200"/>
              </a:spcAft>
              <a:defRPr sz="900" b="0">
                <a:solidFill>
                  <a:srgbClr val="28A745"/>
                </a:solidFill>
                <a:latin typeface="Courier New"/>
              </a:defRPr>
            </a:pPr>
            <a:r>
              <a:t>  decision_tree.pkl ~180 KB  (tree nodes + split thresholds)</a:t>
            </a:r>
          </a:p>
          <a:p>
            <a:pPr algn="l">
              <a:spcAft>
                <a:spcPts val="200"/>
              </a:spcAft>
              <a:defRPr sz="900" b="0">
                <a:solidFill>
                  <a:srgbClr val="28A745"/>
                </a:solidFill>
                <a:latin typeface="Courier New"/>
              </a:defRPr>
            </a:pPr>
            <a:r>
              <a:t>  random_forest.pkl ~12 MB   (100 tree structures)</a:t>
            </a:r>
          </a:p>
          <a:p>
            <a:pPr algn="l">
              <a:spcAft>
                <a:spcPts val="200"/>
              </a:spcAft>
              <a:defRPr sz="900" b="0">
                <a:solidFill>
                  <a:srgbClr val="28A745"/>
                </a:solidFill>
                <a:latin typeface="Courier New"/>
              </a:defRPr>
            </a:pPr>
            <a:r>
              <a:t>  knn.pkl           ~8.5 MB  (full training data — lazy learner)</a:t>
            </a:r>
          </a:p>
          <a:p>
            <a:pPr algn="l">
              <a:spcAft>
                <a:spcPts val="200"/>
              </a:spcAft>
              <a:defRPr sz="900" b="0">
                <a:solidFill>
                  <a:srgbClr val="28A745"/>
                </a:solidFill>
                <a:latin typeface="Courier New"/>
              </a:defRPr>
            </a:pPr>
            <a:r>
              <a:t>  xgboost.pkl       ~1.2 MB  (100 boosted trees)</a:t>
            </a:r>
          </a:p>
          <a:p>
            <a:pPr algn="l">
              <a:spcAft>
                <a:spcPts val="200"/>
              </a:spcAft>
              <a:defRPr sz="900" b="0">
                <a:solidFill>
                  <a:srgbClr val="28A745"/>
                </a:solidFill>
                <a:latin typeface="Courier New"/>
              </a:defRPr>
            </a:pPr>
            <a:r>
              <a:t>  lightgbm.pkl      ~900 KB  (leaf-value trees)</a:t>
            </a:r>
          </a:p>
          <a:p>
            <a:pPr algn="l">
              <a:spcAft>
                <a:spcPts val="200"/>
              </a:spcAft>
              <a:defRPr sz="900" b="0">
                <a:solidFill>
                  <a:srgbClr val="28A745"/>
                </a:solidFill>
                <a:latin typeface="Courier New"/>
              </a:defRPr>
            </a:pPr>
            <a:r>
              <a:t>  mlp.pkl           ~3.5 MB  (846K weights + biases)</a:t>
            </a:r>
          </a:p>
          <a:p>
            <a:pPr algn="l">
              <a:spcAft>
                <a:spcPts val="200"/>
              </a:spcAft>
              <a:defRPr sz="900" b="0">
                <a:solidFill>
                  <a:srgbClr val="28A745"/>
                </a:solidFill>
                <a:latin typeface="Courier New"/>
              </a:defRPr>
            </a:pPr>
            <a:r>
              <a:t>  lstm.pkl          ~500 KB  (gate weights + cell state)</a:t>
            </a:r>
          </a:p>
          <a:p>
            <a:pPr algn="l">
              <a:spcAft>
                <a:spcPts val="200"/>
              </a:spcAft>
              <a:defRPr sz="900" b="0">
                <a:solidFill>
                  <a:srgbClr val="28A745"/>
                </a:solidFill>
                <a:latin typeface="Courier New"/>
              </a:defRPr>
            </a:pPr>
            <a:r>
              <a:t>  cnn1d.pkl         ~280 KB  (conv filters + FC weights)</a:t>
            </a:r>
          </a:p>
          <a:p>
            <a:pPr algn="l">
              <a:spcAft>
                <a:spcPts val="200"/>
              </a:spcAft>
              <a:defRPr sz="900" b="0">
                <a:solidFill>
                  <a:srgbClr val="28A745"/>
                </a:solidFill>
                <a:latin typeface="Courier New"/>
              </a:defRPr>
            </a:pPr>
            <a:r>
              <a:t>  transformer.pkl   ~600 KB  (attention weights + FFN)</a:t>
            </a:r>
          </a:p>
          <a:p>
            <a:pPr algn="l">
              <a:spcAft>
                <a:spcPts val="200"/>
              </a:spcAft>
              <a:defRPr sz="900" b="0">
                <a:solidFill>
                  <a:srgbClr val="28A745"/>
                </a:solidFill>
                <a:latin typeface="Courier New"/>
              </a:defRPr>
            </a:pPr>
            <a:r>
              <a:t>  stacking.pkl      ~15 MB   (base models + meta-learner)</a:t>
            </a:r>
          </a:p>
          <a:p>
            <a:pPr algn="l">
              <a:spcAft>
                <a:spcPts val="200"/>
              </a:spcAft>
              <a:defRPr sz="900" b="0">
                <a:solidFill>
                  <a:srgbClr val="28A745"/>
                </a:solidFill>
                <a:latin typeface="Courier New"/>
              </a:defRPr>
            </a:pPr>
            <a:r>
              <a:t>  voting.pkl        ~14 MB   (4 base models + weight config)</a:t>
            </a:r>
          </a:p>
          <a:p>
            <a:pPr algn="l">
              <a:spcAft>
                <a:spcPts val="200"/>
              </a:spcAft>
              <a:defRPr sz="900" b="0">
                <a:solidFill>
                  <a:srgbClr val="28A745"/>
                </a:solidFill>
                <a:latin typeface="Courier New"/>
              </a:defRPr>
            </a:pPr>
            <a:r>
              <a:t>  label_names.json           (index → class name mapping)</a:t>
            </a:r>
          </a:p>
          <a:p>
            <a:pPr algn="l">
              <a:spcAft>
                <a:spcPts val="200"/>
              </a:spcAft>
              <a:defRPr sz="900" b="0">
                <a:solidFill>
                  <a:srgbClr val="28A745"/>
                </a:solidFill>
                <a:latin typeface="Courier New"/>
              </a:defRPr>
            </a:pPr>
            <a:r>
              <a:t>  scaler.pkl                 (StandardScaler fit on train set)</a:t>
            </a:r>
          </a:p>
        </p:txBody>
      </p:sp>
      <p:sp>
        <p:nvSpPr>
          <p:cNvPr id="12" name="Rounded Rectangle 11"/>
          <p:cNvSpPr/>
          <p:nvPr/>
        </p:nvSpPr>
        <p:spPr>
          <a:xfrm>
            <a:off x="6379030" y="1417320"/>
            <a:ext cx="3496490" cy="4264586"/>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16190" y="1508760"/>
            <a:ext cx="3108960" cy="182880"/>
          </a:xfrm>
          <a:prstGeom prst="rect">
            <a:avLst/>
          </a:prstGeom>
          <a:noFill/>
        </p:spPr>
        <p:txBody>
          <a:bodyPr wrap="square">
            <a:spAutoFit/>
          </a:bodyPr>
          <a:lstStyle/>
          <a:p>
            <a:pPr algn="l">
              <a:defRPr sz="900" b="1">
                <a:solidFill>
                  <a:srgbClr val="28A745"/>
                </a:solidFill>
                <a:latin typeface="Courier New"/>
              </a:defRPr>
            </a:pPr>
            <a:r>
              <a:t>Serialisation with joblib</a:t>
            </a:r>
          </a:p>
        </p:txBody>
      </p:sp>
      <p:sp>
        <p:nvSpPr>
          <p:cNvPr id="14" name="TextBox 13"/>
          <p:cNvSpPr txBox="1"/>
          <p:nvPr/>
        </p:nvSpPr>
        <p:spPr>
          <a:xfrm>
            <a:off x="6516190" y="1709928"/>
            <a:ext cx="3108960" cy="182880"/>
          </a:xfrm>
          <a:prstGeom prst="rect">
            <a:avLst/>
          </a:prstGeom>
          <a:noFill/>
        </p:spPr>
        <p:txBody>
          <a:bodyPr wrap="square">
            <a:spAutoFit/>
          </a:bodyPr>
          <a:lstStyle/>
          <a:p>
            <a:pPr algn="l">
              <a:defRPr sz="900" b="0">
                <a:solidFill>
                  <a:srgbClr val="002A55"/>
                </a:solidFill>
                <a:latin typeface="Calibri"/>
              </a:defRPr>
            </a:pPr>
            <a:endParaRPr/>
          </a:p>
        </p:txBody>
      </p:sp>
      <p:sp>
        <p:nvSpPr>
          <p:cNvPr id="15" name="TextBox 14"/>
          <p:cNvSpPr txBox="1"/>
          <p:nvPr/>
        </p:nvSpPr>
        <p:spPr>
          <a:xfrm>
            <a:off x="6516190" y="1911095"/>
            <a:ext cx="3108960" cy="182880"/>
          </a:xfrm>
          <a:prstGeom prst="rect">
            <a:avLst/>
          </a:prstGeom>
          <a:noFill/>
        </p:spPr>
        <p:txBody>
          <a:bodyPr wrap="square">
            <a:spAutoFit/>
          </a:bodyPr>
          <a:lstStyle/>
          <a:p>
            <a:pPr algn="l">
              <a:defRPr sz="900" b="0">
                <a:solidFill>
                  <a:srgbClr val="28A745"/>
                </a:solidFill>
                <a:latin typeface="Courier New"/>
              </a:defRPr>
            </a:pPr>
            <a:r>
              <a:t>import joblib</a:t>
            </a:r>
          </a:p>
        </p:txBody>
      </p:sp>
      <p:sp>
        <p:nvSpPr>
          <p:cNvPr id="16" name="TextBox 15"/>
          <p:cNvSpPr txBox="1"/>
          <p:nvPr/>
        </p:nvSpPr>
        <p:spPr>
          <a:xfrm>
            <a:off x="6516190" y="2112264"/>
            <a:ext cx="3108960" cy="182880"/>
          </a:xfrm>
          <a:prstGeom prst="rect">
            <a:avLst/>
          </a:prstGeom>
          <a:noFill/>
        </p:spPr>
        <p:txBody>
          <a:bodyPr wrap="square">
            <a:spAutoFit/>
          </a:bodyPr>
          <a:lstStyle/>
          <a:p>
            <a:pPr algn="l">
              <a:defRPr sz="900" b="0">
                <a:solidFill>
                  <a:srgbClr val="002A55"/>
                </a:solidFill>
                <a:latin typeface="Calibri"/>
              </a:defRPr>
            </a:pPr>
            <a:endParaRPr/>
          </a:p>
        </p:txBody>
      </p:sp>
      <p:sp>
        <p:nvSpPr>
          <p:cNvPr id="17" name="TextBox 16"/>
          <p:cNvSpPr txBox="1"/>
          <p:nvPr/>
        </p:nvSpPr>
        <p:spPr>
          <a:xfrm>
            <a:off x="6516190" y="2313432"/>
            <a:ext cx="3108960" cy="182880"/>
          </a:xfrm>
          <a:prstGeom prst="rect">
            <a:avLst/>
          </a:prstGeom>
          <a:noFill/>
        </p:spPr>
        <p:txBody>
          <a:bodyPr wrap="square">
            <a:spAutoFit/>
          </a:bodyPr>
          <a:lstStyle/>
          <a:p>
            <a:pPr algn="l">
              <a:defRPr sz="900" b="0">
                <a:solidFill>
                  <a:srgbClr val="002A55"/>
                </a:solidFill>
                <a:latin typeface="Calibri"/>
              </a:defRPr>
            </a:pPr>
            <a:r>
              <a:t># Save after training:</a:t>
            </a:r>
          </a:p>
        </p:txBody>
      </p:sp>
      <p:sp>
        <p:nvSpPr>
          <p:cNvPr id="18" name="TextBox 17"/>
          <p:cNvSpPr txBox="1"/>
          <p:nvPr/>
        </p:nvSpPr>
        <p:spPr>
          <a:xfrm>
            <a:off x="6516190" y="2514600"/>
            <a:ext cx="3108960" cy="182880"/>
          </a:xfrm>
          <a:prstGeom prst="rect">
            <a:avLst/>
          </a:prstGeom>
          <a:noFill/>
        </p:spPr>
        <p:txBody>
          <a:bodyPr wrap="square">
            <a:spAutoFit/>
          </a:bodyPr>
          <a:lstStyle/>
          <a:p>
            <a:pPr algn="l">
              <a:defRPr sz="900" b="0">
                <a:solidFill>
                  <a:srgbClr val="28A745"/>
                </a:solidFill>
                <a:latin typeface="Courier New"/>
              </a:defRPr>
            </a:pPr>
            <a:r>
              <a:t>joblib.dump(model, 'models/voting.pkl')</a:t>
            </a:r>
          </a:p>
        </p:txBody>
      </p:sp>
      <p:sp>
        <p:nvSpPr>
          <p:cNvPr id="19" name="TextBox 18"/>
          <p:cNvSpPr txBox="1"/>
          <p:nvPr/>
        </p:nvSpPr>
        <p:spPr>
          <a:xfrm>
            <a:off x="6516190" y="2715768"/>
            <a:ext cx="3108960" cy="182880"/>
          </a:xfrm>
          <a:prstGeom prst="rect">
            <a:avLst/>
          </a:prstGeom>
          <a:noFill/>
        </p:spPr>
        <p:txBody>
          <a:bodyPr wrap="square">
            <a:spAutoFit/>
          </a:bodyPr>
          <a:lstStyle/>
          <a:p>
            <a:pPr algn="l">
              <a:defRPr sz="900" b="0">
                <a:solidFill>
                  <a:srgbClr val="002A55"/>
                </a:solidFill>
                <a:latin typeface="Calibri"/>
              </a:defRPr>
            </a:pPr>
            <a:endParaRPr/>
          </a:p>
        </p:txBody>
      </p:sp>
      <p:sp>
        <p:nvSpPr>
          <p:cNvPr id="20" name="TextBox 19"/>
          <p:cNvSpPr txBox="1"/>
          <p:nvPr/>
        </p:nvSpPr>
        <p:spPr>
          <a:xfrm>
            <a:off x="6516190" y="2916936"/>
            <a:ext cx="3108960" cy="182880"/>
          </a:xfrm>
          <a:prstGeom prst="rect">
            <a:avLst/>
          </a:prstGeom>
          <a:noFill/>
        </p:spPr>
        <p:txBody>
          <a:bodyPr wrap="square">
            <a:spAutoFit/>
          </a:bodyPr>
          <a:lstStyle/>
          <a:p>
            <a:pPr algn="l">
              <a:defRPr sz="900" b="0">
                <a:solidFill>
                  <a:srgbClr val="002A55"/>
                </a:solidFill>
                <a:latin typeface="Calibri"/>
              </a:defRPr>
            </a:pPr>
            <a:r>
              <a:t># Load at inference:</a:t>
            </a:r>
          </a:p>
        </p:txBody>
      </p:sp>
      <p:sp>
        <p:nvSpPr>
          <p:cNvPr id="21" name="TextBox 20"/>
          <p:cNvSpPr txBox="1"/>
          <p:nvPr/>
        </p:nvSpPr>
        <p:spPr>
          <a:xfrm>
            <a:off x="6516190" y="3118104"/>
            <a:ext cx="3108960" cy="182880"/>
          </a:xfrm>
          <a:prstGeom prst="rect">
            <a:avLst/>
          </a:prstGeom>
          <a:noFill/>
        </p:spPr>
        <p:txBody>
          <a:bodyPr wrap="square">
            <a:spAutoFit/>
          </a:bodyPr>
          <a:lstStyle/>
          <a:p>
            <a:pPr algn="l">
              <a:defRPr sz="900" b="0">
                <a:solidFill>
                  <a:srgbClr val="28A745"/>
                </a:solidFill>
                <a:latin typeface="Courier New"/>
              </a:defRPr>
            </a:pPr>
            <a:r>
              <a:t>model = joblib.load('models/voting.pkl')</a:t>
            </a:r>
          </a:p>
        </p:txBody>
      </p:sp>
      <p:sp>
        <p:nvSpPr>
          <p:cNvPr id="22" name="TextBox 21"/>
          <p:cNvSpPr txBox="1"/>
          <p:nvPr/>
        </p:nvSpPr>
        <p:spPr>
          <a:xfrm>
            <a:off x="6516190" y="3319272"/>
            <a:ext cx="3108960" cy="182880"/>
          </a:xfrm>
          <a:prstGeom prst="rect">
            <a:avLst/>
          </a:prstGeom>
          <a:noFill/>
        </p:spPr>
        <p:txBody>
          <a:bodyPr wrap="square">
            <a:spAutoFit/>
          </a:bodyPr>
          <a:lstStyle/>
          <a:p>
            <a:pPr algn="l">
              <a:defRPr sz="900" b="0">
                <a:solidFill>
                  <a:srgbClr val="002A55"/>
                </a:solidFill>
                <a:latin typeface="Calibri"/>
              </a:defRPr>
            </a:pPr>
            <a:endParaRPr/>
          </a:p>
        </p:txBody>
      </p:sp>
      <p:sp>
        <p:nvSpPr>
          <p:cNvPr id="23" name="TextBox 22"/>
          <p:cNvSpPr txBox="1"/>
          <p:nvPr/>
        </p:nvSpPr>
        <p:spPr>
          <a:xfrm>
            <a:off x="6516190" y="3520440"/>
            <a:ext cx="3108960" cy="182880"/>
          </a:xfrm>
          <a:prstGeom prst="rect">
            <a:avLst/>
          </a:prstGeom>
          <a:noFill/>
        </p:spPr>
        <p:txBody>
          <a:bodyPr wrap="square">
            <a:spAutoFit/>
          </a:bodyPr>
          <a:lstStyle/>
          <a:p>
            <a:pPr algn="l">
              <a:defRPr sz="900" b="1">
                <a:solidFill>
                  <a:srgbClr val="28A745"/>
                </a:solidFill>
                <a:latin typeface="Courier New"/>
              </a:defRPr>
            </a:pPr>
            <a:r>
              <a:t>Each .pkl contains:</a:t>
            </a:r>
          </a:p>
        </p:txBody>
      </p:sp>
      <p:sp>
        <p:nvSpPr>
          <p:cNvPr id="24" name="TextBox 23"/>
          <p:cNvSpPr txBox="1"/>
          <p:nvPr/>
        </p:nvSpPr>
        <p:spPr>
          <a:xfrm>
            <a:off x="6516190" y="3721608"/>
            <a:ext cx="3108960" cy="182880"/>
          </a:xfrm>
          <a:prstGeom prst="rect">
            <a:avLst/>
          </a:prstGeom>
          <a:noFill/>
        </p:spPr>
        <p:txBody>
          <a:bodyPr wrap="square">
            <a:spAutoFit/>
          </a:bodyPr>
          <a:lstStyle/>
          <a:p>
            <a:pPr algn="l">
              <a:defRPr sz="900" b="0">
                <a:solidFill>
                  <a:srgbClr val="002A55"/>
                </a:solidFill>
                <a:latin typeface="Calibri"/>
              </a:defRPr>
            </a:pPr>
            <a:r>
              <a:t>• Learned weights / parameters</a:t>
            </a:r>
          </a:p>
        </p:txBody>
      </p:sp>
      <p:sp>
        <p:nvSpPr>
          <p:cNvPr id="25" name="TextBox 24"/>
          <p:cNvSpPr txBox="1"/>
          <p:nvPr/>
        </p:nvSpPr>
        <p:spPr>
          <a:xfrm>
            <a:off x="6516190" y="3922776"/>
            <a:ext cx="3108960" cy="182880"/>
          </a:xfrm>
          <a:prstGeom prst="rect">
            <a:avLst/>
          </a:prstGeom>
          <a:noFill/>
        </p:spPr>
        <p:txBody>
          <a:bodyPr wrap="square">
            <a:spAutoFit/>
          </a:bodyPr>
          <a:lstStyle/>
          <a:p>
            <a:pPr algn="l">
              <a:defRPr sz="900" b="0">
                <a:solidFill>
                  <a:srgbClr val="002A55"/>
                </a:solidFill>
                <a:latin typeface="Calibri"/>
              </a:defRPr>
            </a:pPr>
            <a:r>
              <a:t>• Hyperparameters &amp; architecture</a:t>
            </a:r>
          </a:p>
        </p:txBody>
      </p:sp>
      <p:sp>
        <p:nvSpPr>
          <p:cNvPr id="26" name="TextBox 25"/>
          <p:cNvSpPr txBox="1"/>
          <p:nvPr/>
        </p:nvSpPr>
        <p:spPr>
          <a:xfrm>
            <a:off x="6516190" y="4123944"/>
            <a:ext cx="3108960" cy="182880"/>
          </a:xfrm>
          <a:prstGeom prst="rect">
            <a:avLst/>
          </a:prstGeom>
          <a:noFill/>
        </p:spPr>
        <p:txBody>
          <a:bodyPr wrap="square">
            <a:spAutoFit/>
          </a:bodyPr>
          <a:lstStyle/>
          <a:p>
            <a:pPr algn="l">
              <a:defRPr sz="900" b="0">
                <a:solidFill>
                  <a:srgbClr val="002A55"/>
                </a:solidFill>
                <a:latin typeface="Calibri"/>
              </a:defRPr>
            </a:pPr>
            <a:r>
              <a:t>• Feature scaler (if fitted)</a:t>
            </a:r>
          </a:p>
        </p:txBody>
      </p:sp>
      <p:sp>
        <p:nvSpPr>
          <p:cNvPr id="27" name="TextBox 26"/>
          <p:cNvSpPr txBox="1"/>
          <p:nvPr/>
        </p:nvSpPr>
        <p:spPr>
          <a:xfrm>
            <a:off x="6516190" y="4325112"/>
            <a:ext cx="3108960" cy="182880"/>
          </a:xfrm>
          <a:prstGeom prst="rect">
            <a:avLst/>
          </a:prstGeom>
          <a:noFill/>
        </p:spPr>
        <p:txBody>
          <a:bodyPr wrap="square">
            <a:spAutoFit/>
          </a:bodyPr>
          <a:lstStyle/>
          <a:p>
            <a:pPr algn="l">
              <a:defRPr sz="900" b="0">
                <a:solidFill>
                  <a:srgbClr val="002A55"/>
                </a:solidFill>
                <a:latin typeface="Calibri"/>
              </a:defRPr>
            </a:pPr>
            <a:r>
              <a:t>• Label encoder mapping</a:t>
            </a:r>
          </a:p>
        </p:txBody>
      </p:sp>
      <p:sp>
        <p:nvSpPr>
          <p:cNvPr id="28" name="TextBox 27"/>
          <p:cNvSpPr txBox="1"/>
          <p:nvPr/>
        </p:nvSpPr>
        <p:spPr>
          <a:xfrm>
            <a:off x="6516190" y="4526279"/>
            <a:ext cx="3108960" cy="182880"/>
          </a:xfrm>
          <a:prstGeom prst="rect">
            <a:avLst/>
          </a:prstGeom>
          <a:noFill/>
        </p:spPr>
        <p:txBody>
          <a:bodyPr wrap="square">
            <a:spAutoFit/>
          </a:bodyPr>
          <a:lstStyle/>
          <a:p>
            <a:pPr algn="l">
              <a:defRPr sz="900" b="0">
                <a:solidFill>
                  <a:srgbClr val="002A55"/>
                </a:solidFill>
                <a:latin typeface="Calibri"/>
              </a:defRPr>
            </a:pPr>
            <a:endParaRPr/>
          </a:p>
        </p:txBody>
      </p:sp>
      <p:sp>
        <p:nvSpPr>
          <p:cNvPr id="29" name="TextBox 28"/>
          <p:cNvSpPr txBox="1"/>
          <p:nvPr/>
        </p:nvSpPr>
        <p:spPr>
          <a:xfrm>
            <a:off x="6516190" y="4727448"/>
            <a:ext cx="3108960" cy="182880"/>
          </a:xfrm>
          <a:prstGeom prst="rect">
            <a:avLst/>
          </a:prstGeom>
          <a:noFill/>
        </p:spPr>
        <p:txBody>
          <a:bodyPr wrap="square">
            <a:spAutoFit/>
          </a:bodyPr>
          <a:lstStyle/>
          <a:p>
            <a:pPr algn="l">
              <a:defRPr sz="900" b="1">
                <a:solidFill>
                  <a:srgbClr val="002A55"/>
                </a:solidFill>
                <a:latin typeface="Calibri"/>
              </a:defRPr>
            </a:pPr>
            <a:r>
              <a:t>S3 sync at backend startup:</a:t>
            </a:r>
          </a:p>
        </p:txBody>
      </p:sp>
      <p:sp>
        <p:nvSpPr>
          <p:cNvPr id="30" name="TextBox 29"/>
          <p:cNvSpPr txBox="1"/>
          <p:nvPr/>
        </p:nvSpPr>
        <p:spPr>
          <a:xfrm>
            <a:off x="6516190" y="4928616"/>
            <a:ext cx="3108960" cy="182880"/>
          </a:xfrm>
          <a:prstGeom prst="rect">
            <a:avLst/>
          </a:prstGeom>
          <a:noFill/>
        </p:spPr>
        <p:txBody>
          <a:bodyPr wrap="square">
            <a:spAutoFit/>
          </a:bodyPr>
          <a:lstStyle/>
          <a:p>
            <a:pPr algn="l">
              <a:defRPr sz="900" b="0">
                <a:solidFill>
                  <a:srgbClr val="28A745"/>
                </a:solidFill>
                <a:latin typeface="Courier New"/>
              </a:defRPr>
            </a:pPr>
            <a:r>
              <a:t>s3://video2knowledge-dev-…/</a:t>
            </a:r>
          </a:p>
        </p:txBody>
      </p:sp>
      <p:sp>
        <p:nvSpPr>
          <p:cNvPr id="31" name="TextBox 30"/>
          <p:cNvSpPr txBox="1"/>
          <p:nvPr/>
        </p:nvSpPr>
        <p:spPr>
          <a:xfrm>
            <a:off x="6516190" y="5129783"/>
            <a:ext cx="3108960" cy="182880"/>
          </a:xfrm>
          <a:prstGeom prst="rect">
            <a:avLst/>
          </a:prstGeom>
          <a:noFill/>
        </p:spPr>
        <p:txBody>
          <a:bodyPr wrap="square">
            <a:spAutoFit/>
          </a:bodyPr>
          <a:lstStyle/>
          <a:p>
            <a:pPr algn="l">
              <a:defRPr sz="900" b="0">
                <a:solidFill>
                  <a:srgbClr val="28A745"/>
                </a:solidFill>
                <a:latin typeface="Courier New"/>
              </a:defRPr>
            </a:pPr>
            <a:r>
              <a:t>  models/v3/voting.pkl</a:t>
            </a:r>
          </a:p>
        </p:txBody>
      </p:sp>
      <p:sp>
        <p:nvSpPr>
          <p:cNvPr id="32" name="Rectangle 31"/>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34" name="Rectangle 33"/>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nus_iss_logo_transparent.png"/>
          <p:cNvPicPr>
            <a:picLocks noChangeAspect="1"/>
          </p:cNvPicPr>
          <p:nvPr/>
        </p:nvPicPr>
        <p:blipFill>
          <a:blip r:embed="rId2"/>
          <a:stretch>
            <a:fillRect/>
          </a:stretch>
        </p:blipFill>
        <p:spPr>
          <a:xfrm>
            <a:off x="9555480" y="82296"/>
            <a:ext cx="2514600" cy="58521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