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1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1371600"/>
            <a:ext cx="3962095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Video2Knowledge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BCCDD"/>
                </a:solidFill>
                <a:latin typeface="Calibri"/>
              </a:defRPr>
            </a:pPr>
            <a:r>
              <a:t>A Multimodal Pattern Recognition Framework for</a:t>
            </a:r>
            <a:br/>
            <a:r>
              <a:t>Screen Activity Understanding and Knowledge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99AA"/>
                </a:solidFill>
                <a:latin typeface="Calibri"/>
              </a:defRPr>
            </a:pPr>
            <a:r>
              <a:t>[Team Member 1]  |  [Team Member 2]  |  [Team Member 3]  |  [Team Member 4]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937760"/>
            <a:ext cx="3962095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99AA"/>
                </a:solidFill>
                <a:latin typeface="Calibri"/>
              </a:defRPr>
            </a:pPr>
            <a:r>
              <a:t>NUS ISS  —  Pattern Recognition Systems  —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1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CCDD"/>
                </a:solidFill>
                <a:latin typeface="Calibri"/>
              </a:defRPr>
            </a:pPr>
            <a:r>
              <a:t>Privileged users have deleted core systems, on purpose and by mistake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840480" cy="3200400"/>
          </a:xfrm>
          <a:prstGeom prst="roundRect">
            <a:avLst/>
          </a:prstGeom>
          <a:solidFill>
            <a:srgbClr val="2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400"/>
              </a:spcAft>
              <a:defRPr sz="3600" b="1">
                <a:solidFill>
                  <a:srgbClr val="CC2233"/>
                </a:solidFill>
                <a:latin typeface="Calibri"/>
              </a:defRPr>
            </a:pPr>
            <a:r>
              <a:t>S$918,000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loss after a dismissed system administrator</a:t>
            </a:r>
          </a:p>
          <a:p>
            <a:pPr algn="ctr">
              <a:spcAft>
                <a:spcPts val="400"/>
              </a:spcAft>
              <a:defRPr sz="1600" b="1">
                <a:solidFill>
                  <a:srgbClr val="CC2233"/>
                </a:solidFill>
                <a:latin typeface="Calibri"/>
              </a:defRPr>
            </a:pPr>
            <a:r>
              <a:t>deleted 180 virtual servers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at a Singapore IT firm (2023)</a:t>
            </a:r>
          </a:p>
          <a:p>
            <a:pPr algn="ctr">
              <a:spcAft>
                <a:spcPts val="4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Aft>
                <a:spcPts val="400"/>
              </a:spcAft>
              <a:defRPr sz="1400" b="0">
                <a:solidFill>
                  <a:srgbClr val="BBCCDD"/>
                </a:solidFill>
                <a:latin typeface="Calibri"/>
              </a:defRPr>
            </a:pPr>
            <a:r>
              <a:t>Sentenced to 2 years 8 months in jail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463040"/>
            <a:ext cx="6613855" cy="914400"/>
          </a:xfrm>
          <a:prstGeom prst="roundRect">
            <a:avLst/>
          </a:prstGeom>
          <a:solidFill>
            <a:srgbClr val="2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300"/>
              </a:spcAft>
              <a:defRPr sz="1000" b="1">
                <a:solidFill>
                  <a:srgbClr val="CC2233"/>
                </a:solidFill>
                <a:latin typeface="Calibri"/>
              </a:defRPr>
            </a:pPr>
            <a:r>
              <a:t>INTENTIONAL  |  SINGAPORE, 2023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A fired admin whose access was never revoked ran a script to delete all 180 servers of a test system, one by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2514600"/>
            <a:ext cx="6613855" cy="914400"/>
          </a:xfrm>
          <a:prstGeom prst="roundRect">
            <a:avLst/>
          </a:prstGeom>
          <a:solidFill>
            <a:srgbClr val="2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300"/>
              </a:spcAft>
              <a:defRPr sz="1000" b="1">
                <a:solidFill>
                  <a:srgbClr val="CC2233"/>
                </a:solidFill>
                <a:latin typeface="Calibri"/>
              </a:defRPr>
            </a:pPr>
            <a:r>
              <a:t>INTENTIONAL  |  UNITED STATES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A former worker deleted critical boot files on company servers, crippling operations for two weeks and forcing paper records.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3566160"/>
            <a:ext cx="6613855" cy="914400"/>
          </a:xfrm>
          <a:prstGeom prst="roundRect">
            <a:avLst/>
          </a:prstGeom>
          <a:solidFill>
            <a:srgbClr val="2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300"/>
              </a:spcAft>
              <a:defRPr sz="1000" b="1">
                <a:solidFill>
                  <a:srgbClr val="F57C00"/>
                </a:solidFill>
                <a:latin typeface="Calibri"/>
              </a:defRPr>
            </a:pPr>
            <a:r>
              <a:t>ACCIDENTAL  |  EVERYWHERE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Well-meaning admins also run destructive commands on the wrong server. Different intent, same damage.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728655" cy="822960"/>
          </a:xfrm>
          <a:prstGeom prst="roundRect">
            <a:avLst/>
          </a:prstGeom>
          <a:solidFill>
            <a:srgbClr val="15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Why this project: admin sessions can be recorded, but no one can review hours of video for risky 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788"/>
                </a:solidFill>
                <a:latin typeface="Calibri"/>
              </a:defRPr>
            </a:pPr>
            <a:r>
              <a:t>Sources: CNA, The Straits Times, US DOJ public records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1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CCDD"/>
                </a:solidFill>
                <a:latin typeface="Calibri"/>
              </a:defRPr>
            </a:pPr>
            <a:r>
              <a:t>Users with privileged access can accidentally or knowingly delete core Windows and Linux</a:t>
            </a:r>
            <a:br/>
            <a:r>
              <a:t>files and trigger security incidents, and these actions are usually found only after the damage is done.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2377440" cy="2286000"/>
          </a:xfrm>
          <a:prstGeom prst="roundRect">
            <a:avLst/>
          </a:prstGeom>
          <a:solidFill>
            <a:srgbClr val="2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40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Privileged action</a:t>
            </a:r>
          </a:p>
          <a:p>
            <a:pPr algn="ctr">
              <a:spcAft>
                <a:spcPts val="400"/>
              </a:spcAft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DDDDDD"/>
                </a:solidFill>
                <a:latin typeface="Calibri"/>
              </a:defRPr>
            </a:pPr>
            <a:r>
              <a:t>An admin works on a Windows or Linux server; the session is screen-recorded.</a:t>
            </a:r>
          </a:p>
        </p:txBody>
      </p:sp>
      <p:sp>
        <p:nvSpPr>
          <p:cNvPr id="5" name="Up Arrow Callout 4"/>
          <p:cNvSpPr/>
          <p:nvPr/>
        </p:nvSpPr>
        <p:spPr>
          <a:xfrm>
            <a:off x="2971800" y="2926080"/>
            <a:ext cx="320040" cy="457200"/>
          </a:xfrm>
          <a:prstGeom prst="upArrowCallout">
            <a:avLst/>
          </a:prstGeom>
          <a:solidFill>
            <a:srgbClr val="44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0" y="2011680"/>
            <a:ext cx="2377440" cy="2286000"/>
          </a:xfrm>
          <a:prstGeom prst="roundRect">
            <a:avLst/>
          </a:prstGeom>
          <a:solidFill>
            <a:srgbClr val="2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40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Risky action</a:t>
            </a:r>
          </a:p>
          <a:p>
            <a:pPr algn="ctr">
              <a:spcAft>
                <a:spcPts val="400"/>
              </a:spcAft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DDDDDD"/>
                </a:solidFill>
                <a:latin typeface="Calibri"/>
              </a:defRPr>
            </a:pPr>
            <a:r>
              <a:t>Core files are deleted, services stopped or settings changed.</a:t>
            </a:r>
          </a:p>
        </p:txBody>
      </p:sp>
      <p:sp>
        <p:nvSpPr>
          <p:cNvPr id="7" name="Up Arrow Callout 6"/>
          <p:cNvSpPr/>
          <p:nvPr/>
        </p:nvSpPr>
        <p:spPr>
          <a:xfrm>
            <a:off x="6080760" y="2926080"/>
            <a:ext cx="320040" cy="457200"/>
          </a:xfrm>
          <a:prstGeom prst="upArrowCallout">
            <a:avLst/>
          </a:prstGeom>
          <a:solidFill>
            <a:srgbClr val="44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2011680"/>
            <a:ext cx="2377440" cy="2286000"/>
          </a:xfrm>
          <a:prstGeom prst="roundRect">
            <a:avLst/>
          </a:prstGeom>
          <a:solidFill>
            <a:srgbClr val="2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40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Damage</a:t>
            </a:r>
          </a:p>
          <a:p>
            <a:pPr algn="ctr">
              <a:spcAft>
                <a:spcPts val="400"/>
              </a:spcAft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DDDDDD"/>
                </a:solidFill>
                <a:latin typeface="Calibri"/>
              </a:defRPr>
            </a:pPr>
            <a:r>
              <a:t>Outage, data loss and recovery cost.</a:t>
            </a:r>
          </a:p>
        </p:txBody>
      </p:sp>
      <p:sp>
        <p:nvSpPr>
          <p:cNvPr id="9" name="Up Arrow Callout 8"/>
          <p:cNvSpPr/>
          <p:nvPr/>
        </p:nvSpPr>
        <p:spPr>
          <a:xfrm>
            <a:off x="9189720" y="2926080"/>
            <a:ext cx="320040" cy="457200"/>
          </a:xfrm>
          <a:prstGeom prst="upArrowCallout">
            <a:avLst/>
          </a:prstGeom>
          <a:solidFill>
            <a:srgbClr val="44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011680"/>
            <a:ext cx="2377440" cy="2286000"/>
          </a:xfrm>
          <a:prstGeom prst="roundRect">
            <a:avLst/>
          </a:prstGeom>
          <a:solidFill>
            <a:srgbClr val="CC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40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Found too late</a:t>
            </a:r>
          </a:p>
          <a:p>
            <a:pPr algn="ctr">
              <a:spcAft>
                <a:spcPts val="400"/>
              </a:spcAft>
              <a:defRPr sz="6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Reviewers must watch hours of video by hand, if they look at 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4754880"/>
            <a:ext cx="6705295" cy="640080"/>
          </a:xfrm>
          <a:prstGeom prst="roundRect">
            <a:avLst/>
          </a:prstGeom>
          <a:solidFill>
            <a:srgbClr val="15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Two intents, one outcome:    Accidental   |   Deliberate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Automatically understand what was done in server screen recordings,</a:t>
            </a:r>
            <a:br/>
            <a:r>
              <a:t>so risky actions can be caught early and incidents prevented at scale.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3291840" cy="34747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94560" y="2194560"/>
            <a:ext cx="548640" cy="548640"/>
          </a:xfrm>
          <a:prstGeom prst="ellipse">
            <a:avLst/>
          </a:prstGeom>
          <a:solidFill>
            <a:srgbClr val="CC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D2D2D"/>
                </a:solidFill>
                <a:latin typeface="Calibri"/>
              </a:defRPr>
            </a:pPr>
            <a:r>
              <a:t>Identify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9184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Analyse recorded sessions with a tiered pipeline (frame features, sequence model, classifier) to recognise which action was performed.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011680"/>
            <a:ext cx="3291840" cy="34747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06440" y="2194560"/>
            <a:ext cx="548640" cy="548640"/>
          </a:xfrm>
          <a:prstGeom prst="ellipse">
            <a:avLst/>
          </a:prstGeom>
          <a:solidFill>
            <a:srgbClr val="CC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834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D2D2D"/>
                </a:solidFill>
                <a:latin typeface="Calibri"/>
              </a:defRPr>
            </a:pPr>
            <a: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29184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Generate a plain-language summary of the actions so reviewers do not have to watch the full video.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291840" cy="34747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18320" y="2194560"/>
            <a:ext cx="548640" cy="548640"/>
          </a:xfrm>
          <a:prstGeom prst="ellipse">
            <a:avLst/>
          </a:prstGeom>
          <a:solidFill>
            <a:srgbClr val="CC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834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D2D2D"/>
                </a:solidFill>
                <a:latin typeface="Calibri"/>
              </a:defRPr>
            </a:pPr>
            <a:r>
              <a:t>Prevent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29184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Flag high-risk actions such as deleting core files early, across many admins and organisations, not only after an incident.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5760720"/>
            <a:ext cx="6705295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Scope:  Windows and Linux server administration recordings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188720"/>
            <a:ext cx="9601200" cy="5212080"/>
          </a:xfrm>
          <a:prstGeom prst="roundRect">
            <a:avLst/>
          </a:prstGeom>
          <a:solidFill>
            <a:srgbClr val="E0E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234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66"/>
                </a:solidFill>
                <a:latin typeface="Calibri"/>
              </a:defRPr>
            </a:pPr>
            <a:r>
              <a:t>Docker 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926080"/>
            <a:ext cx="1005840" cy="7315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User</a:t>
            </a:r>
            <a:br/>
            <a:r>
              <a:t>Uploads Video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645920"/>
            <a:ext cx="2011680" cy="12801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CCDDFF"/>
                </a:solidFill>
                <a:latin typeface="Calibri"/>
              </a:defRPr>
            </a:pPr>
            <a:r>
              <a:t>React + TypeScript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CCDDFF"/>
                </a:solidFill>
                <a:latin typeface="Calibri"/>
              </a:defRPr>
            </a:pPr>
            <a:r>
              <a:t>Vite (port 5173)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CCDDFF"/>
                </a:solidFill>
                <a:latin typeface="Calibri"/>
              </a:defRPr>
            </a:pPr>
            <a:r>
              <a:t>Model Comparison UI</a:t>
            </a:r>
          </a:p>
        </p:txBody>
      </p:sp>
      <p:sp>
        <p:nvSpPr>
          <p:cNvPr id="7" name="Up Arrow Callout 6"/>
          <p:cNvSpPr/>
          <p:nvPr/>
        </p:nvSpPr>
        <p:spPr>
          <a:xfrm>
            <a:off x="1280160" y="3108960"/>
            <a:ext cx="320040" cy="274320"/>
          </a:xfrm>
          <a:prstGeom prst="upArrowCallou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828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POST /api/v1</a:t>
            </a:r>
          </a:p>
        </p:txBody>
      </p:sp>
      <p:sp>
        <p:nvSpPr>
          <p:cNvPr id="9" name="Up Arrow Callout 8"/>
          <p:cNvSpPr/>
          <p:nvPr/>
        </p:nvSpPr>
        <p:spPr>
          <a:xfrm>
            <a:off x="3703320" y="2103120"/>
            <a:ext cx="320040" cy="274320"/>
          </a:xfrm>
          <a:prstGeom prst="upArrowCallou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0" y="1645920"/>
            <a:ext cx="4114800" cy="4389120"/>
          </a:xfrm>
          <a:prstGeom prst="round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Backend  (FastAPI, port 8000)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749039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Video Processor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CCDDFF"/>
                </a:solidFill>
                <a:latin typeface="Calibri"/>
              </a:defRPr>
            </a:pPr>
            <a:r>
              <a:t>Segment extraction  |  Keyframe extraction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246120"/>
            <a:ext cx="3749039" cy="914400"/>
          </a:xfrm>
          <a:prstGeom prst="roundRect">
            <a:avLst/>
          </a:prstGeom>
          <a:solidFill>
            <a:srgbClr val="0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Feature Assembler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CCDDFF"/>
                </a:solidFill>
                <a:latin typeface="Calibri"/>
              </a:defRPr>
            </a:pPr>
            <a:r>
              <a:t>4 extractors  →  150-dim feature vector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4297680"/>
            <a:ext cx="3749039" cy="914400"/>
          </a:xfrm>
          <a:prstGeom prst="roundRect">
            <a:avLst/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ML Service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CCDDFF"/>
                </a:solidFill>
                <a:latin typeface="Calibri"/>
              </a:defRPr>
            </a:pPr>
            <a:r>
              <a:t>14 models  |  3 tiers  |  Comparison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063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7ACC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069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7ACC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2286000"/>
            <a:ext cx="2103120" cy="1645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Database</a:t>
            </a:r>
          </a:p>
          <a:p>
            <a:pPr algn="ctr">
              <a:spcAft>
                <a:spcPts val="200"/>
              </a:spcAft>
              <a:defRPr sz="1200" b="0">
                <a:solidFill>
                  <a:srgbClr val="CCFFDD"/>
                </a:solidFill>
                <a:latin typeface="Calibri"/>
              </a:defRPr>
            </a:pPr>
            <a:r>
              <a:t>PostgreSQL 16</a:t>
            </a:r>
          </a:p>
          <a:p>
            <a:pPr algn="ctr">
              <a:spcAft>
                <a:spcPts val="200"/>
              </a:spcAft>
              <a:defRPr sz="1200" b="0">
                <a:solidFill>
                  <a:srgbClr val="CCFFDD"/>
                </a:solidFill>
                <a:latin typeface="Calibri"/>
              </a:defRPr>
            </a:pPr>
            <a:r>
              <a:t>+ pgvector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CCFFDD"/>
                </a:solidFill>
                <a:latin typeface="Calibri"/>
              </a:defRPr>
            </a:pPr>
            <a:r>
              <a:t>port 5434</a:t>
            </a:r>
          </a:p>
        </p:txBody>
      </p:sp>
      <p:sp>
        <p:nvSpPr>
          <p:cNvPr id="18" name="Up Arrow Callout 17"/>
          <p:cNvSpPr/>
          <p:nvPr/>
        </p:nvSpPr>
        <p:spPr>
          <a:xfrm>
            <a:off x="8321040" y="2926080"/>
            <a:ext cx="320040" cy="274320"/>
          </a:xfrm>
          <a:prstGeom prst="upArrowCallou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Calibri"/>
              </a:defRPr>
            </a:pPr>
            <a:r>
              <a:t>◀  Results returned  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45920" y="4389120"/>
            <a:ext cx="2011680" cy="914400"/>
          </a:xfrm>
          <a:prstGeom prst="roundRect">
            <a:avLst/>
          </a:prstGeom>
          <a:solidFill>
            <a:srgbClr val="0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Results Display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CCDDFF"/>
                </a:solidFill>
                <a:latin typeface="Calibri"/>
              </a:defRPr>
            </a:pPr>
            <a:r>
              <a:t>Model comparison +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CCDDFF"/>
                </a:solidFill>
                <a:latin typeface="Calibri"/>
              </a:defRPr>
            </a:pPr>
            <a:r>
              <a:t>Workflow steps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Multimodal Feature Extraction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1371600" cy="731520"/>
          </a:xfrm>
          <a:prstGeom prst="roundRect">
            <a:avLst/>
          </a:prstGeom>
          <a:solidFill>
            <a:srgbClr val="1B2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Video Input</a:t>
            </a:r>
          </a:p>
        </p:txBody>
      </p:sp>
      <p:sp>
        <p:nvSpPr>
          <p:cNvPr id="4" name="Up Arrow Callout 3"/>
          <p:cNvSpPr/>
          <p:nvPr/>
        </p:nvSpPr>
        <p:spPr>
          <a:xfrm>
            <a:off x="1691640" y="1554480"/>
            <a:ext cx="274320" cy="274320"/>
          </a:xfrm>
          <a:prstGeom prst="upArrowCallou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011680" y="1371600"/>
            <a:ext cx="1645920" cy="7315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VideoProcessor</a:t>
            </a:r>
            <a:br/>
            <a:r>
              <a:t>Segments + Keyframes</a:t>
            </a:r>
          </a:p>
        </p:txBody>
      </p:sp>
      <p:sp>
        <p:nvSpPr>
          <p:cNvPr id="6" name="Up Arrow Callout 5"/>
          <p:cNvSpPr/>
          <p:nvPr/>
        </p:nvSpPr>
        <p:spPr>
          <a:xfrm>
            <a:off x="3703320" y="1554480"/>
            <a:ext cx="274320" cy="274320"/>
          </a:xfrm>
          <a:prstGeom prst="upArrowCallou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0" y="1097280"/>
            <a:ext cx="292608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EasyOCR (text)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EEEEEE"/>
                </a:solidFill>
                <a:latin typeface="Calibri"/>
              </a:defRPr>
            </a:pPr>
            <a:r>
              <a:t>TF-IDF → 50 dims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240280"/>
            <a:ext cx="2926080" cy="9144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YOLOv8 (UI elements)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EEEEEE"/>
                </a:solidFill>
                <a:latin typeface="Calibri"/>
              </a:defRPr>
            </a:pPr>
            <a:r>
              <a:t>counts/layout → 30 dims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3383280"/>
            <a:ext cx="2926080" cy="9144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OpenCV (visual)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EEEEEE"/>
                </a:solidFill>
                <a:latin typeface="Calibri"/>
              </a:defRPr>
            </a:pPr>
            <a:r>
              <a:t>color/edge/texture → 40 dims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4526280"/>
            <a:ext cx="2926080" cy="9144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Action Parser (behavior)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EEEEEE"/>
                </a:solidFill>
                <a:latin typeface="Calibri"/>
              </a:defRPr>
            </a:pPr>
            <a:r>
              <a:t>freq/temporal → 30 dims</a:t>
            </a:r>
          </a:p>
        </p:txBody>
      </p:sp>
      <p:sp>
        <p:nvSpPr>
          <p:cNvPr id="11" name="Up Arrow Callout 10"/>
          <p:cNvSpPr/>
          <p:nvPr/>
        </p:nvSpPr>
        <p:spPr>
          <a:xfrm>
            <a:off x="7086600" y="1417320"/>
            <a:ext cx="274320" cy="274320"/>
          </a:xfrm>
          <a:prstGeom prst="upArrowCallou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Callout 11"/>
          <p:cNvSpPr/>
          <p:nvPr/>
        </p:nvSpPr>
        <p:spPr>
          <a:xfrm>
            <a:off x="7086600" y="2560320"/>
            <a:ext cx="274320" cy="274320"/>
          </a:xfrm>
          <a:prstGeom prst="upArrowCallou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Callout 12"/>
          <p:cNvSpPr/>
          <p:nvPr/>
        </p:nvSpPr>
        <p:spPr>
          <a:xfrm>
            <a:off x="7086600" y="3703320"/>
            <a:ext cx="274320" cy="274320"/>
          </a:xfrm>
          <a:prstGeom prst="upArrowCallou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Up Arrow Callout 13"/>
          <p:cNvSpPr/>
          <p:nvPr/>
        </p:nvSpPr>
        <p:spPr>
          <a:xfrm>
            <a:off x="7086600" y="4846320"/>
            <a:ext cx="274320" cy="274320"/>
          </a:xfrm>
          <a:prstGeom prst="upArrowCallou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52360" y="2103120"/>
            <a:ext cx="1371600" cy="1097280"/>
          </a:xfrm>
          <a:prstGeom prst="roundRect">
            <a:avLst/>
          </a:prstGeom>
          <a:solidFill>
            <a:srgbClr val="1B2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Concatenate</a:t>
            </a:r>
            <a:br/>
            <a:r>
              <a:t>→ 150-dim</a:t>
            </a:r>
            <a:br/>
            <a:r>
              <a:t>feature vector</a:t>
            </a:r>
          </a:p>
        </p:txBody>
      </p:sp>
      <p:sp>
        <p:nvSpPr>
          <p:cNvPr id="16" name="Up Arrow Callout 15"/>
          <p:cNvSpPr/>
          <p:nvPr/>
        </p:nvSpPr>
        <p:spPr>
          <a:xfrm>
            <a:off x="8869680" y="2468880"/>
            <a:ext cx="274320" cy="274320"/>
          </a:xfrm>
          <a:prstGeom prst="upArrowCallou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35440" y="1645920"/>
            <a:ext cx="1371600" cy="1645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  <a:p>
            <a:pPr algn="ctr">
              <a:spcAft>
                <a:spcPts val="2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Classifiers</a:t>
            </a:r>
          </a:p>
          <a:p>
            <a:pPr algn="ctr">
              <a:spcAft>
                <a:spcPts val="200"/>
              </a:spcAft>
              <a:defRPr sz="1200" b="0">
                <a:solidFill>
                  <a:srgbClr val="CCDDFF"/>
                </a:solidFill>
                <a:latin typeface="Calibri"/>
              </a:defRPr>
            </a:pPr>
            <a:r>
              <a:t>(3 tiers)</a:t>
            </a:r>
          </a:p>
        </p:txBody>
      </p:sp>
      <p:sp>
        <p:nvSpPr>
          <p:cNvPr id="18" name="Up Arrow Callout 17"/>
          <p:cNvSpPr/>
          <p:nvPr/>
        </p:nvSpPr>
        <p:spPr>
          <a:xfrm>
            <a:off x="10652760" y="2286000"/>
            <a:ext cx="274320" cy="274320"/>
          </a:xfrm>
          <a:prstGeom prst="upArrowCallou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72800" y="1828800"/>
            <a:ext cx="1005840" cy="1371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Activity</a:t>
            </a:r>
          </a:p>
          <a:p>
            <a:pPr algn="ctr">
              <a:spcAft>
                <a:spcPts val="2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Label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FFFFFF"/>
                </a:solidFill>
                <a:latin typeface="Calibri"/>
              </a:defRPr>
            </a:pPr>
            <a:r>
              <a:t>+</a:t>
            </a:r>
          </a:p>
          <a:p>
            <a:pPr algn="ctr"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Confidence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669280"/>
            <a:ext cx="10362895" cy="5486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2D2D2D"/>
                </a:solidFill>
                <a:latin typeface="Calibri"/>
              </a:defRPr>
            </a:pPr>
            <a:r>
              <a:t>Each video segment is independently processed through all 4 extractors in parallel, producing a unified 150-dimensional feature vector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14 Classification Models Across 3 Tiers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029200" cy="21031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400"/>
              </a:spcAft>
              <a:defRPr sz="1800" b="1">
                <a:solidFill>
                  <a:srgbClr val="007ACC"/>
                </a:solidFill>
                <a:latin typeface="Calibri"/>
              </a:defRPr>
            </a:pPr>
            <a:r>
              <a:t>Tier 1 — Classical ML  (7 models)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72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SVM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74520" y="1828800"/>
            <a:ext cx="10972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Naive Bayes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828800"/>
            <a:ext cx="10972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Decision Tree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10972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0972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KNN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20" y="2468880"/>
            <a:ext cx="10972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468880"/>
            <a:ext cx="10972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188720"/>
            <a:ext cx="5790895" cy="210312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400"/>
              </a:spcAft>
              <a:defRPr sz="1800" b="1">
                <a:solidFill>
                  <a:srgbClr val="6F42C1"/>
                </a:solidFill>
                <a:latin typeface="Calibri"/>
              </a:defRPr>
            </a:pPr>
            <a:r>
              <a:t>Tier 2 — Deep Learning  (4 models)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118872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MLP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0" y="1828800"/>
            <a:ext cx="118872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CNN-1D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28800"/>
            <a:ext cx="118872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LSTM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0" y="1828800"/>
            <a:ext cx="118872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Transformer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47472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  <a:latin typeface="Calibri"/>
              </a:defRPr>
            </a:pPr>
            <a:r>
              <a:t>Tier 1 + Tier 2 predictions feed into 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3931920"/>
            <a:ext cx="7619695" cy="18288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400"/>
              </a:spcAft>
              <a:defRPr sz="1800" b="1">
                <a:solidFill>
                  <a:srgbClr val="28A745"/>
                </a:solidFill>
                <a:latin typeface="Calibri"/>
              </a:defRPr>
            </a:pPr>
            <a:r>
              <a:t>Tier 3 — Ensemble  (3 models)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4572000"/>
            <a:ext cx="182880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Voting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4572000"/>
            <a:ext cx="182880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Stacking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572000"/>
            <a:ext cx="182880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Late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350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All models run on the same 150-dim feature vector and produce comparable predictions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Training Dataset: CUA-Suite (VideoCUA)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468880" cy="10972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3600" b="1">
                <a:solidFill>
                  <a:srgbClr val="007ACC"/>
                </a:solidFill>
                <a:latin typeface="Calibri"/>
              </a:defRPr>
            </a:pPr>
            <a:r>
              <a:t>9,514</a:t>
            </a:r>
          </a:p>
          <a:p>
            <a:pPr algn="ctr">
              <a:spcAft>
                <a:spcPts val="200"/>
              </a:spcAft>
              <a:defRPr sz="1400" b="1">
                <a:solidFill>
                  <a:srgbClr val="666666"/>
                </a:solidFill>
                <a:latin typeface="Calibri"/>
              </a:defRPr>
            </a:pPr>
            <a:r>
              <a:t>Videos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188720"/>
            <a:ext cx="2468880" cy="10972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3600" b="1">
                <a:solidFill>
                  <a:srgbClr val="007ACC"/>
                </a:solidFill>
                <a:latin typeface="Calibri"/>
              </a:defRPr>
            </a:pPr>
            <a:r>
              <a:t>87</a:t>
            </a:r>
          </a:p>
          <a:p>
            <a:pPr algn="ctr">
              <a:spcAft>
                <a:spcPts val="200"/>
              </a:spcAft>
              <a:defRPr sz="1400" b="1">
                <a:solidFill>
                  <a:srgbClr val="666666"/>
                </a:solidFill>
                <a:latin typeface="Calibri"/>
              </a:defRPr>
            </a:pPr>
            <a:r>
              <a:t>Applications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188720"/>
            <a:ext cx="2468880" cy="10972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3600" b="1">
                <a:solidFill>
                  <a:srgbClr val="007ACC"/>
                </a:solidFill>
                <a:latin typeface="Calibri"/>
              </a:defRPr>
            </a:pPr>
            <a:r>
              <a:t>9</a:t>
            </a:r>
          </a:p>
          <a:p>
            <a:pPr algn="ctr">
              <a:spcAft>
                <a:spcPts val="200"/>
              </a:spcAft>
              <a:defRPr sz="1400" b="1">
                <a:solidFill>
                  <a:srgbClr val="666666"/>
                </a:solidFill>
                <a:latin typeface="Calibri"/>
              </a:defRPr>
            </a:pPr>
            <a:r>
              <a:t>Activity Classes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5440" y="1188720"/>
            <a:ext cx="2468880" cy="10972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3600" b="1">
                <a:solidFill>
                  <a:srgbClr val="007ACC"/>
                </a:solidFill>
                <a:latin typeface="Calibri"/>
              </a:defRPr>
            </a:pPr>
            <a:r>
              <a:t>~48 GB</a:t>
            </a:r>
          </a:p>
          <a:p>
            <a:pPr algn="ctr">
              <a:spcAft>
                <a:spcPts val="200"/>
              </a:spcAft>
              <a:defRPr sz="1400" b="1">
                <a:solidFill>
                  <a:srgbClr val="666666"/>
                </a:solidFill>
                <a:latin typeface="Calibri"/>
              </a:defRPr>
            </a:pPr>
            <a:r>
              <a:t>Total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Activity Classes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192024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3017520"/>
            <a:ext cx="192024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double_click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3017520"/>
            <a:ext cx="1920240" cy="4114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drag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017520"/>
            <a:ext cx="1920240" cy="4114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key_press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3017520"/>
            <a:ext cx="1920240" cy="411480"/>
          </a:xfrm>
          <a:prstGeom prst="roundRect">
            <a:avLst/>
          </a:prstGeom>
          <a:solidFill>
            <a:srgbClr val="CC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scroll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920240" cy="411480"/>
          </a:xfrm>
          <a:prstGeom prst="roundRect">
            <a:avLst/>
          </a:prstGeom>
          <a:solidFill>
            <a:srgbClr val="0099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select_text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3566160"/>
            <a:ext cx="1920240" cy="411480"/>
          </a:xfrm>
          <a:prstGeom prst="roundRect">
            <a:avLst/>
          </a:prstGeom>
          <a:solidFill>
            <a:srgbClr val="88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566160"/>
            <a:ext cx="1920240" cy="411480"/>
          </a:xfrm>
          <a:prstGeom prst="roundRect">
            <a:avLst/>
          </a:prstGeom>
          <a:solidFill>
            <a:srgbClr val="99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566160"/>
            <a:ext cx="1920240" cy="411480"/>
          </a:xfrm>
          <a:prstGeom prst="roundRect">
            <a:avLst/>
          </a:prstGeom>
          <a:solidFill>
            <a:srgbClr val="33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navigate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Train / Test Split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46320"/>
            <a:ext cx="7315200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Train: 7,685  (80.8%)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4846320"/>
            <a:ext cx="1828800" cy="6400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Test: 1,924  (19.2%)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760720"/>
            <a:ext cx="10728655" cy="5486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Source: ServiceNow/VideoCUA on HuggingFace  (MIT License)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Model Comparison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7295" cy="347472"/>
          </a:xfrm>
          <a:prstGeom prst="rect">
            <a:avLst/>
          </a:prstGeom>
          <a:solidFill>
            <a:srgbClr val="1B2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# 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868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8686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8686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F1 Macro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7295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618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alibri"/>
              </a:defRPr>
            </a:pPr>
            <a:r>
              <a:t>1.  late_fusion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298448"/>
            <a:ext cx="73152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2618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2618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Calibri"/>
              </a:defRPr>
            </a:pPr>
            <a:r>
              <a:t>0.292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335024"/>
            <a:ext cx="2047036" cy="201168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609344"/>
            <a:ext cx="11277295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6093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alibri"/>
              </a:defRPr>
            </a:pPr>
            <a:r>
              <a:t>2.  stacking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645920"/>
            <a:ext cx="73152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6093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6093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Calibri"/>
              </a:defRPr>
            </a:pPr>
            <a:r>
              <a:t>0.277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1682496"/>
            <a:ext cx="1941880" cy="201168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956816"/>
            <a:ext cx="11277295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9568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alibri"/>
              </a:defRPr>
            </a:pPr>
            <a:r>
              <a:t>3.  xgboost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1993392"/>
            <a:ext cx="7315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195681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195681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Calibri"/>
              </a:defRPr>
            </a:pPr>
            <a:r>
              <a:t>0.256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2029968"/>
            <a:ext cx="1794662" cy="20116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304288"/>
            <a:ext cx="11277295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3042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4.  random_forest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2340864"/>
            <a:ext cx="7315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3042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3042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0.238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0" y="2377440"/>
            <a:ext cx="1668475" cy="20116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2651760"/>
            <a:ext cx="11277295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65176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5.  lightgbm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34640" y="2688336"/>
            <a:ext cx="7315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26517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6517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0.232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0" y="2724912"/>
            <a:ext cx="1626412" cy="20116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2999232"/>
            <a:ext cx="11277295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299923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6.  knn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34640" y="3035808"/>
            <a:ext cx="7315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299923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0.597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99923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0.225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3072384"/>
            <a:ext cx="1577340" cy="20116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3346704"/>
            <a:ext cx="11277295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7.  decision_tree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34640" y="3383280"/>
            <a:ext cx="7315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33467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0.596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3467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0.199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0" y="3419856"/>
            <a:ext cx="1395069" cy="20116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3694176"/>
            <a:ext cx="11277295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369417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8.  transformer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34640" y="3730752"/>
            <a:ext cx="731520" cy="2743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0" y="369417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369417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0.181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86800" y="3767328"/>
            <a:ext cx="1268882" cy="20116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7200" y="4041648"/>
            <a:ext cx="11277295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041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9.  voting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34640" y="4078224"/>
            <a:ext cx="73152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0.176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86800" y="4114800"/>
            <a:ext cx="1233830" cy="201168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7200" y="4389120"/>
            <a:ext cx="11277295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43891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10.  mlp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34640" y="4425696"/>
            <a:ext cx="731520" cy="2743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0" y="43891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43891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0.175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0" y="4462272"/>
            <a:ext cx="1226820" cy="20116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7200" y="4736592"/>
            <a:ext cx="11277295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47365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11.  lstm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34640" y="4773168"/>
            <a:ext cx="731520" cy="2743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47365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0" y="47365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0.143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686800" y="4809744"/>
            <a:ext cx="1002487" cy="20116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7200" y="5084064"/>
            <a:ext cx="11277295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8640" y="50840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12.  cnn1d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834640" y="5120640"/>
            <a:ext cx="731520" cy="2743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0" y="508406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0.607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0" y="508406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0.124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86800" y="5157216"/>
            <a:ext cx="869289" cy="201168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57200" y="5431536"/>
            <a:ext cx="11277295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543153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13.  svm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834640" y="5468112"/>
            <a:ext cx="7315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543153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0.605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0" y="543153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0.116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686800" y="5504688"/>
            <a:ext cx="813206" cy="20116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57200" y="5779008"/>
            <a:ext cx="11277295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57790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14.  naive_bayes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834640" y="5815584"/>
            <a:ext cx="7315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tier1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0" y="57790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0.023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0" y="57790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0.034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686800" y="5852160"/>
            <a:ext cx="238353" cy="20116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457200" y="6172200"/>
            <a:ext cx="11277295" cy="502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400"/>
              </a:spcAft>
              <a:defRPr sz="1200" b="1">
                <a:solidFill>
                  <a:srgbClr val="2D2D2D"/>
                </a:solidFill>
                <a:latin typeface="Calibri"/>
              </a:defRPr>
            </a:pPr>
            <a:r>
              <a:t>Key:  Ensembles achieve best F1  |  XGBoost best among classical  |  DL models did not outperform classical with engineered features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03520" cy="2286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1380744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Python 3.11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66544" y="1691640"/>
            <a:ext cx="10972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FastAPI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5264" y="1691640"/>
            <a:ext cx="10972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PyTorch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48840"/>
            <a:ext cx="1481328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scikit-learn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7128" y="2148840"/>
            <a:ext cx="10972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148840"/>
            <a:ext cx="10972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4568" y="2148840"/>
            <a:ext cx="10972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OpenCV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6040"/>
            <a:ext cx="10972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EasyOCR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83080" y="2606040"/>
            <a:ext cx="10972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YOLOv8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1097280"/>
            <a:ext cx="5303520" cy="2286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48095" y="1097280"/>
            <a:ext cx="530352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5255" y="1691640"/>
            <a:ext cx="109728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3975" y="1691640"/>
            <a:ext cx="128016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TypeScript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5575" y="1691640"/>
            <a:ext cx="109728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Vite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57600"/>
            <a:ext cx="5303520" cy="2286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657600"/>
            <a:ext cx="530352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251960"/>
            <a:ext cx="1682496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Docker Compose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68296" y="4251960"/>
            <a:ext cx="2688336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PostgreSQL 16 + pgvector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709160"/>
            <a:ext cx="178308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Terraform (IaC)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68880" y="4709160"/>
            <a:ext cx="278892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AWS EC2 (g4dn.xlarge GPU)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8095" y="3657600"/>
            <a:ext cx="5303520" cy="2286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48095" y="3657600"/>
            <a:ext cx="5303520" cy="4572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Dev Tools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85255" y="4251960"/>
            <a:ext cx="1097280" cy="3657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pytest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73975" y="4251960"/>
            <a:ext cx="1097280" cy="3657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ruff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62695" y="4251960"/>
            <a:ext cx="1097280" cy="3657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mypy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51415" y="4251960"/>
            <a:ext cx="1097280" cy="3657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Alembic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1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554480"/>
            <a:ext cx="3047695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CCDD"/>
                </a:solidFill>
                <a:latin typeface="Calibri"/>
              </a:defRPr>
            </a:pPr>
            <a:r>
              <a:t>Upload a screen recording  →  Watch real-time progress  →  View model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3200400"/>
            <a:ext cx="3657600" cy="2286000"/>
          </a:xfrm>
          <a:prstGeom prst="roundRect">
            <a:avLst/>
          </a:prstGeom>
          <a:solidFill>
            <a:srgbClr val="2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2800" b="1">
                <a:solidFill>
                  <a:srgbClr val="28A745"/>
                </a:solidFill>
                <a:latin typeface="Calibri"/>
              </a:defRPr>
            </a:pPr>
            <a:r>
              <a:t>Fast Mode</a:t>
            </a:r>
          </a:p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9 models</a:t>
            </a:r>
          </a:p>
          <a:p>
            <a:pPr algn="ctr">
              <a:spcAft>
                <a:spcPts val="200"/>
              </a:spcAft>
              <a:defRPr sz="1400" b="0">
                <a:solidFill>
                  <a:srgbClr val="BBCCDD"/>
                </a:solidFill>
                <a:latin typeface="Calibri"/>
              </a:defRPr>
            </a:pPr>
            <a:r>
              <a:t>(Tier 1 only)</a:t>
            </a:r>
          </a:p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Aft>
                <a:spcPts val="200"/>
              </a:spcAft>
              <a:defRPr sz="2000" b="1">
                <a:solidFill>
                  <a:srgbClr val="28A745"/>
                </a:solidFill>
                <a:latin typeface="Calibri"/>
              </a:defRPr>
            </a:pPr>
            <a:r>
              <a:t>~30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3840480"/>
            <a:ext cx="1218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8899AA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3200400"/>
            <a:ext cx="3657600" cy="2286000"/>
          </a:xfrm>
          <a:prstGeom prst="roundRect">
            <a:avLst/>
          </a:prstGeom>
          <a:solidFill>
            <a:srgbClr val="2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2800" b="1">
                <a:solidFill>
                  <a:srgbClr val="007ACC"/>
                </a:solidFill>
                <a:latin typeface="Calibri"/>
              </a:defRPr>
            </a:pPr>
            <a:r>
              <a:t>Full Mode</a:t>
            </a:r>
          </a:p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14 models</a:t>
            </a:r>
          </a:p>
          <a:p>
            <a:pPr algn="ctr">
              <a:spcAft>
                <a:spcPts val="200"/>
              </a:spcAft>
              <a:defRPr sz="1400" b="0">
                <a:solidFill>
                  <a:srgbClr val="BBCCDD"/>
                </a:solidFill>
                <a:latin typeface="Calibri"/>
              </a:defRPr>
            </a:pPr>
            <a:r>
              <a:t>(All 3 tiers)</a:t>
            </a:r>
          </a:p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spcAft>
                <a:spcPts val="200"/>
              </a:spcAft>
              <a:defRPr sz="2000" b="1">
                <a:solidFill>
                  <a:srgbClr val="007ACC"/>
                </a:solidFill>
                <a:latin typeface="Calibri"/>
              </a:defRPr>
            </a:pPr>
            <a:r>
              <a:t>~5 minutes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Practice Module Requirements — All 4 Covered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303520" cy="21031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73152" cy="21031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✓  Supervised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9,514 labeled videos, 14 trained models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188720"/>
            <a:ext cx="5303520" cy="210312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48095" y="1188720"/>
            <a:ext cx="73152" cy="210312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2415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F42C1"/>
                </a:solidFill>
                <a:latin typeface="Calibri"/>
              </a:defRPr>
            </a:pPr>
            <a:r>
              <a:t>✓  ML /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2415" y="21031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7 classical + 4 neural networks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5303520" cy="210312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57600"/>
            <a:ext cx="73152" cy="21031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8A745"/>
                </a:solidFill>
                <a:latin typeface="Calibri"/>
              </a:defRPr>
            </a:pPr>
            <a:r>
              <a:t>✓  Hybrid / Ensemble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3 ensemble methods combining Tier 1+2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657600"/>
            <a:ext cx="5303520" cy="210312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8095" y="3657600"/>
            <a:ext cx="73152" cy="21031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2415" y="39319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7C00"/>
                </a:solidFill>
                <a:latin typeface="Calibri"/>
              </a:defRPr>
            </a:pPr>
            <a:r>
              <a:t>✓  Intelligent Sensing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2415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 modalities, 150-dim multimodal fusion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73152" cy="8229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" y="1234440"/>
            <a:ext cx="457200" cy="4572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143000"/>
            <a:ext cx="98142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08760"/>
            <a:ext cx="98142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Knowledge extraction from classified segments using retrieval-augmented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73152" cy="8229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86000"/>
            <a:ext cx="457200" cy="4572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94560"/>
            <a:ext cx="98142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MLflow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560320"/>
            <a:ext cx="98142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Experiment tracking and model versioning for reproducible 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73152" cy="8229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337560"/>
            <a:ext cx="457200" cy="45720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46120"/>
            <a:ext cx="98142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GPU-Optimized Inference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611880"/>
            <a:ext cx="98142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Real-time analysis with GPU acceleration for production workloads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51960"/>
            <a:ext cx="73152" cy="8229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4389120"/>
            <a:ext cx="457200" cy="45720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297680"/>
            <a:ext cx="98142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VLM Baseline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663440"/>
            <a:ext cx="98142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Compare GPT-4V, Gemini vision models vs hand-crafted features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73152" cy="822960"/>
          </a:xfrm>
          <a:prstGeom prst="roundRect">
            <a:avLst/>
          </a:prstGeom>
          <a:solidFill>
            <a:srgbClr val="CC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5840" y="5440680"/>
            <a:ext cx="457200" cy="457200"/>
          </a:xfrm>
          <a:prstGeom prst="ellipse">
            <a:avLst/>
          </a:prstGeom>
          <a:solidFill>
            <a:srgbClr val="CC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349240"/>
            <a:ext cx="98142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Active Learning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715000"/>
            <a:ext cx="98142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User feedback on misclassifications to improve model accuracy iteratively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234440"/>
            <a:ext cx="411480" cy="41148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10088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Built multimodal feature extraction pipeline (4 modalities → 150-dim vector)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103120"/>
            <a:ext cx="411480" cy="41148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57400"/>
            <a:ext cx="10088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Implemented 14 classification models across 3 tiers with benchmarking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971800"/>
            <a:ext cx="411480" cy="41148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926080"/>
            <a:ext cx="10088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Developed full-stack web application with real-time progress reporting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840480"/>
            <a:ext cx="411480" cy="41148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94760"/>
            <a:ext cx="10088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Trained on CUA-Suite dataset (9,514 videos, 9 activity classes)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709160"/>
            <a:ext cx="411480" cy="41148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663440"/>
            <a:ext cx="10088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Deployed with Docker + AWS infrastructure (Terraform IaC)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486400"/>
            <a:ext cx="210312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150</a:t>
            </a:r>
          </a:p>
          <a:p>
            <a:pPr algn="ctr">
              <a:spcAft>
                <a:spcPts val="200"/>
              </a:spcAft>
              <a:defRPr sz="1400" b="0">
                <a:solidFill>
                  <a:srgbClr val="CCDDFF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5486400"/>
            <a:ext cx="210312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  <a:p>
            <a:pPr algn="ctr">
              <a:spcAft>
                <a:spcPts val="200"/>
              </a:spcAft>
              <a:defRPr sz="1400" b="0">
                <a:solidFill>
                  <a:srgbClr val="CCDDFF"/>
                </a:solidFill>
                <a:latin typeface="Calibri"/>
              </a:defRPr>
            </a:pPr>
            <a:r>
              <a:t>Models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5486400"/>
            <a:ext cx="210312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  <a:p>
            <a:pPr algn="ctr">
              <a:spcAft>
                <a:spcPts val="200"/>
              </a:spcAft>
              <a:defRPr sz="1400" b="0">
                <a:solidFill>
                  <a:srgbClr val="CCDDFF"/>
                </a:solidFill>
                <a:latin typeface="Calibri"/>
              </a:defRPr>
            </a:pPr>
            <a:r>
              <a:t>Modalities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5486400"/>
            <a:ext cx="210312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  <a:p>
            <a:pPr algn="ctr">
              <a:spcAft>
                <a:spcPts val="200"/>
              </a:spcAft>
              <a:defRPr sz="1400" b="0">
                <a:solidFill>
                  <a:srgbClr val="CCDDFF"/>
                </a:solidFill>
                <a:latin typeface="Calibri"/>
              </a:defRPr>
            </a:pPr>
            <a:r>
              <a:t>Classes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1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3047695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CCDD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474720"/>
            <a:ext cx="3047695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99AA"/>
                </a:solidFill>
                <a:latin typeface="Calibri"/>
              </a:defRPr>
            </a:pPr>
            <a:r>
              <a:t>[Team Member 1]  •  [Team Member 2]  •  [Team Member 3]  •  [Team Member 4]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7788"/>
                </a:solidFill>
                <a:latin typeface="Calibri"/>
              </a:defRPr>
            </a:pPr>
            <a:r>
              <a:t>[email1]@u.nus.edu  |  [email2]@u.nus.edu  |  [email3]@u.nus.edu  |  [email4]@u.nus.edu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120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github.com/[org]/Video2Knowledge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7788"/>
                </a:solidFill>
                <a:latin typeface="Calibri"/>
              </a:defRPr>
            </a:pPr>
            <a:r>
              <a:t>NUS ISS  —  Pattern Recognition Systems  —  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