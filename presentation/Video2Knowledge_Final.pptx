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Video2Knowledge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 Multimodal Pattern Recognition Framework for</a:t>
            </a:r>
            <a:br/>
            <a:r>
              <a:t>Screen Activity Understanding and Knowledge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[Team Member 1]  |  [Team Member 2]  |  [Team Member 3]  |  [Team Member 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NUS ISS  —  Pattern Recognition Systems  —  September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Privileged users have deleted core systems, on purpose and by mistake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3840480" cy="3200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400"/>
              </a:spcAft>
              <a:defRPr sz="3600" b="1">
                <a:solidFill>
                  <a:srgbClr val="CC2233"/>
                </a:solidFill>
                <a:latin typeface="Calibri"/>
              </a:defRPr>
            </a:pPr>
            <a:r>
              <a:t>S$918,000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loss after a dismissed system administrator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CC2233"/>
                </a:solidFill>
                <a:latin typeface="Calibri"/>
              </a:defRPr>
            </a:pPr>
            <a:r>
              <a:t>deleted 180 virtual servers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at a Singapore IT firm (2023)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Sentenced to 2 years 8 months in jail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188720"/>
            <a:ext cx="6156655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300"/>
              </a:spcAft>
              <a:defRPr sz="1000" b="1">
                <a:solidFill>
                  <a:srgbClr val="CC2233"/>
                </a:solidFill>
                <a:latin typeface="Calibri"/>
              </a:defRPr>
            </a:pPr>
            <a:r>
              <a:t>INTENTIONAL  |  SINGAPORE, 2023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 fired admin whose access was never revoked ran a script to delete all 180 servers of a test system, one by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240280"/>
            <a:ext cx="6156655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300"/>
              </a:spcAft>
              <a:defRPr sz="1000" b="1">
                <a:solidFill>
                  <a:srgbClr val="CC2233"/>
                </a:solidFill>
                <a:latin typeface="Calibri"/>
              </a:defRPr>
            </a:pPr>
            <a:r>
              <a:t>INTENTIONAL  |  UNITED STATES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 former worker deleted critical boot files on company servers, crippling operations for two weeks and forcing paper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291840"/>
            <a:ext cx="6156655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300"/>
              </a:spcAft>
              <a:defRPr sz="1000" b="1">
                <a:solidFill>
                  <a:srgbClr val="EF7C00"/>
                </a:solidFill>
                <a:latin typeface="Calibri"/>
              </a:defRPr>
            </a:pPr>
            <a:r>
              <a:t>ACCIDENTAL  |  EVERYWHERE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Well-meaning admins also run destructive commands on the wrong server. Different intent, same damage.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572000"/>
            <a:ext cx="10271455" cy="8229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this project: admin sessions can be recorded, but no one can review hours of video for risky actions.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669280"/>
            <a:ext cx="10271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Sources: CNA, The Straits Times, US DOJ public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2714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Users with privileged access can accidentally or knowingly delete core Windows and Linux</a:t>
            </a:r>
            <a:br/>
            <a:r>
              <a:t>files and trigger security incidents, and these actions are usually found only after the damage is done.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2194560" cy="22860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Privileged action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 admin works on a Windows or Linux server; the session is screen-recorded.</a:t>
            </a:r>
          </a:p>
        </p:txBody>
      </p:sp>
      <p:sp>
        <p:nvSpPr>
          <p:cNvPr id="11" name="Up Arrow Callout 10"/>
          <p:cNvSpPr/>
          <p:nvPr/>
        </p:nvSpPr>
        <p:spPr>
          <a:xfrm>
            <a:off x="3154680" y="2926080"/>
            <a:ext cx="320040" cy="457200"/>
          </a:xfrm>
          <a:prstGeom prst="upArrowCallou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40" y="2011680"/>
            <a:ext cx="2194560" cy="22860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Risky action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Core files are deleted, services stopped or settings changed.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5989320" y="2926080"/>
            <a:ext cx="320040" cy="457200"/>
          </a:xfrm>
          <a:prstGeom prst="upArrowCallou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2194560" cy="22860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Damage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Outage, data loss and recovery cost.</a:t>
            </a:r>
          </a:p>
        </p:txBody>
      </p:sp>
      <p:sp>
        <p:nvSpPr>
          <p:cNvPr id="15" name="Up Arrow Callout 14"/>
          <p:cNvSpPr/>
          <p:nvPr/>
        </p:nvSpPr>
        <p:spPr>
          <a:xfrm>
            <a:off x="8823960" y="2926080"/>
            <a:ext cx="320040" cy="457200"/>
          </a:xfrm>
          <a:prstGeom prst="upArrowCallou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0" y="2011680"/>
            <a:ext cx="2194560" cy="228600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Found too late</a:t>
            </a:r>
          </a:p>
          <a:p>
            <a:pPr algn="ctr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Reviewers must watch hours of video by hand, if they look at 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754880"/>
            <a:ext cx="6705295" cy="6400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Two intents, one outcome:    Accidental   |   Deliberate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2714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Automatically understand what was done in server screen recordings,</a:t>
            </a:r>
            <a:br/>
            <a:r>
              <a:t>so risky actions can be caught early and incidents prevented at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011680"/>
            <a:ext cx="3108960" cy="34747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2194560"/>
            <a:ext cx="548640" cy="548640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7C00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918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Analyse recorded sessions with a tiered pipeline (frame features, sequence model, classifier) to recognise which action was performed.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011680"/>
            <a:ext cx="3108960" cy="34747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97880" y="2194560"/>
            <a:ext cx="548640" cy="548640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7C00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918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Generate a plain-language summary of the actions so reviewers do not have to watch the full video.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108960" cy="34747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2194560"/>
            <a:ext cx="548640" cy="548640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7C00"/>
                </a:solidFill>
                <a:latin typeface="Calibri"/>
              </a:defRPr>
            </a:pPr>
            <a:r>
              <a:t>Prevent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2918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Flag high-risk actions such as deleting core files early, across many admins and organisations, not only after an incident.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5760720"/>
            <a:ext cx="6705295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Scope:  Windows and Linux server administration recordings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188720"/>
            <a:ext cx="9326880" cy="49377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1005840" cy="7315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Uploads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645920"/>
            <a:ext cx="2011680" cy="12801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React + TypeScript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Vite (port 5173)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Model Comparison UI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1508760" y="3108960"/>
            <a:ext cx="320040" cy="274320"/>
          </a:xfrm>
          <a:prstGeom prst="upArrowCallou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CCCC"/>
                </a:solidFill>
                <a:latin typeface="Calibri"/>
              </a:defRPr>
            </a:pPr>
            <a:r>
              <a:t>POST /api/v1</a:t>
            </a:r>
          </a:p>
        </p:txBody>
      </p:sp>
      <p:sp>
        <p:nvSpPr>
          <p:cNvPr id="15" name="Up Arrow Callout 14"/>
          <p:cNvSpPr/>
          <p:nvPr/>
        </p:nvSpPr>
        <p:spPr>
          <a:xfrm>
            <a:off x="3977639" y="2103120"/>
            <a:ext cx="320040" cy="274320"/>
          </a:xfrm>
          <a:prstGeom prst="upArrowCallou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645920"/>
            <a:ext cx="4114800" cy="43891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Backend  (FastAPI, port 8000)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194560"/>
            <a:ext cx="3749039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Video Processor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Segment extraction  |  Keyframe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46120"/>
            <a:ext cx="3749039" cy="914400"/>
          </a:xfrm>
          <a:prstGeom prst="roundRect">
            <a:avLst/>
          </a:prstGeom>
          <a:solidFill>
            <a:srgbClr val="00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Assembler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4 extractors  →  150-dim feature vector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297680"/>
            <a:ext cx="3749039" cy="914400"/>
          </a:xfrm>
          <a:prstGeom prst="round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 Service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14 models  |  3 tiers  |  Comparison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A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ACC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286000"/>
            <a:ext cx="2103120" cy="1645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CCFFDD"/>
                </a:solidFill>
                <a:latin typeface="Calibri"/>
              </a:defRPr>
            </a:pPr>
            <a:r>
              <a:t>PostgreSQL 16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CCFFDD"/>
                </a:solidFill>
                <a:latin typeface="Calibri"/>
              </a:defRPr>
            </a:pPr>
            <a:r>
              <a:t>+ pgvector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FFDD"/>
                </a:solidFill>
                <a:latin typeface="Calibri"/>
              </a:defRPr>
            </a:pPr>
            <a:r>
              <a:t>port 5434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8595360" y="2926080"/>
            <a:ext cx="320040" cy="274320"/>
          </a:xfrm>
          <a:prstGeom prst="upArrowCallou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CCCC"/>
                </a:solidFill>
                <a:latin typeface="Calibri"/>
              </a:defRPr>
            </a:pPr>
            <a:r>
              <a:t>◀  Results returned  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4389120"/>
            <a:ext cx="2011680" cy="914400"/>
          </a:xfrm>
          <a:prstGeom prst="roundRect">
            <a:avLst/>
          </a:prstGeom>
          <a:solidFill>
            <a:srgbClr val="00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Results Display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Model comparison +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CCDDFF"/>
                </a:solidFill>
                <a:latin typeface="Calibri"/>
              </a:defRPr>
            </a:pPr>
            <a:r>
              <a:t>Workflow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Multimodal Feature Extraction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371600" cy="7315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Video Input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1874519" y="1554480"/>
            <a:ext cx="274320" cy="274320"/>
          </a:xfrm>
          <a:prstGeom prst="upArrowCallou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1371600"/>
            <a:ext cx="1645920" cy="7315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VideoProcessor</a:t>
            </a:r>
            <a:br/>
            <a:r>
              <a:t>Segments + Keyframes</a:t>
            </a:r>
          </a:p>
        </p:txBody>
      </p:sp>
      <p:sp>
        <p:nvSpPr>
          <p:cNvPr id="12" name="Up Arrow Callout 11"/>
          <p:cNvSpPr/>
          <p:nvPr/>
        </p:nvSpPr>
        <p:spPr>
          <a:xfrm>
            <a:off x="3886200" y="1554480"/>
            <a:ext cx="274320" cy="274320"/>
          </a:xfrm>
          <a:prstGeom prst="upArrowCallou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292608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EasyOCR (text)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TF-IDF → 50 dims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40280"/>
            <a:ext cx="2926080" cy="914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YOLOv8 (UI elements)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counts/layout → 30 dims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383280"/>
            <a:ext cx="2926080" cy="9144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OpenCV (visual)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color/edge/texture → 40 dims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526280"/>
            <a:ext cx="2926080" cy="9144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Action Parser (behavior)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freq/temporal → 30 dims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7269480" y="1417320"/>
            <a:ext cx="274320" cy="274320"/>
          </a:xfrm>
          <a:prstGeom prst="upArrowCallou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Callout 17"/>
          <p:cNvSpPr/>
          <p:nvPr/>
        </p:nvSpPr>
        <p:spPr>
          <a:xfrm>
            <a:off x="7269480" y="2560320"/>
            <a:ext cx="274320" cy="274320"/>
          </a:xfrm>
          <a:prstGeom prst="upArrowCallou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Up Arrow Callout 18"/>
          <p:cNvSpPr/>
          <p:nvPr/>
        </p:nvSpPr>
        <p:spPr>
          <a:xfrm>
            <a:off x="7269480" y="3703320"/>
            <a:ext cx="274320" cy="274320"/>
          </a:xfrm>
          <a:prstGeom prst="upArrowCallou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Callout 19"/>
          <p:cNvSpPr/>
          <p:nvPr/>
        </p:nvSpPr>
        <p:spPr>
          <a:xfrm>
            <a:off x="7269480" y="4846320"/>
            <a:ext cx="274320" cy="274320"/>
          </a:xfrm>
          <a:prstGeom prst="upArrowCallou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2103120"/>
            <a:ext cx="13716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Concatenate</a:t>
            </a:r>
            <a:br/>
            <a:r>
              <a:t>→ 150-dim</a:t>
            </a:r>
            <a:br/>
            <a:r>
              <a:t>feature vector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9052560" y="2468880"/>
            <a:ext cx="274320" cy="274320"/>
          </a:xfrm>
          <a:prstGeom prst="upArrowCallou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0" y="1645920"/>
            <a:ext cx="1371600" cy="1645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Classifiers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CCDDFF"/>
                </a:solidFill>
                <a:latin typeface="Calibri"/>
              </a:defRPr>
            </a:pPr>
            <a:r>
              <a:t>(3 tiers)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10835640" y="2286000"/>
            <a:ext cx="274320" cy="274320"/>
          </a:xfrm>
          <a:prstGeom prst="upArrowCallou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0" y="1828800"/>
            <a:ext cx="91440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Activity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Label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5394960"/>
            <a:ext cx="10271455" cy="5486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F7C00"/>
                </a:solidFill>
              </a:defRPr>
            </a:pPr>
            <a:r>
              <a:t>Each video segment is independently processed through all 4 extractors in parallel, producing a unified 150-dimensional feature vector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 Classification Models Across 3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029200" cy="21031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Tier 1 — Classical ML  (7 models)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9728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SVM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1828800"/>
            <a:ext cx="109728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Naive Bayes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109728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 Tree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109728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68880"/>
            <a:ext cx="109728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2468880"/>
            <a:ext cx="109728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468880"/>
            <a:ext cx="109728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LightGBM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333695" cy="21031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Tier 2 — Deep Learning  (4 models)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118872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828800"/>
            <a:ext cx="118872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CNN-1D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118872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LSTM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1828800"/>
            <a:ext cx="118872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7472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CCCC"/>
                </a:solidFill>
                <a:latin typeface="Calibri"/>
              </a:defRPr>
            </a:pPr>
            <a:r>
              <a:t>Tier 1 + Tier 2 predictions feed into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931920"/>
            <a:ext cx="7619695" cy="18288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Tier 3 — Ensemble  (3 models)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572000"/>
            <a:ext cx="1828800" cy="5486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Voting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572000"/>
            <a:ext cx="1828800" cy="5486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572000"/>
            <a:ext cx="1828800" cy="5486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Late 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603504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All models run on the same 150-dim feature vector and produce comparable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Dataset: CUA-Suite (VideoCUA)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600" b="1">
                <a:solidFill>
                  <a:srgbClr val="007ACC"/>
                </a:solidFill>
                <a:latin typeface="Calibri"/>
              </a:defRPr>
            </a:pPr>
            <a:r>
              <a:t>9,514</a:t>
            </a:r>
          </a:p>
          <a:p>
            <a:pPr algn="ctr">
              <a:spcAft>
                <a:spcPts val="200"/>
              </a:spcAft>
              <a:defRPr sz="1400" b="1">
                <a:solidFill>
                  <a:srgbClr val="CCCCCC"/>
                </a:solidFill>
                <a:latin typeface="Calibri"/>
              </a:defRPr>
            </a:pPr>
            <a:r>
              <a:t>Videos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600" b="1">
                <a:solidFill>
                  <a:srgbClr val="007ACC"/>
                </a:solidFill>
                <a:latin typeface="Calibri"/>
              </a:defRPr>
            </a:pPr>
            <a:r>
              <a:t>87</a:t>
            </a:r>
          </a:p>
          <a:p>
            <a:pPr algn="ctr">
              <a:spcAft>
                <a:spcPts val="200"/>
              </a:spcAft>
              <a:defRPr sz="1400" b="1">
                <a:solidFill>
                  <a:srgbClr val="CCCCCC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600" b="1">
                <a:solidFill>
                  <a:srgbClr val="007ACC"/>
                </a:solidFill>
                <a:latin typeface="Calibri"/>
              </a:defRPr>
            </a:pPr>
            <a:r>
              <a:t>9</a:t>
            </a:r>
          </a:p>
          <a:p>
            <a:pPr algn="ctr">
              <a:spcAft>
                <a:spcPts val="200"/>
              </a:spcAft>
              <a:defRPr sz="1400" b="1">
                <a:solidFill>
                  <a:srgbClr val="CCCCCC"/>
                </a:solidFill>
                <a:latin typeface="Calibri"/>
              </a:defRPr>
            </a:pPr>
            <a:r>
              <a:t>Activity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188720"/>
            <a:ext cx="22860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600" b="1">
                <a:solidFill>
                  <a:srgbClr val="007ACC"/>
                </a:solidFill>
                <a:latin typeface="Calibri"/>
              </a:defRPr>
            </a:pPr>
            <a:r>
              <a:t>~48 GB</a:t>
            </a:r>
          </a:p>
          <a:p>
            <a:pPr algn="ctr">
              <a:spcAft>
                <a:spcPts val="200"/>
              </a:spcAft>
              <a:defRPr sz="1400" b="1">
                <a:solidFill>
                  <a:srgbClr val="CCCCCC"/>
                </a:solidFill>
                <a:latin typeface="Calibri"/>
              </a:defRPr>
            </a:pPr>
            <a:r>
              <a:t>Total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7C00"/>
                </a:solidFill>
                <a:latin typeface="Calibri"/>
              </a:defRPr>
            </a:pPr>
            <a:r>
              <a:t>Activity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017520"/>
            <a:ext cx="1920240" cy="411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click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017520"/>
            <a:ext cx="192024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double_click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3017520"/>
            <a:ext cx="1920240" cy="4114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017520"/>
            <a:ext cx="1920240" cy="4114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key_press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3017520"/>
            <a:ext cx="1920240" cy="41148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scroll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566160"/>
            <a:ext cx="1920240" cy="411480"/>
          </a:xfrm>
          <a:prstGeom prst="roundRect">
            <a:avLst/>
          </a:prstGeom>
          <a:solidFill>
            <a:srgbClr val="009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select_text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566160"/>
            <a:ext cx="1920240" cy="411480"/>
          </a:xfrm>
          <a:prstGeom prst="roundRect">
            <a:avLst/>
          </a:prstGeom>
          <a:solidFill>
            <a:srgbClr val="88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3566160"/>
            <a:ext cx="1920240" cy="411480"/>
          </a:xfrm>
          <a:prstGeom prst="roundRect">
            <a:avLst/>
          </a:prstGeom>
          <a:solidFill>
            <a:srgbClr val="99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566160"/>
            <a:ext cx="1920240" cy="411480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navigate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8912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7C00"/>
                </a:solidFill>
                <a:latin typeface="Calibri"/>
              </a:defRPr>
            </a:pPr>
            <a:r>
              <a:t>Train / Test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846320"/>
            <a:ext cx="685800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Train: 7,685  (80.8%)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846320"/>
            <a:ext cx="1828800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Test: 1,924  (19.2%)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5760720"/>
            <a:ext cx="10271455" cy="5486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F7C00"/>
                </a:solidFill>
              </a:defRPr>
            </a:pPr>
            <a:r>
              <a:t>Source: ServiceNow/VideoCUA on HuggingFace  (MIT License)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Comparison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868680"/>
            <a:ext cx="10820095" cy="347472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# 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868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868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868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F1 Macro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61872"/>
            <a:ext cx="10820095" cy="347472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261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alibri"/>
              </a:defRPr>
            </a:pPr>
            <a:r>
              <a:t>1.  late_fusion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1298448"/>
            <a:ext cx="73152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2618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2618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0.292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35024"/>
            <a:ext cx="2047036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1609344"/>
            <a:ext cx="10820095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6093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alibri"/>
              </a:defRPr>
            </a:pPr>
            <a:r>
              <a:t>2.  stacking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1645920"/>
            <a:ext cx="73152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6093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6093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0.277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682496"/>
            <a:ext cx="194188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1956816"/>
            <a:ext cx="10820095" cy="347472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9568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7C00"/>
                </a:solidFill>
                <a:latin typeface="Calibri"/>
              </a:defRPr>
            </a:pPr>
            <a:r>
              <a:t>3.  xgboost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1993392"/>
            <a:ext cx="7315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19568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19568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0.256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029968"/>
            <a:ext cx="1794662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2304288"/>
            <a:ext cx="10820095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3042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4.  random_forest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2340864"/>
            <a:ext cx="7315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23042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3042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0.238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377440"/>
            <a:ext cx="1668475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2651760"/>
            <a:ext cx="10820095" cy="347472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26517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5.  lightgbm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2688336"/>
            <a:ext cx="7315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2651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2651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0.232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724912"/>
            <a:ext cx="1626412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2999232"/>
            <a:ext cx="10820095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29992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6.  knn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08960" y="3035808"/>
            <a:ext cx="7315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0.597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0.225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3072384"/>
            <a:ext cx="1577340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" y="3346704"/>
            <a:ext cx="10820095" cy="347472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33467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7.  decision_tree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08960" y="3383280"/>
            <a:ext cx="7315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33467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0.596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33467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0.199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3419856"/>
            <a:ext cx="1395069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60" y="3694176"/>
            <a:ext cx="10820095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36941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8.  transformer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08960" y="3730752"/>
            <a:ext cx="73152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36941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36941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0.181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3767328"/>
            <a:ext cx="1268882" cy="20116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" y="4041648"/>
            <a:ext cx="10820095" cy="347472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40416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9.  voting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108960" y="4078224"/>
            <a:ext cx="73152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4041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0.653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4041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0.176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4114800"/>
            <a:ext cx="1233830" cy="20116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2960" y="4389120"/>
            <a:ext cx="10820095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4389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10.  mlp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108960" y="4425696"/>
            <a:ext cx="73152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3520" y="4389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0" y="4389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0.175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61120" y="4462272"/>
            <a:ext cx="1226820" cy="20116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2960" y="4736592"/>
            <a:ext cx="10820095" cy="347472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47365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11.  lstm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108960" y="4773168"/>
            <a:ext cx="73152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0" y="47365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47365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0.143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61120" y="4809744"/>
            <a:ext cx="1002487" cy="20116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2960" y="5084064"/>
            <a:ext cx="10820095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50840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12.  cnn1d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108960" y="5120640"/>
            <a:ext cx="731520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5084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2320" y="50840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0.124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61120" y="5157216"/>
            <a:ext cx="869289" cy="20116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2960" y="5431536"/>
            <a:ext cx="10820095" cy="347472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4400" y="5431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13.  svm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108960" y="5468112"/>
            <a:ext cx="7315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03520" y="54315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0.605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32320" y="54315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0.116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61120" y="5504688"/>
            <a:ext cx="813206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" y="5779008"/>
            <a:ext cx="10820095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5779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14.  naive_bayes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108960" y="5815584"/>
            <a:ext cx="7315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03520" y="5779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0.023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32320" y="5779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0.034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61120" y="5852160"/>
            <a:ext cx="238353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22960" y="6172200"/>
            <a:ext cx="10820095" cy="5029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400"/>
              </a:spcAft>
              <a:defRPr sz="1200" b="1">
                <a:solidFill>
                  <a:srgbClr val="EF7C00"/>
                </a:solidFill>
                <a:latin typeface="Calibri"/>
              </a:defRPr>
            </a:pPr>
            <a:r>
              <a:t>Key:  Ensembles achieve best F1  |  XGBoost best among classical  |  DL models did not outperform classical with engineered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188720"/>
            <a:ext cx="5029200" cy="22860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188720"/>
            <a:ext cx="50292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783080"/>
            <a:ext cx="1380744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Python 3.11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3744" y="178308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4" y="178308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PyTorch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240280"/>
            <a:ext cx="1481328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scikit-learn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4328" y="224028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XGBoost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3048" y="224028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LightGBM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69748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69748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EasyOCR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697480"/>
            <a:ext cx="109728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YOLOv8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188720"/>
            <a:ext cx="50292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78308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0" y="1783080"/>
            <a:ext cx="128016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TypeScript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783080"/>
            <a:ext cx="109728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657600"/>
            <a:ext cx="5029200" cy="22860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3657600"/>
            <a:ext cx="50292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4251960"/>
            <a:ext cx="1682496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Docker Compose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25496" y="4251960"/>
            <a:ext cx="2688336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 16 + pgvector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709160"/>
            <a:ext cx="178308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Terraform (IaC)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709160"/>
            <a:ext cx="278892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EC2 (g4dn.xlarge GPU)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5029200" cy="22860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3657600"/>
            <a:ext cx="50292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Dev Tools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4251960"/>
            <a:ext cx="109728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pytest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80" y="4251960"/>
            <a:ext cx="109728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ruff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4251960"/>
            <a:ext cx="109728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mypy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4251960"/>
            <a:ext cx="1097280" cy="3657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Alembic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F7C00"/>
                </a:solidFill>
                <a:latin typeface="Calibri"/>
              </a:defRPr>
            </a:pPr>
            <a:r>
              <a:t>Upload a screen recording  →  Watch real-time progress  →  View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114800"/>
            <a:ext cx="3657600" cy="18288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2800" b="1">
                <a:solidFill>
                  <a:srgbClr val="28A745"/>
                </a:solidFill>
                <a:latin typeface="Calibri"/>
              </a:defRPr>
            </a:pPr>
            <a:r>
              <a:t>Fast Mode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9 models  (Tier 1 only)</a:t>
            </a:r>
          </a:p>
          <a:p>
            <a:pPr algn="ctr">
              <a:spcAft>
                <a:spcPts val="200"/>
              </a:spcAft>
              <a:defRPr sz="2000" b="1">
                <a:solidFill>
                  <a:srgbClr val="28A745"/>
                </a:solidFill>
                <a:latin typeface="Calibri"/>
              </a:defRPr>
            </a:pPr>
            <a:r>
              <a:t>~30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572000"/>
            <a:ext cx="1218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CCCCC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295" y="4114800"/>
            <a:ext cx="3657600" cy="18288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2800" b="1">
                <a:solidFill>
                  <a:srgbClr val="007ACC"/>
                </a:solidFill>
                <a:latin typeface="Calibri"/>
              </a:defRPr>
            </a:pPr>
            <a:r>
              <a:t>Full Mode</a:t>
            </a:r>
          </a:p>
          <a:p>
            <a:pPr algn="ctr"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14 models  (All 3 tiers)</a:t>
            </a:r>
          </a:p>
          <a:p>
            <a:pPr algn="ctr">
              <a:spcAft>
                <a:spcPts val="2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~5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Practice Module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All 4 Covered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188720"/>
            <a:ext cx="5029200" cy="21031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188720"/>
            <a:ext cx="73152" cy="2103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Calibri"/>
              </a:defRPr>
            </a:pPr>
            <a:r>
              <a:t>✓  Supervised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9,514 labeled videos, 14 trained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188720"/>
            <a:ext cx="5029200" cy="21031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73152" cy="2103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F42C1"/>
                </a:solidFill>
                <a:latin typeface="Calibri"/>
              </a:defRPr>
            </a:pPr>
            <a:r>
              <a:t>✓  ML / Deep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7 classical + 4 neural networks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5029200" cy="21031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657600"/>
            <a:ext cx="73152" cy="21031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8A745"/>
                </a:solidFill>
                <a:latin typeface="Calibri"/>
              </a:defRPr>
            </a:pPr>
            <a:r>
              <a:t>✓  Hybrid /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3 ensemble methods combining Tier 1+2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5029200" cy="21031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73152" cy="21031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7C00"/>
                </a:solidFill>
                <a:latin typeface="Calibri"/>
              </a:defRPr>
            </a:pPr>
            <a:r>
              <a:t>✓  Intelligent Sensing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4 modalities, 150-dim multimodal fusion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73152" cy="8229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1325880"/>
            <a:ext cx="457200" cy="4572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234440"/>
            <a:ext cx="935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7C00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0020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Knowledge extraction from classified segments using retrieval-augmented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194560"/>
            <a:ext cx="73152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63040" y="233172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40280"/>
            <a:ext cx="935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7C00"/>
                </a:solidFill>
                <a:latin typeface="Calibri"/>
              </a:defRPr>
            </a:pPr>
            <a:r>
              <a:t>MLflow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60604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Experiment tracking and model versioning for reproducible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200400"/>
            <a:ext cx="73152" cy="8229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63040" y="3337560"/>
            <a:ext cx="457200" cy="45720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246120"/>
            <a:ext cx="935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7C00"/>
                </a:solidFill>
                <a:latin typeface="Calibri"/>
              </a:defRPr>
            </a:pPr>
            <a:r>
              <a:t>GPU-Optimized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61188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Real-time analysis with GPU acceleration for production workloads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206240"/>
            <a:ext cx="73152" cy="82296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63040" y="4343400"/>
            <a:ext cx="457200" cy="45720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251960"/>
            <a:ext cx="935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7C00"/>
                </a:solidFill>
                <a:latin typeface="Calibri"/>
              </a:defRPr>
            </a:pPr>
            <a:r>
              <a:t>VLM Baseline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61772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Compare GPT-4V, Gemini vision models vs hand-crafted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212080"/>
            <a:ext cx="73152" cy="82296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63040" y="5349240"/>
            <a:ext cx="457200" cy="457200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257800"/>
            <a:ext cx="9357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7C00"/>
                </a:solidFill>
                <a:latin typeface="Calibri"/>
              </a:defRPr>
            </a:pPr>
            <a:r>
              <a:t>Active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623560"/>
            <a:ext cx="9357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User feedback on misclassifications to improve model accuracy iteratively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1234440"/>
            <a:ext cx="411480" cy="41148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18872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7C00"/>
                </a:solidFill>
                <a:latin typeface="Calibri"/>
              </a:defRPr>
            </a:pPr>
            <a:r>
              <a:t>Built multimodal feature extraction pipeline (4 modalities → 150-dim vector)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2103120"/>
            <a:ext cx="411480" cy="41148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7C00"/>
                </a:solidFill>
                <a:latin typeface="Calibri"/>
              </a:defRPr>
            </a:pPr>
            <a:r>
              <a:t>Implemented 14 classification models across 3 tiers with benchmarking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2971800"/>
            <a:ext cx="411480" cy="41148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2608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7C00"/>
                </a:solidFill>
                <a:latin typeface="Calibri"/>
              </a:defRPr>
            </a:pPr>
            <a:r>
              <a:t>Developed full-stack web application with real-time progress reporting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840480"/>
            <a:ext cx="411480" cy="41148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7C00"/>
                </a:solidFill>
                <a:latin typeface="Calibri"/>
              </a:defRPr>
            </a:pPr>
            <a:r>
              <a:t>Trained on CUA-Suite dataset (9,514 videos, 9 activity classes)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709160"/>
            <a:ext cx="411480" cy="41148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6344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7C00"/>
                </a:solidFill>
                <a:latin typeface="Calibri"/>
              </a:defRPr>
            </a:pPr>
            <a:r>
              <a:t>Deployed with Docker + AWS infrastructure (Terraform IaC)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5486400"/>
            <a:ext cx="210312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150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CCDDF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486400"/>
            <a:ext cx="210312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CCDDFF"/>
                </a:solidFill>
                <a:latin typeface="Calibri"/>
              </a:defRPr>
            </a:pPr>
            <a:r>
              <a:t>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5486400"/>
            <a:ext cx="210312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CCDDFF"/>
                </a:solidFill>
                <a:latin typeface="Calibri"/>
              </a:defRPr>
            </a:pPr>
            <a:r>
              <a:t>Modalities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5486400"/>
            <a:ext cx="2103120" cy="9144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CCDDFF"/>
                </a:solidFill>
                <a:latin typeface="Calibri"/>
              </a:defRPr>
            </a:pPr>
            <a:r>
              <a:t>Classes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F7C0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[Team Member 1]  •  [Team Member 2]  •  [Team Member 3]  •  [Team Member 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[email1]@u.nus.edu  |  [email2]@u.nus.edu  |  [email3]@u.nus.edu  |  [email4]@u.nus.edu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ACC"/>
                </a:solidFill>
                <a:latin typeface="Calibri"/>
              </a:defRPr>
            </a:pPr>
            <a:r>
              <a:t>github.com/[org]/Video2Knowledge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NUS ISS  —  Pattern Recognition Systems  —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