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 snapToObjects="1">
      <p:cViewPr varScale="1">
        <p:scale>
          <a:sx n="118" d="100"/>
          <a:sy n="118" d="100"/>
        </p:scale>
        <p:origin x="5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Acting on Feedback — From Breadth to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Sep 30: First presentation feedback → Oct 2026: MVP scope implemented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2412" y="1344168"/>
            <a:ext cx="8503920" cy="274320"/>
          </a:xfrm>
          <a:prstGeom prst="round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61012" y="13898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Sep 30 — First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7092" y="13898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4292" y="13898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C107"/>
                </a:solidFill>
                <a:latin typeface="Calibri"/>
              </a:defRPr>
            </a:pPr>
            <a:r>
              <a:t>Professor Feedback Received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1732" y="13898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8932" y="13898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A745"/>
                </a:solidFill>
                <a:latin typeface="Calibri"/>
              </a:defRPr>
            </a:pPr>
            <a:r>
              <a:t>Oct 2026 — MVP Implemented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8492" y="1691640"/>
            <a:ext cx="2651760" cy="438912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04212" y="1737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2233"/>
                </a:solidFill>
                <a:latin typeface="Calibri"/>
              </a:defRPr>
            </a:pPr>
            <a:r>
              <a:t>13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2892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4372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  <a:latin typeface="Calibri"/>
              </a:defRPr>
            </a:pPr>
            <a:r>
              <a:t>6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32412" y="2121408"/>
            <a:ext cx="3977639" cy="329184"/>
          </a:xfrm>
          <a:prstGeom prst="round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✗  BEFORE — Professor Feedback  (Sep 30)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75812" y="2121408"/>
            <a:ext cx="3977639" cy="329184"/>
          </a:xfrm>
          <a:prstGeom prst="roundRect">
            <a:avLst/>
          </a:prstGeom>
          <a:solidFill>
            <a:srgbClr val="14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✓  AFTER — Team Response  (Oct 2026)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32412" y="2450592"/>
            <a:ext cx="3977639" cy="3401568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75812" y="2450592"/>
            <a:ext cx="3977639" cy="3401568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423852" y="2505456"/>
            <a:ext cx="256032" cy="256032"/>
          </a:xfrm>
          <a:prstGeom prst="round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3036" y="2459736"/>
            <a:ext cx="3502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51C1C"/>
                </a:solidFill>
                <a:latin typeface="Calibri"/>
              </a:defRPr>
            </a:pPr>
            <a:r>
              <a:t>Too many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3036" y="2679192"/>
            <a:ext cx="35021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13+ classifiers at once — audience cannot follow the logic.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7252" y="2505456"/>
            <a:ext cx="256032" cy="256032"/>
          </a:xfrm>
          <a:prstGeom prst="roundRect">
            <a:avLst/>
          </a:prstGeom>
          <a:solidFill>
            <a:srgbClr val="14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436" y="2459736"/>
            <a:ext cx="3502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A3A"/>
                </a:solidFill>
                <a:latin typeface="Calibri"/>
              </a:defRPr>
            </a:pPr>
            <a:r>
              <a:t>Narrowed to 6 representative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436" y="2679192"/>
            <a:ext cx="35021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1–2 per tier, each mapped to a research question.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23852" y="3099816"/>
            <a:ext cx="256032" cy="256032"/>
          </a:xfrm>
          <a:prstGeom prst="round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3036" y="3054096"/>
            <a:ext cx="3502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51C1C"/>
                </a:solidFill>
                <a:latin typeface="Calibri"/>
              </a:defRPr>
            </a:pPr>
            <a:r>
              <a:t>Scope too ambitious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3036" y="3273552"/>
            <a:ext cx="35021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4-level hierarchy + LLM generation not feasible in one semester.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7252" y="3099816"/>
            <a:ext cx="256032" cy="256032"/>
          </a:xfrm>
          <a:prstGeom prst="roundRect">
            <a:avLst/>
          </a:prstGeom>
          <a:solidFill>
            <a:srgbClr val="14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436" y="3054096"/>
            <a:ext cx="3502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A3A"/>
                </a:solidFill>
                <a:latin typeface="Calibri"/>
              </a:defRPr>
            </a:pPr>
            <a:r>
              <a:t>Activity classification only (MVP)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436" y="3273552"/>
            <a:ext cx="35021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Level 3 &amp; LLM generation moved to future work.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23852" y="3694176"/>
            <a:ext cx="256032" cy="256032"/>
          </a:xfrm>
          <a:prstGeom prst="round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3036" y="3648456"/>
            <a:ext cx="3502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51C1C"/>
                </a:solidFill>
                <a:latin typeface="Calibri"/>
              </a:defRPr>
            </a:pPr>
            <a:r>
              <a:t>Training ≠ Inference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3036" y="3867912"/>
            <a:ext cx="35021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Diagram conflated training and inference pipelines.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7252" y="3694176"/>
            <a:ext cx="256032" cy="256032"/>
          </a:xfrm>
          <a:prstGeom prst="roundRect">
            <a:avLst/>
          </a:prstGeom>
          <a:solidFill>
            <a:srgbClr val="14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436" y="3648456"/>
            <a:ext cx="3502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A3A"/>
                </a:solidFill>
                <a:latin typeface="Calibri"/>
              </a:defRPr>
            </a:pPr>
            <a:r>
              <a:t>Separated train vs. 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436" y="3867912"/>
            <a:ext cx="35021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Two diagrams: data→fit→.pkl | video→features→predict.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23852" y="4288536"/>
            <a:ext cx="256032" cy="256032"/>
          </a:xfrm>
          <a:prstGeom prst="round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3036" y="4242816"/>
            <a:ext cx="3502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51C1C"/>
                </a:solidFill>
                <a:latin typeface="Calibri"/>
              </a:defRPr>
            </a:pPr>
            <a:r>
              <a:t>Dataset must come 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3036" y="4462272"/>
            <a:ext cx="35021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Class distribution must precede model descriptions.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7252" y="4288536"/>
            <a:ext cx="256032" cy="256032"/>
          </a:xfrm>
          <a:prstGeom prst="roundRect">
            <a:avLst/>
          </a:prstGeom>
          <a:solidFill>
            <a:srgbClr val="14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436" y="4242816"/>
            <a:ext cx="3502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A3A"/>
                </a:solidFill>
                <a:latin typeface="Calibri"/>
              </a:defRPr>
            </a:pPr>
            <a:r>
              <a:t>Reordered presentation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436" y="4462272"/>
            <a:ext cx="35021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Dataset + class distribution shown before model design.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23852" y="4882896"/>
            <a:ext cx="256032" cy="256032"/>
          </a:xfrm>
          <a:prstGeom prst="round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3036" y="4837176"/>
            <a:ext cx="3502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51C1C"/>
                </a:solidFill>
                <a:latin typeface="Calibri"/>
              </a:defRPr>
            </a:pPr>
            <a:r>
              <a:t>Feature → Model mapping unclear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53036" y="5056632"/>
            <a:ext cx="35021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No explicit link: modality → feature columns → classifier.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7252" y="4882896"/>
            <a:ext cx="256032" cy="256032"/>
          </a:xfrm>
          <a:prstGeom prst="roundRect">
            <a:avLst/>
          </a:prstGeom>
          <a:solidFill>
            <a:srgbClr val="14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6436" y="4837176"/>
            <a:ext cx="3502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A3A"/>
                </a:solidFill>
                <a:latin typeface="Calibri"/>
              </a:defRPr>
            </a:pPr>
            <a:r>
              <a:t>Explicit feature → model table added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436" y="5056632"/>
            <a:ext cx="35021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EfficientNet/EasyOCR/YOLO/action-log → classifiers.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91764" y="379476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C107"/>
                </a:solidFill>
                <a:latin typeface="Calibri"/>
              </a:defRPr>
            </a:pPr>
            <a:r>
              <a:t>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32412" y="5925312"/>
            <a:ext cx="8503920" cy="2743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515292" y="5961888"/>
            <a:ext cx="8138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Result: Focused scope → rigorous evaluation → 6 models, 3 research questions, F1 Macro 0.884 — presented Oct 30.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6-Model MVP — Selection Rationale &amp;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Minimum models to cover all 3 tiers · answers all 3 research questions · depth over breadth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7985" y="1353312"/>
            <a:ext cx="8503920" cy="347472"/>
          </a:xfrm>
          <a:prstGeom prst="round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5145" y="1389888"/>
            <a:ext cx="8138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Selection principle: 1–2 models per tier, each directly mapped to a research question — as recommended by the professor.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77985" y="1783080"/>
            <a:ext cx="2743200" cy="201168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Tier 1 — Classical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8345" y="1783080"/>
            <a:ext cx="2743200" cy="201168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Tier 2 — Deep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38704" y="1783080"/>
            <a:ext cx="2743200" cy="20116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Tier 3 — Ensemble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77985" y="2057400"/>
            <a:ext cx="256032" cy="237744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9737" y="2057400"/>
            <a:ext cx="1371600" cy="237744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97057" y="2057400"/>
            <a:ext cx="777240" cy="237744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20017" y="2057400"/>
            <a:ext cx="2514600" cy="237744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Research Question Answered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0337" y="2057400"/>
            <a:ext cx="2148840" cy="237744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Key Technical Concept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4897" y="2057400"/>
            <a:ext cx="566928" cy="237744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7545" y="2057400"/>
            <a:ext cx="914400" cy="237744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77985" y="2331720"/>
            <a:ext cx="256032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23705" y="2404872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07A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79737" y="2331720"/>
            <a:ext cx="13716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25457" y="24048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SVM (RBF kernel)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7057" y="2331720"/>
            <a:ext cx="77724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2777" y="2404872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7ACC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20017" y="2331720"/>
            <a:ext cx="25146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65737" y="2404872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RQ1 — Best classical baseline; high-dim feature space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0337" y="2331720"/>
            <a:ext cx="214884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26057" y="240487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Max-margin hyperplane via RBF K(x,x')=exp(−γ‖x−x'‖²); OvO multi-class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74897" y="2331720"/>
            <a:ext cx="566928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20617" y="2404872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0.812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7545" y="2331720"/>
            <a:ext cx="9144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33265" y="2404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999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77985" y="2807208"/>
            <a:ext cx="256032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23705" y="2880360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07AC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79737" y="2807208"/>
            <a:ext cx="1371600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25457" y="28803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97057" y="2807208"/>
            <a:ext cx="777240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42777" y="2880360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7ACC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20017" y="2807208"/>
            <a:ext cx="2514600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65737" y="2880360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RQ1 — Interpretable rules; audit-ready; fastest inference (2 ms)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0337" y="2807208"/>
            <a:ext cx="2148840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26057" y="2880360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Greedy Gini splitting; max_depth=20; class_weight='balanced'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74897" y="2807208"/>
            <a:ext cx="566928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20617" y="2880360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0.762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87545" y="2807208"/>
            <a:ext cx="914400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3265" y="288036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F42C1"/>
                </a:solidFill>
                <a:latin typeface="Calibri"/>
              </a:defRPr>
            </a:pPr>
            <a:r>
              <a:t>Muneeswaran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77985" y="3282696"/>
            <a:ext cx="256032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23705" y="335584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07AC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579737" y="3282696"/>
            <a:ext cx="13716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625457" y="33558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97057" y="3282696"/>
            <a:ext cx="77724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42777" y="3355848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7ACC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20017" y="3282696"/>
            <a:ext cx="25146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865737" y="3355848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RQ1 — Demonstrates bagging benefit; best single classical result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80337" y="3282696"/>
            <a:ext cx="214884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26057" y="335584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100-tree bootstrap; √1391≈37 features/split; majority vote; n_jobs=-1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74897" y="3282696"/>
            <a:ext cx="566928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20617" y="3355848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0.841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87545" y="3282696"/>
            <a:ext cx="9144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33265" y="335584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F42C1"/>
                </a:solidFill>
                <a:latin typeface="Calibri"/>
              </a:defRPr>
            </a:pPr>
            <a:r>
              <a:t>Muneeswaran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77985" y="3758183"/>
            <a:ext cx="256032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323705" y="3831335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EF7C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579737" y="3758183"/>
            <a:ext cx="137160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625457" y="3831335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MLP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997057" y="3758183"/>
            <a:ext cx="77724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042777" y="3831335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F7C00"/>
                </a:solidFill>
                <a:latin typeface="Calibri"/>
              </a:defRPr>
            </a:pPr>
            <a:r>
              <a:t>Tier 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20017" y="3758183"/>
            <a:ext cx="251460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65737" y="3831335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RQ1 — Deep learning representative; answers classical vs. DL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80337" y="3758183"/>
            <a:ext cx="214884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26057" y="3831335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1391→512→256→8; ReLU+Softmax; backprop; Dropout 0.3; 846K params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574897" y="3758183"/>
            <a:ext cx="566928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620617" y="3831335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0.798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87545" y="3758183"/>
            <a:ext cx="91440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233265" y="3831335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999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277985" y="4233672"/>
            <a:ext cx="256032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323705" y="4306824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8A74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579737" y="4233672"/>
            <a:ext cx="137160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625457" y="43068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02A55"/>
                </a:solidFill>
                <a:latin typeface="Calibri"/>
              </a:defRPr>
            </a:pPr>
            <a:r>
              <a:t>Voting Ensemble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997057" y="4233672"/>
            <a:ext cx="77724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042777" y="4306824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8A745"/>
                </a:solidFill>
                <a:latin typeface="Calibri"/>
              </a:defRPr>
            </a:pPr>
            <a:r>
              <a:t>Tier 3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820017" y="4233672"/>
            <a:ext cx="251460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865737" y="4306824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RQ2 — Fusion proof: combined &gt; single; best overall result ★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380337" y="4233672"/>
            <a:ext cx="214884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26057" y="4306824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Soft avg: P=(P_SVM+P_RF+P_XGB+P_MLP)/4 → argmax → class label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574897" y="4233672"/>
            <a:ext cx="566928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620617" y="4306824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8A745"/>
                </a:solidFill>
                <a:latin typeface="Calibri"/>
              </a:defRPr>
            </a:pPr>
            <a:r>
              <a:t>0.884 ★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187545" y="4233672"/>
            <a:ext cx="91440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233265" y="430682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999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277985" y="4709160"/>
            <a:ext cx="256032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323705" y="4782312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8A74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579737" y="4709160"/>
            <a:ext cx="1371600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625457" y="478231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Late Fusion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997057" y="4709160"/>
            <a:ext cx="777240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42777" y="4782312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8A745"/>
                </a:solidFill>
                <a:latin typeface="Calibri"/>
              </a:defRPr>
            </a:pPr>
            <a:r>
              <a:t>Tier 3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820017" y="4709160"/>
            <a:ext cx="2514600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865737" y="4782312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RQ2 — Modality ablation; each branch = one signal type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380337" y="4709160"/>
            <a:ext cx="2148840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426057" y="478231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t>4 branches→(n,32) meta_X → Logistic Regression meta-learner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574897" y="4709160"/>
            <a:ext cx="566928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620617" y="4782312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0.861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187545" y="4709160"/>
            <a:ext cx="914400" cy="43891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233265" y="478231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F42C1"/>
                </a:solidFill>
                <a:latin typeface="Calibri"/>
              </a:defRPr>
            </a:pPr>
            <a:r>
              <a:t>Muneeswaran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277985" y="5193792"/>
            <a:ext cx="8503920" cy="475488"/>
          </a:xfrm>
          <a:prstGeom prst="round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415145" y="523036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RQ1 (rows 1–4): Classical ML (RF 0.841) ≈ Deep MLP (0.798) at 277 tasks — small dataset limits deep learning advantage  |  Finding: feature engineering + classical ML competitive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15145" y="544982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C107"/>
                </a:solidFill>
                <a:latin typeface="Calibri"/>
              </a:defRPr>
            </a:pPr>
            <a:r>
              <a:t>RQ2 (rows 5–6): Voting 0.884 &gt; best single RF 0.841 (+5.1%)  →  multimodal fusion consistently outperforms any single modality  ★ = best model overall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661</Words>
  <Application>Microsoft Macintosh PowerPoint</Application>
  <PresentationFormat>Widescreen</PresentationFormat>
  <Paragraphs>109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Muthaiah MUNEESWARAN (GOVTECH)</cp:lastModifiedBy>
  <cp:revision>2</cp:revision>
  <dcterms:created xsi:type="dcterms:W3CDTF">2013-01-27T09:14:16Z</dcterms:created>
  <dcterms:modified xsi:type="dcterms:W3CDTF">2026-10-28T15:05:53Z</dcterms:modified>
  <cp:category/>
</cp:coreProperties>
</file>