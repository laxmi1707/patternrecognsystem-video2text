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How Video Segmentation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Splitting continuous screen recordings into meaningful activity segments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Video2Knowledge  |  Pattern Recognition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A continuous video is just a stream of frames — we need to identify WHERE activities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7C00"/>
                </a:solidFill>
                <a:latin typeface="Calibri"/>
              </a:defRPr>
            </a:pPr>
            <a:r>
              <a:t>53-second continuous screen recording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2194560"/>
            <a:ext cx="10515600" cy="73152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Frame 1  ...  Frame 30  ...  Frame 60  ...  Frame 450  ...  Frame 900  ...  Frame 1590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017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0:00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017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0:15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017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0:30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017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0:45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3017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0:53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3657600"/>
            <a:ext cx="10515600" cy="109728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3749039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C00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11480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EF7C00"/>
                </a:solidFill>
                <a:latin typeface="Calibri"/>
              </a:defRPr>
            </a:pPr>
            <a:r>
              <a:t>Continuous stream of pixels   →   Need to find meaningful boundaries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EF7C00"/>
                </a:solidFill>
                <a:latin typeface="Calibri"/>
              </a:defRPr>
            </a:pPr>
            <a:r>
              <a:t>No built-in chapter markers   →   Must infer from user actions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EF7C00"/>
                </a:solidFill>
                <a:latin typeface="Calibri"/>
              </a:defRPr>
            </a:pPr>
            <a:r>
              <a:t>Multiple activities in one recording   →   Each needs separate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5120640"/>
            <a:ext cx="4572000" cy="109728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CCCCCC"/>
                </a:solidFill>
              </a:defRPr>
            </a:pPr>
            <a:r>
              <a:t>Continuous Stream</a:t>
            </a:r>
            <a:br/>
            <a:r>
              <a:t>1,590 frames @ 30fps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5394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53035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7ACC"/>
                </a:solidFill>
                <a:latin typeface="Calibri"/>
              </a:defRPr>
            </a:pPr>
            <a:r>
              <a:t>Find</a:t>
            </a:r>
            <a:br/>
            <a:r>
              <a:t>Boundaries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5394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5212080"/>
            <a:ext cx="50292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5212080"/>
            <a:ext cx="502920" cy="9144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9680" y="5212080"/>
            <a:ext cx="502920" cy="9144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5212080"/>
            <a:ext cx="502920" cy="9144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66960" y="5212080"/>
            <a:ext cx="50292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0" y="5212080"/>
            <a:ext cx="502920" cy="9144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064240" y="5212080"/>
            <a:ext cx="502920" cy="9144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172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7 meaningful segments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Segmentation 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188720"/>
            <a:ext cx="438912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action_log.json — Source of Timing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737360"/>
            <a:ext cx="4389120" cy="393192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{ "action_type": "CLICK",   "timestamp": "0:00" }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{ "action_type": "CLICK",   "timestamp": "0:03" }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{ "action_type": "CLICK",   "timestamp": "0:07" }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{ "action_type": "TYPING",  "timestamp": "0:16" }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{ "action_type": "PRESS",   "timestamp": "0:25" }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{ "action_type": "CLICK",   "timestamp": "0:29" }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{ "action_type": "TYPING",  "timestamp": "0:35" }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{ "action_type": "PRESS",   "timestamp": "0:53" }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{ "action_type": "CLICK",   "timestamp": "0:58" }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2697480"/>
            <a:ext cx="1371600" cy="2743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← 9s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3657600"/>
            <a:ext cx="1371600" cy="2743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← 4s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188720"/>
            <a:ext cx="566928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Timeline: Actions, Gaps, and Boundaries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194560"/>
            <a:ext cx="5212080" cy="54864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01168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331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EF7C00"/>
                </a:solidFill>
                <a:latin typeface="Calibri"/>
              </a:defRPr>
            </a:pPr>
            <a:r>
              <a:t>CLICK</a:t>
            </a:r>
            <a:br/>
            <a:r>
              <a:t>0:00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81267" y="201168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06947" y="2331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EF7C00"/>
                </a:solidFill>
                <a:latin typeface="Calibri"/>
              </a:defRPr>
            </a:pPr>
            <a:r>
              <a:t>CLICK</a:t>
            </a:r>
            <a:br/>
            <a:r>
              <a:t>0:03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7027" y="201168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2707" y="2331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EF7C00"/>
                </a:solidFill>
                <a:latin typeface="Calibri"/>
              </a:defRPr>
            </a:pPr>
            <a:r>
              <a:t>CLICK</a:t>
            </a:r>
            <a:br/>
            <a:r>
              <a:t>0:07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7068" y="201168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2748" y="2331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EF7C00"/>
                </a:solidFill>
                <a:latin typeface="Calibri"/>
              </a:defRPr>
            </a:pPr>
            <a:r>
              <a:t>TYPE</a:t>
            </a:r>
            <a:br/>
            <a:r>
              <a:t>0:16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41740" y="201168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7420" y="2331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EF7C00"/>
                </a:solidFill>
                <a:latin typeface="Calibri"/>
              </a:defRPr>
            </a:pPr>
            <a:r>
              <a:t>PRESS</a:t>
            </a:r>
            <a:br/>
            <a:r>
              <a:t>0:25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92870" y="201168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8550" y="2331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EF7C00"/>
                </a:solidFill>
                <a:latin typeface="Calibri"/>
              </a:defRPr>
            </a:pPr>
            <a:r>
              <a:t>CLICK</a:t>
            </a:r>
            <a:br/>
            <a:r>
              <a:t>0:29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34195" y="201168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9875" y="2331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EF7C00"/>
                </a:solidFill>
                <a:latin typeface="Calibri"/>
              </a:defRPr>
            </a:pPr>
            <a:r>
              <a:t>TYPE</a:t>
            </a:r>
            <a:br/>
            <a:r>
              <a:t>0:35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28908" y="201168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54588" y="2331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EF7C00"/>
                </a:solidFill>
                <a:latin typeface="Calibri"/>
              </a:defRPr>
            </a:pPr>
            <a:r>
              <a:t>PRESS</a:t>
            </a:r>
            <a:br/>
            <a:r>
              <a:t>0:53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367820" y="201168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93500" y="2331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EF7C00"/>
                </a:solidFill>
                <a:latin typeface="Calibri"/>
              </a:defRPr>
            </a:pPr>
            <a:r>
              <a:t>CLICK</a:t>
            </a:r>
            <a:br/>
            <a:r>
              <a:t>0:58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47027" y="1965960"/>
            <a:ext cx="790041" cy="320040"/>
          </a:xfrm>
          <a:prstGeom prst="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47027" y="1737360"/>
            <a:ext cx="79004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EF7C00"/>
                </a:solidFill>
                <a:latin typeface="Calibri"/>
              </a:defRPr>
            </a:pPr>
            <a:r>
              <a:t>9s gap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92870" y="1965960"/>
            <a:ext cx="541325" cy="320040"/>
          </a:xfrm>
          <a:prstGeom prst="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92870" y="1737360"/>
            <a:ext cx="54132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EF7C00"/>
                </a:solidFill>
                <a:latin typeface="Calibri"/>
              </a:defRPr>
            </a:pPr>
            <a:r>
              <a:t>6s gap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928908" y="1965960"/>
            <a:ext cx="438912" cy="320040"/>
          </a:xfrm>
          <a:prstGeom prst="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28908" y="1737360"/>
            <a:ext cx="438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EF7C00"/>
                </a:solidFill>
                <a:latin typeface="Calibri"/>
              </a:defRPr>
            </a:pPr>
            <a:r>
              <a:t>5s gap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47027" y="1828800"/>
            <a:ext cx="27432" cy="59436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37068" y="1828800"/>
            <a:ext cx="27432" cy="59436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92870" y="1828800"/>
            <a:ext cx="27432" cy="59436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28908" y="1828800"/>
            <a:ext cx="27432" cy="59436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367820" y="1828800"/>
            <a:ext cx="27432" cy="59436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217920" y="2788920"/>
            <a:ext cx="629107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Seg 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47027" y="2788920"/>
            <a:ext cx="790041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Seg 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37068" y="2788920"/>
            <a:ext cx="1155801" cy="2286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Seg 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2870" y="2788920"/>
            <a:ext cx="2136038" cy="2286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Seg 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928908" y="2788920"/>
            <a:ext cx="438911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Seg 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0" y="3291840"/>
            <a:ext cx="5669280" cy="6400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0" y="33375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ACC"/>
                </a:solidFill>
                <a:latin typeface="Calibri"/>
              </a:defRPr>
            </a:pPr>
            <a:r>
              <a:t>When the gap between actions exceeds a threshold → new segment starts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1148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C00"/>
                </a:solidFill>
                <a:latin typeface="Calibri"/>
              </a:defRPr>
            </a:pPr>
            <a:r>
              <a:t>Segmentation Algorithm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4805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1.  Parse action_log.json → sort actions by timestamp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2.  Compute time gaps between consecutive actions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3.  If gap &gt; threshold (e.g. 5 seconds) → mark a segment boundary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4.  Group actions within each boundary into segments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EF7C00"/>
                </a:solidFill>
                <a:latin typeface="Calibri"/>
              </a:defRPr>
            </a:pPr>
            <a:r>
              <a:t>5.  Record start_time, end_time, and actions for each segment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Segmentation Result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7 segments extracted from a 1:47 screen recording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645920"/>
            <a:ext cx="687936" cy="8229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Seg 1</a:t>
            </a:r>
            <a:br/>
            <a:r>
              <a:t>Opening editor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68880"/>
            <a:ext cx="6879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0:00 – 0:07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6656" y="1645920"/>
            <a:ext cx="884489" cy="8229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Seg 2</a:t>
            </a:r>
            <a:br/>
            <a:r>
              <a:t>Opening terminal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6656" y="2468880"/>
            <a:ext cx="88448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0:07 – 0:16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61145" y="1645920"/>
            <a:ext cx="1277596" cy="8229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Seg 3</a:t>
            </a:r>
            <a:br/>
            <a:r>
              <a:t>git 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145" y="2468880"/>
            <a:ext cx="12775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0:16 – 0:29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38741" y="1645920"/>
            <a:ext cx="2850022" cy="8229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Seg 4</a:t>
            </a:r>
            <a:br/>
            <a:r>
              <a:t>npm install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8741" y="2468880"/>
            <a:ext cx="285002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0:29 – 0:58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88763" y="1645920"/>
            <a:ext cx="1375872" cy="8229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Seg 5</a:t>
            </a:r>
            <a:br/>
            <a:r>
              <a:t>Open browser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8763" y="2468880"/>
            <a:ext cx="13758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0:58 – 1:12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4635" y="1645920"/>
            <a:ext cx="2260362" cy="8229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Seg 6</a:t>
            </a:r>
            <a:br/>
            <a:r>
              <a:t>Check localhost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4635" y="2468880"/>
            <a:ext cx="226036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1:12 – 1:35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24997" y="1645920"/>
            <a:ext cx="1179319" cy="8229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Seg 7</a:t>
            </a:r>
            <a:br/>
            <a:r>
              <a:t>Verify 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997" y="2468880"/>
            <a:ext cx="11793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1:35 – 1:47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C00"/>
                </a:solidFill>
                <a:latin typeface="Calibri"/>
              </a:defRPr>
            </a:pPr>
            <a:r>
              <a:t>Segment Details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" y="3291840"/>
            <a:ext cx="105156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Segment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Time 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Duration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Keyframes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Actions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88720" y="3639312"/>
            <a:ext cx="10515600" cy="292608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234440" y="3694176"/>
            <a:ext cx="73152" cy="1828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0160" y="3639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Seg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3639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0:00 – 0:07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3639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Opening editor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7s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3639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2 frames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63931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3 actions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8720" y="3950208"/>
            <a:ext cx="10515600" cy="292608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234440" y="4005072"/>
            <a:ext cx="73152" cy="1828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0160" y="395020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Seg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0" y="395020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0:07 – 0:16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395020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Opening terminal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95020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9s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395020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3 frames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395020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4 actions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88720" y="4261104"/>
            <a:ext cx="10515600" cy="292608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234440" y="4315968"/>
            <a:ext cx="73152" cy="1828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0160" y="42611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Seg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42611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0:16 – 0:29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42611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git pull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42611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13s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2611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3 frames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42611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5 actions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88720" y="4572000"/>
            <a:ext cx="10515600" cy="292608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234440" y="4626864"/>
            <a:ext cx="73152" cy="1828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80160" y="4572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Seg 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86000" y="4572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0:29 – 0:58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4572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npm install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4572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29s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4572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4 frames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0" y="45720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8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88720" y="4882896"/>
            <a:ext cx="10515600" cy="292608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234440" y="4937760"/>
            <a:ext cx="73152" cy="1828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80160" y="48828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Seg 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0" y="48828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0:58 – 1:12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0" y="48828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Open browser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48828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14s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48828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3 frames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400" y="48828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4 actions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88720" y="5193792"/>
            <a:ext cx="10515600" cy="292608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234440" y="5248656"/>
            <a:ext cx="73152" cy="1828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80160" y="51937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Seg 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6000" y="51937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1:12 – 1:35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0" y="51937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Check localhost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0" y="51937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23s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0" y="51937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4 frames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58400" y="51937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6 actions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188720" y="5504688"/>
            <a:ext cx="10515600" cy="292608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234440" y="5559552"/>
            <a:ext cx="73152" cy="18288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80160" y="55046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Seg 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86000" y="55046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1:35 – 1:47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4800" y="55046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Verify app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0" y="55046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12s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0" y="55046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2 frames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058400" y="55046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3 actions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188720" y="5669280"/>
            <a:ext cx="10515600" cy="4572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71600" y="56967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8A745"/>
                </a:solidFill>
                <a:latin typeface="Calibri"/>
              </a:defRPr>
            </a:pPr>
            <a:r>
              <a:t>Each segment = a discrete unit of work with its own keyframes and actions, ready for independent feature extraction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Keyframe 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Keyframes are actual video frames extracted at action boundaries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645920"/>
            <a:ext cx="10515600" cy="4572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Segment 3: git pull  (0:16 – 0:29)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2286000"/>
            <a:ext cx="3291840" cy="2560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331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7C00"/>
                </a:solidFill>
                <a:latin typeface="Calibri"/>
              </a:defRPr>
            </a:pPr>
            <a:r>
              <a:t>Keyframe @ 0:16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5603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Start of typing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2834640"/>
            <a:ext cx="3017520" cy="118872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292608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$ git pull origin ma|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User begins typing</a:t>
            </a:r>
            <a:br/>
            <a:r>
              <a:t>the git pull command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286000"/>
            <a:ext cx="3291840" cy="2560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31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7C00"/>
                </a:solidFill>
                <a:latin typeface="Calibri"/>
              </a:defRPr>
            </a:pPr>
            <a:r>
              <a:t>Keyframe @ 0:20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5603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Mid-action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0" y="2834640"/>
            <a:ext cx="3017520" cy="118872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292608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$ git pull origin main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remote: Enumerating...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Command sent,</a:t>
            </a:r>
            <a:br/>
            <a:r>
              <a:t>waiting for response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2286000"/>
            <a:ext cx="3291840" cy="2560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2331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7C00"/>
                </a:solidFill>
                <a:latin typeface="Calibri"/>
              </a:defRPr>
            </a:pPr>
            <a:r>
              <a:t>Keyframe @ 0:28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5603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Command output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20" y="2834640"/>
            <a:ext cx="3017520" cy="118872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92608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$ git pull origin main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Already up to date.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F7C00"/>
                </a:solidFill>
                <a:latin typeface="Calibri"/>
              </a:defRPr>
            </a:pPr>
            <a:r>
              <a:t>Operation complete,</a:t>
            </a:r>
            <a:br/>
            <a:r>
              <a:t>prompt returned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88720" y="5029200"/>
            <a:ext cx="5029200" cy="8229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50749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How OpenCV Extracts Keyframes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349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cv2.VideoCapture(video_path)  →  opens the video file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cap.set(cv2.CAP_PROP_POS_MSEC, timestamp_ms)  →  seeks to exact time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cap.read()  →  captures frame as numpy array (H x W x 3)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029200"/>
            <a:ext cx="5029200" cy="109728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50749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Calibri"/>
              </a:defRPr>
            </a:pPr>
            <a:r>
              <a:t>SegmentData object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53492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class SegmentData: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  segment_id: int          # 3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  start_time: float        # 16.0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  end_time: float          # 29.0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  keyframes: list[ndarray] # [frame@16s, frame@20s, frame@28s]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  actions: list[Action]    # [TYPING, PRESS, CLICK, ...]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  label: str               # assigned after classification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Segments to Features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Each segment becomes a data point for classification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645920"/>
            <a:ext cx="2926080" cy="18288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6916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7C00"/>
                </a:solidFill>
                <a:latin typeface="Calibri"/>
              </a:defRPr>
            </a:pPr>
            <a:r>
              <a:t>Segment Inputs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2103120"/>
            <a:ext cx="256032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Keyframes (images)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060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numpy arrays (H x W x 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2926080"/>
            <a:ext cx="256032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Actions (from log)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1463040"/>
            <a:ext cx="393192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1536192"/>
            <a:ext cx="146304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EasyOCR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36192"/>
            <a:ext cx="82296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50 dims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192024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Reads text from frames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TF-IDF vectorization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"git pull origin main"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2651760"/>
            <a:ext cx="3931920" cy="109728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63440" y="2724912"/>
            <a:ext cx="1463040" cy="3200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YOLOv8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724912"/>
            <a:ext cx="822960" cy="3200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30 dims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10896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Detects UI elements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terminal, tabs, sidebar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Layout + complexity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3840480"/>
            <a:ext cx="3931920" cy="109728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63440" y="3913632"/>
            <a:ext cx="146304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OpenCV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913632"/>
            <a:ext cx="82296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40 dims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29768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Color histograms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Edge density, texture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Scene composition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5029200"/>
            <a:ext cx="3931920" cy="109728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63440" y="5102352"/>
            <a:ext cx="146304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Interaction</a:t>
            </a:r>
            <a:br/>
            <a:r>
              <a:t>Parser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5102352"/>
            <a:ext cx="82296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30 dims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548640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Action frequencies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Typing speed, clicks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EF7C00"/>
                </a:solidFill>
                <a:latin typeface="Calibri"/>
              </a:defRPr>
            </a:pPr>
            <a:r>
              <a:t>Mouse + keyboard stats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1645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834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4023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F42C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EF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20" y="1463040"/>
            <a:ext cx="2926080" cy="475488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5256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150-dim Feature Vector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187451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per segment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2286000"/>
            <a:ext cx="2560320" cy="7772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544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[0–49] OCR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26060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50 dims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3154680"/>
            <a:ext cx="2560320" cy="7772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544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[50–79] UI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3474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30 dims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4023360"/>
            <a:ext cx="2560320" cy="7772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[80–119] Visual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4343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40 dims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4892040"/>
            <a:ext cx="2560320" cy="7772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4937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[120–149] Interact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52120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30 dims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44000" y="5760720"/>
            <a:ext cx="2560320" cy="36576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CCCCC"/>
                </a:solidFill>
              </a:defRPr>
            </a:pPr>
            <a:r>
              <a:t>→ Fed to 14 classifiers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88720" y="5760720"/>
            <a:ext cx="7589520" cy="36576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71600" y="5788152"/>
            <a:ext cx="7223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8A745"/>
                </a:solidFill>
                <a:latin typeface="Calibri"/>
              </a:defRPr>
            </a:pPr>
            <a:r>
              <a:t>7 segments  ×  150 features  =  7 data points for classification  →  7 activity labels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