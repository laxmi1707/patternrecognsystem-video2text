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Architecture Audit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Gaps identified, fixes applied, and production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Video2Knowledge  |  Pattern Recognition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Audit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2560320" cy="38404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7C00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1920240"/>
            <a:ext cx="1097280" cy="10972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CORS, UUID filenames, non-root Docker.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Missing: auth, file validation, rate limiting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188720"/>
            <a:ext cx="2560320" cy="38404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7C00"/>
                </a:solidFill>
                <a:latin typeface="Calibri"/>
              </a:defRPr>
            </a:pPr>
            <a:r>
              <a:t>Resilience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1920240"/>
            <a:ext cx="1097280" cy="10972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Per-model error handling, job failure tracking.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Missing: timeouts, retries, circuit breakers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188720"/>
            <a:ext cx="2560320" cy="384048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7C00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19" name="Oval 18"/>
          <p:cNvSpPr/>
          <p:nvPr/>
        </p:nvSpPr>
        <p:spPr>
          <a:xfrm>
            <a:off x="7680960" y="1920240"/>
            <a:ext cx="1097280" cy="1097280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Basic logging, health check.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Missing: structured logging, metrics, tracing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188720"/>
            <a:ext cx="2560320" cy="38404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7C00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3" name="Oval 22"/>
          <p:cNvSpPr/>
          <p:nvPr/>
        </p:nvSpPr>
        <p:spPr>
          <a:xfrm>
            <a:off x="10561320" y="1920240"/>
            <a:ext cx="1097280" cy="10972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Async DB, background tasks.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Missing: caching, connection pooling, model warm-up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303520"/>
            <a:ext cx="10058400" cy="5486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 areas audited, 6 critical gaps identified and fixed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6 Critical Gaps — Fixed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3291840" cy="2286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25880" y="132588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298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File Upload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373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Added 500 MB size limit + extension whitelist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(.mp4, .mov, .webm, .avi, .mkv).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Calibri"/>
              </a:defRPr>
            </a:pPr>
            <a:r>
              <a:t>File: routers/videos.py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188720"/>
            <a:ext cx="3291840" cy="2286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0" y="132588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298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Terraform Secrets in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7373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Added *.tfstate, terraform.tfvars, .env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to .gitignore. Prevents credential exposure.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Calibri"/>
              </a:defRPr>
            </a:pPr>
            <a:r>
              <a:t>File: .gitignore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188720"/>
            <a:ext cx="3291840" cy="2286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132588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2984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Event Loop Blocking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7373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Wrapped sync ML calls in asyncio.to_thread().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Prevents UI freezes during classification.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017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Calibri"/>
              </a:defRPr>
            </a:pPr>
            <a:r>
              <a:t>File: routers/classification.py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3749040"/>
            <a:ext cx="3291840" cy="2286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388620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858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No Error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2976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Added global @app.exception_handler returning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clean JSON instead of raw tracebacks.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577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Calibri"/>
              </a:defRPr>
            </a:pPr>
            <a:r>
              <a:t>File: main.py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3749040"/>
            <a:ext cx="3291840" cy="2286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46320" y="388620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858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No CI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2976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Added test job (ruff lint + mypy type check +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pytest) that runs BEFORE deploy.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577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Calibri"/>
              </a:defRPr>
            </a:pPr>
            <a:r>
              <a:t>File: deploy-backend.yml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49040"/>
            <a:ext cx="3291840" cy="2286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66760" y="3886200"/>
            <a:ext cx="36576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858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Hardcoded DB Credentials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29768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Changed to ${POSTGRES_PASSWORD:-postgres}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env vars with defaults.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577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7ACC"/>
                </a:solidFill>
                <a:latin typeface="Calibri"/>
              </a:defRPr>
            </a:pPr>
            <a:r>
              <a:t>File: docker-compose.yml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Strengths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123444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API versioning (/api/v1/) with OpenAPI/Swagger docs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201168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CORS properly configured from environment settings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278892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Async database operations (SQLAlchemy async + aiosqlite/asyncpg)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0" y="356616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Background job processing with real-time progress tracking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434340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Docker non-root user (security)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512064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074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CI/CD pipeline (GitHub Actions → ECR → App Runner)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123444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Comprehensive test suite (backend unit + API e2e + frontend)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01168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Pydantic request/response validation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278892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UUID-based filename sanitization (prevents path traversal)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56616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MLflow tracking scaffolding (ready to enable)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34340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97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S3 field prepared on Video model (ready to wire up)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120640"/>
            <a:ext cx="320040" cy="3200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074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pgvector support in Docker image (ready for embeddings)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Production Readiness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2011680" cy="502920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2011680" cy="50292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 —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828800"/>
            <a:ext cx="1600200" cy="32004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Priority: HIGH</a:t>
            </a:r>
          </a:p>
        </p:txBody>
      </p:sp>
      <p:sp>
        <p:nvSpPr>
          <p:cNvPr id="12" name="Oval 11"/>
          <p:cNvSpPr/>
          <p:nvPr/>
        </p:nvSpPr>
        <p:spPr>
          <a:xfrm>
            <a:off x="1325880" y="2386584"/>
            <a:ext cx="109728" cy="109728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Authentication &amp; Authorization (JWT/OAuth2)</a:t>
            </a:r>
          </a:p>
        </p:txBody>
      </p:sp>
      <p:sp>
        <p:nvSpPr>
          <p:cNvPr id="14" name="Oval 13"/>
          <p:cNvSpPr/>
          <p:nvPr/>
        </p:nvSpPr>
        <p:spPr>
          <a:xfrm>
            <a:off x="1325880" y="3072384"/>
            <a:ext cx="109728" cy="109728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Rate limiting (slowapi middleware)</a:t>
            </a:r>
          </a:p>
        </p:txBody>
      </p:sp>
      <p:sp>
        <p:nvSpPr>
          <p:cNvPr id="16" name="Oval 15"/>
          <p:cNvSpPr/>
          <p:nvPr/>
        </p:nvSpPr>
        <p:spPr>
          <a:xfrm>
            <a:off x="1325880" y="3758184"/>
            <a:ext cx="109728" cy="109728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Replace pickle with safer serialization (joblib + checksums)</a:t>
            </a:r>
          </a:p>
        </p:txBody>
      </p:sp>
      <p:sp>
        <p:nvSpPr>
          <p:cNvPr id="18" name="Oval 17"/>
          <p:cNvSpPr/>
          <p:nvPr/>
        </p:nvSpPr>
        <p:spPr>
          <a:xfrm>
            <a:off x="1325880" y="4443984"/>
            <a:ext cx="109728" cy="109728"/>
          </a:xfrm>
          <a:prstGeom prst="ellipse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389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Input sanitization beyond Pydantic</a:t>
            </a:r>
          </a:p>
        </p:txBody>
      </p:sp>
      <p:sp>
        <p:nvSpPr>
          <p:cNvPr id="20" name="Can 19"/>
          <p:cNvSpPr/>
          <p:nvPr/>
        </p:nvSpPr>
        <p:spPr>
          <a:xfrm>
            <a:off x="3218688" y="1280160"/>
            <a:ext cx="109728" cy="32004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37560" y="1188720"/>
            <a:ext cx="2011680" cy="502920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37560" y="1188720"/>
            <a:ext cx="2011680" cy="5029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 — Data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1828800"/>
            <a:ext cx="160020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Priority: HIGH</a:t>
            </a:r>
          </a:p>
        </p:txBody>
      </p:sp>
      <p:sp>
        <p:nvSpPr>
          <p:cNvPr id="24" name="Oval 23"/>
          <p:cNvSpPr/>
          <p:nvPr/>
        </p:nvSpPr>
        <p:spPr>
          <a:xfrm>
            <a:off x="3474720" y="2386584"/>
            <a:ext cx="109728" cy="10972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Alembic database migrations (schema versioning)</a:t>
            </a:r>
          </a:p>
        </p:txBody>
      </p:sp>
      <p:sp>
        <p:nvSpPr>
          <p:cNvPr id="26" name="Oval 25"/>
          <p:cNvSpPr/>
          <p:nvPr/>
        </p:nvSpPr>
        <p:spPr>
          <a:xfrm>
            <a:off x="3474720" y="3072384"/>
            <a:ext cx="109728" cy="10972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S3 integration for video storage (field exists, needs wiring)</a:t>
            </a:r>
          </a:p>
        </p:txBody>
      </p:sp>
      <p:sp>
        <p:nvSpPr>
          <p:cNvPr id="28" name="Oval 27"/>
          <p:cNvSpPr/>
          <p:nvPr/>
        </p:nvSpPr>
        <p:spPr>
          <a:xfrm>
            <a:off x="3474720" y="3758184"/>
            <a:ext cx="109728" cy="10972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Data retention/cleanup policy</a:t>
            </a:r>
          </a:p>
        </p:txBody>
      </p:sp>
      <p:sp>
        <p:nvSpPr>
          <p:cNvPr id="30" name="Oval 29"/>
          <p:cNvSpPr/>
          <p:nvPr/>
        </p:nvSpPr>
        <p:spPr>
          <a:xfrm>
            <a:off x="3474720" y="4443984"/>
            <a:ext cx="109728" cy="10972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389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Backup strategy</a:t>
            </a:r>
          </a:p>
        </p:txBody>
      </p:sp>
      <p:sp>
        <p:nvSpPr>
          <p:cNvPr id="32" name="Can 31"/>
          <p:cNvSpPr/>
          <p:nvPr/>
        </p:nvSpPr>
        <p:spPr>
          <a:xfrm>
            <a:off x="5367528" y="1280160"/>
            <a:ext cx="109728" cy="32004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0" y="1188720"/>
            <a:ext cx="2011680" cy="5029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0" y="1188720"/>
            <a:ext cx="201168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 — Observability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1828800"/>
            <a:ext cx="16002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Priority: MEDIUM</a:t>
            </a:r>
          </a:p>
        </p:txBody>
      </p:sp>
      <p:sp>
        <p:nvSpPr>
          <p:cNvPr id="36" name="Oval 35"/>
          <p:cNvSpPr/>
          <p:nvPr/>
        </p:nvSpPr>
        <p:spPr>
          <a:xfrm>
            <a:off x="5623560" y="23865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Structured JSON logging with correlation IDs</a:t>
            </a:r>
          </a:p>
        </p:txBody>
      </p:sp>
      <p:sp>
        <p:nvSpPr>
          <p:cNvPr id="38" name="Oval 37"/>
          <p:cNvSpPr/>
          <p:nvPr/>
        </p:nvSpPr>
        <p:spPr>
          <a:xfrm>
            <a:off x="5623560" y="30723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Prometheus /metrics endpoint</a:t>
            </a:r>
          </a:p>
        </p:txBody>
      </p:sp>
      <p:sp>
        <p:nvSpPr>
          <p:cNvPr id="40" name="Oval 39"/>
          <p:cNvSpPr/>
          <p:nvPr/>
        </p:nvSpPr>
        <p:spPr>
          <a:xfrm>
            <a:off x="5623560" y="37581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Deep health check (verify DB + models + disk)</a:t>
            </a:r>
          </a:p>
        </p:txBody>
      </p:sp>
      <p:sp>
        <p:nvSpPr>
          <p:cNvPr id="42" name="Oval 41"/>
          <p:cNvSpPr/>
          <p:nvPr/>
        </p:nvSpPr>
        <p:spPr>
          <a:xfrm>
            <a:off x="5623560" y="44439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40" y="4389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OpenTelemetry distributed tracing</a:t>
            </a:r>
          </a:p>
        </p:txBody>
      </p:sp>
      <p:sp>
        <p:nvSpPr>
          <p:cNvPr id="44" name="Can 43"/>
          <p:cNvSpPr/>
          <p:nvPr/>
        </p:nvSpPr>
        <p:spPr>
          <a:xfrm>
            <a:off x="7516368" y="1280160"/>
            <a:ext cx="109728" cy="32004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35240" y="1188720"/>
            <a:ext cx="2011680" cy="5029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635240" y="1188720"/>
            <a:ext cx="201168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 — Performance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18120" y="1828800"/>
            <a:ext cx="16002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Priority: MEDIUM</a:t>
            </a:r>
          </a:p>
        </p:txBody>
      </p:sp>
      <p:sp>
        <p:nvSpPr>
          <p:cNvPr id="48" name="Oval 47"/>
          <p:cNvSpPr/>
          <p:nvPr/>
        </p:nvSpPr>
        <p:spPr>
          <a:xfrm>
            <a:off x="7772400" y="23865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Redis caching layer for predictions</a:t>
            </a:r>
          </a:p>
        </p:txBody>
      </p:sp>
      <p:sp>
        <p:nvSpPr>
          <p:cNvPr id="50" name="Oval 49"/>
          <p:cNvSpPr/>
          <p:nvPr/>
        </p:nvSpPr>
        <p:spPr>
          <a:xfrm>
            <a:off x="7772400" y="30723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Connection pooling configuration</a:t>
            </a:r>
          </a:p>
        </p:txBody>
      </p:sp>
      <p:sp>
        <p:nvSpPr>
          <p:cNvPr id="52" name="Oval 51"/>
          <p:cNvSpPr/>
          <p:nvPr/>
        </p:nvSpPr>
        <p:spPr>
          <a:xfrm>
            <a:off x="7772400" y="37581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8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Model warm-up on startup</a:t>
            </a:r>
          </a:p>
        </p:txBody>
      </p:sp>
      <p:sp>
        <p:nvSpPr>
          <p:cNvPr id="54" name="Oval 53"/>
          <p:cNvSpPr/>
          <p:nvPr/>
        </p:nvSpPr>
        <p:spPr>
          <a:xfrm>
            <a:off x="7772400" y="44439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80" y="4389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Response compression (gzip)</a:t>
            </a:r>
          </a:p>
        </p:txBody>
      </p:sp>
      <p:sp>
        <p:nvSpPr>
          <p:cNvPr id="56" name="Oval 55"/>
          <p:cNvSpPr/>
          <p:nvPr/>
        </p:nvSpPr>
        <p:spPr>
          <a:xfrm>
            <a:off x="7772400" y="5129784"/>
            <a:ext cx="109728" cy="10972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80" y="5074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Streaming file uploads (avoid memory spikes)</a:t>
            </a:r>
          </a:p>
        </p:txBody>
      </p:sp>
      <p:sp>
        <p:nvSpPr>
          <p:cNvPr id="58" name="Can 57"/>
          <p:cNvSpPr/>
          <p:nvPr/>
        </p:nvSpPr>
        <p:spPr>
          <a:xfrm>
            <a:off x="9665208" y="1280160"/>
            <a:ext cx="109728" cy="320040"/>
          </a:xfrm>
          <a:prstGeom prst="can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784080" y="1188720"/>
            <a:ext cx="2011680" cy="50292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784080" y="1188720"/>
            <a:ext cx="201168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5 — Scalability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66960" y="1828800"/>
            <a:ext cx="160020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Priority: LOW</a:t>
            </a:r>
          </a:p>
        </p:txBody>
      </p:sp>
      <p:sp>
        <p:nvSpPr>
          <p:cNvPr id="62" name="Oval 61"/>
          <p:cNvSpPr/>
          <p:nvPr/>
        </p:nvSpPr>
        <p:spPr>
          <a:xfrm>
            <a:off x="9921240" y="2386584"/>
            <a:ext cx="109728" cy="10972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04120" y="2331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Celery + Redis job queue (persistent background tasks)</a:t>
            </a:r>
          </a:p>
        </p:txBody>
      </p:sp>
      <p:sp>
        <p:nvSpPr>
          <p:cNvPr id="64" name="Oval 63"/>
          <p:cNvSpPr/>
          <p:nvPr/>
        </p:nvSpPr>
        <p:spPr>
          <a:xfrm>
            <a:off x="9921240" y="3072384"/>
            <a:ext cx="109728" cy="10972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412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User management &amp; multi-tenancy</a:t>
            </a:r>
          </a:p>
        </p:txBody>
      </p:sp>
      <p:sp>
        <p:nvSpPr>
          <p:cNvPr id="66" name="Oval 65"/>
          <p:cNvSpPr/>
          <p:nvPr/>
        </p:nvSpPr>
        <p:spPr>
          <a:xfrm>
            <a:off x="9921240" y="3758184"/>
            <a:ext cx="109728" cy="10972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4120" y="3703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Model A/B testing</a:t>
            </a:r>
          </a:p>
        </p:txBody>
      </p:sp>
      <p:sp>
        <p:nvSpPr>
          <p:cNvPr id="68" name="Oval 67"/>
          <p:cNvSpPr/>
          <p:nvPr/>
        </p:nvSpPr>
        <p:spPr>
          <a:xfrm>
            <a:off x="9921240" y="4443984"/>
            <a:ext cx="109728" cy="10972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04120" y="4389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Webhook notifications for job completion</a:t>
            </a:r>
          </a:p>
        </p:txBody>
      </p:sp>
      <p:sp>
        <p:nvSpPr>
          <p:cNvPr id="70" name="Oval 69"/>
          <p:cNvSpPr/>
          <p:nvPr/>
        </p:nvSpPr>
        <p:spPr>
          <a:xfrm>
            <a:off x="9921240" y="5129784"/>
            <a:ext cx="109728" cy="10972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04120" y="50749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Graceful shutdown with drain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Before vs After Audit Fixes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4846320" cy="4572000"/>
          </a:xfrm>
          <a:prstGeom prst="roundRect">
            <a:avLst/>
          </a:prstGeom>
          <a:solidFill>
            <a:srgbClr val="FD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4846320" cy="548640"/>
          </a:xfrm>
          <a:prstGeom prst="round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22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20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Any file type/size uploaded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14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22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514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Terraform secrets committed to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22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08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Sync ML blocks event loop → UI freezes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22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03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Raw Python tracebacks shown to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97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22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976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Deploy without running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892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223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92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Hardcoded database password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188720"/>
            <a:ext cx="4846320" cy="4572000"/>
          </a:xfrm>
          <a:prstGeom prst="roundRect">
            <a:avLst/>
          </a:prstGeom>
          <a:solidFill>
            <a:srgbClr val="E6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188720"/>
            <a:ext cx="4846320" cy="5486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AFTER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920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920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File type (.mp4/.mov/.webm) + 500 MB limit enforced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514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514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Terraform state/secrets in .gitignore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108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ML runs in thread pool → UI stays responsive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03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7033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Clean JSON error responses with logging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97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2976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Lint + type check + pytest gate before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92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892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Environment variables with secure defaults</a:t>
            </a:r>
          </a:p>
        </p:txBody>
      </p:sp>
      <p:sp>
        <p:nvSpPr>
          <p:cNvPr id="37" name="Can 36"/>
          <p:cNvSpPr/>
          <p:nvPr/>
        </p:nvSpPr>
        <p:spPr>
          <a:xfrm>
            <a:off x="5760720" y="3200400"/>
            <a:ext cx="914400" cy="457200"/>
          </a:xfrm>
          <a:prstGeom prst="can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Partially Implemented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188720"/>
            <a:ext cx="3291840" cy="4846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329184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MLflow Experiment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Code exists in tracking.py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What works: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log_training_run(), log_evaluation(), log_ablation_study()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2233"/>
                </a:solidFill>
                <a:latin typeface="Calibri"/>
              </a:defRPr>
            </a:pPr>
            <a:r>
              <a:t>What's missing: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MLflow server not deployed, not in required deps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343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To enable: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pip install mlflow, set MLFLOW_TRACKING_URI, deploy MLflow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188720"/>
            <a:ext cx="3291840" cy="4846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0" y="1188720"/>
            <a:ext cx="329184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S3 Video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874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s3_key column exists on Video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What works: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Database field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4747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2233"/>
                </a:solidFill>
                <a:latin typeface="Calibri"/>
              </a:defRPr>
            </a:pPr>
            <a:r>
              <a:t>What's missing: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boto3 upload logic, presigned URL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43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To enable: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Add boto3, configure AWS_S3_BUCKET, update upload endpoint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1188720"/>
            <a:ext cx="3291840" cy="4846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0" y="1188720"/>
            <a:ext cx="3291840" cy="50292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pgvector 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874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CCC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103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pgvector Docker image 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What works: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PostgreSQL with vector extension installed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4747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2233"/>
                </a:solidFill>
                <a:latin typeface="Calibri"/>
              </a:defRPr>
            </a:pPr>
            <a:r>
              <a:t>What's missing: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No embedding generation, no similarity search endpoints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343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To enable: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Add embedding model, create vector column, add search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Maturity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188720" y="1188720"/>
          <a:ext cx="10058400" cy="4828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097280"/>
                <a:gridCol w="6217920"/>
              </a:tblGrid>
              <a:tr h="43891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Fair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After fixes: file validation, .gitignore. Still needs auth.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API Design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Versioned, typed, documented. Needs pagination.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Resilience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6/10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Fair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Error handling, job tracking. Needs retries, timeouts.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Observability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2233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2233"/>
                          </a:solidFill>
                          <a:latin typeface="Calibri"/>
                        </a:defRPr>
                      </a:pPr>
                      <a:r>
                        <a:t>Needs Work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Basic logging only. Needs metrics, tracing.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Performance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6/10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Fair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Async DB, background tasks. Needs caching, warm-up.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Fair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Good coverage. Needs security tests, load tests.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CI/CD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8/10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After fix: test gate added. Needs staging env.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Documentation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9/10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Excellent. README, guides, architecture docs.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389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Data Management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5/10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2233"/>
                          </a:solidFill>
                          <a:latin typeface="Calibri"/>
                        </a:defRPr>
                      </a:pPr>
                      <a:r>
                        <a:t>Needs Work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Needs migrations, backups, retention policy.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2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EF7C00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C2233"/>
                          </a:solidFill>
                          <a:latin typeface="Calibri"/>
                        </a:defRPr>
                      </a:pPr>
                      <a:r>
                        <a:t>3/10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CC2233"/>
                          </a:solidFill>
                          <a:latin typeface="Calibri"/>
                        </a:defRPr>
                      </a:pPr>
                      <a:r>
                        <a:t>Needs Work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Single process. Needs job queue, multi-tenancy.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188720" y="6291071"/>
            <a:ext cx="10058400" cy="6400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6336791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Overall Score: 6.3/10</a:t>
            </a:r>
            <a:r>
              <a:rPr sz="1600" b="0">
                <a:solidFill>
                  <a:srgbClr val="CCCCCC"/>
                </a:solidFill>
                <a:latin typeface="Calibri"/>
              </a:rPr>
              <a:t>  —  Strong for course project, clear path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