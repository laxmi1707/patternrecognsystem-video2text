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Architecture Audit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10896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BBDD"/>
                </a:solidFill>
                <a:latin typeface="Calibri"/>
              </a:defRPr>
            </a:pPr>
            <a:r>
              <a:t>Gaps identified, fixes applied, and production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880360"/>
            <a:ext cx="3962095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BB"/>
                </a:solidFill>
                <a:latin typeface="Calibri"/>
              </a:defRPr>
            </a:pPr>
            <a:r>
              <a:t>Video2Knowledge  |  Pattern Recognition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 Audit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560320" cy="38404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920240"/>
            <a:ext cx="1097280" cy="10972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6/10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CORS, UUID filenames, non-root Docker.</a:t>
            </a:r>
          </a:p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Missing: auth, file validation, rate limiting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188720"/>
            <a:ext cx="2560320" cy="38404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Resilience</a:t>
            </a:r>
          </a:p>
        </p:txBody>
      </p:sp>
      <p:sp>
        <p:nvSpPr>
          <p:cNvPr id="10" name="Oval 9"/>
          <p:cNvSpPr/>
          <p:nvPr/>
        </p:nvSpPr>
        <p:spPr>
          <a:xfrm>
            <a:off x="4160520" y="1920240"/>
            <a:ext cx="1097280" cy="10972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Per-model error handling, job failure tracking.</a:t>
            </a:r>
          </a:p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Missing: timeouts, retries, circuit breakers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188720"/>
            <a:ext cx="2560320" cy="384048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Observability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0" y="1920240"/>
            <a:ext cx="1097280" cy="1097280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4/10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Basic logging, health check.</a:t>
            </a:r>
          </a:p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Missing: structured logging, metrics, tracing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188720"/>
            <a:ext cx="2560320" cy="38404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18" name="Oval 17"/>
          <p:cNvSpPr/>
          <p:nvPr/>
        </p:nvSpPr>
        <p:spPr>
          <a:xfrm>
            <a:off x="9921240" y="1920240"/>
            <a:ext cx="1097280" cy="10972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Async DB, background tasks.</a:t>
            </a:r>
          </a:p>
          <a:p>
            <a:pPr algn="ctr"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Missing: caching, connection pooling, model warm-up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10 areas audited, 6 critical gaps identified and fixed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 Critical Gaps — Fixed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566160" cy="2286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234440"/>
            <a:ext cx="365760" cy="36576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20700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File Upload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Added 500 MB size limit + extension whitelist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(.mp4, .mov, .webm, .avi, .mkv).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Calibri"/>
              </a:defRPr>
            </a:pPr>
            <a:r>
              <a:t>File: routers/videos.py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097280"/>
            <a:ext cx="3566160" cy="2286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234440"/>
            <a:ext cx="365760" cy="36576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20700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Terraform Secrets in 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459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Added *.tfstate, terraform.tfvars, .env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to .gitignore. Prevents credential exposure.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Calibri"/>
              </a:defRPr>
            </a:pPr>
            <a:r>
              <a:t>File: .gitignore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097280"/>
            <a:ext cx="3566160" cy="2286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234440"/>
            <a:ext cx="365760" cy="36576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20700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Event Loop Blocking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6459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Wrapped sync ML calls in asyncio.to_thread().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Prevents UI freezes during classification.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Calibri"/>
              </a:defRPr>
            </a:pPr>
            <a:r>
              <a:t>File: routers/classification.py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57600"/>
            <a:ext cx="3566160" cy="2286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7673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No Error Handler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06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Added global @app.exception_handler returning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clean JSON instead of raw tracebacks.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86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Calibri"/>
              </a:defRPr>
            </a:pPr>
            <a:r>
              <a:t>File: main.py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657600"/>
            <a:ext cx="3566160" cy="2286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89120" y="3794760"/>
            <a:ext cx="365760" cy="36576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7673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No CI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206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Added test job (ruff lint + mypy type check +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pytest) that runs BEFORE deploy.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486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Calibri"/>
              </a:defRPr>
            </a:pPr>
            <a:r>
              <a:t>File: deploy-backend.yml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657600"/>
            <a:ext cx="3566160" cy="2286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794760"/>
            <a:ext cx="365760" cy="36576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7673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Hardcoded DB Credentials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206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Changed to ${POSTGRES_PASSWORD:-postgres}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t>env vars with defaults.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5486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Calibri"/>
              </a:defRPr>
            </a:pPr>
            <a:r>
              <a:t>File: docker-compose.yml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 Strengths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23444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API versioning (/api/v1/) with OpenAPI/Swagger docs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01168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CORS properly configured from environment settings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78892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Async database operations (SQLAlchemy async + aiosqlite/asyncpg)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6616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Background job processing with real-time progress tracking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Docker non-root user (security)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2064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CI/CD pipeline (GitHub Actions → ECR → App Runner)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123444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Comprehensive test suite (backend unit + API e2e + frontend)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01168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965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Pydantic request/response validation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278892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743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UUID-based filename sanitization (prevents path traversal)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356616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520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MLflow tracking scaffolding (ready to enable)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34340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976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S3 field prepared on Video model (ready to wire up)</a:t>
            </a:r>
          </a:p>
        </p:txBody>
      </p:sp>
      <p:sp>
        <p:nvSpPr>
          <p:cNvPr id="26" name="Oval 25"/>
          <p:cNvSpPr/>
          <p:nvPr/>
        </p:nvSpPr>
        <p:spPr>
          <a:xfrm>
            <a:off x="6217920" y="5120640"/>
            <a:ext cx="320040" cy="3200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074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pgvector support in Docker image (ready for embeddings)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Production Readiness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97280"/>
            <a:ext cx="2148840" cy="530352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2148840" cy="50292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1 — 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1600200" cy="320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Priority: HIGH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95144"/>
            <a:ext cx="109728" cy="109728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Authentication &amp; Authorization (JWT/OAuth2)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80944"/>
            <a:ext cx="109728" cy="109728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Rate limiting (slowapi middleware)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66744"/>
            <a:ext cx="109728" cy="109728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Replace pickle with safer serialization (joblib + checksums)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52544"/>
            <a:ext cx="109728" cy="109728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Input sanitization beyond Pydantic</a:t>
            </a:r>
          </a:p>
        </p:txBody>
      </p:sp>
      <p:sp>
        <p:nvSpPr>
          <p:cNvPr id="15" name="Can 14"/>
          <p:cNvSpPr/>
          <p:nvPr/>
        </p:nvSpPr>
        <p:spPr>
          <a:xfrm>
            <a:off x="2578608" y="1188720"/>
            <a:ext cx="109728" cy="320040"/>
          </a:xfrm>
          <a:prstGeom prst="can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97480" y="1097280"/>
            <a:ext cx="2148840" cy="530352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1097280"/>
            <a:ext cx="2148840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2 — Data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1800" y="1737360"/>
            <a:ext cx="1600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Priority: HIGH</a:t>
            </a:r>
          </a:p>
        </p:txBody>
      </p:sp>
      <p:sp>
        <p:nvSpPr>
          <p:cNvPr id="19" name="Oval 18"/>
          <p:cNvSpPr/>
          <p:nvPr/>
        </p:nvSpPr>
        <p:spPr>
          <a:xfrm>
            <a:off x="2834640" y="2295144"/>
            <a:ext cx="109728" cy="10972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2402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Alembic database migrations (schema versioning)</a:t>
            </a:r>
          </a:p>
        </p:txBody>
      </p:sp>
      <p:sp>
        <p:nvSpPr>
          <p:cNvPr id="21" name="Oval 20"/>
          <p:cNvSpPr/>
          <p:nvPr/>
        </p:nvSpPr>
        <p:spPr>
          <a:xfrm>
            <a:off x="2834640" y="2980944"/>
            <a:ext cx="109728" cy="10972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520" y="29260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S3 integration for video storage (field exists, needs wiring)</a:t>
            </a:r>
          </a:p>
        </p:txBody>
      </p:sp>
      <p:sp>
        <p:nvSpPr>
          <p:cNvPr id="23" name="Oval 22"/>
          <p:cNvSpPr/>
          <p:nvPr/>
        </p:nvSpPr>
        <p:spPr>
          <a:xfrm>
            <a:off x="2834640" y="3666744"/>
            <a:ext cx="109728" cy="10972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6118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Data retention/cleanup policy</a:t>
            </a:r>
          </a:p>
        </p:txBody>
      </p:sp>
      <p:sp>
        <p:nvSpPr>
          <p:cNvPr id="25" name="Oval 24"/>
          <p:cNvSpPr/>
          <p:nvPr/>
        </p:nvSpPr>
        <p:spPr>
          <a:xfrm>
            <a:off x="2834640" y="4352544"/>
            <a:ext cx="109728" cy="10972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2976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Backup strategy</a:t>
            </a:r>
          </a:p>
        </p:txBody>
      </p:sp>
      <p:sp>
        <p:nvSpPr>
          <p:cNvPr id="27" name="Can 26"/>
          <p:cNvSpPr/>
          <p:nvPr/>
        </p:nvSpPr>
        <p:spPr>
          <a:xfrm>
            <a:off x="4864608" y="1188720"/>
            <a:ext cx="109728" cy="320040"/>
          </a:xfrm>
          <a:prstGeom prst="can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83480" y="1097280"/>
            <a:ext cx="2148840" cy="53035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983480" y="1097280"/>
            <a:ext cx="214884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3 — Observability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800" y="1737360"/>
            <a:ext cx="16002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Priority: MEDIUM</a:t>
            </a:r>
          </a:p>
        </p:txBody>
      </p:sp>
      <p:sp>
        <p:nvSpPr>
          <p:cNvPr id="31" name="Oval 30"/>
          <p:cNvSpPr/>
          <p:nvPr/>
        </p:nvSpPr>
        <p:spPr>
          <a:xfrm>
            <a:off x="5120640" y="22951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0" y="22402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Structured JSON logging with correlation IDs</a:t>
            </a:r>
          </a:p>
        </p:txBody>
      </p:sp>
      <p:sp>
        <p:nvSpPr>
          <p:cNvPr id="33" name="Oval 32"/>
          <p:cNvSpPr/>
          <p:nvPr/>
        </p:nvSpPr>
        <p:spPr>
          <a:xfrm>
            <a:off x="5120640" y="29809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29260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Prometheus /metrics endpoint</a:t>
            </a:r>
          </a:p>
        </p:txBody>
      </p:sp>
      <p:sp>
        <p:nvSpPr>
          <p:cNvPr id="35" name="Oval 34"/>
          <p:cNvSpPr/>
          <p:nvPr/>
        </p:nvSpPr>
        <p:spPr>
          <a:xfrm>
            <a:off x="5120640" y="36667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0" y="36118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Deep health check (verify DB + models + disk)</a:t>
            </a:r>
          </a:p>
        </p:txBody>
      </p:sp>
      <p:sp>
        <p:nvSpPr>
          <p:cNvPr id="37" name="Oval 36"/>
          <p:cNvSpPr/>
          <p:nvPr/>
        </p:nvSpPr>
        <p:spPr>
          <a:xfrm>
            <a:off x="5120640" y="43525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0" y="42976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OpenTelemetry distributed tracing</a:t>
            </a:r>
          </a:p>
        </p:txBody>
      </p:sp>
      <p:sp>
        <p:nvSpPr>
          <p:cNvPr id="39" name="Can 38"/>
          <p:cNvSpPr/>
          <p:nvPr/>
        </p:nvSpPr>
        <p:spPr>
          <a:xfrm>
            <a:off x="7150608" y="1188720"/>
            <a:ext cx="109728" cy="320040"/>
          </a:xfrm>
          <a:prstGeom prst="can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269480" y="1097280"/>
            <a:ext cx="2148840" cy="53035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269480" y="1097280"/>
            <a:ext cx="214884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4 — Performance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1737360"/>
            <a:ext cx="16002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Priority: MEDIUM</a:t>
            </a:r>
          </a:p>
        </p:txBody>
      </p:sp>
      <p:sp>
        <p:nvSpPr>
          <p:cNvPr id="43" name="Oval 42"/>
          <p:cNvSpPr/>
          <p:nvPr/>
        </p:nvSpPr>
        <p:spPr>
          <a:xfrm>
            <a:off x="7406640" y="22951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9520" y="22402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Redis caching layer for predictions</a:t>
            </a:r>
          </a:p>
        </p:txBody>
      </p:sp>
      <p:sp>
        <p:nvSpPr>
          <p:cNvPr id="45" name="Oval 44"/>
          <p:cNvSpPr/>
          <p:nvPr/>
        </p:nvSpPr>
        <p:spPr>
          <a:xfrm>
            <a:off x="7406640" y="29809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0" y="29260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Connection pooling configuration</a:t>
            </a:r>
          </a:p>
        </p:txBody>
      </p:sp>
      <p:sp>
        <p:nvSpPr>
          <p:cNvPr id="47" name="Oval 46"/>
          <p:cNvSpPr/>
          <p:nvPr/>
        </p:nvSpPr>
        <p:spPr>
          <a:xfrm>
            <a:off x="7406640" y="36667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89520" y="36118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Model warm-up on startup</a:t>
            </a:r>
          </a:p>
        </p:txBody>
      </p:sp>
      <p:sp>
        <p:nvSpPr>
          <p:cNvPr id="49" name="Oval 48"/>
          <p:cNvSpPr/>
          <p:nvPr/>
        </p:nvSpPr>
        <p:spPr>
          <a:xfrm>
            <a:off x="7406640" y="43525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0" y="42976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Response compression (gzip)</a:t>
            </a:r>
          </a:p>
        </p:txBody>
      </p:sp>
      <p:sp>
        <p:nvSpPr>
          <p:cNvPr id="51" name="Oval 50"/>
          <p:cNvSpPr/>
          <p:nvPr/>
        </p:nvSpPr>
        <p:spPr>
          <a:xfrm>
            <a:off x="7406640" y="5038344"/>
            <a:ext cx="109728" cy="10972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89520" y="49834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Streaming file uploads (avoid memory spikes)</a:t>
            </a:r>
          </a:p>
        </p:txBody>
      </p:sp>
      <p:sp>
        <p:nvSpPr>
          <p:cNvPr id="53" name="Can 52"/>
          <p:cNvSpPr/>
          <p:nvPr/>
        </p:nvSpPr>
        <p:spPr>
          <a:xfrm>
            <a:off x="9436608" y="1188720"/>
            <a:ext cx="109728" cy="320040"/>
          </a:xfrm>
          <a:prstGeom prst="can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555480" y="1097280"/>
            <a:ext cx="2148840" cy="530352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555480" y="1097280"/>
            <a:ext cx="214884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5 — Scalability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29800" y="1737360"/>
            <a:ext cx="1600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Priority: LOW</a:t>
            </a:r>
          </a:p>
        </p:txBody>
      </p:sp>
      <p:sp>
        <p:nvSpPr>
          <p:cNvPr id="57" name="Oval 56"/>
          <p:cNvSpPr/>
          <p:nvPr/>
        </p:nvSpPr>
        <p:spPr>
          <a:xfrm>
            <a:off x="9692640" y="2295144"/>
            <a:ext cx="109728" cy="109728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22402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Celery + Redis job queue (persistent background tasks)</a:t>
            </a:r>
          </a:p>
        </p:txBody>
      </p:sp>
      <p:sp>
        <p:nvSpPr>
          <p:cNvPr id="59" name="Oval 58"/>
          <p:cNvSpPr/>
          <p:nvPr/>
        </p:nvSpPr>
        <p:spPr>
          <a:xfrm>
            <a:off x="9692640" y="2980944"/>
            <a:ext cx="109728" cy="109728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75520" y="29260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User management &amp; multi-tenancy</a:t>
            </a:r>
          </a:p>
        </p:txBody>
      </p:sp>
      <p:sp>
        <p:nvSpPr>
          <p:cNvPr id="61" name="Oval 60"/>
          <p:cNvSpPr/>
          <p:nvPr/>
        </p:nvSpPr>
        <p:spPr>
          <a:xfrm>
            <a:off x="9692640" y="3666744"/>
            <a:ext cx="109728" cy="109728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20" y="36118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Model A/B testing</a:t>
            </a:r>
          </a:p>
        </p:txBody>
      </p:sp>
      <p:sp>
        <p:nvSpPr>
          <p:cNvPr id="63" name="Oval 62"/>
          <p:cNvSpPr/>
          <p:nvPr/>
        </p:nvSpPr>
        <p:spPr>
          <a:xfrm>
            <a:off x="9692640" y="4352544"/>
            <a:ext cx="109728" cy="109728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75520" y="42976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Webhook notifications for job completion</a:t>
            </a:r>
          </a:p>
        </p:txBody>
      </p:sp>
      <p:sp>
        <p:nvSpPr>
          <p:cNvPr id="65" name="Oval 64"/>
          <p:cNvSpPr/>
          <p:nvPr/>
        </p:nvSpPr>
        <p:spPr>
          <a:xfrm>
            <a:off x="9692640" y="5038344"/>
            <a:ext cx="109728" cy="109728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498348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Graceful shutdown with drain logic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Before vs After Audit 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5303520" cy="4572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5486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20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Any file type/size uploaded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146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Terraform secrets committed to 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08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Sync ML blocks event loop → UI freezes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Raw Python tracebacks shown to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97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Deploy without running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920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3545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892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Hardcoded database password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9535" y="1188720"/>
            <a:ext cx="5303520" cy="4572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39535" y="1188720"/>
            <a:ext cx="530352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3855" y="19202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9615" y="1920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File type (.mp4/.mov/.webm) + 500 MB limit enforced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3855" y="25146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9615" y="25146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Terraform state/secrets in .gitignore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3855" y="31089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9615" y="3108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ML runs in thread pool → UI stays responsive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3855" y="3703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615" y="3703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Clean JSON error responses with logging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3855" y="42976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9615" y="4297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Lint + type check + pytest gate before deploy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3855" y="48920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79615" y="4892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Environment variables with secure defaults</a:t>
            </a:r>
          </a:p>
        </p:txBody>
      </p:sp>
      <p:sp>
        <p:nvSpPr>
          <p:cNvPr id="32" name="Can 31"/>
          <p:cNvSpPr/>
          <p:nvPr/>
        </p:nvSpPr>
        <p:spPr>
          <a:xfrm>
            <a:off x="5577840" y="3200400"/>
            <a:ext cx="1005840" cy="457200"/>
          </a:xfrm>
          <a:prstGeom prst="can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Partially Implemented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66160" cy="4846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356616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MLflow Experiment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6666"/>
                </a:solidFill>
                <a:latin typeface="Calibri"/>
              </a:defRPr>
            </a:pPr>
            <a:r>
              <a:t>Status: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Code exists in tracking.py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What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log_training_run(), log_evaluation(), log_ablation_study()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C3545"/>
                </a:solidFill>
                <a:latin typeface="Calibri"/>
              </a:defRPr>
            </a:pPr>
            <a:r>
              <a:t>What's missing: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MLflow server not deployed, not in required deps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To enable: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pip install mlflow, set MLFLOW_TRACKING_URI, deploy MLflow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097280"/>
            <a:ext cx="3566160" cy="4846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1097280"/>
            <a:ext cx="356616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S3 Video Storage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1783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6666"/>
                </a:solidFill>
                <a:latin typeface="Calibri"/>
              </a:defRPr>
            </a:pPr>
            <a:r>
              <a:t>Status: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s3_key column exists on Video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5146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What works: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743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Database field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383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C3545"/>
                </a:solidFill>
                <a:latin typeface="Calibri"/>
              </a:defRPr>
            </a:pPr>
            <a:r>
              <a:t>What's missing: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611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boto3 upload logic, presigned URL 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2519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To enable: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Add boto3, configure AWS_S3_BUCKET, update upload endpoint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1097280"/>
            <a:ext cx="3566160" cy="4846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83880" y="1097280"/>
            <a:ext cx="356616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pgvector 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1783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6666"/>
                </a:solidFill>
                <a:latin typeface="Calibri"/>
              </a:defRPr>
            </a:pPr>
            <a:r>
              <a:t>Status: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pgvector Docker image 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25146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What works: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743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PostgreSQL with vector extension installed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383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C3545"/>
                </a:solidFill>
                <a:latin typeface="Calibri"/>
              </a:defRPr>
            </a:pPr>
            <a:r>
              <a:t>What's missing: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611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No embedding generation, no similarity search endpoints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To enable: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Add embedding model, create vector column, add search API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 Maturity Assessment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94415" cy="48280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6888175"/>
              </a:tblGrid>
              <a:tr h="43891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 anchor="ctr"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007ACC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After fixes: file validation, .gitignore. Still needs auth.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API Design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8A745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Versioned, typed, documented. Needs pagination.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Resilience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Error handling, job tracking. Needs retries, timeouts.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Observability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C3545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C3545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Basic logging only. Needs metrics, tracing.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Performance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Async DB, background tasks. Needs caching, warm-up.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Good coverage. Needs security tests, load tests.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CI/CD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8A745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After fix: test gate added. Needs staging env.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Documentation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8A745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Excellent. README, guides, architecture docs.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389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Data Management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5/10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C3545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Needs migrations, backups, retention policy.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2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C3545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C3545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66666"/>
                          </a:solidFill>
                          <a:latin typeface="Calibri"/>
                        </a:defRPr>
                      </a:pPr>
                      <a:r>
                        <a:t>Single process. Needs job queue, multi-tenancy.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6199631"/>
            <a:ext cx="11094415" cy="640080"/>
          </a:xfrm>
          <a:prstGeom prst="roundRect">
            <a:avLst/>
          </a:prstGeom>
          <a:solidFill>
            <a:srgbClr val="1B2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45351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Overall Score: 6.3/10</a:t>
            </a:r>
            <a:r>
              <a:rPr sz="1600" b="0">
                <a:solidFill>
                  <a:srgbClr val="AABBDD"/>
                </a:solidFill>
                <a:latin typeface="Calibri"/>
              </a:rPr>
              <a:t>  —  Strong for course project, clear path to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