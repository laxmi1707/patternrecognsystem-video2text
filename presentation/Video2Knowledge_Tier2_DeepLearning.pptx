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Why 3 Tiers? + Tier 2: Deep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From classical baselines to neural networks to combined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4114800"/>
            <a:ext cx="3017520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Video2Knowledge  |  Pattern Recognition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Muneeswaran Muthaiah  |  National University of Singapore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Why Do We Need 3 Tiers?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0040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Tier 1: Classical 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200400" cy="23774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007ACC"/>
                </a:solidFill>
                <a:latin typeface="Calibri"/>
              </a:defRPr>
            </a:pPr>
            <a:r>
              <a:t>Fast baselines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Establish performance floor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Simple, interpretable,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quick to train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200400" cy="5486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Tier 2: Deep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200400" cy="23774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14884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6F42C1"/>
                </a:solidFill>
                <a:latin typeface="Calibri"/>
              </a:defRPr>
            </a:pPr>
            <a:r>
              <a:t>Learn complex patterns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6F42C1"/>
                </a:solidFill>
                <a:latin typeface="Calibri"/>
              </a:defRPr>
            </a:pPr>
            <a:r>
              <a:t>automatically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Can capture non-linear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relationships between features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463040"/>
            <a:ext cx="320040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Tier 3: Ensemble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011680"/>
            <a:ext cx="3200400" cy="23774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14884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28A745"/>
                </a:solidFill>
                <a:latin typeface="Calibri"/>
              </a:defRPr>
            </a:pPr>
            <a:r>
              <a:t>Combine the best of both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Different models make different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mistakes — combining them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reduces overall error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31920" y="2926080"/>
            <a:ext cx="365760" cy="0"/>
          </a:xfrm>
          <a:prstGeom prst="line">
            <a:avLst/>
          </a:prstGeom>
          <a:ln w="381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80" y="2926080"/>
            <a:ext cx="365760" cy="0"/>
          </a:xfrm>
          <a:prstGeom prst="line">
            <a:avLst/>
          </a:prstGeom>
          <a:ln w="381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97280" y="4754880"/>
            <a:ext cx="996696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892040"/>
            <a:ext cx="9235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No single model is best for everything. 3 tiers lets us compare approaches and pick the best for each use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How Tiers Interconnect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54880" y="1371600"/>
            <a:ext cx="2743200" cy="5486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150-dim Feature Vector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60320"/>
            <a:ext cx="32004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Tier 1: Classical 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3200400" cy="9144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SVM, Random Forest,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Logistic Regression, KNN, MLP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560320"/>
            <a:ext cx="32004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Tier 2: Deep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017520"/>
            <a:ext cx="3200400" cy="9144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30632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MLP, CNN-1D,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LSTM, Transformer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514600.0" y="1920240"/>
            <a:ext cx="2240280.0" cy="640080"/>
          </a:xfrm>
          <a:prstGeom prst="line">
            <a:avLst/>
          </a:prstGeom>
          <a:ln w="31750">
            <a:solidFill>
              <a:srgbClr val="F57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80" y="1920240"/>
            <a:ext cx="2148840.0" cy="640080"/>
          </a:xfrm>
          <a:prstGeom prst="line">
            <a:avLst/>
          </a:prstGeom>
          <a:ln w="31750">
            <a:solidFill>
              <a:srgbClr val="F57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2880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predictions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4480560"/>
            <a:ext cx="41148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Tier 3: Ensemble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4937760"/>
            <a:ext cx="4114800" cy="6400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49834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Combines Tier 1 + Tier 2 outputs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14600.0" y="3931920"/>
            <a:ext cx="1508760.0" cy="82296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138160" y="3931920"/>
            <a:ext cx="1508760.0" cy="822960"/>
          </a:xfrm>
          <a:prstGeom prst="line">
            <a:avLst/>
          </a:prstGeom>
          <a:ln w="31750">
            <a:solidFill>
              <a:srgbClr val="6F42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37760" y="5623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8A745"/>
                </a:solidFill>
                <a:latin typeface="Calibri"/>
              </a:defRPr>
            </a:pPr>
            <a:r>
              <a:t>Final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66666"/>
                </a:solidFill>
                <a:latin typeface="Calibri"/>
              </a:defRPr>
            </a:pPr>
            <a:r>
              <a:t>Tier 3 uses Tier 1 and Tier 2 as building blocks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480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Specific Ensemble Methods: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0060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Voting: SVM + RF + MLP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Stacking: SVM + RF + MLP → LogReg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Late Fusion: SVM (text) + RF (visual)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Tier 2: Deep Learning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4 Neural Network architectures, each designed for different pattern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2468880" cy="2697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ACC"/>
                </a:solidFill>
                <a:latin typeface="Calibri"/>
              </a:defRPr>
            </a:pPr>
            <a:r>
              <a:t>Multi-Layer</a:t>
            </a:r>
            <a:br/>
            <a:r>
              <a:t>Perceptron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Fully connected layers</a:t>
            </a:r>
            <a:br/>
            <a:r>
              <a:t>learn feature combinations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976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Best for: General</a:t>
            </a:r>
            <a:br/>
            <a:r>
              <a:t>pattern matching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194560"/>
            <a:ext cx="246888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CNN-1D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697480"/>
            <a:ext cx="2468880" cy="2697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Calibri"/>
              </a:defRPr>
            </a:pPr>
            <a:r>
              <a:t>1D Convolutional</a:t>
            </a:r>
            <a:br/>
            <a:r>
              <a:t>Neural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Sliding filters detect</a:t>
            </a:r>
            <a:br/>
            <a:r>
              <a:t>local feature patterns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2976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Best for: Adjacent</a:t>
            </a:r>
            <a:br/>
            <a:r>
              <a:t>feature correlations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94560"/>
            <a:ext cx="2468880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LSTM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697480"/>
            <a:ext cx="2468880" cy="2697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8346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7C00"/>
                </a:solidFill>
                <a:latin typeface="Calibri"/>
              </a:defRPr>
            </a:pPr>
            <a:r>
              <a:t>Long Short-Term</a:t>
            </a:r>
            <a:br/>
            <a: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Sequential processing</a:t>
            </a:r>
            <a:br/>
            <a:r>
              <a:t>with memory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976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Best for: Cross-modality</a:t>
            </a:r>
            <a:br/>
            <a:r>
              <a:t>long-range dependencies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194560"/>
            <a:ext cx="246888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Transformer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2697480"/>
            <a:ext cx="2468880" cy="2697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8346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F42C1"/>
                </a:solidFill>
                <a:latin typeface="Calibri"/>
              </a:defRPr>
            </a:pPr>
            <a:r>
              <a:t>Self-Attention</a:t>
            </a:r>
            <a:br/>
            <a:r>
              <a:t>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474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Attention mechanism</a:t>
            </a:r>
            <a:br/>
            <a:r>
              <a:t>connects any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2976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Best for: Global feature</a:t>
            </a:r>
            <a:br/>
            <a:r>
              <a:t>relationships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5669280"/>
            <a:ext cx="996696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576072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All use PyTorch  |  Trained with gradient descent  |  GPU acceleration (CUDA)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MLP (Multi-Layer Perceptron)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The simplest neural network — fully connected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4114800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Input: 150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411480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Layer 1: 150 → 256 neurons + ReLU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749040"/>
            <a:ext cx="411480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Layer 2: 256 → 128 neurons + ReLU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89120"/>
            <a:ext cx="411480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Layer 3: 128 → 9 neurons + Softmax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41148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Output: probability per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032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433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1833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8234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2468880"/>
            <a:ext cx="5303520" cy="9144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2514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ACC"/>
                </a:solidFill>
                <a:latin typeface="Calibri"/>
              </a:defRPr>
            </a:pPr>
            <a:r>
              <a:t>ReLU (Rectified Linear Unit)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7889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If negative → 0. Adds non-linearity so the network can learn complex patterns.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566160"/>
            <a:ext cx="5303520" cy="9144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F42C1"/>
                </a:solidFill>
                <a:latin typeface="Calibri"/>
              </a:defRPr>
            </a:pPr>
            <a:r>
              <a:t>Softmax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88619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Converts raw scores to probabilities summing to 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754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5074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Simple architecture, easy to understand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Fast inference (4ms per prediction)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Good baseline for comparison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5778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it learns: "Combinations of features — e.g., high OCR confidence + high interaction rate = coding activity"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CNN-1D (1D Convolutional Neural Network)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Slides a window across features to find LOCAL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How 1D Convolution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548640" cy="41148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OCR_0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20" y="2560320"/>
            <a:ext cx="548640" cy="41148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OCR_1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11680" y="2560320"/>
            <a:ext cx="548640" cy="41148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OCR_2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2560320"/>
            <a:ext cx="5486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0" y="2560320"/>
            <a:ext cx="548640" cy="411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UI_29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94760" y="2560320"/>
            <a:ext cx="548640" cy="411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Vis_0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2560320"/>
            <a:ext cx="548640" cy="4114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Vis_1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83480" y="2560320"/>
            <a:ext cx="5486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80" y="25603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3017520"/>
            <a:ext cx="17373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Filter (size 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8A745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11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[OCR_0, OCR_1, OCR_2] → "pattern in OCR region"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160520"/>
            <a:ext cx="5486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1605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417320" y="4160520"/>
            <a:ext cx="548640" cy="41148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UI_29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41605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11680" y="4160520"/>
            <a:ext cx="548640" cy="41148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Vis_0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41605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606040" y="4160520"/>
            <a:ext cx="548640" cy="41148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Vis_1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06040" y="41605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200400" y="4160520"/>
            <a:ext cx="5486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2D2D"/>
                </a:solidFill>
              </a:defRPr>
            </a:pPr>
            <a:r>
              <a:t>...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160520"/>
            <a:ext cx="548640" cy="411480"/>
          </a:xfrm>
          <a:prstGeom prst="roundRect">
            <a:avLst/>
          </a:prstGeom>
          <a:noFill/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417320" y="4617720"/>
            <a:ext cx="17373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Filter (size 3)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983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[UI_29, Vis_0, Vis_1] → "pattern at modality boundary"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2468880"/>
            <a:ext cx="502920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25603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Finds patterns WITHIN and BETWEEN adjacent features.</a:t>
            </a:r>
            <a:br/>
            <a:r>
              <a:t>The filter slides one position at a time, detecting</a:t>
            </a:r>
            <a:br/>
            <a:r>
              <a:t>every local pattern in the 150-dim vector.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16052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Detects local feature patterns efficiently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Fewer parameters than MLP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Translation invariant — same pattern detected anywhere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" y="55778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it learns: "Adjacent features that co-occur — e.g., high OCR word count + terminal UI = command-line activity"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LSTM (Long Short-Term Memory)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Processes features as a SEQUENCE, maintaining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Sequential Processing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91440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Step 1: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514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See OCR[0]=0.82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514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514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7C00"/>
                </a:solidFill>
                <a:latin typeface="Calibri"/>
              </a:defRPr>
            </a:pPr>
            <a:r>
              <a:t>Memory: "probably text editing"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40"/>
            <a:ext cx="9144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Step 50: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See UI[0]=terminal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Memory: "text editing in terminal"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57600"/>
            <a:ext cx="9144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Step 80: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See Visual=dark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703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F42C1"/>
                </a:solidFill>
                <a:latin typeface="Calibri"/>
              </a:defRPr>
            </a:pPr>
            <a:r>
              <a:t>Memory: "text in dark terminal"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069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51960"/>
            <a:ext cx="9144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Step 150: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See Interaction=typing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A745"/>
                </a:solidFill>
                <a:latin typeface="Calibri"/>
              </a:defRPr>
            </a:pPr>
            <a:r>
              <a:t>Final: "git_operations"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983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6666"/>
                </a:solidFill>
                <a:latin typeface="Calibri"/>
              </a:defRPr>
            </a:pPr>
            <a:r>
              <a:t>Remembers earlier features when processing later 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LSTM Cell Concept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2468880"/>
            <a:ext cx="1645920" cy="548640"/>
          </a:xfrm>
          <a:prstGeom prst="roundRect">
            <a:avLst/>
          </a:prstGeom>
          <a:solidFill>
            <a:srgbClr val="E84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Forget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What to discard from memory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3154680"/>
            <a:ext cx="164592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Input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What new information to store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3840480"/>
            <a:ext cx="1645920" cy="5486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Output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What to output from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00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7C00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51206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Captures long-range dependencies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Learns cross-modality relationships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Selective memory — keeps what matters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57784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it learns: "How features across ALL modalities relate to each other sequentially"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Transformer (Self-Attention)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Uses SELF-ATTENTION to learn which features matter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Self-Attention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256032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Feature 0 (OCR: "git")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651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F42C1"/>
                </a:solidFill>
                <a:latin typeface="Calibri"/>
              </a:defRPr>
            </a:pPr>
            <a:r>
              <a:t>← attends to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560320"/>
            <a:ext cx="274320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Feature 120 (Interaction: typing)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46120"/>
            <a:ext cx="256032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Feature 50 (UI: terminal)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3375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7ACC"/>
                </a:solidFill>
                <a:latin typeface="Calibri"/>
              </a:defRPr>
            </a:pPr>
            <a:r>
              <a:t>← attends to 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246120"/>
            <a:ext cx="274320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Feature 80 (Visual: dark)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6858000" cy="502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6908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Can connect ANY two features regardless of position — no sequential processing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6666"/>
                </a:solidFill>
                <a:latin typeface="Calibri"/>
              </a:defRPr>
            </a:pPr>
            <a:r>
              <a:t>Same architecture behind ChatGPT, adapted for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F42C1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4688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Learns global relationships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Fully parallelizable (fast GPU)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Attention weights are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   interpretable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D2D2D"/>
                </a:solidFill>
                <a:latin typeface="Calibri"/>
              </a:defRPr>
            </a:pPr>
            <a:r>
              <a:t>•  Scales well with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How Attention Works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480560"/>
            <a:ext cx="3657600" cy="1371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457200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For each feature, compute: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6F42C1"/>
                </a:solidFill>
                <a:latin typeface="Calibri"/>
              </a:defRPr>
            </a:pPr>
            <a:r>
              <a:t>  Query: What am I looking for?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007ACC"/>
                </a:solidFill>
                <a:latin typeface="Calibri"/>
              </a:defRPr>
            </a:pPr>
            <a:r>
              <a:t>  Key: What do I contain?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8A745"/>
                </a:solidFill>
                <a:latin typeface="Calibri"/>
              </a:defRPr>
            </a:pPr>
            <a:r>
              <a:t>  Value: What info do I carry?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Match queries to keys → 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035040"/>
            <a:ext cx="1069848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126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it learns: "Which feature PAIRS are most informative for each class"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Tier 2: Model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463040"/>
          <a:ext cx="10332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011680"/>
                <a:gridCol w="201168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6F42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6F42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Score</a:t>
                      </a:r>
                    </a:p>
                  </a:txBody>
                  <a:tcPr>
                    <a:solidFill>
                      <a:srgbClr val="6F42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6F42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 Time</a:t>
                      </a:r>
                    </a:p>
                  </a:txBody>
                  <a:tcPr>
                    <a:solidFill>
                      <a:srgbClr val="6F42C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7ACC"/>
                          </a:solidFill>
                          <a:latin typeface="Calibri"/>
                        </a:defRPr>
                      </a:pPr>
                      <a:r>
                        <a:t>MLP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72.4%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28A745"/>
                          </a:solidFill>
                          <a:latin typeface="Calibri"/>
                        </a:defRPr>
                      </a:pPr>
                      <a:r>
                        <a:t>CNN-1D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7C00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69.5%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0.68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6F42C1"/>
                          </a:solidFill>
                          <a:latin typeface="Calibri"/>
                        </a:defRPr>
                      </a:pPr>
                      <a: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297680"/>
            <a:ext cx="1033272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F42C1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8463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Deep learning models haven't outperformed classical ML here because the 150-dim features are already well-engineered. Deep learning shines with raw/complex input (images, raw text, audio). With pre-extracted features, simpler models can be equally effective.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* Results based on CUA-Suite dataset with 9 screen activity classes  |  All models trained on identical 150-dim feature vectors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