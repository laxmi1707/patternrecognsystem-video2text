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Why 3 Tiers? + Tier 2: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From classical baselines to neural networks to combined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Muneeswaran Muthaiah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Video2Knowledge  |  Pattern Recognition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National University of Singapore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Do We Need 3 Tiers?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320040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Tier 1: Classical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737360"/>
            <a:ext cx="3200400" cy="23774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007ACC"/>
                </a:solidFill>
                <a:latin typeface="Calibri"/>
              </a:defRPr>
            </a:pPr>
            <a:r>
              <a:t>Fast baselines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Establish performance floor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F7C0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Simple, interpretable,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quick to 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188720"/>
            <a:ext cx="3200400" cy="548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Tier 2: Deep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37360"/>
            <a:ext cx="3200400" cy="23774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8745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6F42C1"/>
                </a:solidFill>
                <a:latin typeface="Calibri"/>
              </a:defRPr>
            </a:pPr>
            <a:r>
              <a:t>Learn complex patterns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6F42C1"/>
                </a:solidFill>
                <a:latin typeface="Calibri"/>
              </a:defRPr>
            </a:pPr>
            <a:r>
              <a:t>automatically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F7C0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Can capture non-linear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relationships between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188720"/>
            <a:ext cx="320040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Tier 3: Ensemble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737360"/>
            <a:ext cx="3200400" cy="23774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7452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8A745"/>
                </a:solidFill>
                <a:latin typeface="Calibri"/>
              </a:defRPr>
            </a:pPr>
            <a:r>
              <a:t>Combine the best of both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F7C0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Different models make different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mistakes — combining them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reduces overall error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651760"/>
            <a:ext cx="365760" cy="0"/>
          </a:xfrm>
          <a:prstGeom prst="line">
            <a:avLst/>
          </a:prstGeom>
          <a:ln w="381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80" y="2651760"/>
            <a:ext cx="365760" cy="0"/>
          </a:xfrm>
          <a:prstGeom prst="line">
            <a:avLst/>
          </a:prstGeom>
          <a:ln w="381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71600" y="4480560"/>
            <a:ext cx="960120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61772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single model is best for everything. 3 tiers lets us compare approaches and pick the best for each use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Tiers Interconnect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88720"/>
            <a:ext cx="2743200" cy="5486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150-dim Feature 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377440"/>
            <a:ext cx="32004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1: Classical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834640"/>
            <a:ext cx="320040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880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SVM, Random Forest,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Logistic Regression, KNN, MLP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2004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2: Deep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834640"/>
            <a:ext cx="320040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880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MLP, CNN-1D,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LSTM, Transformer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788920.0" y="1737360"/>
            <a:ext cx="1965960.0" cy="640080"/>
          </a:xfrm>
          <a:prstGeom prst="line">
            <a:avLst/>
          </a:prstGeom>
          <a:ln w="31750">
            <a:solidFill>
              <a:srgbClr val="EF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80" y="1737360"/>
            <a:ext cx="2148840.0" cy="640080"/>
          </a:xfrm>
          <a:prstGeom prst="line">
            <a:avLst/>
          </a:prstGeom>
          <a:ln w="31750">
            <a:solidFill>
              <a:srgbClr val="EF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predictions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297680"/>
            <a:ext cx="41148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3: Ensemble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754880"/>
            <a:ext cx="4114800" cy="640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4800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7C00"/>
                </a:solidFill>
                <a:latin typeface="Calibri"/>
              </a:defRPr>
            </a:pPr>
            <a:r>
              <a:t>Combines Tier 1 + Tier 2 outputs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88920.0" y="3749040"/>
            <a:ext cx="1234440.0" cy="822960"/>
          </a:xfrm>
          <a:prstGeom prst="line">
            <a:avLst/>
          </a:prstGeom>
          <a:ln w="3175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138160" y="3749040"/>
            <a:ext cx="1508760.0" cy="822960"/>
          </a:xfrm>
          <a:prstGeom prst="line">
            <a:avLst/>
          </a:prstGeom>
          <a:ln w="31750">
            <a:solidFill>
              <a:srgbClr val="6F4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760" y="5440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  <a:latin typeface="Calibri"/>
              </a:defRPr>
            </a:pPr>
            <a:r>
              <a:t>Final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Calibri"/>
              </a:defRPr>
            </a:pPr>
            <a:r>
              <a:t>Tier 3 uses Tier 1 and Tier 2 as building blocks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Specific Ensemble Methods: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6177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Voting: SVM + RF + MLP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Stacking: SVM + RF + MLP → LogReg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Late Fusion: SVM (text) + RF (visual)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2: Deep Learning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4 Neural Network architectures, each designed for different pattern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920240"/>
            <a:ext cx="246888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423160"/>
            <a:ext cx="2468880" cy="2697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560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CC"/>
                </a:solidFill>
                <a:latin typeface="Calibri"/>
              </a:defRPr>
            </a:pPr>
            <a:r>
              <a:t>Multi-Layer</a:t>
            </a:r>
            <a:br/>
            <a:r>
              <a:t>Perceptron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Fully connected layers</a:t>
            </a:r>
            <a:br/>
            <a:r>
              <a:t>learn feature combinations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Best for: General</a:t>
            </a:r>
            <a:br/>
            <a:r>
              <a:t>pattern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920240"/>
            <a:ext cx="246888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CNN-1D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40" y="2423160"/>
            <a:ext cx="2468880" cy="2697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560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A745"/>
                </a:solidFill>
                <a:latin typeface="Calibri"/>
              </a:defRPr>
            </a:pPr>
            <a:r>
              <a:t>1D Convolutional</a:t>
            </a:r>
            <a:br/>
            <a:r>
              <a:t>Neural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Sliding filters detect</a:t>
            </a:r>
            <a:br/>
            <a:r>
              <a:t>local feature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Best for: Adjacent</a:t>
            </a:r>
            <a:br/>
            <a:r>
              <a:t>feature correlations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920240"/>
            <a:ext cx="2468880" cy="5029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LSTM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423160"/>
            <a:ext cx="2468880" cy="2697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560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7C00"/>
                </a:solidFill>
                <a:latin typeface="Calibri"/>
              </a:defRPr>
            </a:pPr>
            <a:r>
              <a:t>Long Short-Term</a:t>
            </a:r>
            <a:br/>
            <a: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Sequential processing</a:t>
            </a:r>
            <a:br/>
            <a:r>
              <a:t>with memory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Best for: Cross-modality</a:t>
            </a:r>
            <a:br/>
            <a:r>
              <a:t>long-range dependencies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920240"/>
            <a:ext cx="246888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Transformer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423160"/>
            <a:ext cx="2468880" cy="2697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5603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F42C1"/>
                </a:solidFill>
                <a:latin typeface="Calibri"/>
              </a:defRPr>
            </a:pPr>
            <a:r>
              <a:t>Self-Attention</a:t>
            </a:r>
            <a:br/>
            <a:r>
              <a:t>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004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7C00"/>
                </a:solidFill>
                <a:latin typeface="Calibri"/>
              </a:defRPr>
            </a:pPr>
            <a:r>
              <a:t>Attention mechanism</a:t>
            </a:r>
            <a:br/>
            <a:r>
              <a:t>connects any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0233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Best for: Global feature</a:t>
            </a:r>
            <a:br/>
            <a:r>
              <a:t>relationships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394960"/>
            <a:ext cx="960120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54864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All use PyTorch  |  Trained with gradient descent  |  GPU acceleration (CUDA)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MLP (Multi-Layer Perceptron)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 simplest neural network — fully connected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645920"/>
            <a:ext cx="4114800" cy="5029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Input: 150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286000"/>
            <a:ext cx="411480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Layer 1: 150 → 256 neurons + ReLU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926080"/>
            <a:ext cx="411480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Layer 2: 256 → 128 neurons + ReLU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566160"/>
            <a:ext cx="411480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Layer 3: 128 → 9 neurons + Softmax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206240"/>
            <a:ext cx="411480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Output: probability per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802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203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604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005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530352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Calibri"/>
              </a:defRPr>
            </a:pPr>
            <a:r>
              <a:t>ReLU (Rectified Linear Unit)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If negative → 0. Adds non-linearity so the network can learn complex patterns.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43200"/>
            <a:ext cx="5303520" cy="914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788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42C1"/>
                </a:solidFill>
                <a:latin typeface="Calibri"/>
              </a:defRPr>
            </a:pPr>
            <a:r>
              <a:t>Softmax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0632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Converts raw scores to probabilities summing to 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51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Simple architecture, easy to understand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Fast inference (4ms per prediction)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Good baseline for comparison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212080"/>
            <a:ext cx="1033272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303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it learns: "Combinations of features — e.g., high OCR confidence + high interaction rate = coding activity"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CNN-1D (1D Convolutional Neural Network)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Slides a window across features to find LOCAL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How 1D Convolution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737360"/>
            <a:ext cx="548640" cy="4114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OCR_0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74520" y="1737360"/>
            <a:ext cx="548640" cy="4114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OCR_1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8880" y="1737360"/>
            <a:ext cx="548640" cy="4114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OCR_2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63240" y="1737360"/>
            <a:ext cx="548640" cy="41148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1737360"/>
            <a:ext cx="548640" cy="411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UI_29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51960" y="1737360"/>
            <a:ext cx="548640" cy="411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Vis_0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46320" y="1737360"/>
            <a:ext cx="548640" cy="411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Vis_1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40680" y="1737360"/>
            <a:ext cx="548640" cy="41148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17373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80160" y="2194560"/>
            <a:ext cx="17373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Filter (size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8A745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[OCR_0, OCR_1, OCR_2] → "pattern in OCR region"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3337560"/>
            <a:ext cx="548640" cy="41148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...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33375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74520" y="3337560"/>
            <a:ext cx="548640" cy="4114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UI_29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20" y="33375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68880" y="3337560"/>
            <a:ext cx="548640" cy="4114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Vis_0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33375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063240" y="3337560"/>
            <a:ext cx="548640" cy="411480"/>
          </a:xfrm>
          <a:prstGeom prst="round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Vis_1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3240" y="33375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57600" y="3337560"/>
            <a:ext cx="548640" cy="411480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EF7C00"/>
                </a:solidFill>
              </a:defRPr>
            </a:pPr>
            <a:r>
              <a:t>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3337560"/>
            <a:ext cx="548640" cy="411480"/>
          </a:xfrm>
          <a:prstGeom prst="round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74520" y="3794760"/>
            <a:ext cx="173736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Filter (size 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[UI_29, Vis_0, Vis_1] → "pattern at modality boundary"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1645920"/>
            <a:ext cx="502920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17373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Finds patterns WITHIN and BETWEEN adjacent features.</a:t>
            </a:r>
            <a:br/>
            <a:r>
              <a:t>The filter slides one position at a time, detecting</a:t>
            </a:r>
            <a:br/>
            <a:r>
              <a:t>every local pattern in the 150-dim vector.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A745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3375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Detects local feature patterns efficiently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Fewer parameters than MLP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Translation invariant — same pattern detected anywhere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5212080"/>
            <a:ext cx="1033272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0" y="5303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it learns: "Adjacent features that co-occur — e.g., high OCR word count + terminal UI = command-line activity"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LSTM (Long Short-Term Memory)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Processes features as a SEQUENCE, maintaining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Sequential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645920"/>
            <a:ext cx="914400" cy="45720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1: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See OCR[0]=0.82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7C00"/>
                </a:solidFill>
                <a:latin typeface="Calibri"/>
              </a:defRPr>
            </a:pPr>
            <a:r>
              <a:t>Memory: "probably text editing"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57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2240280"/>
            <a:ext cx="9144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50: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See UI[0]=terminal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Memory: "text editing in terminal"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51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2834640"/>
            <a:ext cx="914400" cy="4572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80: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880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See Visual=dark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42C1"/>
                </a:solidFill>
                <a:latin typeface="Calibri"/>
              </a:defRPr>
            </a:pPr>
            <a:r>
              <a:t>Memory: "text in dark terminal"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246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3429000"/>
            <a:ext cx="914400" cy="4572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Step 150: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See Interaction=typing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Calibri"/>
              </a:defRPr>
            </a:pPr>
            <a:r>
              <a:t>Final: "git_operations"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Remembers earlier features when processing later 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LSTM Cell Concept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1645920"/>
            <a:ext cx="1645920" cy="54864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Forget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What to discard from memory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2331720"/>
            <a:ext cx="164592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What new information to store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3017520"/>
            <a:ext cx="164592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What to output from 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297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Captures long-range dependencies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Learns cross-modality relationships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7C00"/>
                </a:solidFill>
                <a:latin typeface="Calibri"/>
              </a:defRPr>
            </a:pPr>
            <a:r>
              <a:t>•  Selective memory — keeps what matters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5212080"/>
            <a:ext cx="10332720" cy="7315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5303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it learns: "How features across ALL modalities relate to each other sequentially"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Transformer (Self-Attention)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Uses SELF-ATTENTION to learn which features matter most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Self-Attention Mechanism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737360"/>
            <a:ext cx="256032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Feature 0 (OCR: "git")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F42C1"/>
                </a:solidFill>
                <a:latin typeface="Calibri"/>
              </a:defRPr>
            </a:pPr>
            <a:r>
              <a:t>← attends to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737360"/>
            <a:ext cx="274320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Feature 120 (Interaction: typing)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423160"/>
            <a:ext cx="256032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Feature 50 (UI: terminal)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14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CC"/>
                </a:solidFill>
                <a:latin typeface="Calibri"/>
              </a:defRPr>
            </a:pPr>
            <a:r>
              <a:t>← attends to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423160"/>
            <a:ext cx="274320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Feature 80 (Visual: dark)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200400"/>
            <a:ext cx="6858000" cy="5029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2461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Can connect ANY two features regardless of position — no sequential processing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0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CCCC"/>
                </a:solidFill>
                <a:latin typeface="Calibri"/>
              </a:defRPr>
            </a:pPr>
            <a:r>
              <a:t>Same architecture behind ChatGPT, adapted for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F42C1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6459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Learns global relationships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Fully parallelizable (fast GPU)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Attention weights are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   interpretable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F7C00"/>
                </a:solidFill>
                <a:latin typeface="Calibri"/>
              </a:defRPr>
            </a:pPr>
            <a:r>
              <a:t>•  Scales well with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Attention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657600"/>
            <a:ext cx="3657600" cy="13716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7490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For each feature, compute: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F42C1"/>
                </a:solidFill>
                <a:latin typeface="Calibri"/>
              </a:defRPr>
            </a:pPr>
            <a:r>
              <a:t>  Query: What am I looking for?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007ACC"/>
                </a:solidFill>
                <a:latin typeface="Calibri"/>
              </a:defRPr>
            </a:pPr>
            <a:r>
              <a:t>  Key: What do I contain?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8A745"/>
                </a:solidFill>
                <a:latin typeface="Calibri"/>
              </a:defRPr>
            </a:pPr>
            <a:r>
              <a:t>  Value: What info do I carry?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EF7C00"/>
                </a:solidFill>
                <a:latin typeface="Calibri"/>
              </a:defRPr>
            </a:pPr>
            <a:r>
              <a:t>Match queries to keys → attention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394960"/>
            <a:ext cx="10332720" cy="64008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it learns: "Which feature PAIRS are most informative for each class"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2: Model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118872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2011680"/>
                <a:gridCol w="2011680"/>
                <a:gridCol w="192024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6F42C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7ACC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4ms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~2 min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CNN-1D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70.8%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5ms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~3 min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0.68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8ms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~5 min</a:t>
                      </a:r>
                    </a:p>
                  </a:txBody>
                  <a:tcPr>
                    <a:solidFill>
                      <a:srgbClr val="002A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6F42C1"/>
                          </a:solidFill>
                          <a:latin typeface="Calibri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71.2%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6ms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~4 min</a:t>
                      </a:r>
                    </a:p>
                  </a:txBody>
                  <a:tcPr>
                    <a:solidFill>
                      <a:srgbClr val="003D7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188720" y="4023360"/>
            <a:ext cx="1005840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1605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F42C1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7200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7C00"/>
                </a:solidFill>
                <a:latin typeface="Calibri"/>
              </a:defRPr>
            </a:pPr>
            <a:r>
              <a:t>Deep learning models haven't outperformed classical ML here because the 150-dim features are already well-engineered. Deep learning shines with raw/complex input (images, raw text, audio). With pre-extracted features, simpler models can be equally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* Results based on CUA-Suite dataset with 9 screen activity classes  |  All models trained on identical 150-dim feature vectors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