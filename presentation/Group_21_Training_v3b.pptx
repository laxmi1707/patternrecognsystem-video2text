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0"/>
  </p:normalViewPr>
  <p:slideViewPr>
    <p:cSldViewPr snapToGrid="0" snapToObjects="1">
      <p:cViewPr varScale="1">
        <p:scale>
          <a:sx n="118" d="100"/>
          <a:sy n="118" d="100"/>
        </p:scale>
        <p:origin x="55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TRACE — Model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How 13 classifiers learned to recognise desktop activities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Group 21 | NUS M.Tech 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ISY5002 Pattern Recognition Systems · Semester 2,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846320"/>
            <a:ext cx="173736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Data Prep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4846320"/>
            <a:ext cx="1737360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Feature Extract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4846320"/>
            <a:ext cx="1737360" cy="36576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Train 13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846320"/>
            <a:ext cx="1737360" cy="36576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Evaluate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Training Overview — 4 Phases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End-to-end pipeline: raw VideoCUA dataset → trained .pkl classifiers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554480"/>
            <a:ext cx="201168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1920240"/>
            <a:ext cx="2011680" cy="301752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007ACC"/>
                </a:solidFill>
                <a:latin typeface="Calibri"/>
              </a:defRPr>
            </a:pPr>
            <a:r>
              <a:t>Data Preparation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37744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277 tasks · 8 apps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80% train / 20% test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Stratified by app label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A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554480"/>
            <a:ext cx="201168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1920240"/>
            <a:ext cx="2011680" cy="301752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900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28A745"/>
                </a:solidFill>
                <a:latin typeface="Calibri"/>
              </a:defRPr>
            </a:pPr>
            <a:r>
              <a:t>Feature Extraction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37744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Video frames + action logs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→ 1,391-dim feature vector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per 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8A74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1554480"/>
            <a:ext cx="2011680" cy="32004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1920240"/>
            <a:ext cx="2011680" cy="301752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7784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EF7C00"/>
                </a:solidFill>
                <a:latin typeface="Calibri"/>
              </a:defRPr>
            </a:pPr>
            <a:r>
              <a:t>Model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237744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13 classifiers trained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on feature matrix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(Tier 1 → 2 → 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7C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1554480"/>
            <a:ext cx="2011680" cy="3200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1920240"/>
            <a:ext cx="2011680" cy="3017520"/>
          </a:xfrm>
          <a:prstGeom prst="roundRect">
            <a:avLst/>
          </a:prstGeom>
          <a:solidFill>
            <a:srgbClr val="F0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2668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6F42C1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80" y="237744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Test set → F1 Macro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→ Confusion matrix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→ Best = Voting 0.884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88720" y="5029200"/>
            <a:ext cx="8412480" cy="73152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325880" y="512064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8A745"/>
                </a:solidFill>
                <a:latin typeface="Courier New"/>
              </a:defRPr>
            </a:pPr>
            <a:r>
              <a:t>$ python -m app.train --dataset-root ./dataset --model-dir ./models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8A745"/>
                </a:solidFill>
                <a:latin typeface="Courier New"/>
              </a:defRPr>
            </a:pPr>
            <a:r>
              <a:t># Trains all 13 models, evaluates on held-out test set, logs to MLflow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Step 1 — Dataset &amp; Activity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VideoCUA subset: 277 expert desktop task recordings across 8 apps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1554480"/>
            <a:ext cx="1828800" cy="274320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1554480"/>
            <a:ext cx="822960" cy="274320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Tasks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1554480"/>
            <a:ext cx="2011680" cy="274320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Activity Label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1847088"/>
            <a:ext cx="1828800" cy="2743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2A55"/>
                </a:solidFill>
              </a:defRPr>
            </a:pPr>
            <a:r>
              <a:t>VSCode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1847088"/>
            <a:ext cx="822960" cy="2743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2A55"/>
                </a:solidFill>
              </a:defRPr>
            </a:pPr>
            <a:r>
              <a:t>106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1847088"/>
            <a:ext cx="2011680" cy="2743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2A55"/>
                </a:solidFill>
              </a:defRPr>
            </a:pPr>
            <a:r>
              <a:t>coding_editing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2139696"/>
            <a:ext cx="1828800" cy="2743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2A55"/>
                </a:solidFill>
              </a:defRPr>
            </a:pPr>
            <a:r>
              <a:t>OpenShot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2139696"/>
            <a:ext cx="822960" cy="2743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2A55"/>
                </a:solidFill>
              </a:defRPr>
            </a:pPr>
            <a:r>
              <a:t>75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2139696"/>
            <a:ext cx="2011680" cy="2743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2A55"/>
                </a:solidFill>
              </a:defRPr>
            </a:pPr>
            <a:r>
              <a:t>media_editing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2432304"/>
            <a:ext cx="1828800" cy="2743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2A55"/>
                </a:solidFill>
              </a:defRPr>
            </a:pPr>
            <a:r>
              <a:t>IntelliJ IDEA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08960" y="2432304"/>
            <a:ext cx="822960" cy="2743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2A55"/>
                </a:solidFill>
              </a:defRPr>
            </a:pPr>
            <a:r>
              <a:t>46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2432304"/>
            <a:ext cx="2011680" cy="2743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2A55"/>
                </a:solidFill>
              </a:defRPr>
            </a:pPr>
            <a:r>
              <a:t>coding_editing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80160" y="2724912"/>
            <a:ext cx="1828800" cy="2743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2A55"/>
                </a:solidFill>
              </a:defRPr>
            </a:pPr>
            <a:r>
              <a:t>draw.io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08960" y="2724912"/>
            <a:ext cx="822960" cy="2743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2A55"/>
                </a:solidFill>
              </a:defRPr>
            </a:pPr>
            <a:r>
              <a:t>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0" y="2724912"/>
            <a:ext cx="2011680" cy="2743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2A55"/>
                </a:solidFill>
              </a:defRPr>
            </a:pPr>
            <a:r>
              <a:t>diagram_design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80160" y="3017520"/>
            <a:ext cx="1828800" cy="2743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2A55"/>
                </a:solidFill>
              </a:defRPr>
            </a:pPr>
            <a:r>
              <a:t>Bash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08960" y="3017520"/>
            <a:ext cx="822960" cy="2743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2A55"/>
                </a:solidFill>
              </a:defRPr>
            </a:pPr>
            <a:r>
              <a:t>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31920" y="3017520"/>
            <a:ext cx="2011680" cy="2743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2A55"/>
                </a:solidFill>
              </a:defRPr>
            </a:pPr>
            <a:r>
              <a:t>terminal_ops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80160" y="3310128"/>
            <a:ext cx="1828800" cy="2743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2A55"/>
                </a:solidFill>
              </a:defRPr>
            </a:pPr>
            <a:r>
              <a:t>Chromium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0" y="3310128"/>
            <a:ext cx="822960" cy="2743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2A55"/>
                </a:solidFill>
              </a:defRPr>
            </a:pPr>
            <a:r>
              <a:t>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31920" y="3310128"/>
            <a:ext cx="2011680" cy="2743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2A55"/>
                </a:solidFill>
              </a:defRPr>
            </a:pPr>
            <a:r>
              <a:t>web_browsing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80160" y="3602736"/>
            <a:ext cx="1828800" cy="2743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2A55"/>
                </a:solidFill>
              </a:defRPr>
            </a:pPr>
            <a:r>
              <a:t>Eclipse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0" y="3602736"/>
            <a:ext cx="822960" cy="2743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2A55"/>
                </a:solidFill>
              </a:defRPr>
            </a:pPr>
            <a:r>
              <a:t>10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31920" y="3602736"/>
            <a:ext cx="2011680" cy="2743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2A55"/>
                </a:solidFill>
              </a:defRPr>
            </a:pPr>
            <a:r>
              <a:t>coding_editing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80160" y="3895344"/>
            <a:ext cx="1828800" cy="2743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2A55"/>
                </a:solidFill>
              </a:defRPr>
            </a:pPr>
            <a:r>
              <a:t>Mozilla Firefox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08960" y="3895344"/>
            <a:ext cx="822960" cy="2743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2A55"/>
                </a:solidFill>
              </a:defRPr>
            </a:pPr>
            <a:r>
              <a:t>10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31920" y="3895344"/>
            <a:ext cx="2011680" cy="2743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2A55"/>
                </a:solidFill>
              </a:defRPr>
            </a:pPr>
            <a:r>
              <a:t>web_browsing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99962" y="1554480"/>
            <a:ext cx="3566160" cy="42062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82842" y="1691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D7C"/>
                </a:solidFill>
                <a:latin typeface="Calibri"/>
              </a:defRPr>
            </a:pPr>
            <a:r>
              <a:t>Total tasks: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54442" y="1691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277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82842" y="2103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D7C"/>
                </a:solidFill>
                <a:latin typeface="Calibri"/>
              </a:defRPr>
            </a:pPr>
            <a:r>
              <a:t>Apps: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54442" y="21031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82842" y="2514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D7C"/>
                </a:solidFill>
                <a:latin typeface="Calibri"/>
              </a:defRPr>
            </a:pPr>
            <a:r>
              <a:t>Duration range: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54442" y="2514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3.7 s – 117 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82842" y="2926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D7C"/>
                </a:solidFill>
                <a:latin typeface="Calibri"/>
              </a:defRPr>
            </a:pPr>
            <a:r>
              <a:t>Mean duration: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54442" y="2926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~18 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82842" y="3337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D7C"/>
                </a:solidFill>
                <a:latin typeface="Calibri"/>
              </a:defRPr>
            </a:pPr>
            <a:r>
              <a:t>Total size: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54442" y="33375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~2.3 GB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82842" y="3749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D7C"/>
                </a:solidFill>
                <a:latin typeface="Calibri"/>
              </a:defRPr>
            </a:pPr>
            <a:r>
              <a:t>FPS: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54442" y="37490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30 fps (some 60 fps Retina)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82842" y="4160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D7C"/>
                </a:solidFill>
                <a:latin typeface="Calibri"/>
              </a:defRPr>
            </a:pPr>
            <a:r>
              <a:t>Resolutions: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54442" y="41605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1920×1080 (primary)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82842" y="4572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D7C"/>
                </a:solidFill>
                <a:latin typeface="Calibri"/>
              </a:defRPr>
            </a:pPr>
            <a:r>
              <a:t>Split: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54442" y="45720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80 % train / 20 % test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82842" y="4983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D7C"/>
                </a:solidFill>
                <a:latin typeface="Calibri"/>
              </a:defRPr>
            </a:pPr>
            <a:r>
              <a:t>Stratified by: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54442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app → activity label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50292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2233"/>
                </a:solidFill>
                <a:latin typeface="Calibri"/>
              </a:defRPr>
            </a:pPr>
            <a:r>
              <a:t>⚠  Class Imbalance: VSCode (106) + OpenShot (75) = 65% of data → use Macro-F1, not Accuracy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Step 1b — Train/Test Split &amp; Leakage Prevention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Splitting at the task/video level — the non-negotiable leakage rule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49680" y="1394460"/>
            <a:ext cx="5029200" cy="182880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32560" y="14401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Stratified Train / Test Split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sklearn.model_selection.train_test_split(stratify=y, test_size=0.2, random_state=42)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endParaRPr/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277 tasks  →  222 train (80%)  +  55 test (20%)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Same label proportions preserved in both splits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Ensures test set is representative — minority classes included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49680" y="3360420"/>
            <a:ext cx="5181600" cy="2103120"/>
          </a:xfrm>
          <a:prstGeom prst="roundRect">
            <a:avLst/>
          </a:prstGeom>
          <a:solidFill>
            <a:srgbClr val="F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32560" y="3406140"/>
            <a:ext cx="481584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⚠  Leakage Rule (non-negotiable)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endParaRPr/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Split at the TASK level, never at frame/segment level.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All frames from task #12345 go entirely into train OR test.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If frames from one recording appear in both splits,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the model memorises the recording — not the activity.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61760" y="1394460"/>
            <a:ext cx="3291840" cy="1828800"/>
          </a:xfrm>
          <a:prstGeom prst="roundRect">
            <a:avLst/>
          </a:prstGeom>
          <a:solidFill>
            <a:srgbClr val="F0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44640" y="14401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Class Distribution (v3b training set)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endParaRPr/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coding_editing    ~65%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media_editing     ~27%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web_browsing       ~7%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terminal_ops       ~1%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(others &lt; 1% each)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61760" y="3360420"/>
            <a:ext cx="3413760" cy="210312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44640" y="34061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rPr dirty="0"/>
              <a:t>Data Augmentation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rPr dirty="0"/>
              <a:t>Classes with &lt; 100 training samples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rPr dirty="0"/>
              <a:t>receive 5× synthetic augmentation: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rPr dirty="0"/>
              <a:t>  • Gaussian noise on feature values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rPr dirty="0"/>
              <a:t>  • Random feature dropout (10%)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rPr dirty="0"/>
              <a:t>Prevents minority classes from being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rPr dirty="0"/>
              <a:t>ignored during training.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Step 2 — Multimodal Feature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1,391-dimensional feature vector fused from 4 independent extractors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3778" y="1463040"/>
            <a:ext cx="210312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Visual (EfficientNet-B0)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3778" y="1783080"/>
            <a:ext cx="2103120" cy="265176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5218" y="1874519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CNN pretrained on ImageNet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5218" y="22585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Frames → global avg pool → 512-dim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5218" y="2642615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Captures UI layout, colour palette,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5218" y="3026663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window structure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39538" y="4160520"/>
            <a:ext cx="137160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512 dims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4058" y="1463040"/>
            <a:ext cx="210312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OCR Text (EasyOCR)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4058" y="1783080"/>
            <a:ext cx="2103120" cy="265176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05498" y="1874519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Text regions detected &amp; extracted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5498" y="22585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TF-IDF on app-keyword vocabulary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5498" y="2642615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Identifies IDE names, CLI commands,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5498" y="3026663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browser URLs, error messages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9818" y="4160520"/>
            <a:ext cx="1371600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512 dims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4338" y="1463040"/>
            <a:ext cx="2103120" cy="32004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UI Objects (YOLO)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4338" y="1783080"/>
            <a:ext cx="2103120" cy="265176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5778" y="1874519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YOLOv8 detects UI widgets: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5778" y="22585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buttons, menus, text fields,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5778" y="2642615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terminal windows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5778" y="3026663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Count + position features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20098" y="4160520"/>
            <a:ext cx="1371600" cy="27432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256 dims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4618" y="1463040"/>
            <a:ext cx="2103120" cy="3200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Interaction Stats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4618" y="1783080"/>
            <a:ext cx="2103120" cy="2651760"/>
          </a:xfrm>
          <a:prstGeom prst="roundRect">
            <a:avLst/>
          </a:prstGeom>
          <a:solidFill>
            <a:srgbClr val="F0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86058" y="1874519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From action_log.json: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6058" y="22585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click rate, typing rate,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6058" y="2642615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mouse travel distance,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6058" y="3026663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scroll frequency, hotkey ratio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60378" y="4160520"/>
            <a:ext cx="1371600" cy="27432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111 dims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3778" y="457200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3D7C"/>
                </a:solidFill>
                <a:latin typeface="Calibri"/>
              </a:defRPr>
            </a:pPr>
            <a:r>
              <a:t>512 + 512 + 256 + 111  =  1,391 dimensions  →  one row per task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73778" y="4892040"/>
            <a:ext cx="8595360" cy="77724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510938" y="498348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8A745"/>
                </a:solidFill>
                <a:latin typeface="Courier New"/>
              </a:defRPr>
            </a:pPr>
            <a:r>
              <a:t>X_train.shape = (222, 1391)   # 222 training tasks × 1,391 features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8A745"/>
                </a:solidFill>
                <a:latin typeface="Courier New"/>
              </a:defRPr>
            </a:pPr>
            <a:r>
              <a:t>y_train.shape = (222,)         # integer class index 0–7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8A745"/>
                </a:solidFill>
                <a:latin typeface="Courier New"/>
              </a:defRPr>
            </a:pPr>
            <a:r>
              <a:t>X[0] = [0.42, 0.18, ..., 0.03] # one row = one complete task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Step 3 — Three-Tier Classifier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13 models trained in parallel; Tier 3 ensembles combine Tier 1 + 2 outputs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7578" y="1417320"/>
            <a:ext cx="283464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Tier 1 — Classical 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97578" y="1737360"/>
            <a:ext cx="2834640" cy="3054096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34738" y="1828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• SVM (RBF kernel)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4738" y="21762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• Random Forest (100 trees)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4738" y="25237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• Decision 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4738" y="28712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• k-NN (k=5)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4738" y="32186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• Naive Bayes (Gaussian)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4738" y="3566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• XGBoost (100 rounds)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4738" y="39136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• LightGBM (100 rounds)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4738" y="42611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• Logistic Regression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5097" y="1417320"/>
            <a:ext cx="2834640" cy="32004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Tier 2 — Deep Learning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097" y="1737360"/>
            <a:ext cx="2834640" cy="1664208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52257" y="1828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• MLP  (150→256→128→8)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2257" y="21762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• CNN-1D (temporal conv)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2257" y="25237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• LSTM (2 layers)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2257" y="28712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• Transformer (2 heads)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32617" y="1417320"/>
            <a:ext cx="283464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Tier 3 — Ensemble Fusion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32617" y="1737360"/>
            <a:ext cx="2834640" cy="1316736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69777" y="1828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• Voting (hard + soft)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9777" y="21762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• Stacking (meta-learner)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9777" y="25237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• Late Fusion (score avg)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86498" y="2834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A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4018" y="2834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A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97578" y="5029200"/>
            <a:ext cx="8595360" cy="59436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480458" y="5074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3D7C"/>
                </a:solidFill>
                <a:latin typeface="Calibri"/>
              </a:defRPr>
            </a:pPr>
            <a:r>
              <a:t>Best Model: Voting Ensemble (Tier 3)  →  F1 Macro 0.884  |  Accuracy 0.891  |  Latency 84 ms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003D7C"/>
                </a:solidFill>
                <a:latin typeface="Calibri"/>
              </a:defRPr>
            </a:pPr>
            <a:r>
              <a:t>Base models: SVM + Random Forest + XGBoost + MLP (soft probability averaging)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Tier 1 — SVM: Maximum Margin Classifier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Finds the hyperplane that maximises the gap between classes in 1,391-dim 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71304" y="1417320"/>
            <a:ext cx="5064472" cy="37490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54184" y="150876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D7C"/>
                </a:solidFill>
                <a:latin typeface="Calibri"/>
              </a:defRPr>
            </a:pPr>
            <a:r>
              <a:t>RBF Kernel:  K(x, x') = exp(−γ ‖x − x'‖²)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4184" y="175564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54184" y="2002536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Maps 1,391-dim input to a higher-dimensional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4184" y="2249424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Reproducing Kernel Hilbert Space (RKHS) where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4184" y="249631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classes become linearly separable.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4184" y="274320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54184" y="299008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D7C"/>
                </a:solidFill>
                <a:latin typeface="Calibri"/>
              </a:defRPr>
            </a:pPr>
            <a:r>
              <a:t>Objective: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4184" y="3236976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  Maximise margin  2/‖w‖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4184" y="3483864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  Subject to: yᵢ(w·xᵢ + b) ≥ 1  ∀ 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4184" y="373075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54184" y="3977639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D7C"/>
                </a:solidFill>
                <a:latin typeface="Calibri"/>
              </a:defRPr>
            </a:pPr>
            <a:r>
              <a:t>Multi-class strategy: One-vs-One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4184" y="422452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  8 classes → 28 binary SVMs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4184" y="4471416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  Final class = winner of majority vote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4184" y="4718304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32560" y="5141664"/>
            <a:ext cx="4663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D7C"/>
                </a:solidFill>
                <a:latin typeface="Calibri"/>
              </a:defRPr>
            </a:pPr>
            <a:r>
              <a:rPr dirty="0">
                <a:solidFill>
                  <a:schemeClr val="bg2"/>
                </a:solidFill>
              </a:rPr>
              <a:t>Hyperparameters (</a:t>
            </a:r>
            <a:r>
              <a:rPr dirty="0" err="1">
                <a:solidFill>
                  <a:schemeClr val="bg2"/>
                </a:solidFill>
              </a:rPr>
              <a:t>GridSearch</a:t>
            </a:r>
            <a:r>
              <a:rPr dirty="0">
                <a:solidFill>
                  <a:schemeClr val="bg2"/>
                </a:solidFill>
              </a:rPr>
              <a:t> CV):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4184" y="5374059"/>
            <a:ext cx="4663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rPr dirty="0">
                <a:solidFill>
                  <a:schemeClr val="bg2"/>
                </a:solidFill>
              </a:rPr>
              <a:t>  C = 10    (</a:t>
            </a:r>
            <a:r>
              <a:rPr dirty="0" err="1">
                <a:solidFill>
                  <a:schemeClr val="bg2"/>
                </a:solidFill>
              </a:rPr>
              <a:t>regularisation</a:t>
            </a:r>
            <a:r>
              <a:rPr dirty="0">
                <a:solidFill>
                  <a:schemeClr val="bg2"/>
                </a:solidFill>
              </a:rPr>
              <a:t> strength)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4184" y="5620947"/>
            <a:ext cx="4663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rPr dirty="0">
                <a:solidFill>
                  <a:schemeClr val="bg2"/>
                </a:solidFill>
              </a:rPr>
              <a:t>  </a:t>
            </a:r>
            <a:r>
              <a:rPr dirty="0" err="1">
                <a:solidFill>
                  <a:schemeClr val="bg2"/>
                </a:solidFill>
              </a:rPr>
              <a:t>γ</a:t>
            </a:r>
            <a:r>
              <a:rPr dirty="0">
                <a:solidFill>
                  <a:schemeClr val="bg2"/>
                </a:solidFill>
              </a:rPr>
              <a:t> = 0.01  (RBF bandwidth)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83384" y="1417320"/>
            <a:ext cx="3291840" cy="164592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66264" y="146304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002A55"/>
                </a:solidFill>
                <a:latin typeface="Calibri"/>
              </a:defRPr>
            </a:pPr>
            <a:r>
              <a:t>v3b Results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2A55"/>
                </a:solidFill>
                <a:latin typeface="Calibri"/>
              </a:defRPr>
            </a:pPr>
            <a:endParaRPr/>
          </a:p>
          <a:p>
            <a:pPr algn="l">
              <a:spcAft>
                <a:spcPts val="600"/>
              </a:spcAft>
              <a:defRPr sz="1200" b="0">
                <a:solidFill>
                  <a:srgbClr val="002A55"/>
                </a:solidFill>
                <a:latin typeface="Calibri"/>
              </a:defRPr>
            </a:pPr>
            <a:r>
              <a:t>F1 Macro:    0.812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2A55"/>
                </a:solidFill>
                <a:latin typeface="Calibri"/>
              </a:defRPr>
            </a:pPr>
            <a:r>
              <a:t>Accuracy:    0.836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2A55"/>
                </a:solidFill>
                <a:latin typeface="Calibri"/>
              </a:defRPr>
            </a:pPr>
            <a:r>
              <a:t>Training:   52.6 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2A55"/>
                </a:solidFill>
                <a:latin typeface="Calibri"/>
              </a:defRPr>
            </a:pPr>
            <a:r>
              <a:t>Inference:  1,392 ms / batch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83384" y="3200400"/>
            <a:ext cx="3348008" cy="224028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66264" y="32461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Why SVM works here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endParaRPr/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• High-dimensional (1,391 dims) — SVM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  is effective when d &gt;&gt; n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• RBF kernel captures non-linear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  boundaries between activity types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• Support vectors = most informative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  task examples at class boundaries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Tier 1 — Random Forest &amp; XGBoost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Ensemble tree methods: bagging vs. gradient boosting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75808" y="1417320"/>
            <a:ext cx="420624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Random Forest — Bagging (Bootstrap Aggregation)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75808" y="1737360"/>
            <a:ext cx="4206240" cy="347472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2968" y="18288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100 decision trees, each trained on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2968" y="2075688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random bootstrap sample (sampling with replacement).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2968" y="2322576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12968" y="256946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At each split: only √1391 ≈ 37 random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2968" y="2816352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are considered → decorrelates the trees.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2968" y="30632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12968" y="3310128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Prediction = majority vote of 100 trees: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2968" y="3557016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  ŷ = mode { T₁(x), T₂(x), ..., T₁₀₀(x) 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2968" y="380390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12968" y="4050791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D7C"/>
                </a:solidFill>
                <a:latin typeface="Calibri"/>
              </a:defRPr>
            </a:pPr>
            <a:r>
              <a:t>Gini Impurity (split criterion):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2968" y="42976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  Gini = 1 − Σ pᵢ²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2968" y="4544568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12968" y="4791456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D7C"/>
                </a:solidFill>
                <a:latin typeface="Calibri"/>
              </a:defRPr>
            </a:pPr>
            <a:r>
              <a:t>v3b:  F1 0.841 | Accuracy 0.855 | 0.8 s train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56368" y="1417320"/>
            <a:ext cx="420624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XGBoost — Gradient Boosted Trees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56368" y="1737360"/>
            <a:ext cx="4206240" cy="347472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93528" y="18288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100 weak trees built sequentially.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3528" y="2075688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Each tree corrects the RESIDUAL ERRORS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3528" y="2322576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of all previous trees.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3528" y="256946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93528" y="2816352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D7C"/>
                </a:solidFill>
                <a:latin typeface="Calibri"/>
              </a:defRPr>
            </a:pPr>
            <a:r>
              <a:t>Additive model: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3528" y="30632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  F_m(x) = F_{m-1}(x) + η × h_m(x)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3528" y="3310128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  η = 0.1 (learning rate — small steps)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3528" y="3557016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93528" y="380390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D7C"/>
                </a:solidFill>
                <a:latin typeface="Calibri"/>
              </a:defRPr>
            </a:pPr>
            <a:r>
              <a:t>Regularised objective: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3528" y="4050791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  L = Σ l(yᵢ, ŷᵢ) + Ω(h_m)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3528" y="42976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r>
              <a:t>  Ω penalises tree complexity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3528" y="4544568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A55"/>
                </a:solidFill>
                <a:latin typeface="Calibri"/>
              </a:defRPr>
            </a:pP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893528" y="4791456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D7C"/>
                </a:solidFill>
                <a:latin typeface="Calibri"/>
              </a:defRPr>
            </a:pPr>
            <a:r>
              <a:t>v3b:  F1 0.856 | Accuracy 0.873 | 3.7 s train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Tier 2 — MLP: Forward Pass &amp; Backpropagation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Feed-forward neural network: 1,391 inputs → 8 activity class probabilities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1046" y="1417320"/>
            <a:ext cx="5029200" cy="3749039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73926" y="150876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D7C"/>
                </a:solidFill>
                <a:latin typeface="Calibri"/>
              </a:defRPr>
            </a:pPr>
            <a:r>
              <a:t>Architecture:   1391 → 512 → 256 →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3926" y="171450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73926" y="192024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D7C"/>
                </a:solidFill>
                <a:latin typeface="Calibri"/>
              </a:defRPr>
            </a:pPr>
            <a:r>
              <a:t>Forward Pass: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3926" y="212598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  h₁ = ReLU(W₁ · x + b₁)    # 512 neurons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3926" y="233172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  h₂ = ReLU(W₂ · h₁ + b₂)   # 256 neurons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3926" y="253746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  ŷ  = Softmax(W₃ · h₂ + b₃) # 8 class probabilities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3926" y="274320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73926" y="2948939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D7C"/>
                </a:solidFill>
                <a:latin typeface="Calibri"/>
              </a:defRPr>
            </a:pPr>
            <a:r>
              <a:t>Loss:  CrossEntropy = −log( predicted prob of true class 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73926" y="315468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73926" y="336042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D7C"/>
                </a:solidFill>
                <a:latin typeface="Calibri"/>
              </a:defRPr>
            </a:pPr>
            <a:r>
              <a:t>Backward Pass (Backpropagation):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73926" y="356616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  ∂L/∂W₃ = δ₃ · h₂ᵀ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73926" y="377190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  ∂L/∂W₂ = δ₂ · h₁ᵀ  (chain rule)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73926" y="3977639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  W = W − α × ∂L/∂W   (α = 0.001 learning rate)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73926" y="418338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73926" y="438912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D7C"/>
                </a:solidFill>
                <a:latin typeface="Calibri"/>
              </a:defRPr>
            </a:pPr>
            <a:r>
              <a:t>Regularisation: Dropout (p=0.3) + L2 weight decay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73926" y="459486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73926" y="480060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D7C"/>
                </a:solidFill>
                <a:latin typeface="Calibri"/>
              </a:defRPr>
            </a:pPr>
            <a:r>
              <a:t>Training: 222 samples × 100 epochs = 22,200 updates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03126" y="1417320"/>
            <a:ext cx="3291840" cy="3749039"/>
          </a:xfrm>
          <a:prstGeom prst="roundRect">
            <a:avLst/>
          </a:prstGeom>
          <a:solidFill>
            <a:srgbClr val="F0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86006" y="1463040"/>
            <a:ext cx="3017520" cy="469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rPr dirty="0"/>
              <a:t>Parameter Count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rPr dirty="0"/>
              <a:t>W₁: 1391×512 + 512 = 712,704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rPr dirty="0"/>
              <a:t>W₂: 512×256 + 256  = 131,328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rPr dirty="0"/>
              <a:t>W₃: 256×8 + 8      =   2,056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rPr dirty="0"/>
              <a:t>─────────────────────────────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rPr dirty="0"/>
              <a:t>Total:              = 846,088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rPr dirty="0"/>
              <a:t>v3b Results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rPr dirty="0"/>
              <a:t>F1 Macro:    0.798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rPr dirty="0"/>
              <a:t>Accuracy:    0.818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rPr dirty="0"/>
              <a:t>Training:   14 s (100 epochs)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rPr dirty="0"/>
              <a:t>Inference:   8 </a:t>
            </a:r>
            <a:r>
              <a:rPr dirty="0" err="1"/>
              <a:t>ms</a:t>
            </a:r>
            <a:r>
              <a:rPr dirty="0"/>
              <a:t> / batch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rPr dirty="0">
                <a:solidFill>
                  <a:schemeClr val="bg2"/>
                </a:solidFill>
              </a:rPr>
              <a:t>Note: Deep learning did not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rPr dirty="0">
                <a:solidFill>
                  <a:schemeClr val="bg2"/>
                </a:solidFill>
              </a:rPr>
              <a:t>outperform classical ML with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rPr dirty="0">
                <a:solidFill>
                  <a:schemeClr val="bg2"/>
                </a:solidFill>
              </a:rPr>
              <a:t>engineered features (277 tasks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rPr dirty="0">
                <a:solidFill>
                  <a:schemeClr val="bg2"/>
                </a:solidFill>
              </a:rPr>
              <a:t>is too small for DL to shine)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Tier 2 — LSTM: Sequential Memory Gates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Treats the 1,391-dim feature vector as a temporal sequence of 10 steps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12820" y="1417320"/>
            <a:ext cx="8412480" cy="82296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95700" y="146304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Input reshape:  (1391,) flat  →  (10 timesteps, 139 features per step)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Rationale: action sequences have temporal order (type command → see output → next command)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12820" y="2377440"/>
            <a:ext cx="1828800" cy="640080"/>
          </a:xfrm>
          <a:prstGeom prst="roundRect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Forget 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3060" y="2377440"/>
            <a:ext cx="4114800" cy="640080"/>
          </a:xfrm>
          <a:prstGeom prst="roundRect">
            <a:avLst/>
          </a:prstGeom>
          <a:solidFill>
            <a:srgbClr val="F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70220" y="245059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ourier New"/>
              </a:defRPr>
            </a:pPr>
            <a:r>
              <a:t>f_t = σ(W_f · [h_{t-1}, x_t] + b_f)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0220" y="272491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What to discard from cell memory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12820" y="3090672"/>
            <a:ext cx="1828800" cy="6400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Input Gate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33060" y="3090672"/>
            <a:ext cx="4114800" cy="64008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70220" y="3163824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ourier New"/>
              </a:defRPr>
            </a:pPr>
            <a:r>
              <a:t>i_t = σ(W_i · [h_{t-1}, x_t] + b_i)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0220" y="3438144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What new information to store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12820" y="3803904"/>
            <a:ext cx="1828800" cy="6400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Cell Update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3060" y="3803904"/>
            <a:ext cx="4114800" cy="6400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70220" y="3877056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ourier New"/>
              </a:defRPr>
            </a:pPr>
            <a:r>
              <a:t>C̃_t = tanh(W_c · [h_{t-1}, x_t] + b_c)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0220" y="4151376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New candidate values to add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12820" y="4517136"/>
            <a:ext cx="1828800" cy="64008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Output Gate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33060" y="4517136"/>
            <a:ext cx="4114800" cy="640080"/>
          </a:xfrm>
          <a:prstGeom prst="roundRect">
            <a:avLst/>
          </a:prstGeom>
          <a:solidFill>
            <a:srgbClr val="F0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70220" y="459028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ourier New"/>
              </a:defRPr>
            </a:pPr>
            <a:r>
              <a:t>o_t = σ(W_o · [h_{t-1}, x_t] + b_o)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70220" y="486460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What to expose as hidden state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39300" y="2377440"/>
            <a:ext cx="2377440" cy="288036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76460" y="2468880"/>
            <a:ext cx="21031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Cell state update: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C_t = f_t ⊙ C_{t-1}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    + i_t ⊙ C̃_t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endParaRPr/>
          </a:p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Hidden state: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h_t = o_t ⊙ tanh(C_t)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endParaRPr/>
          </a:p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After 10 steps: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h₁₀ → Linear(64,8)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→ Softmax → class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endParaRPr/>
          </a:p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BPTT unrolls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gradients through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all 10 timesteps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12820" y="521208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D7C"/>
                </a:solidFill>
                <a:latin typeface="Calibri"/>
              </a:defRPr>
            </a:pPr>
            <a:r>
              <a:t>v3b:  F1 Macro 0.781 | Accuracy 0.800 | Training 16 s | Inference 15 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Tier 2 — Transformer: Self-Attention 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Learns which pairs of features are most informative for each activity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1046" y="1417320"/>
            <a:ext cx="5029200" cy="3657600"/>
          </a:xfrm>
          <a:prstGeom prst="roundRect">
            <a:avLst/>
          </a:prstGeom>
          <a:solidFill>
            <a:srgbClr val="F0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73926" y="15087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D7C"/>
                </a:solidFill>
                <a:latin typeface="Calibri"/>
              </a:defRPr>
            </a:pPr>
            <a:r>
              <a:t>Input reshape:  (1391,) → (10 tokens, 139 dims)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3926" y="17145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73926" y="19202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D7C"/>
                </a:solidFill>
                <a:latin typeface="Calibri"/>
              </a:defRPr>
            </a:pPr>
            <a:r>
              <a:t>Self-Attention (scaled dot-product):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3926" y="212598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  Q = W_Q · x   (Query: what am I looking for?)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3926" y="23317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  K = W_K · x   (Key:   what do I contain?)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3926" y="25374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  V = W_V · x   (Value: what do I contribute?)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3926" y="27432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73926" y="2948939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  Attention(Q,K,V) = Softmax(Q·Kᵀ / √d_k) · 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73926" y="315468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  d_k = 64  (key dimension per head)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73926" y="33604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73926" y="35661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D7C"/>
                </a:solidFill>
                <a:latin typeface="Calibri"/>
              </a:defRPr>
            </a:pPr>
            <a:r>
              <a:t>Multi-Head Attention (2 heads):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73926" y="37719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  Each head learns different feature relationships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73926" y="3977639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  head_i = Attention(QWᵢ_Q, KWᵢ_K, VWᵢ_V)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73926" y="418338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  Output = Concat(head₁, head₂) · W_O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73926" y="43891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73926" y="45948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D7C"/>
                </a:solidFill>
                <a:latin typeface="Calibri"/>
              </a:defRPr>
            </a:pPr>
            <a:r>
              <a:t>Positional encoding added to token embeddings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73926" y="48006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D7C"/>
                </a:solidFill>
                <a:latin typeface="Calibri"/>
              </a:defRPr>
            </a:pPr>
            <a:r>
              <a:t>2 encoder layers, FFN dim = 128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03126" y="1417320"/>
            <a:ext cx="3291840" cy="20116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86006" y="146304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Why Attention helps here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endParaRPr/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OCR feature 'git' + Interaction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feature 'high typing rate' → strong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signal for git_operations.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endParaRPr/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Attention learns WHICH feature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pairs matter per class without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manual feature engineering.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03126" y="3566160"/>
            <a:ext cx="3291840" cy="155448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86006" y="36118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v3b Results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endParaRPr/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F1 Macro:    0.775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Accuracy:    0.800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Training:    60 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Inference:   18 ms / batch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Parameters:  ~85 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Tier 3 — Voting Ensemble (Best Model: F1 0.884)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Combines 4 base models via soft probability averaging — best of all worlds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45472" y="1371600"/>
            <a:ext cx="8412480" cy="4572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28352" y="14173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003D7C"/>
                </a:solidFill>
                <a:latin typeface="Calibri"/>
              </a:defRPr>
            </a:pPr>
            <a:r>
              <a:t>Base models: SVM (F1 0.812) + Random Forest (F1 0.841) + XGBoost (F1 0.856) + MLP (F1 0.798)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45472" y="2011680"/>
            <a:ext cx="1920240" cy="7315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SVM</a:t>
            </a:r>
            <a:br/>
            <a:r>
              <a:t>F1 0.812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2712" y="2834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AC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4312" y="2011680"/>
            <a:ext cx="1920240" cy="7315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Random Forest</a:t>
            </a:r>
            <a:br/>
            <a:r>
              <a:t>F1 0.841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1552" y="2834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8A745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43152" y="2011680"/>
            <a:ext cx="1920240" cy="73152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XGBoost</a:t>
            </a:r>
            <a:br/>
            <a:r>
              <a:t>F1 0.856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0392" y="2834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7C00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91992" y="2011680"/>
            <a:ext cx="1920240" cy="73152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MLP</a:t>
            </a:r>
            <a:br/>
            <a:r>
              <a:t>F1 0.798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9232" y="2834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F42C1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5472" y="3200400"/>
            <a:ext cx="8412480" cy="82296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28352" y="324612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8A745"/>
                </a:solidFill>
                <a:latin typeface="Courier New"/>
              </a:defRPr>
            </a:pPr>
            <a:r>
              <a:t>Soft Voting — Average Probability Across All Models: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8A745"/>
                </a:solidFill>
                <a:latin typeface="Courier New"/>
              </a:defRPr>
            </a:pPr>
            <a:r>
              <a:t>  P_avg(class=c) = (P_SVM + P_RF + P_XGB + P_MLP) / 4    →    ŷ = argmax P_avg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45472" y="4160520"/>
            <a:ext cx="4114800" cy="109728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28352" y="420624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Why Voting &gt; Any Single Model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endParaRPr/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Each model has different error patterns.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When SVM is wrong, RF or XGBoost is often right.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Averaging smooths out individual biases → higher F1.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43152" y="4160520"/>
            <a:ext cx="4114800" cy="109728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26032" y="420624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3D7C"/>
                </a:solidFill>
                <a:latin typeface="Calibri"/>
              </a:defRPr>
            </a:pPr>
            <a:r>
              <a:t>Voting Ensemble — v3b Final Results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003D7C"/>
                </a:solidFill>
                <a:latin typeface="Calibri"/>
              </a:defRPr>
            </a:pPr>
            <a:endParaRPr/>
          </a:p>
          <a:p>
            <a:pPr algn="l">
              <a:spcAft>
                <a:spcPts val="600"/>
              </a:spcAft>
              <a:defRPr sz="1100" b="1">
                <a:solidFill>
                  <a:srgbClr val="003D7C"/>
                </a:solidFill>
                <a:latin typeface="Calibri"/>
              </a:defRPr>
            </a:pPr>
            <a:r>
              <a:t>F1 Macro: 0.884  |  Accuracy: 0.891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003D7C"/>
                </a:solidFill>
                <a:latin typeface="Calibri"/>
              </a:defRPr>
            </a:pPr>
            <a:r>
              <a:t>Latency:   84 ms (4 model predictions + avg)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003D7C"/>
                </a:solidFill>
                <a:latin typeface="Calibri"/>
              </a:defRPr>
            </a:pPr>
            <a:r>
              <a:t>+73% improvement over v2 baseline (KNN F1 0.51)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Tier 3 — Stacking: Meta-Learning Ensemble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A meta-learner discovers which base model to trust for each activity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3778" y="1417320"/>
            <a:ext cx="201168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3778" y="1691640"/>
            <a:ext cx="2011680" cy="13716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5218" y="17373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002A55"/>
                </a:solidFill>
                <a:latin typeface="Calibri"/>
              </a:defRPr>
            </a:pPr>
            <a:r>
              <a:t>Train base models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002A55"/>
                </a:solidFill>
                <a:latin typeface="Calibri"/>
              </a:defRPr>
            </a:pPr>
            <a:r>
              <a:t>on X_train (222 tasks)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9738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A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8337" y="1417320"/>
            <a:ext cx="2011680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8337" y="1691640"/>
            <a:ext cx="2011680" cy="137160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9777" y="17373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002A55"/>
                </a:solidFill>
                <a:latin typeface="Calibri"/>
              </a:defRPr>
            </a:pPr>
            <a:r>
              <a:t>Cross-val predict: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002A55"/>
                </a:solidFill>
                <a:latin typeface="Calibri"/>
              </a:defRPr>
            </a:pPr>
            <a:r>
              <a:t>each base model → (222, 8)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002A55"/>
                </a:solidFill>
                <a:latin typeface="Calibri"/>
              </a:defRPr>
            </a:pPr>
            <a:r>
              <a:t>probability matrix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4298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A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2898" y="1417320"/>
            <a:ext cx="2011680" cy="27432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2898" y="1691640"/>
            <a:ext cx="2011680" cy="137160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54338" y="17373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002A55"/>
                </a:solidFill>
                <a:latin typeface="Calibri"/>
              </a:defRPr>
            </a:pPr>
            <a:r>
              <a:t>Stack outputs: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002A55"/>
                </a:solidFill>
                <a:latin typeface="Calibri"/>
              </a:defRPr>
            </a:pPr>
            <a:r>
              <a:t>meta_X = (222, 32)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002A55"/>
                </a:solidFill>
                <a:latin typeface="Calibri"/>
              </a:defRPr>
            </a:pPr>
            <a:r>
              <a:t>[4 models × 8 probs each]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8858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A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7457" y="1417320"/>
            <a:ext cx="2011680" cy="27432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7457" y="1691640"/>
            <a:ext cx="2011680" cy="1371600"/>
          </a:xfrm>
          <a:prstGeom prst="roundRect">
            <a:avLst/>
          </a:prstGeom>
          <a:solidFill>
            <a:srgbClr val="F0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8897" y="17373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002A55"/>
                </a:solidFill>
                <a:latin typeface="Calibri"/>
              </a:defRPr>
            </a:pPr>
            <a:r>
              <a:t>Train Logistic Regression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002A55"/>
                </a:solidFill>
                <a:latin typeface="Calibri"/>
              </a:defRPr>
            </a:pPr>
            <a:r>
              <a:t>meta-learner on meta_X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002A55"/>
                </a:solidFill>
                <a:latin typeface="Calibri"/>
              </a:defRPr>
            </a:pPr>
            <a:r>
              <a:t>→ learns trust weights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65218" y="3200400"/>
            <a:ext cx="8412480" cy="82296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648098" y="324612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28A745"/>
                </a:solidFill>
                <a:latin typeface="Courier New"/>
              </a:defRPr>
            </a:pPr>
            <a:r>
              <a:t>Meta-learner learns class-specific trust weights: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8A745"/>
                </a:solidFill>
                <a:latin typeface="Courier New"/>
              </a:defRPr>
            </a:pPr>
            <a:r>
              <a:t>  coding_editing:  trust XGBoost 0.55 &gt; RF 0.28 &gt; SVM 0.12 &gt; MLP 0.05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8A745"/>
                </a:solidFill>
                <a:latin typeface="Courier New"/>
              </a:defRPr>
            </a:pPr>
            <a:r>
              <a:t>  media_editing:   trust MLP 0.48 &gt; RF 0.31 &gt; XGBoost 0.15 &gt; SVM 0.06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65218" y="4160520"/>
            <a:ext cx="4114800" cy="10972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648098" y="420624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Key Difference: Voting vs. Stacking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endParaRPr/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Voting: fixed equal weights → P_avg = mean(all)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Stacking: learned weights → different trust per class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Stacking is more flexible but needs enough data.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2898" y="4160520"/>
            <a:ext cx="4114800" cy="109728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5778" y="420624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003D7C"/>
                </a:solidFill>
                <a:latin typeface="Calibri"/>
              </a:defRPr>
            </a:pPr>
            <a:r>
              <a:t>Stacking — v3b Results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3D7C"/>
                </a:solidFill>
                <a:latin typeface="Calibri"/>
              </a:defRPr>
            </a:pPr>
            <a:endParaRPr/>
          </a:p>
          <a:p>
            <a:pPr algn="l">
              <a:spcAft>
                <a:spcPts val="600"/>
              </a:spcAft>
              <a:defRPr sz="1100" b="0">
                <a:solidFill>
                  <a:srgbClr val="003D7C"/>
                </a:solidFill>
                <a:latin typeface="Calibri"/>
              </a:defRPr>
            </a:pPr>
            <a:r>
              <a:t>F1 Macro: 0.869  |  Accuracy: 0.882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3D7C"/>
                </a:solidFill>
                <a:latin typeface="Calibri"/>
              </a:defRPr>
            </a:pPr>
            <a:r>
              <a:t>Latency:   ~90 ms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3D7C"/>
                </a:solidFill>
                <a:latin typeface="Calibri"/>
              </a:defRPr>
            </a:pPr>
            <a:r>
              <a:t>2nd best overall (Voting 0.884 slightly better)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100779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Step 4 — Evaluation: Why F1 Macro is the Primary 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100017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Accuracy is misleading with imbalanced classes — F1 Macro treats all 8 classes equally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34590" y="1417320"/>
            <a:ext cx="8412480" cy="1280160"/>
          </a:xfrm>
          <a:prstGeom prst="roundRect">
            <a:avLst/>
          </a:prstGeom>
          <a:solidFill>
            <a:srgbClr val="F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17470" y="1463040"/>
            <a:ext cx="8138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Why not just use Accuracy?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VSCode tasks dominate (~38% of data). A model that always predicts 'coding_editing'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gets ~38% accuracy yet F1 Macro ≈ 0.05 — it learned nothing about the other 7 classes.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02A55"/>
                </a:solidFill>
                <a:latin typeface="Calibri"/>
              </a:defRPr>
            </a:pPr>
            <a:r>
              <a:t>F1 Macro averages per-class F1 scores, giving equal weight to rare and common classes.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34590" y="2834640"/>
            <a:ext cx="2286000" cy="3200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71750" y="287121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D7C"/>
                </a:solidFill>
                <a:latin typeface="Calibri"/>
              </a:defRPr>
            </a:pPr>
            <a:r>
              <a:t>Precision (per class)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66310" y="2834640"/>
            <a:ext cx="2560320" cy="3200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57750" y="287121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ourier New"/>
              </a:defRPr>
            </a:pPr>
            <a:r>
              <a:t>TP / (TP + FP)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350" y="2834640"/>
            <a:ext cx="3566160" cy="3200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63790" y="287121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Of all tasks predicted as class C, how many truly are C?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34590" y="3218688"/>
            <a:ext cx="2286000" cy="3200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71750" y="32552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D7C"/>
                </a:solidFill>
                <a:latin typeface="Calibri"/>
              </a:defRPr>
            </a:pPr>
            <a:r>
              <a:t>Recall (per class)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66310" y="3218688"/>
            <a:ext cx="2560320" cy="3200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57750" y="325526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ourier New"/>
              </a:defRPr>
            </a:pPr>
            <a:r>
              <a:t>TP / (TP + FN)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2350" y="3218688"/>
            <a:ext cx="3566160" cy="3200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63790" y="325526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Of all true class C tasks, how many did we catch?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34590" y="3602736"/>
            <a:ext cx="2286000" cy="3200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71750" y="36393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D7C"/>
                </a:solidFill>
                <a:latin typeface="Calibri"/>
              </a:defRPr>
            </a:pPr>
            <a:r>
              <a:t>F1 per class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66310" y="3602736"/>
            <a:ext cx="2560320" cy="3200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57750" y="36393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ourier New"/>
              </a:defRPr>
            </a:pPr>
            <a:r>
              <a:t>2 × P × R / (P + 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72350" y="3602736"/>
            <a:ext cx="3566160" cy="3200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63790" y="36393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Harmonic mean — balances false positives and false negatives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34590" y="3986784"/>
            <a:ext cx="2286000" cy="32004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471750" y="4023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D7C"/>
                </a:solidFill>
                <a:latin typeface="Calibri"/>
              </a:defRPr>
            </a:pPr>
            <a:r>
              <a:t>F1 Macro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66310" y="3986784"/>
            <a:ext cx="2560320" cy="32004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757750" y="4023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ourier New"/>
              </a:defRPr>
            </a:pPr>
            <a:r>
              <a:t>mean( F1_c  for c in {0..7} 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72350" y="3986784"/>
            <a:ext cx="3566160" cy="32004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63790" y="40233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8A745"/>
                </a:solidFill>
                <a:latin typeface="Calibri"/>
              </a:defRPr>
            </a:pPr>
            <a:r>
              <a:t>PRIMARY METRIC — unweighted average over all 8 classes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34590" y="4370832"/>
            <a:ext cx="2286000" cy="3200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471750" y="44074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D7C"/>
                </a:solidFill>
                <a:latin typeface="Calibri"/>
              </a:defRPr>
            </a:pPr>
            <a:r>
              <a:t>F1 Weighted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66310" y="4370832"/>
            <a:ext cx="2560320" cy="3200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757750" y="44074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ourier New"/>
              </a:defRPr>
            </a:pPr>
            <a:r>
              <a:t>Σ (support_c / n) × F1_c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72350" y="4370832"/>
            <a:ext cx="3566160" cy="3200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63790" y="44074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Weighted by class frequency — less useful here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34590" y="4754880"/>
            <a:ext cx="2286000" cy="3200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471750" y="479145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D7C"/>
                </a:solidFill>
                <a:latin typeface="Calibri"/>
              </a:defRPr>
            </a:pPr>
            <a:r>
              <a:t>ROC-AUC (OvR)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66310" y="4754880"/>
            <a:ext cx="2560320" cy="3200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757750" y="479145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ourier New"/>
              </a:defRPr>
            </a:pPr>
            <a:r>
              <a:t>Area under ROC curve (one-vs-rest)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72350" y="4754880"/>
            <a:ext cx="3566160" cy="3200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63790" y="479145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Discrimination ability; reported per class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Training Results — 13 Models (v3b)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594360"/>
            <a:ext cx="96643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Sorted by F1 Macro; Voting Ensemble achieves 0.884 — +73% over v2 KNN baseline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41120" y="1417320"/>
            <a:ext cx="274320" cy="274320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61160" y="1417320"/>
            <a:ext cx="2286000" cy="274320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92880" y="1417320"/>
            <a:ext cx="1188720" cy="274320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27320" y="1417320"/>
            <a:ext cx="1005840" cy="274320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880" y="1417320"/>
            <a:ext cx="1143000" cy="274320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F1 Macro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67600" y="1417320"/>
            <a:ext cx="1280160" cy="274320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Latency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41120" y="1691640"/>
            <a:ext cx="274320" cy="246888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86840" y="1719072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A55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61160" y="1691640"/>
            <a:ext cx="2286000" cy="246888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706880" y="171907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A745"/>
                </a:solidFill>
                <a:latin typeface="Calibri"/>
              </a:defRPr>
            </a:pPr>
            <a:r>
              <a:t>Voting (Tier 3)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92880" y="1691640"/>
            <a:ext cx="1188720" cy="246888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38600" y="171907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A55"/>
                </a:solidFill>
                <a:latin typeface="Calibri"/>
              </a:defRPr>
            </a:pPr>
            <a:r>
              <a:t>tier3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27320" y="1691640"/>
            <a:ext cx="1005840" cy="246888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73040" y="171907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A55"/>
                </a:solidFill>
                <a:latin typeface="Calibri"/>
              </a:defRPr>
            </a:pPr>
            <a:r>
              <a:t>0.891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8880" y="1691640"/>
            <a:ext cx="1143000" cy="246888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24600" y="171907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A745"/>
                </a:solidFill>
                <a:latin typeface="Calibri"/>
              </a:defRPr>
            </a:pPr>
            <a:r>
              <a:t>0.884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67600" y="1691640"/>
            <a:ext cx="1280160" cy="246888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13320" y="171907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A55"/>
                </a:solidFill>
                <a:latin typeface="Calibri"/>
              </a:defRPr>
            </a:pPr>
            <a:r>
              <a:t>84 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41120" y="1956816"/>
            <a:ext cx="274320" cy="246888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86840" y="1984248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61160" y="1956816"/>
            <a:ext cx="2286000" cy="246888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706880" y="198424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A745"/>
                </a:solidFill>
                <a:latin typeface="Calibri"/>
              </a:defRPr>
            </a:pPr>
            <a:r>
              <a:t>Stacking (Tier 3)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92880" y="1956816"/>
            <a:ext cx="1188720" cy="246888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038600" y="19842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tier3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27320" y="1956816"/>
            <a:ext cx="1005840" cy="246888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73040" y="19842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0.882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78880" y="1956816"/>
            <a:ext cx="1143000" cy="246888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24600" y="1984248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0.869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67600" y="1956816"/>
            <a:ext cx="1280160" cy="246888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13320" y="198424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90 ms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41120" y="2221992"/>
            <a:ext cx="274320" cy="246888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386840" y="2249424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661160" y="2221992"/>
            <a:ext cx="2286000" cy="246888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706880" y="224942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A745"/>
                </a:solidFill>
                <a:latin typeface="Calibri"/>
              </a:defRPr>
            </a:pPr>
            <a:r>
              <a:t>Late Fusion (T3)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992880" y="2221992"/>
            <a:ext cx="1188720" cy="246888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038600" y="22494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tier3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27320" y="2221992"/>
            <a:ext cx="1005840" cy="246888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273040" y="22494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0.875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78880" y="2221992"/>
            <a:ext cx="1143000" cy="246888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24600" y="2249424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0.861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67600" y="2221992"/>
            <a:ext cx="1280160" cy="246888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513320" y="2249424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78 ms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341120" y="2487168"/>
            <a:ext cx="27432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386840" y="2514600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661160" y="2487168"/>
            <a:ext cx="228600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706880" y="251460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7ACC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992880" y="2487168"/>
            <a:ext cx="118872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038600" y="251460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tier1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227320" y="2487168"/>
            <a:ext cx="100584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273040" y="251460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0.873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78880" y="2487168"/>
            <a:ext cx="114300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324600" y="2514600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0.856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467600" y="2487168"/>
            <a:ext cx="128016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513320" y="251460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59 ms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341120" y="2752344"/>
            <a:ext cx="27432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386840" y="2779776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661160" y="2752344"/>
            <a:ext cx="228600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706880" y="2779776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7ACC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992880" y="2752344"/>
            <a:ext cx="118872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038600" y="277977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tier1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227320" y="2752344"/>
            <a:ext cx="100584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273040" y="277977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0.855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78880" y="2752344"/>
            <a:ext cx="114300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324600" y="2779776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0.841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467600" y="2752344"/>
            <a:ext cx="128016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513320" y="277977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103 ms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341120" y="3017520"/>
            <a:ext cx="27432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386840" y="3044952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661160" y="3017520"/>
            <a:ext cx="228600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706880" y="304495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7ACC"/>
                </a:solidFill>
                <a:latin typeface="Calibri"/>
              </a:defRPr>
            </a:pPr>
            <a:r>
              <a:t>SVM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992880" y="3017520"/>
            <a:ext cx="118872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038600" y="304495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tier1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227320" y="3017520"/>
            <a:ext cx="100584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273040" y="30449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0.836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278880" y="3017520"/>
            <a:ext cx="114300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324600" y="304495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0.812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467600" y="3017520"/>
            <a:ext cx="128016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513320" y="304495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1,392 ms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341120" y="3282696"/>
            <a:ext cx="27432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386840" y="3310128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661160" y="3282696"/>
            <a:ext cx="228600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706880" y="331012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7ACC"/>
                </a:solidFill>
                <a:latin typeface="Calibri"/>
              </a:defRPr>
            </a:pPr>
            <a:r>
              <a:t>LightGBM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992880" y="3282696"/>
            <a:ext cx="118872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038600" y="331012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tier1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227320" y="3282696"/>
            <a:ext cx="100584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273040" y="331012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0.829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278880" y="3282696"/>
            <a:ext cx="114300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324600" y="3310128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0.807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467600" y="3282696"/>
            <a:ext cx="128016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513320" y="331012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37 ms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341120" y="3547872"/>
            <a:ext cx="27432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386840" y="3575304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661160" y="3547872"/>
            <a:ext cx="228600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706880" y="357530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7C00"/>
                </a:solidFill>
                <a:latin typeface="Calibri"/>
              </a:defRPr>
            </a:pPr>
            <a:r>
              <a:t>MLP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992880" y="3547872"/>
            <a:ext cx="118872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038600" y="357530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tier2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227320" y="3547872"/>
            <a:ext cx="100584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273040" y="357530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0.818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278880" y="3547872"/>
            <a:ext cx="114300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324600" y="3575304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0.798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467600" y="3547872"/>
            <a:ext cx="128016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513320" y="3575304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8 ms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341120" y="3813048"/>
            <a:ext cx="27432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1386840" y="3840480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661160" y="3813048"/>
            <a:ext cx="228600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706880" y="384048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7C00"/>
                </a:solidFill>
                <a:latin typeface="Calibri"/>
              </a:defRPr>
            </a:pPr>
            <a:r>
              <a:t>Transformer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992880" y="3813048"/>
            <a:ext cx="118872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4038600" y="384048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tier2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227320" y="3813048"/>
            <a:ext cx="100584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273040" y="38404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0.800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278880" y="3813048"/>
            <a:ext cx="114300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324600" y="3840480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0.775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467600" y="3813048"/>
            <a:ext cx="128016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513320" y="384048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18 ms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341120" y="4078224"/>
            <a:ext cx="27432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1386840" y="4105656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661160" y="4078224"/>
            <a:ext cx="228600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1706880" y="4105656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7C00"/>
                </a:solidFill>
                <a:latin typeface="Calibri"/>
              </a:defRPr>
            </a:pPr>
            <a:r>
              <a:t>LSTM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992880" y="4078224"/>
            <a:ext cx="118872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4038600" y="41056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tier2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227320" y="4078224"/>
            <a:ext cx="100584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5273040" y="41056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0.800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278880" y="4078224"/>
            <a:ext cx="114300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6324600" y="4105656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0.781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7467600" y="4078224"/>
            <a:ext cx="128016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7513320" y="410565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15 ms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341120" y="4343400"/>
            <a:ext cx="27432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1386840" y="4370832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1661160" y="4343400"/>
            <a:ext cx="228600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706880" y="437083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7ACC"/>
                </a:solidFill>
                <a:latin typeface="Calibri"/>
              </a:defRPr>
            </a:pPr>
            <a:r>
              <a:t>Decision Tree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3992880" y="4343400"/>
            <a:ext cx="118872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4038600" y="43708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tier1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5227320" y="4343400"/>
            <a:ext cx="100584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5273040" y="43708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0.791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278880" y="4343400"/>
            <a:ext cx="114300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6324600" y="43708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0.762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7467600" y="4343400"/>
            <a:ext cx="128016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7513320" y="437083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2 ms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341120" y="4608576"/>
            <a:ext cx="27432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1386840" y="4636008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1661160" y="4608576"/>
            <a:ext cx="228600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1706880" y="463600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7ACC"/>
                </a:solidFill>
                <a:latin typeface="Calibri"/>
              </a:defRPr>
            </a:pPr>
            <a:r>
              <a:t>Naive Bayes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3992880" y="4608576"/>
            <a:ext cx="118872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4038600" y="463600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tier1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5227320" y="4608576"/>
            <a:ext cx="100584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5273040" y="46360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0.745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278880" y="4608576"/>
            <a:ext cx="114300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6324600" y="4636008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0.710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7467600" y="4608576"/>
            <a:ext cx="1280160" cy="24688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7513320" y="463600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9 ms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341120" y="4873752"/>
            <a:ext cx="27432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1386840" y="4901184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1661160" y="4873752"/>
            <a:ext cx="228600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1706880" y="490118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7ACC"/>
                </a:solidFill>
                <a:latin typeface="Calibri"/>
              </a:defRPr>
            </a:pPr>
            <a:r>
              <a:t>k-NN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3992880" y="4873752"/>
            <a:ext cx="118872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4038600" y="490118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tier1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5227320" y="4873752"/>
            <a:ext cx="100584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5273040" y="490118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0.727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278880" y="4873752"/>
            <a:ext cx="114300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6324600" y="4901184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0.693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7467600" y="4873752"/>
            <a:ext cx="1280160" cy="24688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7513320" y="4901184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344 ms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341120" y="516636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Key insight: Tier 3 ensembles consistently outperform any single model  •  Deep learning (Tier 2) ≈ classical ML at this dataset size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Trained Models — Serialised Artefacts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Each model saved as .pkl via joblib; backend loads on startup — no retraining at inference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58390" y="1417320"/>
            <a:ext cx="5120640" cy="4264586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95550" y="150876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models/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  svm.pkl           ~2.1 MB  (support vectors + kernel params)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  naive_bayes.pkl   ~15 KB   (class priors + Gaussian likelihoods)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  decision_tree.pkl ~180 KB  (tree nodes + split thresholds)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  random_forest.pkl ~12 MB   (100 tree structures)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  knn.pkl           ~8.5 MB  (full training data — lazy learner)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  xgboost.pkl       ~1.2 MB  (100 boosted trees)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  lightgbm.pkl      ~900 KB  (leaf-value trees)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  mlp.pkl           ~3.5 MB  (846K weights + biases)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  lstm.pkl          ~500 KB  (gate weights + cell state)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  cnn1d.pkl         ~280 KB  (conv filters + FC weights)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  transformer.pkl   ~600 KB  (attention weights + FFN)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  stacking.pkl      ~15 MB   (base models + meta-learner)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  voting.pkl        ~14 MB   (4 base models + weight config)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  label_names.json           (index → class name mapping)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  scaler.pkl                 (StandardScaler fit on train set)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9030" y="1417320"/>
            <a:ext cx="3496490" cy="4264586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6190" y="150876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A745"/>
                </a:solidFill>
                <a:latin typeface="Courier New"/>
              </a:defRPr>
            </a:pPr>
            <a:r>
              <a:t>Serialisation with joblib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6190" y="170992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6190" y="1911095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import joblib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6190" y="2112264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6190" y="2313432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# Save after training: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6190" y="251460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joblib.dump(model, 'models/voting.pkl')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6190" y="271576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6190" y="291693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# Load at inference: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6190" y="3118104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model = joblib.load('models/voting.pkl')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6190" y="3319272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6190" y="352044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A745"/>
                </a:solidFill>
                <a:latin typeface="Courier New"/>
              </a:defRPr>
            </a:pPr>
            <a:r>
              <a:t>Each .pkl contains: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6190" y="372160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• Learned weights / parameters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6190" y="392277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• Hyperparameters &amp;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6190" y="4123944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• Feature scaler (if fitted)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6190" y="4325112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• Label encoder mapping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6190" y="4526279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16190" y="472744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A55"/>
                </a:solidFill>
                <a:latin typeface="Calibri"/>
              </a:defRPr>
            </a:pPr>
            <a:r>
              <a:t>S3 sync at backend startup: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6190" y="492861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s3://video2knowledge-dev-…/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6190" y="5129783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  models/v3/voting.pkl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19" y="91440"/>
            <a:ext cx="95772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Research Questions — Answered by Training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Three RQs drive the experiment design; v3b results provide quantitative answers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12818" y="1417320"/>
            <a:ext cx="640080" cy="13716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RQ1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44338" y="1417320"/>
            <a:ext cx="7772400" cy="13716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81498" y="146304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Calibri"/>
              </a:defRPr>
            </a:pPr>
            <a:r>
              <a:t>Classical ML vs. Deep Learning for multimodal activity recognition?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81498" y="178308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At 277 tasks, classical ML (XGBoost F1 0.856) matches or exceeds deep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1498" y="2075688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(MLP F1 0.798, LSTM F1 0.781). Deep learning typically needs 10 K+ samples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81498" y="2368296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to outperform engineered features.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12818" y="2926080"/>
            <a:ext cx="640080" cy="13716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RQ2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44338" y="2926080"/>
            <a:ext cx="7772400" cy="137160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81498" y="297180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  <a:latin typeface="Calibri"/>
              </a:defRPr>
            </a:pPr>
            <a:r>
              <a:t>Does multimodal fusion beat individual modalities?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1498" y="329184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Yes. 1,391-dim fused feature (Visual + OCR + YOLO + Interaction) produces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81498" y="3584448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F1 0.884 vs. F1 0.62–0.71 for any single modality alone (ablation study).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81498" y="3877056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OCR + Interaction fusion gives the largest single gain.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12818" y="4434840"/>
            <a:ext cx="640080" cy="13716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RQ3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44338" y="4434840"/>
            <a:ext cx="7772400" cy="137160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81498" y="448056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7C00"/>
                </a:solidFill>
                <a:latin typeface="Calibri"/>
              </a:defRPr>
            </a:pPr>
            <a:r>
              <a:t>Can sequence models identify higher-level workflows from activity sequences?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81498" y="480060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LSTM on activity sequence (task-level temporal order) achieves F1 0.781.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81498" y="5093208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Preliminary workflow-level Transformer shows promise but needs more labeled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81498" y="5385816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multi-step workflows for statistically significant results.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3718</Words>
  <Application>Microsoft Macintosh PowerPoint</Application>
  <PresentationFormat>Widescreen</PresentationFormat>
  <Paragraphs>596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Muthaiah MUNEESWARAN (GOVTECH)</cp:lastModifiedBy>
  <cp:revision>2</cp:revision>
  <dcterms:created xsi:type="dcterms:W3CDTF">2013-01-27T09:14:16Z</dcterms:created>
  <dcterms:modified xsi:type="dcterms:W3CDTF">2026-10-28T15:36:37Z</dcterms:modified>
  <cp:category/>
</cp:coreProperties>
</file>