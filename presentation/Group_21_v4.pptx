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300" r:id="rId4"/>
    <p:sldId id="301" r:id="rId5"/>
    <p:sldId id="296" r:id="rId6"/>
    <p:sldId id="260" r:id="rId7"/>
    <p:sldId id="325" r:id="rId8"/>
    <p:sldId id="319" r:id="rId9"/>
    <p:sldId id="278" r:id="rId10"/>
    <p:sldId id="279" r:id="rId11"/>
    <p:sldId id="280" r:id="rId12"/>
    <p:sldId id="281" r:id="rId13"/>
    <p:sldId id="282" r:id="rId14"/>
    <p:sldId id="326" r:id="rId15"/>
    <p:sldId id="321" r:id="rId16"/>
    <p:sldId id="322" r:id="rId17"/>
    <p:sldId id="327" r:id="rId18"/>
    <p:sldId id="328" r:id="rId19"/>
    <p:sldId id="329" r:id="rId20"/>
    <p:sldId id="330" r:id="rId21"/>
    <p:sldId id="290" r:id="rId22"/>
    <p:sldId id="291" r:id="rId23"/>
    <p:sldId id="303" r:id="rId24"/>
    <p:sldId id="263" r:id="rId25"/>
    <p:sldId id="264" r:id="rId26"/>
    <p:sldId id="265" r:id="rId27"/>
    <p:sldId id="307" r:id="rId28"/>
    <p:sldId id="306" r:id="rId29"/>
    <p:sldId id="318" r:id="rId30"/>
    <p:sldId id="266" r:id="rId31"/>
    <p:sldId id="268" r:id="rId32"/>
    <p:sldId id="308" r:id="rId33"/>
    <p:sldId id="317" r:id="rId34"/>
    <p:sldId id="316" r:id="rId35"/>
    <p:sldId id="309" r:id="rId36"/>
    <p:sldId id="310" r:id="rId37"/>
    <p:sldId id="311" r:id="rId38"/>
    <p:sldId id="312" r:id="rId39"/>
    <p:sldId id="313" r:id="rId40"/>
    <p:sldId id="271" r:id="rId41"/>
    <p:sldId id="259" r:id="rId42"/>
    <p:sldId id="323" r:id="rId43"/>
    <p:sldId id="32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09-29T11:10:38.582"/>
    <p1510:client id="{1478F5A1-C67C-1276-6D7F-A329CAFBE71E}" v="108" dt="2026-09-29T12:05:47.119"/>
    <p1510:client id="{6DA03B3C-7D08-426F-979F-749127F075EE}" v="4" dt="2026-09-29T11:54:50.960"/>
    <p1510:client id="{98686F9F-4E59-2728-D7F5-5BE1E42BC0AB}" v="200" dt="2026-09-29T11:22:29.918"/>
    <p1510:client id="{AD9F9374-2A4B-431E-972F-1C4A64930C18}" v="22" dt="2026-09-29T12:02: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73" d="100"/>
          <a:sy n="73" d="100"/>
        </p:scale>
        <p:origin x="376"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Barthwal Chamoli" userId="S::lakshmi.barthwal-chamoli@u.nus.edu::bbef7d0e-d490-4bb8-8740-2aab5ff282ad" providerId="AD" clId="Web-{98686F9F-4E59-2728-D7F5-5BE1E42BC0AB}"/>
    <pc:docChg chg="modSld sldOrd">
      <pc:chgData name="Lakshmi Barthwal Chamoli" userId="S::lakshmi.barthwal-chamoli@u.nus.edu::bbef7d0e-d490-4bb8-8740-2aab5ff282ad" providerId="AD" clId="Web-{98686F9F-4E59-2728-D7F5-5BE1E42BC0AB}" dt="2026-09-29T11:22:29.918" v="191" actId="20577"/>
      <pc:docMkLst>
        <pc:docMk/>
      </pc:docMkLst>
      <pc:sldChg chg="addSp delSp modSp">
        <pc:chgData name="Lakshmi Barthwal Chamoli" userId="S::lakshmi.barthwal-chamoli@u.nus.edu::bbef7d0e-d490-4bb8-8740-2aab5ff282ad" providerId="AD" clId="Web-{98686F9F-4E59-2728-D7F5-5BE1E42BC0AB}" dt="2026-09-29T10:56:36.233" v="123" actId="20577"/>
        <pc:sldMkLst>
          <pc:docMk/>
          <pc:sldMk cId="0" sldId="256"/>
        </pc:sldMkLst>
        <pc:spChg chg="mod">
          <ac:chgData name="Lakshmi Barthwal Chamoli" userId="S::lakshmi.barthwal-chamoli@u.nus.edu::bbef7d0e-d490-4bb8-8740-2aab5ff282ad" providerId="AD" clId="Web-{98686F9F-4E59-2728-D7F5-5BE1E42BC0AB}" dt="2026-09-29T10:56:36.233" v="123" actId="20577"/>
          <ac:spMkLst>
            <pc:docMk/>
            <pc:sldMk cId="0" sldId="256"/>
            <ac:spMk id="2" creationId="{00000000-0000-0000-0000-000000000000}"/>
          </ac:spMkLst>
        </pc:spChg>
        <pc:spChg chg="mod">
          <ac:chgData name="Lakshmi Barthwal Chamoli" userId="S::lakshmi.barthwal-chamoli@u.nus.edu::bbef7d0e-d490-4bb8-8740-2aab5ff282ad" providerId="AD" clId="Web-{98686F9F-4E59-2728-D7F5-5BE1E42BC0AB}" dt="2026-09-29T10:56:20.951" v="119" actId="1076"/>
          <ac:spMkLst>
            <pc:docMk/>
            <pc:sldMk cId="0" sldId="256"/>
            <ac:spMk id="3" creationId="{00000000-0000-0000-0000-000000000000}"/>
          </ac:spMkLst>
        </pc:spChg>
        <pc:spChg chg="mod">
          <ac:chgData name="Lakshmi Barthwal Chamoli" userId="S::lakshmi.barthwal-chamoli@u.nus.edu::bbef7d0e-d490-4bb8-8740-2aab5ff282ad" providerId="AD" clId="Web-{98686F9F-4E59-2728-D7F5-5BE1E42BC0AB}" dt="2026-09-29T10:55:59.747" v="110" actId="1076"/>
          <ac:spMkLst>
            <pc:docMk/>
            <pc:sldMk cId="0" sldId="256"/>
            <ac:spMk id="4" creationId="{00000000-0000-0000-0000-000000000000}"/>
          </ac:spMkLst>
        </pc:spChg>
        <pc:spChg chg="mod">
          <ac:chgData name="Lakshmi Barthwal Chamoli" userId="S::lakshmi.barthwal-chamoli@u.nus.edu::bbef7d0e-d490-4bb8-8740-2aab5ff282ad" providerId="AD" clId="Web-{98686F9F-4E59-2728-D7F5-5BE1E42BC0AB}" dt="2026-09-29T10:55:59.763" v="111" actId="1076"/>
          <ac:spMkLst>
            <pc:docMk/>
            <pc:sldMk cId="0" sldId="256"/>
            <ac:spMk id="5" creationId="{00000000-0000-0000-0000-000000000000}"/>
          </ac:spMkLst>
        </pc:spChg>
        <pc:spChg chg="mod">
          <ac:chgData name="Lakshmi Barthwal Chamoli" userId="S::lakshmi.barthwal-chamoli@u.nus.edu::bbef7d0e-d490-4bb8-8740-2aab5ff282ad" providerId="AD" clId="Web-{98686F9F-4E59-2728-D7F5-5BE1E42BC0AB}" dt="2026-09-29T10:55:59.763" v="112" actId="1076"/>
          <ac:spMkLst>
            <pc:docMk/>
            <pc:sldMk cId="0" sldId="256"/>
            <ac:spMk id="6" creationId="{00000000-0000-0000-0000-000000000000}"/>
          </ac:spMkLst>
        </pc:spChg>
        <pc:spChg chg="mod">
          <ac:chgData name="Lakshmi Barthwal Chamoli" userId="S::lakshmi.barthwal-chamoli@u.nus.edu::bbef7d0e-d490-4bb8-8740-2aab5ff282ad" providerId="AD" clId="Web-{98686F9F-4E59-2728-D7F5-5BE1E42BC0AB}" dt="2026-09-29T10:55:59.779" v="113" actId="1076"/>
          <ac:spMkLst>
            <pc:docMk/>
            <pc:sldMk cId="0" sldId="256"/>
            <ac:spMk id="7" creationId="{00000000-0000-0000-0000-000000000000}"/>
          </ac:spMkLst>
        </pc:spChg>
        <pc:spChg chg="mod">
          <ac:chgData name="Lakshmi Barthwal Chamoli" userId="S::lakshmi.barthwal-chamoli@u.nus.edu::bbef7d0e-d490-4bb8-8740-2aab5ff282ad" providerId="AD" clId="Web-{98686F9F-4E59-2728-D7F5-5BE1E42BC0AB}" dt="2026-09-29T10:55:49.403" v="109" actId="1076"/>
          <ac:spMkLst>
            <pc:docMk/>
            <pc:sldMk cId="0" sldId="256"/>
            <ac:spMk id="8" creationId="{00000000-0000-0000-0000-000000000000}"/>
          </ac:spMkLst>
        </pc:spChg>
        <pc:spChg chg="mod">
          <ac:chgData name="Lakshmi Barthwal Chamoli" userId="S::lakshmi.barthwal-chamoli@u.nus.edu::bbef7d0e-d490-4bb8-8740-2aab5ff282ad" providerId="AD" clId="Web-{98686F9F-4E59-2728-D7F5-5BE1E42BC0AB}" dt="2026-09-29T10:55:45.122" v="108" actId="1076"/>
          <ac:spMkLst>
            <pc:docMk/>
            <pc:sldMk cId="0" sldId="256"/>
            <ac:spMk id="9" creationId="{00000000-0000-0000-0000-000000000000}"/>
          </ac:spMkLst>
        </pc:spChg>
        <pc:spChg chg="mod">
          <ac:chgData name="Lakshmi Barthwal Chamoli" userId="S::lakshmi.barthwal-chamoli@u.nus.edu::bbef7d0e-d490-4bb8-8740-2aab5ff282ad" providerId="AD" clId="Web-{98686F9F-4E59-2728-D7F5-5BE1E42BC0AB}" dt="2026-09-29T10:55:41.184" v="107" actId="1076"/>
          <ac:spMkLst>
            <pc:docMk/>
            <pc:sldMk cId="0" sldId="256"/>
            <ac:spMk id="10" creationId="{00000000-0000-0000-0000-000000000000}"/>
          </ac:spMkLst>
        </pc:spChg>
        <pc:spChg chg="add del mod">
          <ac:chgData name="Lakshmi Barthwal Chamoli" userId="S::lakshmi.barthwal-chamoli@u.nus.edu::bbef7d0e-d490-4bb8-8740-2aab5ff282ad" providerId="AD" clId="Web-{98686F9F-4E59-2728-D7F5-5BE1E42BC0AB}" dt="2026-09-29T10:56:02.466" v="114"/>
          <ac:spMkLst>
            <pc:docMk/>
            <pc:sldMk cId="0" sldId="256"/>
            <ac:spMk id="11" creationId="{D5CE8128-E2BC-1847-9542-B83A5DDF6250}"/>
          </ac:spMkLst>
        </pc:spChg>
      </pc:sldChg>
      <pc:sldChg chg="ord">
        <pc:chgData name="Lakshmi Barthwal Chamoli" userId="S::lakshmi.barthwal-chamoli@u.nus.edu::bbef7d0e-d490-4bb8-8740-2aab5ff282ad" providerId="AD" clId="Web-{98686F9F-4E59-2728-D7F5-5BE1E42BC0AB}" dt="2026-09-29T10:47:38.775" v="1"/>
        <pc:sldMkLst>
          <pc:docMk/>
          <pc:sldMk cId="0" sldId="259"/>
        </pc:sldMkLst>
      </pc:sldChg>
      <pc:sldChg chg="modSp">
        <pc:chgData name="Lakshmi Barthwal Chamoli" userId="S::lakshmi.barthwal-chamoli@u.nus.edu::bbef7d0e-d490-4bb8-8740-2aab5ff282ad" providerId="AD" clId="Web-{98686F9F-4E59-2728-D7F5-5BE1E42BC0AB}" dt="2026-09-29T10:47:50.932" v="2" actId="1076"/>
        <pc:sldMkLst>
          <pc:docMk/>
          <pc:sldMk cId="0" sldId="260"/>
        </pc:sldMkLst>
        <pc:picChg chg="mod">
          <ac:chgData name="Lakshmi Barthwal Chamoli" userId="S::lakshmi.barthwal-chamoli@u.nus.edu::bbef7d0e-d490-4bb8-8740-2aab5ff282ad" providerId="AD" clId="Web-{98686F9F-4E59-2728-D7F5-5BE1E42BC0AB}" dt="2026-09-29T10:47:50.932" v="2" actId="1076"/>
          <ac:picMkLst>
            <pc:docMk/>
            <pc:sldMk cId="0" sldId="260"/>
            <ac:picMk id="3" creationId="{00000000-0000-0000-0000-000000000000}"/>
          </ac:picMkLst>
        </pc:picChg>
      </pc:sldChg>
      <pc:sldChg chg="mod ord modShow">
        <pc:chgData name="Lakshmi Barthwal Chamoli" userId="S::lakshmi.barthwal-chamoli@u.nus.edu::bbef7d0e-d490-4bb8-8740-2aab5ff282ad" providerId="AD" clId="Web-{98686F9F-4E59-2728-D7F5-5BE1E42BC0AB}" dt="2026-09-29T11:04:12.095" v="134"/>
        <pc:sldMkLst>
          <pc:docMk/>
          <pc:sldMk cId="0" sldId="261"/>
        </pc:sldMkLst>
      </pc:sldChg>
      <pc:sldChg chg="modSp">
        <pc:chgData name="Lakshmi Barthwal Chamoli" userId="S::lakshmi.barthwal-chamoli@u.nus.edu::bbef7d0e-d490-4bb8-8740-2aab5ff282ad" providerId="AD" clId="Web-{98686F9F-4E59-2728-D7F5-5BE1E42BC0AB}" dt="2026-09-29T11:09:49.233" v="159" actId="20577"/>
        <pc:sldMkLst>
          <pc:docMk/>
          <pc:sldMk cId="3849242300" sldId="279"/>
        </pc:sldMkLst>
        <pc:spChg chg="mod">
          <ac:chgData name="Lakshmi Barthwal Chamoli" userId="S::lakshmi.barthwal-chamoli@u.nus.edu::bbef7d0e-d490-4bb8-8740-2aab5ff282ad" providerId="AD" clId="Web-{98686F9F-4E59-2728-D7F5-5BE1E42BC0AB}" dt="2026-09-29T11:09:30.185" v="147" actId="20577"/>
          <ac:spMkLst>
            <pc:docMk/>
            <pc:sldMk cId="3849242300" sldId="279"/>
            <ac:spMk id="6" creationId="{00000000-0000-0000-0000-000000000000}"/>
          </ac:spMkLst>
        </pc:spChg>
        <pc:spChg chg="mod">
          <ac:chgData name="Lakshmi Barthwal Chamoli" userId="S::lakshmi.barthwal-chamoli@u.nus.edu::bbef7d0e-d490-4bb8-8740-2aab5ff282ad" providerId="AD" clId="Web-{98686F9F-4E59-2728-D7F5-5BE1E42BC0AB}" dt="2026-09-29T11:09:35.279" v="152" actId="20577"/>
          <ac:spMkLst>
            <pc:docMk/>
            <pc:sldMk cId="3849242300" sldId="279"/>
            <ac:spMk id="11" creationId="{00000000-0000-0000-0000-000000000000}"/>
          </ac:spMkLst>
        </pc:spChg>
        <pc:spChg chg="mod">
          <ac:chgData name="Lakshmi Barthwal Chamoli" userId="S::lakshmi.barthwal-chamoli@u.nus.edu::bbef7d0e-d490-4bb8-8740-2aab5ff282ad" providerId="AD" clId="Web-{98686F9F-4E59-2728-D7F5-5BE1E42BC0AB}" dt="2026-09-29T11:09:41.654" v="156" actId="20577"/>
          <ac:spMkLst>
            <pc:docMk/>
            <pc:sldMk cId="3849242300" sldId="279"/>
            <ac:spMk id="16" creationId="{00000000-0000-0000-0000-000000000000}"/>
          </ac:spMkLst>
        </pc:spChg>
        <pc:spChg chg="mod">
          <ac:chgData name="Lakshmi Barthwal Chamoli" userId="S::lakshmi.barthwal-chamoli@u.nus.edu::bbef7d0e-d490-4bb8-8740-2aab5ff282ad" providerId="AD" clId="Web-{98686F9F-4E59-2728-D7F5-5BE1E42BC0AB}" dt="2026-09-29T11:09:49.233" v="159" actId="20577"/>
          <ac:spMkLst>
            <pc:docMk/>
            <pc:sldMk cId="3849242300" sldId="279"/>
            <ac:spMk id="21" creationId="{00000000-0000-0000-0000-000000000000}"/>
          </ac:spMkLst>
        </pc:spChg>
      </pc:sldChg>
      <pc:sldChg chg="modSp">
        <pc:chgData name="Lakshmi Barthwal Chamoli" userId="S::lakshmi.barthwal-chamoli@u.nus.edu::bbef7d0e-d490-4bb8-8740-2aab5ff282ad" providerId="AD" clId="Web-{98686F9F-4E59-2728-D7F5-5BE1E42BC0AB}" dt="2026-09-29T11:10:06.030" v="175" actId="20577"/>
        <pc:sldMkLst>
          <pc:docMk/>
          <pc:sldMk cId="2836919019" sldId="280"/>
        </pc:sldMkLst>
        <pc:spChg chg="mod">
          <ac:chgData name="Lakshmi Barthwal Chamoli" userId="S::lakshmi.barthwal-chamoli@u.nus.edu::bbef7d0e-d490-4bb8-8740-2aab5ff282ad" providerId="AD" clId="Web-{98686F9F-4E59-2728-D7F5-5BE1E42BC0AB}" dt="2026-09-29T11:10:06.030" v="175" actId="20577"/>
          <ac:spMkLst>
            <pc:docMk/>
            <pc:sldMk cId="2836919019" sldId="280"/>
            <ac:spMk id="2" creationId="{00000000-0000-0000-0000-000000000000}"/>
          </ac:spMkLst>
        </pc:spChg>
      </pc:sldChg>
      <pc:sldChg chg="modSp">
        <pc:chgData name="Lakshmi Barthwal Chamoli" userId="S::lakshmi.barthwal-chamoli@u.nus.edu::bbef7d0e-d490-4bb8-8740-2aab5ff282ad" providerId="AD" clId="Web-{98686F9F-4E59-2728-D7F5-5BE1E42BC0AB}" dt="2026-09-29T11:10:15.780" v="177" actId="20577"/>
        <pc:sldMkLst>
          <pc:docMk/>
          <pc:sldMk cId="117791554" sldId="281"/>
        </pc:sldMkLst>
        <pc:spChg chg="mod">
          <ac:chgData name="Lakshmi Barthwal Chamoli" userId="S::lakshmi.barthwal-chamoli@u.nus.edu::bbef7d0e-d490-4bb8-8740-2aab5ff282ad" providerId="AD" clId="Web-{98686F9F-4E59-2728-D7F5-5BE1E42BC0AB}" dt="2026-09-29T11:10:15.780" v="177" actId="20577"/>
          <ac:spMkLst>
            <pc:docMk/>
            <pc:sldMk cId="117791554" sldId="281"/>
            <ac:spMk id="2" creationId="{00000000-0000-0000-0000-000000000000}"/>
          </ac:spMkLst>
        </pc:spChg>
        <pc:spChg chg="mod">
          <ac:chgData name="Lakshmi Barthwal Chamoli" userId="S::lakshmi.barthwal-chamoli@u.nus.edu::bbef7d0e-d490-4bb8-8740-2aab5ff282ad" providerId="AD" clId="Web-{98686F9F-4E59-2728-D7F5-5BE1E42BC0AB}" dt="2026-09-29T11:06:55.460" v="143" actId="20577"/>
          <ac:spMkLst>
            <pc:docMk/>
            <pc:sldMk cId="117791554" sldId="281"/>
            <ac:spMk id="28" creationId="{00000000-0000-0000-0000-000000000000}"/>
          </ac:spMkLst>
        </pc:spChg>
      </pc:sldChg>
      <pc:sldChg chg="modSp">
        <pc:chgData name="Lakshmi Barthwal Chamoli" userId="S::lakshmi.barthwal-chamoli@u.nus.edu::bbef7d0e-d490-4bb8-8740-2aab5ff282ad" providerId="AD" clId="Web-{98686F9F-4E59-2728-D7F5-5BE1E42BC0AB}" dt="2026-09-29T11:10:23.046" v="181" actId="20577"/>
        <pc:sldMkLst>
          <pc:docMk/>
          <pc:sldMk cId="1670068760" sldId="282"/>
        </pc:sldMkLst>
        <pc:spChg chg="mod">
          <ac:chgData name="Lakshmi Barthwal Chamoli" userId="S::lakshmi.barthwal-chamoli@u.nus.edu::bbef7d0e-d490-4bb8-8740-2aab5ff282ad" providerId="AD" clId="Web-{98686F9F-4E59-2728-D7F5-5BE1E42BC0AB}" dt="2026-09-29T11:10:23.046" v="181" actId="20577"/>
          <ac:spMkLst>
            <pc:docMk/>
            <pc:sldMk cId="1670068760" sldId="282"/>
            <ac:spMk id="2" creationId="{00000000-0000-0000-0000-000000000000}"/>
          </ac:spMkLst>
        </pc:spChg>
      </pc:sldChg>
      <pc:sldChg chg="modSp">
        <pc:chgData name="Lakshmi Barthwal Chamoli" userId="S::lakshmi.barthwal-chamoli@u.nus.edu::bbef7d0e-d490-4bb8-8740-2aab5ff282ad" providerId="AD" clId="Web-{98686F9F-4E59-2728-D7F5-5BE1E42BC0AB}" dt="2026-09-29T11:22:29.918" v="191" actId="20577"/>
        <pc:sldMkLst>
          <pc:docMk/>
          <pc:sldMk cId="149930784" sldId="290"/>
        </pc:sldMkLst>
        <pc:spChg chg="mod">
          <ac:chgData name="Lakshmi Barthwal Chamoli" userId="S::lakshmi.barthwal-chamoli@u.nus.edu::bbef7d0e-d490-4bb8-8740-2aab5ff282ad" providerId="AD" clId="Web-{98686F9F-4E59-2728-D7F5-5BE1E42BC0AB}" dt="2026-09-29T11:21:46.479" v="187" actId="20577"/>
          <ac:spMkLst>
            <pc:docMk/>
            <pc:sldMk cId="149930784" sldId="290"/>
            <ac:spMk id="7" creationId="{00000000-0000-0000-0000-000000000000}"/>
          </ac:spMkLst>
        </pc:spChg>
        <pc:spChg chg="mod">
          <ac:chgData name="Lakshmi Barthwal Chamoli" userId="S::lakshmi.barthwal-chamoli@u.nus.edu::bbef7d0e-d490-4bb8-8740-2aab5ff282ad" providerId="AD" clId="Web-{98686F9F-4E59-2728-D7F5-5BE1E42BC0AB}" dt="2026-09-29T11:22:05.136" v="188" actId="20577"/>
          <ac:spMkLst>
            <pc:docMk/>
            <pc:sldMk cId="149930784" sldId="290"/>
            <ac:spMk id="8" creationId="{00000000-0000-0000-0000-000000000000}"/>
          </ac:spMkLst>
        </pc:spChg>
        <pc:spChg chg="mod">
          <ac:chgData name="Lakshmi Barthwal Chamoli" userId="S::lakshmi.barthwal-chamoli@u.nus.edu::bbef7d0e-d490-4bb8-8740-2aab5ff282ad" providerId="AD" clId="Web-{98686F9F-4E59-2728-D7F5-5BE1E42BC0AB}" dt="2026-09-29T11:22:13.699" v="189" actId="20577"/>
          <ac:spMkLst>
            <pc:docMk/>
            <pc:sldMk cId="149930784" sldId="290"/>
            <ac:spMk id="9" creationId="{00000000-0000-0000-0000-000000000000}"/>
          </ac:spMkLst>
        </pc:spChg>
        <pc:spChg chg="mod">
          <ac:chgData name="Lakshmi Barthwal Chamoli" userId="S::lakshmi.barthwal-chamoli@u.nus.edu::bbef7d0e-d490-4bb8-8740-2aab5ff282ad" providerId="AD" clId="Web-{98686F9F-4E59-2728-D7F5-5BE1E42BC0AB}" dt="2026-09-29T11:22:21.121" v="190" actId="20577"/>
          <ac:spMkLst>
            <pc:docMk/>
            <pc:sldMk cId="149930784" sldId="290"/>
            <ac:spMk id="10" creationId="{00000000-0000-0000-0000-000000000000}"/>
          </ac:spMkLst>
        </pc:spChg>
        <pc:spChg chg="mod">
          <ac:chgData name="Lakshmi Barthwal Chamoli" userId="S::lakshmi.barthwal-chamoli@u.nus.edu::bbef7d0e-d490-4bb8-8740-2aab5ff282ad" providerId="AD" clId="Web-{98686F9F-4E59-2728-D7F5-5BE1E42BC0AB}" dt="2026-09-29T11:22:29.918" v="191" actId="20577"/>
          <ac:spMkLst>
            <pc:docMk/>
            <pc:sldMk cId="149930784" sldId="290"/>
            <ac:spMk id="11" creationId="{00000000-0000-0000-0000-000000000000}"/>
          </ac:spMkLst>
        </pc:spChg>
        <pc:spChg chg="mod">
          <ac:chgData name="Lakshmi Barthwal Chamoli" userId="S::lakshmi.barthwal-chamoli@u.nus.edu::bbef7d0e-d490-4bb8-8740-2aab5ff282ad" providerId="AD" clId="Web-{98686F9F-4E59-2728-D7F5-5BE1E42BC0AB}" dt="2026-09-29T11:13:25.022" v="186" actId="20577"/>
          <ac:spMkLst>
            <pc:docMk/>
            <pc:sldMk cId="149930784" sldId="290"/>
            <ac:spMk id="126" creationId="{00000000-0000-0000-0000-000000000000}"/>
          </ac:spMkLst>
        </pc:spChg>
      </pc:sldChg>
      <pc:sldChg chg="modSp">
        <pc:chgData name="Lakshmi Barthwal Chamoli" userId="S::lakshmi.barthwal-chamoli@u.nus.edu::bbef7d0e-d490-4bb8-8740-2aab5ff282ad" providerId="AD" clId="Web-{98686F9F-4E59-2728-D7F5-5BE1E42BC0AB}" dt="2026-09-29T10:57:56.064" v="129" actId="1076"/>
        <pc:sldMkLst>
          <pc:docMk/>
          <pc:sldMk cId="0" sldId="296"/>
        </pc:sldMkLst>
        <pc:spChg chg="mod">
          <ac:chgData name="Lakshmi Barthwal Chamoli" userId="S::lakshmi.barthwal-chamoli@u.nus.edu::bbef7d0e-d490-4bb8-8740-2aab5ff282ad" providerId="AD" clId="Web-{98686F9F-4E59-2728-D7F5-5BE1E42BC0AB}" dt="2026-09-29T10:57:56.064" v="129" actId="1076"/>
          <ac:spMkLst>
            <pc:docMk/>
            <pc:sldMk cId="0" sldId="296"/>
            <ac:spMk id="3" creationId="{00000000-0000-0000-0000-000000000000}"/>
          </ac:spMkLst>
        </pc:spChg>
      </pc:sldChg>
      <pc:sldChg chg="ord">
        <pc:chgData name="Lakshmi Barthwal Chamoli" userId="S::lakshmi.barthwal-chamoli@u.nus.edu::bbef7d0e-d490-4bb8-8740-2aab5ff282ad" providerId="AD" clId="Web-{98686F9F-4E59-2728-D7F5-5BE1E42BC0AB}" dt="2026-09-29T10:45:36.739" v="0"/>
        <pc:sldMkLst>
          <pc:docMk/>
          <pc:sldMk cId="0" sldId="300"/>
        </pc:sldMkLst>
      </pc:sldChg>
      <pc:sldChg chg="modSp ord">
        <pc:chgData name="Lakshmi Barthwal Chamoli" userId="S::lakshmi.barthwal-chamoli@u.nus.edu::bbef7d0e-d490-4bb8-8740-2aab5ff282ad" providerId="AD" clId="Web-{98686F9F-4E59-2728-D7F5-5BE1E42BC0AB}" dt="2026-09-29T11:04:51.252" v="139" actId="20577"/>
        <pc:sldMkLst>
          <pc:docMk/>
          <pc:sldMk cId="1040635262" sldId="315"/>
        </pc:sldMkLst>
        <pc:spChg chg="mod">
          <ac:chgData name="Lakshmi Barthwal Chamoli" userId="S::lakshmi.barthwal-chamoli@u.nus.edu::bbef7d0e-d490-4bb8-8740-2aab5ff282ad" providerId="AD" clId="Web-{98686F9F-4E59-2728-D7F5-5BE1E42BC0AB}" dt="2026-09-29T11:04:51.252" v="139" actId="20577"/>
          <ac:spMkLst>
            <pc:docMk/>
            <pc:sldMk cId="1040635262" sldId="315"/>
            <ac:spMk id="4" creationId="{ACD72581-6942-B05C-CB8B-BA7ADC0BFC39}"/>
          </ac:spMkLst>
        </pc:spChg>
      </pc:sldChg>
    </pc:docChg>
  </pc:docChgLst>
  <pc:docChgLst>
    <pc:chgData name="Yuan Zilin" userId="51047104-1722-4084-9aad-3894d1ba0baa" providerId="ADAL" clId="{CD3A889C-5F60-4AA0-B12C-DDFF6B4A4693}"/>
    <pc:docChg chg="undo custSel addSld delSld modSld">
      <pc:chgData name="Yuan Zilin" userId="51047104-1722-4084-9aad-3894d1ba0baa" providerId="ADAL" clId="{CD3A889C-5F60-4AA0-B12C-DDFF6B4A4693}" dt="2026-09-29T12:02:42.346" v="21" actId="1076"/>
      <pc:docMkLst>
        <pc:docMk/>
      </pc:docMkLst>
      <pc:sldChg chg="modSp mod">
        <pc:chgData name="Yuan Zilin" userId="51047104-1722-4084-9aad-3894d1ba0baa" providerId="ADAL" clId="{CD3A889C-5F60-4AA0-B12C-DDFF6B4A4693}" dt="2026-09-29T12:02:42.346" v="21" actId="1076"/>
        <pc:sldMkLst>
          <pc:docMk/>
          <pc:sldMk cId="0" sldId="262"/>
        </pc:sldMkLst>
        <pc:picChg chg="mod">
          <ac:chgData name="Yuan Zilin" userId="51047104-1722-4084-9aad-3894d1ba0baa" providerId="ADAL" clId="{CD3A889C-5F60-4AA0-B12C-DDFF6B4A4693}" dt="2026-09-29T12:02:42.346" v="21" actId="1076"/>
          <ac:picMkLst>
            <pc:docMk/>
            <pc:sldMk cId="0" sldId="262"/>
            <ac:picMk id="18" creationId="{3D992034-C699-35F2-1016-AE25CE9A2EBF}"/>
          </ac:picMkLst>
        </pc:picChg>
      </pc:sldChg>
      <pc:sldChg chg="delSp modSp mod">
        <pc:chgData name="Yuan Zilin" userId="51047104-1722-4084-9aad-3894d1ba0baa" providerId="ADAL" clId="{CD3A889C-5F60-4AA0-B12C-DDFF6B4A4693}" dt="2026-09-29T11:37:50.979" v="19" actId="27636"/>
        <pc:sldMkLst>
          <pc:docMk/>
          <pc:sldMk cId="2216963187" sldId="263"/>
        </pc:sldMkLst>
        <pc:spChg chg="mod">
          <ac:chgData name="Yuan Zilin" userId="51047104-1722-4084-9aad-3894d1ba0baa" providerId="ADAL" clId="{CD3A889C-5F60-4AA0-B12C-DDFF6B4A4693}" dt="2026-09-29T11:37:50.979" v="19" actId="27636"/>
          <ac:spMkLst>
            <pc:docMk/>
            <pc:sldMk cId="2216963187" sldId="263"/>
            <ac:spMk id="7" creationId="{00000000-0000-0000-0000-000000000000}"/>
          </ac:spMkLst>
        </pc:spChg>
        <pc:spChg chg="mod">
          <ac:chgData name="Yuan Zilin" userId="51047104-1722-4084-9aad-3894d1ba0baa" providerId="ADAL" clId="{CD3A889C-5F60-4AA0-B12C-DDFF6B4A4693}" dt="2026-09-29T11:35:57.249" v="17" actId="20577"/>
          <ac:spMkLst>
            <pc:docMk/>
            <pc:sldMk cId="2216963187" sldId="263"/>
            <ac:spMk id="8" creationId="{00000000-0000-0000-0000-000000000000}"/>
          </ac:spMkLst>
        </pc:spChg>
        <pc:spChg chg="del">
          <ac:chgData name="Yuan Zilin" userId="51047104-1722-4084-9aad-3894d1ba0baa" providerId="ADAL" clId="{CD3A889C-5F60-4AA0-B12C-DDFF6B4A4693}" dt="2026-09-29T11:33:03.675" v="14" actId="478"/>
          <ac:spMkLst>
            <pc:docMk/>
            <pc:sldMk cId="2216963187" sldId="263"/>
            <ac:spMk id="12" creationId="{00000000-0000-0000-0000-000000000000}"/>
          </ac:spMkLst>
        </pc:spChg>
        <pc:spChg chg="mod">
          <ac:chgData name="Yuan Zilin" userId="51047104-1722-4084-9aad-3894d1ba0baa" providerId="ADAL" clId="{CD3A889C-5F60-4AA0-B12C-DDFF6B4A4693}" dt="2026-09-29T11:33:15.687" v="15" actId="1076"/>
          <ac:spMkLst>
            <pc:docMk/>
            <pc:sldMk cId="2216963187" sldId="263"/>
            <ac:spMk id="17" creationId="{00000000-0000-0000-0000-000000000000}"/>
          </ac:spMkLst>
        </pc:spChg>
        <pc:spChg chg="mod">
          <ac:chgData name="Yuan Zilin" userId="51047104-1722-4084-9aad-3894d1ba0baa" providerId="ADAL" clId="{CD3A889C-5F60-4AA0-B12C-DDFF6B4A4693}" dt="2026-09-29T11:33:24.503" v="16" actId="1076"/>
          <ac:spMkLst>
            <pc:docMk/>
            <pc:sldMk cId="2216963187" sldId="263"/>
            <ac:spMk id="18" creationId="{00000000-0000-0000-0000-000000000000}"/>
          </ac:spMkLst>
        </pc:spChg>
      </pc:sldChg>
      <pc:sldChg chg="addSp delSp modSp mod">
        <pc:chgData name="Yuan Zilin" userId="51047104-1722-4084-9aad-3894d1ba0baa" providerId="ADAL" clId="{CD3A889C-5F60-4AA0-B12C-DDFF6B4A4693}" dt="2026-09-29T11:00:29.007" v="13" actId="1076"/>
        <pc:sldMkLst>
          <pc:docMk/>
          <pc:sldMk cId="3066356878" sldId="265"/>
        </pc:sldMkLst>
        <pc:picChg chg="add del mod">
          <ac:chgData name="Yuan Zilin" userId="51047104-1722-4084-9aad-3894d1ba0baa" providerId="ADAL" clId="{CD3A889C-5F60-4AA0-B12C-DDFF6B4A4693}" dt="2026-09-29T11:00:13.933" v="11" actId="1076"/>
          <ac:picMkLst>
            <pc:docMk/>
            <pc:sldMk cId="3066356878" sldId="265"/>
            <ac:picMk id="6" creationId="{00000000-0000-0000-0000-000000000000}"/>
          </ac:picMkLst>
        </pc:picChg>
        <pc:picChg chg="add del mod">
          <ac:chgData name="Yuan Zilin" userId="51047104-1722-4084-9aad-3894d1ba0baa" providerId="ADAL" clId="{CD3A889C-5F60-4AA0-B12C-DDFF6B4A4693}" dt="2026-09-29T11:00:19.453" v="12" actId="1076"/>
          <ac:picMkLst>
            <pc:docMk/>
            <pc:sldMk cId="3066356878" sldId="265"/>
            <ac:picMk id="10" creationId="{00000000-0000-0000-0000-000000000000}"/>
          </ac:picMkLst>
        </pc:picChg>
        <pc:picChg chg="add del mod">
          <ac:chgData name="Yuan Zilin" userId="51047104-1722-4084-9aad-3894d1ba0baa" providerId="ADAL" clId="{CD3A889C-5F60-4AA0-B12C-DDFF6B4A4693}" dt="2026-09-29T11:00:29.007" v="13" actId="1076"/>
          <ac:picMkLst>
            <pc:docMk/>
            <pc:sldMk cId="3066356878" sldId="265"/>
            <ac:picMk id="14" creationId="{00000000-0000-0000-0000-000000000000}"/>
          </ac:picMkLst>
        </pc:picChg>
      </pc:sldChg>
      <pc:sldChg chg="modSp mod">
        <pc:chgData name="Yuan Zilin" userId="51047104-1722-4084-9aad-3894d1ba0baa" providerId="ADAL" clId="{CD3A889C-5F60-4AA0-B12C-DDFF6B4A4693}" dt="2026-09-29T10:42:34.291" v="4" actId="20577"/>
        <pc:sldMkLst>
          <pc:docMk/>
          <pc:sldMk cId="703970671" sldId="293"/>
        </pc:sldMkLst>
        <pc:spChg chg="mod">
          <ac:chgData name="Yuan Zilin" userId="51047104-1722-4084-9aad-3894d1ba0baa" providerId="ADAL" clId="{CD3A889C-5F60-4AA0-B12C-DDFF6B4A4693}" dt="2026-09-29T10:42:34.291" v="4" actId="20577"/>
          <ac:spMkLst>
            <pc:docMk/>
            <pc:sldMk cId="703970671" sldId="293"/>
            <ac:spMk id="18" creationId="{00000000-0000-0000-0000-000000000000}"/>
          </ac:spMkLst>
        </pc:spChg>
      </pc:sldChg>
      <pc:sldChg chg="del">
        <pc:chgData name="Yuan Zilin" userId="51047104-1722-4084-9aad-3894d1ba0baa" providerId="ADAL" clId="{CD3A889C-5F60-4AA0-B12C-DDFF6B4A4693}" dt="2026-09-29T10:40:08.533" v="0" actId="47"/>
        <pc:sldMkLst>
          <pc:docMk/>
          <pc:sldMk cId="0" sldId="299"/>
        </pc:sldMkLst>
      </pc:sldChg>
      <pc:sldChg chg="add">
        <pc:chgData name="Yuan Zilin" userId="51047104-1722-4084-9aad-3894d1ba0baa" providerId="ADAL" clId="{CD3A889C-5F60-4AA0-B12C-DDFF6B4A4693}" dt="2026-09-29T10:40:51.561" v="2"/>
        <pc:sldMkLst>
          <pc:docMk/>
          <pc:sldMk cId="0" sldId="306"/>
        </pc:sldMkLst>
      </pc:sldChg>
      <pc:sldChg chg="add">
        <pc:chgData name="Yuan Zilin" userId="51047104-1722-4084-9aad-3894d1ba0baa" providerId="ADAL" clId="{CD3A889C-5F60-4AA0-B12C-DDFF6B4A4693}" dt="2026-09-29T10:40:36.733" v="1"/>
        <pc:sldMkLst>
          <pc:docMk/>
          <pc:sldMk cId="0" sldId="307"/>
        </pc:sldMkLst>
      </pc:sldChg>
      <pc:sldChg chg="add">
        <pc:chgData name="Yuan Zilin" userId="51047104-1722-4084-9aad-3894d1ba0baa" providerId="ADAL" clId="{CD3A889C-5F60-4AA0-B12C-DDFF6B4A4693}" dt="2026-09-29T10:41:41.497" v="3"/>
        <pc:sldMkLst>
          <pc:docMk/>
          <pc:sldMk cId="0" sldId="308"/>
        </pc:sldMkLst>
      </pc:sldChg>
      <pc:sldChg chg="add">
        <pc:chgData name="Yuan Zilin" userId="51047104-1722-4084-9aad-3894d1ba0baa" providerId="ADAL" clId="{CD3A889C-5F60-4AA0-B12C-DDFF6B4A4693}" dt="2026-09-29T10:41:41.497" v="3"/>
        <pc:sldMkLst>
          <pc:docMk/>
          <pc:sldMk cId="0" sldId="309"/>
        </pc:sldMkLst>
      </pc:sldChg>
      <pc:sldChg chg="add">
        <pc:chgData name="Yuan Zilin" userId="51047104-1722-4084-9aad-3894d1ba0baa" providerId="ADAL" clId="{CD3A889C-5F60-4AA0-B12C-DDFF6B4A4693}" dt="2026-09-29T10:41:41.497" v="3"/>
        <pc:sldMkLst>
          <pc:docMk/>
          <pc:sldMk cId="0" sldId="310"/>
        </pc:sldMkLst>
      </pc:sldChg>
      <pc:sldChg chg="add">
        <pc:chgData name="Yuan Zilin" userId="51047104-1722-4084-9aad-3894d1ba0baa" providerId="ADAL" clId="{CD3A889C-5F60-4AA0-B12C-DDFF6B4A4693}" dt="2026-09-29T10:41:41.497" v="3"/>
        <pc:sldMkLst>
          <pc:docMk/>
          <pc:sldMk cId="0" sldId="311"/>
        </pc:sldMkLst>
      </pc:sldChg>
      <pc:sldChg chg="add">
        <pc:chgData name="Yuan Zilin" userId="51047104-1722-4084-9aad-3894d1ba0baa" providerId="ADAL" clId="{CD3A889C-5F60-4AA0-B12C-DDFF6B4A4693}" dt="2026-09-29T10:41:41.497" v="3"/>
        <pc:sldMkLst>
          <pc:docMk/>
          <pc:sldMk cId="0" sldId="312"/>
        </pc:sldMkLst>
      </pc:sldChg>
      <pc:sldChg chg="add">
        <pc:chgData name="Yuan Zilin" userId="51047104-1722-4084-9aad-3894d1ba0baa" providerId="ADAL" clId="{CD3A889C-5F60-4AA0-B12C-DDFF6B4A4693}" dt="2026-09-29T10:41:41.497" v="3"/>
        <pc:sldMkLst>
          <pc:docMk/>
          <pc:sldMk cId="0" sldId="313"/>
        </pc:sldMkLst>
      </pc:sldChg>
      <pc:sldChg chg="add">
        <pc:chgData name="Yuan Zilin" userId="51047104-1722-4084-9aad-3894d1ba0baa" providerId="ADAL" clId="{CD3A889C-5F60-4AA0-B12C-DDFF6B4A4693}" dt="2026-09-29T10:41:41.497" v="3"/>
        <pc:sldMkLst>
          <pc:docMk/>
          <pc:sldMk cId="0" sldId="314"/>
        </pc:sldMkLst>
      </pc:sldChg>
    </pc:docChg>
  </pc:docChgLst>
  <pc:docChgLst>
    <pc:chgData name="Yuan Zilin" userId="51047104-1722-4084-9aad-3894d1ba0baa" providerId="ADAL" clId="{AA8A40C5-6013-4E94-B50D-3F2C25529380}"/>
    <pc:docChg chg="addSld delSld modSld">
      <pc:chgData name="Yuan Zilin" userId="51047104-1722-4084-9aad-3894d1ba0baa" providerId="ADAL" clId="{AA8A40C5-6013-4E94-B50D-3F2C25529380}" dt="2026-09-29T11:54:50.960" v="3" actId="47"/>
      <pc:docMkLst>
        <pc:docMk/>
      </pc:docMkLst>
      <pc:sldChg chg="del">
        <pc:chgData name="Yuan Zilin" userId="51047104-1722-4084-9aad-3894d1ba0baa" providerId="ADAL" clId="{AA8A40C5-6013-4E94-B50D-3F2C25529380}" dt="2026-09-29T11:30:23.708" v="1" actId="47"/>
        <pc:sldMkLst>
          <pc:docMk/>
          <pc:sldMk cId="703970671" sldId="293"/>
        </pc:sldMkLst>
      </pc:sldChg>
      <pc:sldChg chg="add del">
        <pc:chgData name="Yuan Zilin" userId="51047104-1722-4084-9aad-3894d1ba0baa" providerId="ADAL" clId="{AA8A40C5-6013-4E94-B50D-3F2C25529380}" dt="2026-09-29T11:54:50.960" v="3" actId="47"/>
        <pc:sldMkLst>
          <pc:docMk/>
          <pc:sldMk cId="0" sldId="305"/>
        </pc:sldMkLst>
      </pc:sldChg>
      <pc:sldChg chg="add">
        <pc:chgData name="Yuan Zilin" userId="51047104-1722-4084-9aad-3894d1ba0baa" providerId="ADAL" clId="{AA8A40C5-6013-4E94-B50D-3F2C25529380}" dt="2026-09-29T11:54:48.438" v="2"/>
        <pc:sldMkLst>
          <pc:docMk/>
          <pc:sldMk cId="0" sldId="318"/>
        </pc:sldMkLst>
      </pc:sldChg>
    </pc:docChg>
  </pc:docChgLst>
  <pc:docChgLst>
    <pc:chgData name="Muneeswaran Muthaiah" userId="S::muthaiah_muneeswaran@u.nus.edu::672b9fc6-8500-4c2d-8f3d-f89698d4f7c7" providerId="AD" clId="Web-{00000000-0000-0000-0000-000000000000}"/>
    <pc:docChg chg="addSld modSld">
      <pc:chgData name="Muneeswaran Muthaiah" userId="S::muthaiah_muneeswaran@u.nus.edu::672b9fc6-8500-4c2d-8f3d-f89698d4f7c7" providerId="AD" clId="Web-{00000000-0000-0000-0000-000000000000}" dt="2026-09-29T11:10:37.988" v="13" actId="20577"/>
      <pc:docMkLst>
        <pc:docMk/>
      </pc:docMkLst>
      <pc:sldChg chg="modSp">
        <pc:chgData name="Muneeswaran Muthaiah" userId="S::muthaiah_muneeswaran@u.nus.edu::672b9fc6-8500-4c2d-8f3d-f89698d4f7c7" providerId="AD" clId="Web-{00000000-0000-0000-0000-000000000000}" dt="2026-09-29T11:10:37.988" v="13" actId="20577"/>
        <pc:sldMkLst>
          <pc:docMk/>
          <pc:sldMk cId="1670068760" sldId="282"/>
        </pc:sldMkLst>
        <pc:spChg chg="mod">
          <ac:chgData name="Muneeswaran Muthaiah" userId="S::muthaiah_muneeswaran@u.nus.edu::672b9fc6-8500-4c2d-8f3d-f89698d4f7c7" providerId="AD" clId="Web-{00000000-0000-0000-0000-000000000000}" dt="2026-09-29T11:10:37.988" v="13" actId="20577"/>
          <ac:spMkLst>
            <pc:docMk/>
            <pc:sldMk cId="1670068760" sldId="282"/>
            <ac:spMk id="2" creationId="{00000000-0000-0000-0000-000000000000}"/>
          </ac:spMkLst>
        </pc:spChg>
      </pc:sldChg>
      <pc:sldChg chg="addSp delSp modSp new">
        <pc:chgData name="Muneeswaran Muthaiah" userId="S::muthaiah_muneeswaran@u.nus.edu::672b9fc6-8500-4c2d-8f3d-f89698d4f7c7" providerId="AD" clId="Web-{00000000-0000-0000-0000-000000000000}" dt="2026-09-29T11:01:12.653" v="11" actId="14100"/>
        <pc:sldMkLst>
          <pc:docMk/>
          <pc:sldMk cId="1040635262" sldId="315"/>
        </pc:sldMkLst>
        <pc:spChg chg="add mod">
          <ac:chgData name="Muneeswaran Muthaiah" userId="S::muthaiah_muneeswaran@u.nus.edu::672b9fc6-8500-4c2d-8f3d-f89698d4f7c7" providerId="AD" clId="Web-{00000000-0000-0000-0000-000000000000}" dt="2026-09-29T11:01:12.653" v="11" actId="14100"/>
          <ac:spMkLst>
            <pc:docMk/>
            <pc:sldMk cId="1040635262" sldId="315"/>
            <ac:spMk id="4" creationId="{ACD72581-6942-B05C-CB8B-BA7ADC0BFC39}"/>
          </ac:spMkLst>
        </pc:spChg>
        <pc:picChg chg="add mod">
          <ac:chgData name="Muneeswaran Muthaiah" userId="S::muthaiah_muneeswaran@u.nus.edu::672b9fc6-8500-4c2d-8f3d-f89698d4f7c7" providerId="AD" clId="Web-{00000000-0000-0000-0000-000000000000}" dt="2026-09-29T11:00:47.464" v="5" actId="14100"/>
          <ac:picMkLst>
            <pc:docMk/>
            <pc:sldMk cId="1040635262" sldId="315"/>
            <ac:picMk id="2" creationId="{CA4DBC38-7D4C-CD0A-A21E-6D1904FD60EC}"/>
          </ac:picMkLst>
        </pc:picChg>
        <pc:picChg chg="add del mod">
          <ac:chgData name="Muneeswaran Muthaiah" userId="S::muthaiah_muneeswaran@u.nus.edu::672b9fc6-8500-4c2d-8f3d-f89698d4f7c7" providerId="AD" clId="Web-{00000000-0000-0000-0000-000000000000}" dt="2026-09-29T11:00:38.557" v="3"/>
          <ac:picMkLst>
            <pc:docMk/>
            <pc:sldMk cId="1040635262" sldId="315"/>
            <ac:picMk id="3" creationId="{3C6D8CC3-7ACB-A132-3087-123B0FAE9682}"/>
          </ac:picMkLst>
        </pc:picChg>
      </pc:sldChg>
    </pc:docChg>
  </pc:docChgLst>
  <pc:docChgLst>
    <pc:chgData name="Muneeswaran Muthaiah" userId="S::muthaiah_muneeswaran@u.nus.edu::672b9fc6-8500-4c2d-8f3d-f89698d4f7c7" providerId="AD" clId="Web-{1478F5A1-C67C-1276-6D7F-A329CAFBE71E}"/>
    <pc:docChg chg="addSld delSld modSld sldOrd">
      <pc:chgData name="Muneeswaran Muthaiah" userId="S::muthaiah_muneeswaran@u.nus.edu::672b9fc6-8500-4c2d-8f3d-f89698d4f7c7" providerId="AD" clId="Web-{1478F5A1-C67C-1276-6D7F-A329CAFBE71E}" dt="2026-09-29T12:05:47.119" v="143" actId="20577"/>
      <pc:docMkLst>
        <pc:docMk/>
      </pc:docMkLst>
      <pc:sldChg chg="addSp delSp modSp mod setBg">
        <pc:chgData name="Muneeswaran Muthaiah" userId="S::muthaiah_muneeswaran@u.nus.edu::672b9fc6-8500-4c2d-8f3d-f89698d4f7c7" providerId="AD" clId="Web-{1478F5A1-C67C-1276-6D7F-A329CAFBE71E}" dt="2026-09-29T12:05:47.119" v="143" actId="20577"/>
        <pc:sldMkLst>
          <pc:docMk/>
          <pc:sldMk cId="0" sldId="256"/>
        </pc:sldMkLst>
        <pc:spChg chg="mod">
          <ac:chgData name="Muneeswaran Muthaiah" userId="S::muthaiah_muneeswaran@u.nus.edu::672b9fc6-8500-4c2d-8f3d-f89698d4f7c7" providerId="AD" clId="Web-{1478F5A1-C67C-1276-6D7F-A329CAFBE71E}" dt="2026-09-29T12:05:47.119" v="143" actId="20577"/>
          <ac:spMkLst>
            <pc:docMk/>
            <pc:sldMk cId="0" sldId="256"/>
            <ac:spMk id="2" creationId="{00000000-0000-0000-0000-000000000000}"/>
          </ac:spMkLst>
        </pc:spChg>
        <pc:spChg chg="del mod">
          <ac:chgData name="Muneeswaran Muthaiah" userId="S::muthaiah_muneeswaran@u.nus.edu::672b9fc6-8500-4c2d-8f3d-f89698d4f7c7" providerId="AD" clId="Web-{1478F5A1-C67C-1276-6D7F-A329CAFBE71E}" dt="2026-09-29T12:02:30.691" v="128"/>
          <ac:spMkLst>
            <pc:docMk/>
            <pc:sldMk cId="0" sldId="256"/>
            <ac:spMk id="3" creationId="{00000000-0000-0000-0000-000000000000}"/>
          </ac:spMkLst>
        </pc:spChg>
        <pc:spChg chg="add del mod">
          <ac:chgData name="Muneeswaran Muthaiah" userId="S::muthaiah_muneeswaran@u.nus.edu::672b9fc6-8500-4c2d-8f3d-f89698d4f7c7" providerId="AD" clId="Web-{1478F5A1-C67C-1276-6D7F-A329CAFBE71E}" dt="2026-09-29T12:04:27.304" v="139"/>
          <ac:spMkLst>
            <pc:docMk/>
            <pc:sldMk cId="0" sldId="256"/>
            <ac:spMk id="4" creationId="{00000000-0000-0000-0000-000000000000}"/>
          </ac:spMkLst>
        </pc:spChg>
        <pc:spChg chg="add del mod">
          <ac:chgData name="Muneeswaran Muthaiah" userId="S::muthaiah_muneeswaran@u.nus.edu::672b9fc6-8500-4c2d-8f3d-f89698d4f7c7" providerId="AD" clId="Web-{1478F5A1-C67C-1276-6D7F-A329CAFBE71E}" dt="2026-09-29T12:04:37.336" v="140"/>
          <ac:spMkLst>
            <pc:docMk/>
            <pc:sldMk cId="0" sldId="256"/>
            <ac:spMk id="5" creationId="{00000000-0000-0000-0000-000000000000}"/>
          </ac:spMkLst>
        </pc:spChg>
        <pc:spChg chg="add del mod">
          <ac:chgData name="Muneeswaran Muthaiah" userId="S::muthaiah_muneeswaran@u.nus.edu::672b9fc6-8500-4c2d-8f3d-f89698d4f7c7" providerId="AD" clId="Web-{1478F5A1-C67C-1276-6D7F-A329CAFBE71E}" dt="2026-09-29T12:04:39.680" v="141"/>
          <ac:spMkLst>
            <pc:docMk/>
            <pc:sldMk cId="0" sldId="256"/>
            <ac:spMk id="6" creationId="{00000000-0000-0000-0000-000000000000}"/>
          </ac:spMkLst>
        </pc:spChg>
        <pc:spChg chg="add del mod">
          <ac:chgData name="Muneeswaran Muthaiah" userId="S::muthaiah_muneeswaran@u.nus.edu::672b9fc6-8500-4c2d-8f3d-f89698d4f7c7" providerId="AD" clId="Web-{1478F5A1-C67C-1276-6D7F-A329CAFBE71E}" dt="2026-09-29T12:04:47.024" v="142"/>
          <ac:spMkLst>
            <pc:docMk/>
            <pc:sldMk cId="0" sldId="256"/>
            <ac:spMk id="7" creationId="{00000000-0000-0000-0000-000000000000}"/>
          </ac:spMkLst>
        </pc:spChg>
        <pc:spChg chg="mod">
          <ac:chgData name="Muneeswaran Muthaiah" userId="S::muthaiah_muneeswaran@u.nus.edu::672b9fc6-8500-4c2d-8f3d-f89698d4f7c7" providerId="AD" clId="Web-{1478F5A1-C67C-1276-6D7F-A329CAFBE71E}" dt="2026-09-29T12:02:43.738" v="129" actId="1076"/>
          <ac:spMkLst>
            <pc:docMk/>
            <pc:sldMk cId="0" sldId="256"/>
            <ac:spMk id="8" creationId="{00000000-0000-0000-0000-000000000000}"/>
          </ac:spMkLst>
        </pc:spChg>
        <pc:spChg chg="mod">
          <ac:chgData name="Muneeswaran Muthaiah" userId="S::muthaiah_muneeswaran@u.nus.edu::672b9fc6-8500-4c2d-8f3d-f89698d4f7c7" providerId="AD" clId="Web-{1478F5A1-C67C-1276-6D7F-A329CAFBE71E}" dt="2026-09-29T12:00:10.140" v="110" actId="20577"/>
          <ac:spMkLst>
            <pc:docMk/>
            <pc:sldMk cId="0" sldId="256"/>
            <ac:spMk id="9" creationId="{00000000-0000-0000-0000-000000000000}"/>
          </ac:spMkLst>
        </pc:spChg>
      </pc:sldChg>
      <pc:sldChg chg="addSp delSp modSp">
        <pc:chgData name="Muneeswaran Muthaiah" userId="S::muthaiah_muneeswaran@u.nus.edu::672b9fc6-8500-4c2d-8f3d-f89698d4f7c7" providerId="AD" clId="Web-{1478F5A1-C67C-1276-6D7F-A329CAFBE71E}" dt="2026-09-29T11:37:57.269" v="28" actId="14100"/>
        <pc:sldMkLst>
          <pc:docMk/>
          <pc:sldMk cId="0" sldId="260"/>
        </pc:sldMkLst>
        <pc:spChg chg="del">
          <ac:chgData name="Muneeswaran Muthaiah" userId="S::muthaiah_muneeswaran@u.nus.edu::672b9fc6-8500-4c2d-8f3d-f89698d4f7c7" providerId="AD" clId="Web-{1478F5A1-C67C-1276-6D7F-A329CAFBE71E}" dt="2026-09-29T11:37:57.097" v="26"/>
          <ac:spMkLst>
            <pc:docMk/>
            <pc:sldMk cId="0" sldId="260"/>
            <ac:spMk id="2" creationId="{00000000-0000-0000-0000-000000000000}"/>
          </ac:spMkLst>
        </pc:spChg>
        <pc:picChg chg="del">
          <ac:chgData name="Muneeswaran Muthaiah" userId="S::muthaiah_muneeswaran@u.nus.edu::672b9fc6-8500-4c2d-8f3d-f89698d4f7c7" providerId="AD" clId="Web-{1478F5A1-C67C-1276-6D7F-A329CAFBE71E}" dt="2026-09-29T11:33:39.760" v="23"/>
          <ac:picMkLst>
            <pc:docMk/>
            <pc:sldMk cId="0" sldId="260"/>
            <ac:picMk id="3" creationId="{00000000-0000-0000-0000-000000000000}"/>
          </ac:picMkLst>
        </pc:picChg>
        <pc:picChg chg="add mod">
          <ac:chgData name="Muneeswaran Muthaiah" userId="S::muthaiah_muneeswaran@u.nus.edu::672b9fc6-8500-4c2d-8f3d-f89698d4f7c7" providerId="AD" clId="Web-{1478F5A1-C67C-1276-6D7F-A329CAFBE71E}" dt="2026-09-29T11:37:57.269" v="28" actId="14100"/>
          <ac:picMkLst>
            <pc:docMk/>
            <pc:sldMk cId="0" sldId="260"/>
            <ac:picMk id="4" creationId="{69E4A59E-5013-7086-5F20-725436A68091}"/>
          </ac:picMkLst>
        </pc:picChg>
      </pc:sldChg>
      <pc:sldChg chg="addSp delSp modSp">
        <pc:chgData name="Muneeswaran Muthaiah" userId="S::muthaiah_muneeswaran@u.nus.edu::672b9fc6-8500-4c2d-8f3d-f89698d4f7c7" providerId="AD" clId="Web-{1478F5A1-C67C-1276-6D7F-A329CAFBE71E}" dt="2026-09-29T11:32:31.867" v="21"/>
        <pc:sldMkLst>
          <pc:docMk/>
          <pc:sldMk cId="0" sldId="262"/>
        </pc:sldMkLst>
        <pc:spChg chg="del">
          <ac:chgData name="Muneeswaran Muthaiah" userId="S::muthaiah_muneeswaran@u.nus.edu::672b9fc6-8500-4c2d-8f3d-f89698d4f7c7" providerId="AD" clId="Web-{1478F5A1-C67C-1276-6D7F-A329CAFBE71E}" dt="2026-09-29T11:21:53.597" v="13"/>
          <ac:spMkLst>
            <pc:docMk/>
            <pc:sldMk cId="0" sldId="262"/>
            <ac:spMk id="2" creationId="{00000000-0000-0000-0000-000000000000}"/>
          </ac:spMkLst>
        </pc:spChg>
        <pc:spChg chg="del">
          <ac:chgData name="Muneeswaran Muthaiah" userId="S::muthaiah_muneeswaran@u.nus.edu::672b9fc6-8500-4c2d-8f3d-f89698d4f7c7" providerId="AD" clId="Web-{1478F5A1-C67C-1276-6D7F-A329CAFBE71E}" dt="2026-09-29T11:21:53.597" v="12"/>
          <ac:spMkLst>
            <pc:docMk/>
            <pc:sldMk cId="0" sldId="262"/>
            <ac:spMk id="3" creationId="{00000000-0000-0000-0000-000000000000}"/>
          </ac:spMkLst>
        </pc:spChg>
        <pc:spChg chg="del">
          <ac:chgData name="Muneeswaran Muthaiah" userId="S::muthaiah_muneeswaran@u.nus.edu::672b9fc6-8500-4c2d-8f3d-f89698d4f7c7" providerId="AD" clId="Web-{1478F5A1-C67C-1276-6D7F-A329CAFBE71E}" dt="2026-09-29T11:21:53.597" v="11"/>
          <ac:spMkLst>
            <pc:docMk/>
            <pc:sldMk cId="0" sldId="262"/>
            <ac:spMk id="4" creationId="{00000000-0000-0000-0000-000000000000}"/>
          </ac:spMkLst>
        </pc:spChg>
        <pc:spChg chg="del">
          <ac:chgData name="Muneeswaran Muthaiah" userId="S::muthaiah_muneeswaran@u.nus.edu::672b9fc6-8500-4c2d-8f3d-f89698d4f7c7" providerId="AD" clId="Web-{1478F5A1-C67C-1276-6D7F-A329CAFBE71E}" dt="2026-09-29T11:21:53.597" v="9"/>
          <ac:spMkLst>
            <pc:docMk/>
            <pc:sldMk cId="0" sldId="262"/>
            <ac:spMk id="6" creationId="{00000000-0000-0000-0000-000000000000}"/>
          </ac:spMkLst>
        </pc:spChg>
        <pc:spChg chg="del">
          <ac:chgData name="Muneeswaran Muthaiah" userId="S::muthaiah_muneeswaran@u.nus.edu::672b9fc6-8500-4c2d-8f3d-f89698d4f7c7" providerId="AD" clId="Web-{1478F5A1-C67C-1276-6D7F-A329CAFBE71E}" dt="2026-09-29T11:21:53.597" v="8"/>
          <ac:spMkLst>
            <pc:docMk/>
            <pc:sldMk cId="0" sldId="262"/>
            <ac:spMk id="7" creationId="{00000000-0000-0000-0000-000000000000}"/>
          </ac:spMkLst>
        </pc:spChg>
        <pc:spChg chg="del">
          <ac:chgData name="Muneeswaran Muthaiah" userId="S::muthaiah_muneeswaran@u.nus.edu::672b9fc6-8500-4c2d-8f3d-f89698d4f7c7" providerId="AD" clId="Web-{1478F5A1-C67C-1276-6D7F-A329CAFBE71E}" dt="2026-09-29T11:21:53.597" v="7"/>
          <ac:spMkLst>
            <pc:docMk/>
            <pc:sldMk cId="0" sldId="262"/>
            <ac:spMk id="8" creationId="{00000000-0000-0000-0000-000000000000}"/>
          </ac:spMkLst>
        </pc:spChg>
        <pc:spChg chg="del">
          <ac:chgData name="Muneeswaran Muthaiah" userId="S::muthaiah_muneeswaran@u.nus.edu::672b9fc6-8500-4c2d-8f3d-f89698d4f7c7" providerId="AD" clId="Web-{1478F5A1-C67C-1276-6D7F-A329CAFBE71E}" dt="2026-09-29T11:21:53.597" v="5"/>
          <ac:spMkLst>
            <pc:docMk/>
            <pc:sldMk cId="0" sldId="262"/>
            <ac:spMk id="10" creationId="{00000000-0000-0000-0000-000000000000}"/>
          </ac:spMkLst>
        </pc:spChg>
        <pc:spChg chg="del">
          <ac:chgData name="Muneeswaran Muthaiah" userId="S::muthaiah_muneeswaran@u.nus.edu::672b9fc6-8500-4c2d-8f3d-f89698d4f7c7" providerId="AD" clId="Web-{1478F5A1-C67C-1276-6D7F-A329CAFBE71E}" dt="2026-09-29T11:21:53.597" v="4"/>
          <ac:spMkLst>
            <pc:docMk/>
            <pc:sldMk cId="0" sldId="262"/>
            <ac:spMk id="11" creationId="{00000000-0000-0000-0000-000000000000}"/>
          </ac:spMkLst>
        </pc:spChg>
        <pc:spChg chg="del">
          <ac:chgData name="Muneeswaran Muthaiah" userId="S::muthaiah_muneeswaran@u.nus.edu::672b9fc6-8500-4c2d-8f3d-f89698d4f7c7" providerId="AD" clId="Web-{1478F5A1-C67C-1276-6D7F-A329CAFBE71E}" dt="2026-09-29T11:21:53.597" v="3"/>
          <ac:spMkLst>
            <pc:docMk/>
            <pc:sldMk cId="0" sldId="262"/>
            <ac:spMk id="12" creationId="{00000000-0000-0000-0000-000000000000}"/>
          </ac:spMkLst>
        </pc:spChg>
        <pc:spChg chg="del">
          <ac:chgData name="Muneeswaran Muthaiah" userId="S::muthaiah_muneeswaran@u.nus.edu::672b9fc6-8500-4c2d-8f3d-f89698d4f7c7" providerId="AD" clId="Web-{1478F5A1-C67C-1276-6D7F-A329CAFBE71E}" dt="2026-09-29T11:21:53.597" v="1"/>
          <ac:spMkLst>
            <pc:docMk/>
            <pc:sldMk cId="0" sldId="262"/>
            <ac:spMk id="14" creationId="{00000000-0000-0000-0000-000000000000}"/>
          </ac:spMkLst>
        </pc:spChg>
        <pc:spChg chg="del">
          <ac:chgData name="Muneeswaran Muthaiah" userId="S::muthaiah_muneeswaran@u.nus.edu::672b9fc6-8500-4c2d-8f3d-f89698d4f7c7" providerId="AD" clId="Web-{1478F5A1-C67C-1276-6D7F-A329CAFBE71E}" dt="2026-09-29T11:21:53.597" v="0"/>
          <ac:spMkLst>
            <pc:docMk/>
            <pc:sldMk cId="0" sldId="262"/>
            <ac:spMk id="15" creationId="{00000000-0000-0000-0000-000000000000}"/>
          </ac:spMkLst>
        </pc:spChg>
        <pc:spChg chg="add mod">
          <ac:chgData name="Muneeswaran Muthaiah" userId="S::muthaiah_muneeswaran@u.nus.edu::672b9fc6-8500-4c2d-8f3d-f89698d4f7c7" providerId="AD" clId="Web-{1478F5A1-C67C-1276-6D7F-A329CAFBE71E}" dt="2026-09-29T11:26:10.668" v="19" actId="14100"/>
          <ac:spMkLst>
            <pc:docMk/>
            <pc:sldMk cId="0" sldId="262"/>
            <ac:spMk id="17" creationId="{616A38B5-A4D2-5A97-81A7-D9A28526E760}"/>
          </ac:spMkLst>
        </pc:spChg>
        <pc:picChg chg="del">
          <ac:chgData name="Muneeswaran Muthaiah" userId="S::muthaiah_muneeswaran@u.nus.edu::672b9fc6-8500-4c2d-8f3d-f89698d4f7c7" providerId="AD" clId="Web-{1478F5A1-C67C-1276-6D7F-A329CAFBE71E}" dt="2026-09-29T11:21:53.597" v="10"/>
          <ac:picMkLst>
            <pc:docMk/>
            <pc:sldMk cId="0" sldId="262"/>
            <ac:picMk id="5" creationId="{00000000-0000-0000-0000-000000000000}"/>
          </ac:picMkLst>
        </pc:picChg>
        <pc:picChg chg="del">
          <ac:chgData name="Muneeswaran Muthaiah" userId="S::muthaiah_muneeswaran@u.nus.edu::672b9fc6-8500-4c2d-8f3d-f89698d4f7c7" providerId="AD" clId="Web-{1478F5A1-C67C-1276-6D7F-A329CAFBE71E}" dt="2026-09-29T11:21:53.597" v="6"/>
          <ac:picMkLst>
            <pc:docMk/>
            <pc:sldMk cId="0" sldId="262"/>
            <ac:picMk id="9" creationId="{00000000-0000-0000-0000-000000000000}"/>
          </ac:picMkLst>
        </pc:picChg>
        <pc:picChg chg="del">
          <ac:chgData name="Muneeswaran Muthaiah" userId="S::muthaiah_muneeswaran@u.nus.edu::672b9fc6-8500-4c2d-8f3d-f89698d4f7c7" providerId="AD" clId="Web-{1478F5A1-C67C-1276-6D7F-A329CAFBE71E}" dt="2026-09-29T11:21:53.597" v="2"/>
          <ac:picMkLst>
            <pc:docMk/>
            <pc:sldMk cId="0" sldId="262"/>
            <ac:picMk id="13" creationId="{00000000-0000-0000-0000-000000000000}"/>
          </ac:picMkLst>
        </pc:picChg>
        <pc:picChg chg="add del mod">
          <ac:chgData name="Muneeswaran Muthaiah" userId="S::muthaiah_muneeswaran@u.nus.edu::672b9fc6-8500-4c2d-8f3d-f89698d4f7c7" providerId="AD" clId="Web-{1478F5A1-C67C-1276-6D7F-A329CAFBE71E}" dt="2026-09-29T11:32:16.242" v="20"/>
          <ac:picMkLst>
            <pc:docMk/>
            <pc:sldMk cId="0" sldId="262"/>
            <ac:picMk id="16" creationId="{65DC09EC-A77B-8E24-7397-5A30140B5ED8}"/>
          </ac:picMkLst>
        </pc:picChg>
        <pc:picChg chg="add mod">
          <ac:chgData name="Muneeswaran Muthaiah" userId="S::muthaiah_muneeswaran@u.nus.edu::672b9fc6-8500-4c2d-8f3d-f89698d4f7c7" providerId="AD" clId="Web-{1478F5A1-C67C-1276-6D7F-A329CAFBE71E}" dt="2026-09-29T11:32:31.867" v="21"/>
          <ac:picMkLst>
            <pc:docMk/>
            <pc:sldMk cId="0" sldId="262"/>
            <ac:picMk id="18" creationId="{3D992034-C699-35F2-1016-AE25CE9A2EBF}"/>
          </ac:picMkLst>
        </pc:picChg>
      </pc:sldChg>
      <pc:sldChg chg="addSp delSp modSp">
        <pc:chgData name="Muneeswaran Muthaiah" userId="S::muthaiah_muneeswaran@u.nus.edu::672b9fc6-8500-4c2d-8f3d-f89698d4f7c7" providerId="AD" clId="Web-{1478F5A1-C67C-1276-6D7F-A329CAFBE71E}" dt="2026-09-29T11:55:43.975" v="104" actId="20577"/>
        <pc:sldMkLst>
          <pc:docMk/>
          <pc:sldMk cId="0" sldId="266"/>
        </pc:sldMkLst>
        <pc:spChg chg="mod">
          <ac:chgData name="Muneeswaran Muthaiah" userId="S::muthaiah_muneeswaran@u.nus.edu::672b9fc6-8500-4c2d-8f3d-f89698d4f7c7" providerId="AD" clId="Web-{1478F5A1-C67C-1276-6D7F-A329CAFBE71E}" dt="2026-09-29T11:49:33.885" v="71" actId="14100"/>
          <ac:spMkLst>
            <pc:docMk/>
            <pc:sldMk cId="0" sldId="266"/>
            <ac:spMk id="2" creationId="{00000000-0000-0000-0000-000000000000}"/>
          </ac:spMkLst>
        </pc:spChg>
        <pc:spChg chg="mod">
          <ac:chgData name="Muneeswaran Muthaiah" userId="S::muthaiah_muneeswaran@u.nus.edu::672b9fc6-8500-4c2d-8f3d-f89698d4f7c7" providerId="AD" clId="Web-{1478F5A1-C67C-1276-6D7F-A329CAFBE71E}" dt="2026-09-29T11:49:25.056" v="69" actId="20577"/>
          <ac:spMkLst>
            <pc:docMk/>
            <pc:sldMk cId="0" sldId="266"/>
            <ac:spMk id="3" creationId="{00000000-0000-0000-0000-000000000000}"/>
          </ac:spMkLst>
        </pc:spChg>
        <pc:spChg chg="add mod">
          <ac:chgData name="Muneeswaran Muthaiah" userId="S::muthaiah_muneeswaran@u.nus.edu::672b9fc6-8500-4c2d-8f3d-f89698d4f7c7" providerId="AD" clId="Web-{1478F5A1-C67C-1276-6D7F-A329CAFBE71E}" dt="2026-09-29T11:47:53.960" v="53" actId="1076"/>
          <ac:spMkLst>
            <pc:docMk/>
            <pc:sldMk cId="0" sldId="266"/>
            <ac:spMk id="8" creationId="{7DF1B7AC-4969-6E43-6E76-6306649E4994}"/>
          </ac:spMkLst>
        </pc:spChg>
        <pc:spChg chg="add mod">
          <ac:chgData name="Muneeswaran Muthaiah" userId="S::muthaiah_muneeswaran@u.nus.edu::672b9fc6-8500-4c2d-8f3d-f89698d4f7c7" providerId="AD" clId="Web-{1478F5A1-C67C-1276-6D7F-A329CAFBE71E}" dt="2026-09-29T11:47:53.975" v="54" actId="1076"/>
          <ac:spMkLst>
            <pc:docMk/>
            <pc:sldMk cId="0" sldId="266"/>
            <ac:spMk id="10" creationId="{FD0B8ABF-04E8-5C7F-BAD7-C2CB3E987861}"/>
          </ac:spMkLst>
        </pc:spChg>
        <pc:spChg chg="del">
          <ac:chgData name="Muneeswaran Muthaiah" userId="S::muthaiah_muneeswaran@u.nus.edu::672b9fc6-8500-4c2d-8f3d-f89698d4f7c7" providerId="AD" clId="Web-{1478F5A1-C67C-1276-6D7F-A329CAFBE71E}" dt="2026-09-29T11:47:32.162" v="48"/>
          <ac:spMkLst>
            <pc:docMk/>
            <pc:sldMk cId="0" sldId="266"/>
            <ac:spMk id="16" creationId="{00000000-0000-0000-0000-000000000000}"/>
          </ac:spMkLst>
        </pc:spChg>
        <pc:spChg chg="del">
          <ac:chgData name="Muneeswaran Muthaiah" userId="S::muthaiah_muneeswaran@u.nus.edu::672b9fc6-8500-4c2d-8f3d-f89698d4f7c7" providerId="AD" clId="Web-{1478F5A1-C67C-1276-6D7F-A329CAFBE71E}" dt="2026-09-29T11:47:32.162" v="47"/>
          <ac:spMkLst>
            <pc:docMk/>
            <pc:sldMk cId="0" sldId="266"/>
            <ac:spMk id="17" creationId="{00000000-0000-0000-0000-000000000000}"/>
          </ac:spMkLst>
        </pc:spChg>
        <pc:spChg chg="del">
          <ac:chgData name="Muneeswaran Muthaiah" userId="S::muthaiah_muneeswaran@u.nus.edu::672b9fc6-8500-4c2d-8f3d-f89698d4f7c7" providerId="AD" clId="Web-{1478F5A1-C67C-1276-6D7F-A329CAFBE71E}" dt="2026-09-29T11:47:32.162" v="46"/>
          <ac:spMkLst>
            <pc:docMk/>
            <pc:sldMk cId="0" sldId="266"/>
            <ac:spMk id="19" creationId="{00000000-0000-0000-0000-000000000000}"/>
          </ac:spMkLst>
        </pc:spChg>
        <pc:spChg chg="del">
          <ac:chgData name="Muneeswaran Muthaiah" userId="S::muthaiah_muneeswaran@u.nus.edu::672b9fc6-8500-4c2d-8f3d-f89698d4f7c7" providerId="AD" clId="Web-{1478F5A1-C67C-1276-6D7F-A329CAFBE71E}" dt="2026-09-29T11:47:32.162" v="45"/>
          <ac:spMkLst>
            <pc:docMk/>
            <pc:sldMk cId="0" sldId="266"/>
            <ac:spMk id="20" creationId="{00000000-0000-0000-0000-000000000000}"/>
          </ac:spMkLst>
        </pc:spChg>
        <pc:spChg chg="mod">
          <ac:chgData name="Muneeswaran Muthaiah" userId="S::muthaiah_muneeswaran@u.nus.edu::672b9fc6-8500-4c2d-8f3d-f89698d4f7c7" providerId="AD" clId="Web-{1478F5A1-C67C-1276-6D7F-A329CAFBE71E}" dt="2026-09-29T11:55:43.975" v="104" actId="20577"/>
          <ac:spMkLst>
            <pc:docMk/>
            <pc:sldMk cId="0" sldId="266"/>
            <ac:spMk id="25" creationId="{00000000-0000-0000-0000-000000000000}"/>
          </ac:spMkLst>
        </pc:spChg>
        <pc:spChg chg="mod">
          <ac:chgData name="Muneeswaran Muthaiah" userId="S::muthaiah_muneeswaran@u.nus.edu::672b9fc6-8500-4c2d-8f3d-f89698d4f7c7" providerId="AD" clId="Web-{1478F5A1-C67C-1276-6D7F-A329CAFBE71E}" dt="2026-09-29T11:48:00.663" v="57" actId="1076"/>
          <ac:spMkLst>
            <pc:docMk/>
            <pc:sldMk cId="0" sldId="266"/>
            <ac:spMk id="27" creationId="{1BD1BE2A-3BF3-9C9C-F119-B32F73E947DB}"/>
          </ac:spMkLst>
        </pc:spChg>
        <pc:spChg chg="add mod">
          <ac:chgData name="Muneeswaran Muthaiah" userId="S::muthaiah_muneeswaran@u.nus.edu::672b9fc6-8500-4c2d-8f3d-f89698d4f7c7" providerId="AD" clId="Web-{1478F5A1-C67C-1276-6D7F-A329CAFBE71E}" dt="2026-09-29T11:47:53.991" v="55" actId="1076"/>
          <ac:spMkLst>
            <pc:docMk/>
            <pc:sldMk cId="0" sldId="266"/>
            <ac:spMk id="28" creationId="{56A9F39A-0EEB-80C8-116F-240E3B03489E}"/>
          </ac:spMkLst>
        </pc:spChg>
        <pc:spChg chg="add mod">
          <ac:chgData name="Muneeswaran Muthaiah" userId="S::muthaiah_muneeswaran@u.nus.edu::672b9fc6-8500-4c2d-8f3d-f89698d4f7c7" providerId="AD" clId="Web-{1478F5A1-C67C-1276-6D7F-A329CAFBE71E}" dt="2026-09-29T11:55:39.990" v="103" actId="20577"/>
          <ac:spMkLst>
            <pc:docMk/>
            <pc:sldMk cId="0" sldId="266"/>
            <ac:spMk id="32" creationId="{89A75169-DCE0-F095-2766-DAD348CF0EEB}"/>
          </ac:spMkLst>
        </pc:spChg>
        <pc:picChg chg="del mod">
          <ac:chgData name="Muneeswaran Muthaiah" userId="S::muthaiah_muneeswaran@u.nus.edu::672b9fc6-8500-4c2d-8f3d-f89698d4f7c7" providerId="AD" clId="Web-{1478F5A1-C67C-1276-6D7F-A329CAFBE71E}" dt="2026-09-29T11:39:22.584" v="30"/>
          <ac:picMkLst>
            <pc:docMk/>
            <pc:sldMk cId="0" sldId="266"/>
            <ac:picMk id="13" creationId="{00000000-0000-0000-0000-000000000000}"/>
          </ac:picMkLst>
        </pc:picChg>
        <pc:picChg chg="del">
          <ac:chgData name="Muneeswaran Muthaiah" userId="S::muthaiah_muneeswaran@u.nus.edu::672b9fc6-8500-4c2d-8f3d-f89698d4f7c7" providerId="AD" clId="Web-{1478F5A1-C67C-1276-6D7F-A329CAFBE71E}" dt="2026-09-29T11:39:25.506" v="31"/>
          <ac:picMkLst>
            <pc:docMk/>
            <pc:sldMk cId="0" sldId="266"/>
            <ac:picMk id="18" creationId="{00000000-0000-0000-0000-000000000000}"/>
          </ac:picMkLst>
        </pc:picChg>
        <pc:picChg chg="del">
          <ac:chgData name="Muneeswaran Muthaiah" userId="S::muthaiah_muneeswaran@u.nus.edu::672b9fc6-8500-4c2d-8f3d-f89698d4f7c7" providerId="AD" clId="Web-{1478F5A1-C67C-1276-6D7F-A329CAFBE71E}" dt="2026-09-29T11:39:28.146" v="32"/>
          <ac:picMkLst>
            <pc:docMk/>
            <pc:sldMk cId="0" sldId="266"/>
            <ac:picMk id="23" creationId="{00000000-0000-0000-0000-000000000000}"/>
          </ac:picMkLst>
        </pc:picChg>
        <pc:picChg chg="del">
          <ac:chgData name="Muneeswaran Muthaiah" userId="S::muthaiah_muneeswaran@u.nus.edu::672b9fc6-8500-4c2d-8f3d-f89698d4f7c7" providerId="AD" clId="Web-{1478F5A1-C67C-1276-6D7F-A329CAFBE71E}" dt="2026-09-29T11:39:30.990" v="33"/>
          <ac:picMkLst>
            <pc:docMk/>
            <pc:sldMk cId="0" sldId="266"/>
            <ac:picMk id="31" creationId="{22BA1071-06AB-9A89-4BD4-1943EF1D349F}"/>
          </ac:picMkLst>
        </pc:picChg>
      </pc:sldChg>
      <pc:sldChg chg="delSp del">
        <pc:chgData name="Muneeswaran Muthaiah" userId="S::muthaiah_muneeswaran@u.nus.edu::672b9fc6-8500-4c2d-8f3d-f89698d4f7c7" providerId="AD" clId="Web-{1478F5A1-C67C-1276-6D7F-A329CAFBE71E}" dt="2026-09-29T11:48:30.133" v="58"/>
        <pc:sldMkLst>
          <pc:docMk/>
          <pc:sldMk cId="0" sldId="267"/>
        </pc:sldMkLst>
        <pc:spChg chg="del">
          <ac:chgData name="Muneeswaran Muthaiah" userId="S::muthaiah_muneeswaran@u.nus.edu::672b9fc6-8500-4c2d-8f3d-f89698d4f7c7" providerId="AD" clId="Web-{1478F5A1-C67C-1276-6D7F-A329CAFBE71E}" dt="2026-09-29T11:46:14.472" v="37"/>
          <ac:spMkLst>
            <pc:docMk/>
            <pc:sldMk cId="0" sldId="267"/>
            <ac:spMk id="6" creationId="{00000000-0000-0000-0000-000000000000}"/>
          </ac:spMkLst>
        </pc:spChg>
        <pc:spChg chg="del">
          <ac:chgData name="Muneeswaran Muthaiah" userId="S::muthaiah_muneeswaran@u.nus.edu::672b9fc6-8500-4c2d-8f3d-f89698d4f7c7" providerId="AD" clId="Web-{1478F5A1-C67C-1276-6D7F-A329CAFBE71E}" dt="2026-09-29T11:46:24.160" v="40"/>
          <ac:spMkLst>
            <pc:docMk/>
            <pc:sldMk cId="0" sldId="267"/>
            <ac:spMk id="7" creationId="{00000000-0000-0000-0000-000000000000}"/>
          </ac:spMkLst>
        </pc:spChg>
        <pc:spChg chg="del">
          <ac:chgData name="Muneeswaran Muthaiah" userId="S::muthaiah_muneeswaran@u.nus.edu::672b9fc6-8500-4c2d-8f3d-f89698d4f7c7" providerId="AD" clId="Web-{1478F5A1-C67C-1276-6D7F-A329CAFBE71E}" dt="2026-09-29T11:46:24.144" v="39"/>
          <ac:spMkLst>
            <pc:docMk/>
            <pc:sldMk cId="0" sldId="267"/>
            <ac:spMk id="9" creationId="{00000000-0000-0000-0000-000000000000}"/>
          </ac:spMkLst>
        </pc:spChg>
        <pc:spChg chg="del">
          <ac:chgData name="Muneeswaran Muthaiah" userId="S::muthaiah_muneeswaran@u.nus.edu::672b9fc6-8500-4c2d-8f3d-f89698d4f7c7" providerId="AD" clId="Web-{1478F5A1-C67C-1276-6D7F-A329CAFBE71E}" dt="2026-09-29T11:46:24.144" v="38"/>
          <ac:spMkLst>
            <pc:docMk/>
            <pc:sldMk cId="0" sldId="267"/>
            <ac:spMk id="10" creationId="{00000000-0000-0000-0000-000000000000}"/>
          </ac:spMkLst>
        </pc:spChg>
        <pc:spChg chg="del">
          <ac:chgData name="Muneeswaran Muthaiah" userId="S::muthaiah_muneeswaran@u.nus.edu::672b9fc6-8500-4c2d-8f3d-f89698d4f7c7" providerId="AD" clId="Web-{1478F5A1-C67C-1276-6D7F-A329CAFBE71E}" dt="2026-09-29T11:47:00.567" v="44"/>
          <ac:spMkLst>
            <pc:docMk/>
            <pc:sldMk cId="0" sldId="267"/>
            <ac:spMk id="17" creationId="{17E14F0E-848F-A2D3-389B-FAFC83EBD05C}"/>
          </ac:spMkLst>
        </pc:spChg>
        <pc:spChg chg="del">
          <ac:chgData name="Muneeswaran Muthaiah" userId="S::muthaiah_muneeswaran@u.nus.edu::672b9fc6-8500-4c2d-8f3d-f89698d4f7c7" providerId="AD" clId="Web-{1478F5A1-C67C-1276-6D7F-A329CAFBE71E}" dt="2026-09-29T11:47:00.567" v="43"/>
          <ac:spMkLst>
            <pc:docMk/>
            <pc:sldMk cId="0" sldId="267"/>
            <ac:spMk id="19" creationId="{7A278E60-C8C5-56CF-685A-3F4E5E2B7CC7}"/>
          </ac:spMkLst>
        </pc:spChg>
        <pc:spChg chg="del">
          <ac:chgData name="Muneeswaran Muthaiah" userId="S::muthaiah_muneeswaran@u.nus.edu::672b9fc6-8500-4c2d-8f3d-f89698d4f7c7" providerId="AD" clId="Web-{1478F5A1-C67C-1276-6D7F-A329CAFBE71E}" dt="2026-09-29T11:47:00.567" v="42"/>
          <ac:spMkLst>
            <pc:docMk/>
            <pc:sldMk cId="0" sldId="267"/>
            <ac:spMk id="21" creationId="{E5BD4E6E-A431-2D66-A55B-759F4EF3C72F}"/>
          </ac:spMkLst>
        </pc:spChg>
        <pc:spChg chg="del">
          <ac:chgData name="Muneeswaran Muthaiah" userId="S::muthaiah_muneeswaran@u.nus.edu::672b9fc6-8500-4c2d-8f3d-f89698d4f7c7" providerId="AD" clId="Web-{1478F5A1-C67C-1276-6D7F-A329CAFBE71E}" dt="2026-09-29T11:47:00.567" v="41"/>
          <ac:spMkLst>
            <pc:docMk/>
            <pc:sldMk cId="0" sldId="267"/>
            <ac:spMk id="23" creationId="{83B42E00-2C3D-1631-D178-637FBD4474C0}"/>
          </ac:spMkLst>
        </pc:spChg>
        <pc:picChg chg="del">
          <ac:chgData name="Muneeswaran Muthaiah" userId="S::muthaiah_muneeswaran@u.nus.edu::672b9fc6-8500-4c2d-8f3d-f89698d4f7c7" providerId="AD" clId="Web-{1478F5A1-C67C-1276-6D7F-A329CAFBE71E}" dt="2026-09-29T11:39:49.272" v="34"/>
          <ac:picMkLst>
            <pc:docMk/>
            <pc:sldMk cId="0" sldId="267"/>
            <ac:picMk id="8" creationId="{00000000-0000-0000-0000-000000000000}"/>
          </ac:picMkLst>
        </pc:picChg>
        <pc:picChg chg="del">
          <ac:chgData name="Muneeswaran Muthaiah" userId="S::muthaiah_muneeswaran@u.nus.edu::672b9fc6-8500-4c2d-8f3d-f89698d4f7c7" providerId="AD" clId="Web-{1478F5A1-C67C-1276-6D7F-A329CAFBE71E}" dt="2026-09-29T11:39:51.507" v="35"/>
          <ac:picMkLst>
            <pc:docMk/>
            <pc:sldMk cId="0" sldId="267"/>
            <ac:picMk id="13" creationId="{00000000-0000-0000-0000-000000000000}"/>
          </ac:picMkLst>
        </pc:picChg>
        <pc:picChg chg="del">
          <ac:chgData name="Muneeswaran Muthaiah" userId="S::muthaiah_muneeswaran@u.nus.edu::672b9fc6-8500-4c2d-8f3d-f89698d4f7c7" providerId="AD" clId="Web-{1478F5A1-C67C-1276-6D7F-A329CAFBE71E}" dt="2026-09-29T11:39:52.725" v="36"/>
          <ac:picMkLst>
            <pc:docMk/>
            <pc:sldMk cId="0" sldId="267"/>
            <ac:picMk id="25" creationId="{E035F442-2267-8E92-802C-E4714FB3FF91}"/>
          </ac:picMkLst>
        </pc:picChg>
      </pc:sldChg>
      <pc:sldChg chg="modSp">
        <pc:chgData name="Muneeswaran Muthaiah" userId="S::muthaiah_muneeswaran@u.nus.edu::672b9fc6-8500-4c2d-8f3d-f89698d4f7c7" providerId="AD" clId="Web-{1478F5A1-C67C-1276-6D7F-A329CAFBE71E}" dt="2026-09-29T11:51:01.872" v="90" actId="14100"/>
        <pc:sldMkLst>
          <pc:docMk/>
          <pc:sldMk cId="0" sldId="268"/>
        </pc:sldMkLst>
        <pc:spChg chg="mod">
          <ac:chgData name="Muneeswaran Muthaiah" userId="S::muthaiah_muneeswaran@u.nus.edu::672b9fc6-8500-4c2d-8f3d-f89698d4f7c7" providerId="AD" clId="Web-{1478F5A1-C67C-1276-6D7F-A329CAFBE71E}" dt="2026-09-29T11:50:30.324" v="74"/>
          <ac:spMkLst>
            <pc:docMk/>
            <pc:sldMk cId="0" sldId="268"/>
            <ac:spMk id="2" creationId="{00000000-0000-0000-0000-000000000000}"/>
          </ac:spMkLst>
        </pc:spChg>
        <pc:spChg chg="mod">
          <ac:chgData name="Muneeswaran Muthaiah" userId="S::muthaiah_muneeswaran@u.nus.edu::672b9fc6-8500-4c2d-8f3d-f89698d4f7c7" providerId="AD" clId="Web-{1478F5A1-C67C-1276-6D7F-A329CAFBE71E}" dt="2026-09-29T11:50:38.418" v="88" actId="14100"/>
          <ac:spMkLst>
            <pc:docMk/>
            <pc:sldMk cId="0" sldId="268"/>
            <ac:spMk id="3" creationId="{00000000-0000-0000-0000-000000000000}"/>
          </ac:spMkLst>
        </pc:spChg>
        <pc:spChg chg="mod">
          <ac:chgData name="Muneeswaran Muthaiah" userId="S::muthaiah_muneeswaran@u.nus.edu::672b9fc6-8500-4c2d-8f3d-f89698d4f7c7" providerId="AD" clId="Web-{1478F5A1-C67C-1276-6D7F-A329CAFBE71E}" dt="2026-09-29T11:50:30.340" v="76"/>
          <ac:spMkLst>
            <pc:docMk/>
            <pc:sldMk cId="0" sldId="268"/>
            <ac:spMk id="4" creationId="{00000000-0000-0000-0000-000000000000}"/>
          </ac:spMkLst>
        </pc:spChg>
        <pc:spChg chg="mod">
          <ac:chgData name="Muneeswaran Muthaiah" userId="S::muthaiah_muneeswaran@u.nus.edu::672b9fc6-8500-4c2d-8f3d-f89698d4f7c7" providerId="AD" clId="Web-{1478F5A1-C67C-1276-6D7F-A329CAFBE71E}" dt="2026-09-29T11:51:01.872" v="90" actId="14100"/>
          <ac:spMkLst>
            <pc:docMk/>
            <pc:sldMk cId="0" sldId="268"/>
            <ac:spMk id="6" creationId="{00000000-0000-0000-0000-000000000000}"/>
          </ac:spMkLst>
        </pc:spChg>
        <pc:spChg chg="mod">
          <ac:chgData name="Muneeswaran Muthaiah" userId="S::muthaiah_muneeswaran@u.nus.edu::672b9fc6-8500-4c2d-8f3d-f89698d4f7c7" providerId="AD" clId="Web-{1478F5A1-C67C-1276-6D7F-A329CAFBE71E}" dt="2026-09-29T11:50:30.355" v="78"/>
          <ac:spMkLst>
            <pc:docMk/>
            <pc:sldMk cId="0" sldId="268"/>
            <ac:spMk id="7" creationId="{00000000-0000-0000-0000-000000000000}"/>
          </ac:spMkLst>
        </pc:spChg>
        <pc:spChg chg="mod">
          <ac:chgData name="Muneeswaran Muthaiah" userId="S::muthaiah_muneeswaran@u.nus.edu::672b9fc6-8500-4c2d-8f3d-f89698d4f7c7" providerId="AD" clId="Web-{1478F5A1-C67C-1276-6D7F-A329CAFBE71E}" dt="2026-09-29T11:50:30.371" v="79"/>
          <ac:spMkLst>
            <pc:docMk/>
            <pc:sldMk cId="0" sldId="268"/>
            <ac:spMk id="8" creationId="{00000000-0000-0000-0000-000000000000}"/>
          </ac:spMkLst>
        </pc:spChg>
        <pc:spChg chg="mod">
          <ac:chgData name="Muneeswaran Muthaiah" userId="S::muthaiah_muneeswaran@u.nus.edu::672b9fc6-8500-4c2d-8f3d-f89698d4f7c7" providerId="AD" clId="Web-{1478F5A1-C67C-1276-6D7F-A329CAFBE71E}" dt="2026-09-29T11:50:30.387" v="80"/>
          <ac:spMkLst>
            <pc:docMk/>
            <pc:sldMk cId="0" sldId="268"/>
            <ac:spMk id="10" creationId="{00000000-0000-0000-0000-000000000000}"/>
          </ac:spMkLst>
        </pc:spChg>
        <pc:spChg chg="mod">
          <ac:chgData name="Muneeswaran Muthaiah" userId="S::muthaiah_muneeswaran@u.nus.edu::672b9fc6-8500-4c2d-8f3d-f89698d4f7c7" providerId="AD" clId="Web-{1478F5A1-C67C-1276-6D7F-A329CAFBE71E}" dt="2026-09-29T11:50:30.387" v="81"/>
          <ac:spMkLst>
            <pc:docMk/>
            <pc:sldMk cId="0" sldId="268"/>
            <ac:spMk id="11" creationId="{00000000-0000-0000-0000-000000000000}"/>
          </ac:spMkLst>
        </pc:spChg>
        <pc:spChg chg="mod">
          <ac:chgData name="Muneeswaran Muthaiah" userId="S::muthaiah_muneeswaran@u.nus.edu::672b9fc6-8500-4c2d-8f3d-f89698d4f7c7" providerId="AD" clId="Web-{1478F5A1-C67C-1276-6D7F-A329CAFBE71E}" dt="2026-09-29T11:50:30.387" v="82"/>
          <ac:spMkLst>
            <pc:docMk/>
            <pc:sldMk cId="0" sldId="268"/>
            <ac:spMk id="12" creationId="{00000000-0000-0000-0000-000000000000}"/>
          </ac:spMkLst>
        </pc:spChg>
        <pc:spChg chg="mod">
          <ac:chgData name="Muneeswaran Muthaiah" userId="S::muthaiah_muneeswaran@u.nus.edu::672b9fc6-8500-4c2d-8f3d-f89698d4f7c7" providerId="AD" clId="Web-{1478F5A1-C67C-1276-6D7F-A329CAFBE71E}" dt="2026-09-29T11:50:30.418" v="83"/>
          <ac:spMkLst>
            <pc:docMk/>
            <pc:sldMk cId="0" sldId="268"/>
            <ac:spMk id="14" creationId="{00000000-0000-0000-0000-000000000000}"/>
          </ac:spMkLst>
        </pc:spChg>
        <pc:spChg chg="mod">
          <ac:chgData name="Muneeswaran Muthaiah" userId="S::muthaiah_muneeswaran@u.nus.edu::672b9fc6-8500-4c2d-8f3d-f89698d4f7c7" providerId="AD" clId="Web-{1478F5A1-C67C-1276-6D7F-A329CAFBE71E}" dt="2026-09-29T11:50:30.418" v="84"/>
          <ac:spMkLst>
            <pc:docMk/>
            <pc:sldMk cId="0" sldId="268"/>
            <ac:spMk id="15" creationId="{00000000-0000-0000-0000-000000000000}"/>
          </ac:spMkLst>
        </pc:spChg>
        <pc:spChg chg="mod">
          <ac:chgData name="Muneeswaran Muthaiah" userId="S::muthaiah_muneeswaran@u.nus.edu::672b9fc6-8500-4c2d-8f3d-f89698d4f7c7" providerId="AD" clId="Web-{1478F5A1-C67C-1276-6D7F-A329CAFBE71E}" dt="2026-09-29T11:50:30.418" v="85"/>
          <ac:spMkLst>
            <pc:docMk/>
            <pc:sldMk cId="0" sldId="268"/>
            <ac:spMk id="16" creationId="{00000000-0000-0000-0000-000000000000}"/>
          </ac:spMkLst>
        </pc:spChg>
        <pc:spChg chg="mod">
          <ac:chgData name="Muneeswaran Muthaiah" userId="S::muthaiah_muneeswaran@u.nus.edu::672b9fc6-8500-4c2d-8f3d-f89698d4f7c7" providerId="AD" clId="Web-{1478F5A1-C67C-1276-6D7F-A329CAFBE71E}" dt="2026-09-29T11:50:30.449" v="86"/>
          <ac:spMkLst>
            <pc:docMk/>
            <pc:sldMk cId="0" sldId="268"/>
            <ac:spMk id="18" creationId="{00000000-0000-0000-0000-000000000000}"/>
          </ac:spMkLst>
        </pc:spChg>
        <pc:spChg chg="mod">
          <ac:chgData name="Muneeswaran Muthaiah" userId="S::muthaiah_muneeswaran@u.nus.edu::672b9fc6-8500-4c2d-8f3d-f89698d4f7c7" providerId="AD" clId="Web-{1478F5A1-C67C-1276-6D7F-A329CAFBE71E}" dt="2026-09-29T11:50:30.465" v="87"/>
          <ac:spMkLst>
            <pc:docMk/>
            <pc:sldMk cId="0" sldId="268"/>
            <ac:spMk id="20" creationId="{1547714E-8FFE-C642-856E-C9526B023F48}"/>
          </ac:spMkLst>
        </pc:spChg>
      </pc:sldChg>
      <pc:sldChg chg="del">
        <pc:chgData name="Muneeswaran Muthaiah" userId="S::muthaiah_muneeswaran@u.nus.edu::672b9fc6-8500-4c2d-8f3d-f89698d4f7c7" providerId="AD" clId="Web-{1478F5A1-C67C-1276-6D7F-A329CAFBE71E}" dt="2026-09-29T11:54:17.034" v="101"/>
        <pc:sldMkLst>
          <pc:docMk/>
          <pc:sldMk cId="0" sldId="269"/>
        </pc:sldMkLst>
      </pc:sldChg>
      <pc:sldChg chg="del">
        <pc:chgData name="Muneeswaran Muthaiah" userId="S::muthaiah_muneeswaran@u.nus.edu::672b9fc6-8500-4c2d-8f3d-f89698d4f7c7" providerId="AD" clId="Web-{1478F5A1-C67C-1276-6D7F-A329CAFBE71E}" dt="2026-09-29T11:52:08.265" v="92"/>
        <pc:sldMkLst>
          <pc:docMk/>
          <pc:sldMk cId="2506556612" sldId="277"/>
        </pc:sldMkLst>
      </pc:sldChg>
      <pc:sldChg chg="ord">
        <pc:chgData name="Muneeswaran Muthaiah" userId="S::muthaiah_muneeswaran@u.nus.edu::672b9fc6-8500-4c2d-8f3d-f89698d4f7c7" providerId="AD" clId="Web-{1478F5A1-C67C-1276-6D7F-A329CAFBE71E}" dt="2026-09-29T11:33:17.119" v="22"/>
        <pc:sldMkLst>
          <pc:docMk/>
          <pc:sldMk cId="32888007" sldId="278"/>
        </pc:sldMkLst>
      </pc:sldChg>
      <pc:sldChg chg="del">
        <pc:chgData name="Muneeswaran Muthaiah" userId="S::muthaiah_muneeswaran@u.nus.edu::672b9fc6-8500-4c2d-8f3d-f89698d4f7c7" providerId="AD" clId="Web-{1478F5A1-C67C-1276-6D7F-A329CAFBE71E}" dt="2026-09-29T11:54:35.348" v="102"/>
        <pc:sldMkLst>
          <pc:docMk/>
          <pc:sldMk cId="1747468923" sldId="298"/>
        </pc:sldMkLst>
      </pc:sldChg>
      <pc:sldChg chg="ord">
        <pc:chgData name="Muneeswaran Muthaiah" userId="S::muthaiah_muneeswaran@u.nus.edu::672b9fc6-8500-4c2d-8f3d-f89698d4f7c7" providerId="AD" clId="Web-{1478F5A1-C67C-1276-6D7F-A329CAFBE71E}" dt="2026-09-29T11:51:53.639" v="91"/>
        <pc:sldMkLst>
          <pc:docMk/>
          <pc:sldMk cId="0" sldId="308"/>
        </pc:sldMkLst>
      </pc:sldChg>
      <pc:sldChg chg="ord">
        <pc:chgData name="Muneeswaran Muthaiah" userId="S::muthaiah_muneeswaran@u.nus.edu::672b9fc6-8500-4c2d-8f3d-f89698d4f7c7" providerId="AD" clId="Web-{1478F5A1-C67C-1276-6D7F-A329CAFBE71E}" dt="2026-09-29T11:53:48.924" v="100"/>
        <pc:sldMkLst>
          <pc:docMk/>
          <pc:sldMk cId="0" sldId="309"/>
        </pc:sldMkLst>
      </pc:sldChg>
      <pc:sldChg chg="ord">
        <pc:chgData name="Muneeswaran Muthaiah" userId="S::muthaiah_muneeswaran@u.nus.edu::672b9fc6-8500-4c2d-8f3d-f89698d4f7c7" providerId="AD" clId="Web-{1478F5A1-C67C-1276-6D7F-A329CAFBE71E}" dt="2026-09-29T11:53:48.924" v="99"/>
        <pc:sldMkLst>
          <pc:docMk/>
          <pc:sldMk cId="0" sldId="310"/>
        </pc:sldMkLst>
      </pc:sldChg>
      <pc:sldChg chg="ord">
        <pc:chgData name="Muneeswaran Muthaiah" userId="S::muthaiah_muneeswaran@u.nus.edu::672b9fc6-8500-4c2d-8f3d-f89698d4f7c7" providerId="AD" clId="Web-{1478F5A1-C67C-1276-6D7F-A329CAFBE71E}" dt="2026-09-29T11:53:48.924" v="98"/>
        <pc:sldMkLst>
          <pc:docMk/>
          <pc:sldMk cId="0" sldId="311"/>
        </pc:sldMkLst>
      </pc:sldChg>
      <pc:sldChg chg="ord">
        <pc:chgData name="Muneeswaran Muthaiah" userId="S::muthaiah_muneeswaran@u.nus.edu::672b9fc6-8500-4c2d-8f3d-f89698d4f7c7" providerId="AD" clId="Web-{1478F5A1-C67C-1276-6D7F-A329CAFBE71E}" dt="2026-09-29T11:53:48.924" v="97"/>
        <pc:sldMkLst>
          <pc:docMk/>
          <pc:sldMk cId="0" sldId="312"/>
        </pc:sldMkLst>
      </pc:sldChg>
      <pc:sldChg chg="ord">
        <pc:chgData name="Muneeswaran Muthaiah" userId="S::muthaiah_muneeswaran@u.nus.edu::672b9fc6-8500-4c2d-8f3d-f89698d4f7c7" providerId="AD" clId="Web-{1478F5A1-C67C-1276-6D7F-A329CAFBE71E}" dt="2026-09-29T11:53:48.924" v="96"/>
        <pc:sldMkLst>
          <pc:docMk/>
          <pc:sldMk cId="0" sldId="313"/>
        </pc:sldMkLst>
      </pc:sldChg>
      <pc:sldChg chg="ord">
        <pc:chgData name="Muneeswaran Muthaiah" userId="S::muthaiah_muneeswaran@u.nus.edu::672b9fc6-8500-4c2d-8f3d-f89698d4f7c7" providerId="AD" clId="Web-{1478F5A1-C67C-1276-6D7F-A329CAFBE71E}" dt="2026-09-29T11:53:48.924" v="95"/>
        <pc:sldMkLst>
          <pc:docMk/>
          <pc:sldMk cId="0" sldId="314"/>
        </pc:sldMkLst>
      </pc:sldChg>
      <pc:sldChg chg="add replId">
        <pc:chgData name="Muneeswaran Muthaiah" userId="S::muthaiah_muneeswaran@u.nus.edu::672b9fc6-8500-4c2d-8f3d-f89698d4f7c7" providerId="AD" clId="Web-{1478F5A1-C67C-1276-6D7F-A329CAFBE71E}" dt="2026-09-29T11:52:47.500" v="93"/>
        <pc:sldMkLst>
          <pc:docMk/>
          <pc:sldMk cId="47882183" sldId="316"/>
        </pc:sldMkLst>
      </pc:sldChg>
      <pc:sldChg chg="add replId">
        <pc:chgData name="Muneeswaran Muthaiah" userId="S::muthaiah_muneeswaran@u.nus.edu::672b9fc6-8500-4c2d-8f3d-f89698d4f7c7" providerId="AD" clId="Web-{1478F5A1-C67C-1276-6D7F-A329CAFBE71E}" dt="2026-09-29T11:52:47.563" v="94"/>
        <pc:sldMkLst>
          <pc:docMk/>
          <pc:sldMk cId="4078563296"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38C4F-1206-432B-9F24-1B050C4F4115}" type="datetimeFigureOut">
              <a:rPr lang="en-SG" smtClean="0"/>
              <a:t>29/9/2026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E5CD2-CCC0-418E-B717-CA904CBA3155}" type="slidenum">
              <a:rPr lang="en-SG" smtClean="0"/>
              <a:t>‹#›</a:t>
            </a:fld>
            <a:endParaRPr lang="en-SG"/>
          </a:p>
        </p:txBody>
      </p:sp>
    </p:spTree>
    <p:extLst>
      <p:ext uri="{BB962C8B-B14F-4D97-AF65-F5344CB8AC3E}">
        <p14:creationId xmlns:p14="http://schemas.microsoft.com/office/powerpoint/2010/main" val="82626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 45 sec]
"The motivation is real. In 2023, a dismissed administrator in Singapore deleted 180 virtual servers at an IT firm — S$918,000 in damages, nearly 3 years in jail.
In the US, a former employee deleted critical boot files, crippling operations for two weeks.
Both sessions were recorded. Nobody reviewed the footage in time. Manual review doesn't scale. That's the gap."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Statement — 30 sec]
"Two problems, one root cause.
Security: privileged users can delete core files and the damage is found only after the fact.
Knowledge: admin sessions are recorded but never turned into documentation — knowledge stays locked in video.
Root cause: what happens in a recorded session is not automatically understood."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[Objective — 25 sec]
"Three objectives: Identify what activity is happening per segment. Explain it in plain language so reviewers don't watch full recordings. Prevent by flagging high-risk actions early at scale.
Scope: Windows and Linux server administration recordings." </a:t>
            </a:r>
            <a:endParaRPr lang="en-US" sz="140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[Annotation files — 20 sec | SHOW: three-column diagram]
"Three annotation files per recording: video_metadata for technical specs, action.json for ground-truth mouse and keyboard events with timestamps, and label.json for the workflow-level activity label. These three layers give us everything for multimodal classification." </a:t>
            </a:r>
            <a:endParaRPr lang="en-SG" dirty="0"/>
          </a:p>
        </p:txBody>
      </p:sp>
      <p:sp>
        <p:nvSpPr>
          <p:cNvPr id="4" name="Slide Number Placeholder 3"/>
          <p:cNvSpPr>
            <a:spLocks noGrp="1"/>
          </p:cNvSpPr>
          <p:nvPr>
            <p:ph type="sldNum" sz="quarter" idx="5"/>
          </p:nvPr>
        </p:nvSpPr>
        <p:spPr/>
        <p:txBody>
          <a:bodyPr/>
          <a:lstStyle/>
          <a:p>
            <a:fld id="{832E5CD2-CCC0-418E-B717-CA904CBA3155}" type="slidenum">
              <a:rPr lang="en-SG" smtClean="0"/>
              <a:t>26</a:t>
            </a:fld>
            <a:endParaRPr lang="en-SG"/>
          </a:p>
        </p:txBody>
      </p:sp>
    </p:spTree>
    <p:extLst>
      <p:ext uri="{BB962C8B-B14F-4D97-AF65-F5344CB8AC3E}">
        <p14:creationId xmlns:p14="http://schemas.microsoft.com/office/powerpoint/2010/main" val="225573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IF ASKED — References slide]
"References for the background incidents are here. CNA, DataBreaches.net, and TechRadar for the Singapore NCS case; CSO Online and G5 Cyber Security for the US Pratt-Read case."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section divider, click through in ~3 sec]
Next section: Feature Extraction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longest slide]
"Every video segment passes through four parallel extractors.
EasyOCR reads on-screen text — terminal output, filenames — converted to 50 dimensions via TF-IDF.
YOLOv8 detects UI elements — buttons, terminals, menus — 30 dimensions.
OpenCV captures color, edges, texture — 40 dimensions.
The Action Parser reads the action log for mouse clicks, keystrokes, timing — 30 dimensions.
These concatenate into a single 150-dimensional feature vector. All 14 models receive the same input, so comparisons are fair."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benchmark 14 models across 3 tiers.
Tier 1: 7 classical ML models — SVM, Random Forest, XGBoost and 4 others. Fast, strong baselines.
Tier 2: LSTM and Transformer — to test whether deep learning finds patterns classical ML misses.
Tier 3: 3 ensembles — Voting, Late Fusion, Stacking — combining predictions from Tiers 1 and 2.
All models output a class label plus a confidence score."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section divider, click through in ~3 sec]
Next section: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"The entire training pipeline runs as one command: data split, feature extraction, training all 14 models, evaluation, and MLflow logging. Fully reproducible."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"9,609 tasks, split 80/20 with stratified sampling to preserve class proportions.
Key challenge: class imbalance. 'Other' is 57% of the data — a model always predicting 'other' gets 57% accuracy. That's why F1-macro is our primary metric, not accuracy.
Classes with fewer than 100 samples get 5x augmentation by adding noise to feature vectors."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"Feature extraction converts video and action logs into a 7,685 × 150 matrix — one row per task, 150 features per row. This matrix is the sole input to every model. Feature engineering runs once; training just reads this matrix."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"SVM finds the maximum-margin hyperplane separating classes in 150-dimensional space. The RBF kernel handles non-linear boundaries. For 9 classes, one-versus-one gives us 36 binary classifiers with majority voting. Training: 52 seconds."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"Decision Tree splits greedily on information gain. Fully interpretable, 2ms inference — but overfits.
Random Forest trains 100 trees in parallel on bootstrap samples, each considering only √150 features per split. Majority vote across trees dramatically reduces overfitting. Training: under 1 second."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"XGBoost is sequential boosting: each tree corrects the previous tree's errors. 100 rounds, learning rate 0.1. Best raw accuracy at 59.3% — but F1-macro tells a different story."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"MLP: 150 inputs → 256 → 128 → 9 classes. 72,448 parameters, 50 epochs, 14 seconds training. The test: do learned representations beat our hand-crafted features?"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"LSTM reshapes the 150-dim vector into 10 timesteps × 15 features. Four gates control what the network remembers or forgets across timesteps. The hypothesis: adjacent feature groups may have sequential dependencies."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"Transformer uses self-attention to learn which feature pairs matter for each class. Example: the OCR feature 'git' attends to interaction feature 'typing commands' — strong signal for git_operations. Two heads, two encoder layers, 60 seconds training."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"Stacking is our best model. Three phases:
Phase A — train SVM, Random Forest, MLP independently.
Phase B — each model predicts probabilities on training data, producing a 7,685 × 27 meta-feature matrix.
Phase C — a logistic regression meta-learner trains on that matrix, learning which model to trust per class: Random Forest for git_operations, SVM for coding_editing, MLP for documentation.
Different model families have different biases — stacking combines their strengths."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"Evaluation runs on the held-out 1,924-sample test set. F1-macro is primary: it averages F1 across all 9 classes equally, so minority classes like jenkins_ci_cd carry the same weight as 'other'. Latency is measured with perf_counter around the predict call."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"Results sorted by F1-macro.
Stacking wins at 0.189. Late Fusion close behind at 0.186.
XGBoost has best accuracy (59.3%) but ranks 6th on F1 — majority-class bias confirmed.
Decision Tree is fastest at 2ms — viable for real-time.
All deep learning models score 0.13–0.15 F1, below classical ML — engineered features neutralize the deep learning advantage.
F1 scores are modest. The task is genuinely hard: 57% imbalance, visually similar activities. Stacking achieves 3.3× improvement over the majority-class baseline."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"After training, each model serializes to a .pkl file — 12 KB for logistic regression, 15 MB for stacking. The backend loads all models at startup; no retraining needed in production.
Security note: we've migrated from raw pickle to joblib with SHA-256 checksum verification — a sidecar .sha256 file is verified before every load, preventing model-tampering attacks.
Flow: train.py → models/*.pkl → ml_service loads at startup → inference ready."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15 sec | SHOW: logo, 4 modality icons, NUS ISS branding]
"Good afternoon, Professor. Group 21 — TRACE: Task Recognition and Activity Capture Engine. We automatically classify what happens in server screen recordings using a multimodal pipeline and 14 models."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 10 sec | SHOW: slide content, let audience read]
"Here's our agenda. We'll move through background, objectives, the pipeline, training results, dataset, evaluation, and a live product demo."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section divider, click through in ~3 sec]
Next section: Dataset and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overview — 25 sec]
"CUA-Suite by ServiceNow, MIT license. 6,991 video recordings across 70 desktop applications, ~48 GB total.
Nine activity classes: git, Docker, Kubernetes, AWS, Jenkins, coding, debugging, documentation, and other. Labels are derived from task instructions via keyword matching."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properties — 15 sec | SHOW: table of specs, let audience read]
"Each video is 8 to 30 seconds at 30 FPS, 1920×1008 resolution. One video per recorded task — same app, different activity each time."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structure — 15 sec | SHOW: folder tree diagram]
"Three levels on disk: application → recording → files. Each recording folder holds the video, action log, and metadata. Labels come from the task instruction field."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pipeline — 30 sec]
"5-fold cross-validation over all 6,991 recordings. Recordings are grouped so no video appears in both train and test in the same fold. TF-IDF, scaler, and label encoder are fitted strictly inside each training fold — no leakage. Every recording is predicted exactly once."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dataset results — 25 sec]
"On the full dataset, Stacking achieves F1-macro 0.2629 — 3.3 times better than the majority-class baseline. These are higher than the held-out test numbers because cross-validation uses more training data. The 3.3× improvement over baseline is the key signal."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 35 sec | SHOW: table, read alongside]
"Three main challenges.
48 GB dataset can't fit in memory — solved with streaming loader and AWS EC2.
Class imbalance: 'other' is 57%, jenkins_ci_cd has 1 sample — handled with stratified splits, 5x augmentation for rare classes, and F1-macro as primary metric.
Train/test leakage risk — prevented by task-grouped cross-validation, asserted by unit tests."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 25 sec | SHOW: four bullet cards]
"Four directions: real-time incremental analysis during a live session; compliance audit timelines; automatic runbook and documentation generation; and context-aware assistance that surfaces prior solutions when it detects a repeated error pattern."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 — 10 sec | SHOW: UI screenshot]
"Step 1 — upload. Drop a screen recording. Nothing else needed." </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[Analyze — 10 sec | SHOW: UI screenshot]
"Step 2 — the pipeline reads frames, OCR text, and the action log."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[Classify — 10 sec | SHOW: UI screenshot]
"Step 3 — the model outputs an activity label with confidence score and top runner-up predictions."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animation continuation of slide 33, click through in ~3 sec]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animation continuation of slide 34, click through in ~3 sec]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 report — 15 sec | SHOW: UI screenshot]
"Step 4 — the recording becomes a numbered Standard Operating Procedure, each step timestamped back to the original video."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 10 sec | SHOW: UI screenshot]
"Step 5 — every analyzed recording is logged with its label. A full audit trail." </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 — 10 sec | SHOW: UI screenshot]
"Step 6 — the dashboard shows recording counts, label distribution, and average confidence at a glance."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20 sec]
"To summarize: 4 modalities, 150 features, 14 models, one command to train. Ensembles outperform any single model. Classical ML competes with deep learning when features are well-engineered. And the gap between recording and understanding is now automated.
Thank you, Professor. We're happy to take questions."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Appendix header,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 AI Declaration]
"We used Claude Code, ChatGPT, and Gemini for ideation, document formatting, and diagram assistance. All technical decisions, implementation, and evaluation were done by the team."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068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Picture 7" descr="Text, logo&#10;&#10;Description automatically generated">
            <a:extLst>
              <a:ext uri="{FF2B5EF4-FFF2-40B4-BE49-F238E27FC236}">
                <a16:creationId xmlns:a16="http://schemas.microsoft.com/office/drawing/2014/main" id="{DE03CB38-569F-4740-8B1D-877F676CAC2E}"/>
              </a:ext>
            </a:extLst>
          </p:cNvPr>
          <p:cNvPicPr>
            <a:picLocks noChangeAspect="1"/>
          </p:cNvPicPr>
          <p:nvPr userDrawn="1"/>
        </p:nvPicPr>
        <p:blipFill>
          <a:blip r:embed="rId14"/>
          <a:stretch>
            <a:fillRect/>
          </a:stretch>
        </p:blipFill>
        <p:spPr>
          <a:xfrm>
            <a:off x="10599420" y="0"/>
            <a:ext cx="1592580" cy="562610"/>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blog.g5cybersecurity.com/former-worker-sentenced-for-wrecking-server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ServiceNow/VideoCUA" TargetMode="External"/><Relationship Id="rId3"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www.csoonline.com/article/2123366/former-worker-sentenced-for-wrecking-servers.html" TargetMode="External"/><Relationship Id="rId7" Type="http://schemas.openxmlformats.org/officeDocument/2006/relationships/hyperlink" Target="https://blog.g5cybersecurity.com/former-worker-sentenced-for-wrecking-server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12" name="Rectangle 11"/>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39" y="444830"/>
            <a:ext cx="11089063" cy="2408796"/>
          </a:xfrm>
          <a:prstGeom prst="rect">
            <a:avLst/>
          </a:prstGeom>
          <a:noFill/>
        </p:spPr>
        <p:txBody>
          <a:bodyPr wrap="square" lIns="64008" tIns="32004" rIns="64008" bIns="32004" anchor="t">
            <a:normAutofit fontScale="92500" lnSpcReduction="10000"/>
          </a:bodyPr>
          <a:lstStyle/>
          <a:p>
            <a:pPr lvl="8">
              <a:spcAft>
                <a:spcPts val="200"/>
              </a:spcAft>
            </a:pPr>
            <a:r>
              <a:rPr lang="en-US" sz="7700" b="1" dirty="0">
                <a:solidFill>
                  <a:srgbClr val="FFFFFF"/>
                </a:solidFill>
                <a:ea typeface="+mn-lt"/>
                <a:cs typeface="+mn-lt"/>
              </a:rPr>
              <a:t>  PROJECT</a:t>
            </a:r>
          </a:p>
          <a:p>
            <a:pPr lvl="8">
              <a:spcAft>
                <a:spcPts val="200"/>
              </a:spcAft>
            </a:pPr>
            <a:r>
              <a:rPr lang="en-US" sz="7700" b="1" dirty="0">
                <a:solidFill>
                  <a:srgbClr val="FFFFFF"/>
                </a:solidFill>
                <a:ea typeface="+mn-lt"/>
                <a:cs typeface="+mn-lt"/>
              </a:rPr>
              <a:t>   TRACE</a:t>
            </a:r>
            <a:r>
              <a:rPr lang="en-US" sz="7700" dirty="0">
                <a:solidFill>
                  <a:srgbClr val="FFFFFF"/>
                </a:solidFill>
                <a:ea typeface="+mn-lt"/>
                <a:cs typeface="+mn-lt"/>
              </a:rPr>
              <a:t> </a:t>
            </a:r>
          </a:p>
          <a:p>
            <a:pPr lvl="8">
              <a:spcAft>
                <a:spcPts val="200"/>
              </a:spcAft>
            </a:pPr>
            <a:r>
              <a:rPr lang="en-US" dirty="0">
                <a:solidFill>
                  <a:srgbClr val="FFFFFF"/>
                </a:solidFill>
                <a:ea typeface="+mn-lt"/>
                <a:cs typeface="+mn-lt"/>
              </a:rPr>
              <a:t>Task Recognition &amp; Activity Capture Engine</a:t>
            </a:r>
            <a:endParaRPr lang="en-US" b="1" dirty="0">
              <a:solidFill>
                <a:schemeClr val="tx2"/>
              </a:solidFill>
              <a:latin typeface="Calibri"/>
              <a:ea typeface="Calibri"/>
              <a:cs typeface="Calibri"/>
            </a:endParaRPr>
          </a:p>
        </p:txBody>
      </p:sp>
      <p:sp>
        <p:nvSpPr>
          <p:cNvPr id="4" name="Rounded Rectangle 3"/>
          <p:cNvSpPr/>
          <p:nvPr/>
        </p:nvSpPr>
        <p:spPr>
          <a:xfrm>
            <a:off x="3503780" y="3829722"/>
            <a:ext cx="906402"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OCR</a:t>
            </a:r>
          </a:p>
        </p:txBody>
      </p:sp>
      <p:sp>
        <p:nvSpPr>
          <p:cNvPr id="5" name="Rounded Rectangle 4"/>
          <p:cNvSpPr/>
          <p:nvPr/>
        </p:nvSpPr>
        <p:spPr>
          <a:xfrm>
            <a:off x="4547343" y="3829722"/>
            <a:ext cx="690741"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UI</a:t>
            </a:r>
          </a:p>
        </p:txBody>
      </p:sp>
      <p:sp>
        <p:nvSpPr>
          <p:cNvPr id="6" name="Rounded Rectangle 5"/>
          <p:cNvSpPr/>
          <p:nvPr/>
        </p:nvSpPr>
        <p:spPr>
          <a:xfrm>
            <a:off x="5375244" y="3829722"/>
            <a:ext cx="1095196"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Visual</a:t>
            </a:r>
          </a:p>
        </p:txBody>
      </p:sp>
      <p:sp>
        <p:nvSpPr>
          <p:cNvPr id="7" name="Rounded Rectangle 6"/>
          <p:cNvSpPr/>
          <p:nvPr/>
        </p:nvSpPr>
        <p:spPr>
          <a:xfrm>
            <a:off x="6607601" y="3829722"/>
            <a:ext cx="1609665"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92500" lnSpcReduction="10000"/>
          </a:bodyPr>
          <a:lstStyle/>
          <a:p>
            <a:pPr algn="ctr">
              <a:spcBef>
                <a:spcPts val="0"/>
              </a:spcBef>
              <a:spcAft>
                <a:spcPts val="400"/>
              </a:spcAft>
            </a:pPr>
            <a:r>
              <a:rPr sz="1900" b="1" i="0">
                <a:solidFill>
                  <a:srgbClr val="002A57"/>
                </a:solidFill>
                <a:latin typeface="Calibri"/>
              </a:rPr>
              <a:t>Interaction</a:t>
            </a:r>
          </a:p>
        </p:txBody>
      </p:sp>
      <p:sp>
        <p:nvSpPr>
          <p:cNvPr id="8" name="TextBox 7"/>
          <p:cNvSpPr txBox="1"/>
          <p:nvPr/>
        </p:nvSpPr>
        <p:spPr>
          <a:xfrm>
            <a:off x="381890" y="5348117"/>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F5A800"/>
                </a:solidFill>
                <a:latin typeface="Calibri"/>
              </a:rPr>
              <a:t>Practice Project Group 21</a:t>
            </a:r>
            <a:endParaRPr lang="en-US" sz="1900" b="1" i="0">
              <a:solidFill>
                <a:schemeClr val="tx2">
                  <a:lumMod val="60000"/>
                  <a:lumOff val="40000"/>
                </a:schemeClr>
              </a:solidFill>
              <a:latin typeface="Calibri"/>
            </a:endParaRPr>
          </a:p>
        </p:txBody>
      </p:sp>
      <p:sp>
        <p:nvSpPr>
          <p:cNvPr id="9" name="TextBox 8"/>
          <p:cNvSpPr txBox="1"/>
          <p:nvPr/>
        </p:nvSpPr>
        <p:spPr>
          <a:xfrm>
            <a:off x="750346" y="5806440"/>
            <a:ext cx="11094415" cy="411480"/>
          </a:xfrm>
          <a:prstGeom prst="rect">
            <a:avLst/>
          </a:prstGeom>
          <a:noFill/>
        </p:spPr>
        <p:txBody>
          <a:bodyPr wrap="square" lIns="64008" tIns="32004" rIns="64008" bIns="32004" anchor="t">
            <a:normAutofit/>
          </a:bodyPr>
          <a:lstStyle/>
          <a:p>
            <a:pPr algn="ctr">
              <a:spcBef>
                <a:spcPts val="0"/>
              </a:spcBef>
              <a:spcAft>
                <a:spcPts val="400"/>
              </a:spcAft>
            </a:pPr>
            <a:r>
              <a:rPr sz="1900" b="1" i="0" err="1">
                <a:solidFill>
                  <a:srgbClr val="C9DAEE"/>
                </a:solidFill>
                <a:latin typeface="Calibri"/>
              </a:rPr>
              <a:t>M.Tech</a:t>
            </a:r>
            <a:r>
              <a:rPr sz="1900" b="1" i="0">
                <a:solidFill>
                  <a:srgbClr val="C9DAEE"/>
                </a:solidFill>
                <a:latin typeface="Calibri"/>
              </a:rPr>
              <a:t> in Artificial Intelligence Systems  |  National University of Singapore</a:t>
            </a:r>
            <a:endParaRPr lang="en-US" sz="1900" b="1" i="0">
              <a:solidFill>
                <a:schemeClr val="tx2">
                  <a:lumMod val="60000"/>
                  <a:lumOff val="40000"/>
                </a:schemeClr>
              </a:solidFill>
              <a:latin typeface="Calibri"/>
            </a:endParaRPr>
          </a:p>
        </p:txBody>
      </p:sp>
      <p:sp>
        <p:nvSpPr>
          <p:cNvPr id="10" name="TextBox 9"/>
          <p:cNvSpPr txBox="1"/>
          <p:nvPr/>
        </p:nvSpPr>
        <p:spPr>
          <a:xfrm>
            <a:off x="548640" y="6224195"/>
            <a:ext cx="11094415" cy="36576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C9DAEE"/>
                </a:solidFill>
                <a:latin typeface="Calibri"/>
              </a:rPr>
              <a:t>Pattern Recognition Systems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Agenda</a:t>
            </a:r>
          </a:p>
        </p:txBody>
      </p:sp>
      <p:sp>
        <p:nvSpPr>
          <p:cNvPr id="3" name="Oval 2"/>
          <p:cNvSpPr/>
          <p:nvPr/>
        </p:nvSpPr>
        <p:spPr>
          <a:xfrm>
            <a:off x="548640"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a:t>
            </a:r>
          </a:p>
        </p:txBody>
      </p:sp>
      <p:sp>
        <p:nvSpPr>
          <p:cNvPr id="4" name="TextBox 3"/>
          <p:cNvSpPr txBox="1"/>
          <p:nvPr/>
        </p:nvSpPr>
        <p:spPr>
          <a:xfrm>
            <a:off x="1325880"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Background &amp; </a:t>
            </a:r>
            <a:r>
              <a:rPr sz="1900" b="1" i="0">
                <a:solidFill>
                  <a:srgbClr val="002A57"/>
                </a:solidFill>
                <a:latin typeface="Calibri"/>
              </a:rPr>
              <a:t>Problem Statemen</a:t>
            </a:r>
            <a:r>
              <a:rPr lang="en-SG" sz="1900" b="1" i="0">
                <a:solidFill>
                  <a:srgbClr val="002A57"/>
                </a:solidFill>
                <a:latin typeface="Calibri"/>
              </a:rPr>
              <a:t>t</a:t>
            </a:r>
            <a:endParaRPr sz="2400" b="0" i="0">
              <a:solidFill>
                <a:srgbClr val="2D3748"/>
              </a:solidFill>
              <a:latin typeface="Calibri"/>
            </a:endParaRPr>
          </a:p>
        </p:txBody>
      </p:sp>
      <p:sp>
        <p:nvSpPr>
          <p:cNvPr id="5" name="Oval 4"/>
          <p:cNvSpPr/>
          <p:nvPr/>
        </p:nvSpPr>
        <p:spPr>
          <a:xfrm>
            <a:off x="548640"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2</a:t>
            </a:r>
          </a:p>
        </p:txBody>
      </p:sp>
      <p:sp>
        <p:nvSpPr>
          <p:cNvPr id="6" name="TextBox 5"/>
          <p:cNvSpPr txBox="1"/>
          <p:nvPr/>
        </p:nvSpPr>
        <p:spPr>
          <a:xfrm>
            <a:off x="1325880" y="2221992"/>
            <a:ext cx="4541367" cy="548640"/>
          </a:xfrm>
          <a:prstGeom prst="rect">
            <a:avLst/>
          </a:prstGeom>
          <a:noFill/>
        </p:spPr>
        <p:txBody>
          <a:bodyPr wrap="square" lIns="64008" tIns="32004" rIns="64008" bIns="32004" anchor="ctr">
            <a:normAutofit/>
          </a:bodyPr>
          <a:lstStyle/>
          <a:p>
            <a:pPr>
              <a:spcBef>
                <a:spcPts val="0"/>
              </a:spcBef>
              <a:spcAft>
                <a:spcPts val="400"/>
              </a:spcAft>
            </a:pPr>
            <a:r>
              <a:rPr lang="en-SG" sz="1900" b="1">
                <a:solidFill>
                  <a:srgbClr val="002A57"/>
                </a:solidFill>
                <a:latin typeface="Calibri"/>
              </a:rPr>
              <a:t>Project Objectives</a:t>
            </a:r>
          </a:p>
        </p:txBody>
      </p:sp>
      <p:sp>
        <p:nvSpPr>
          <p:cNvPr id="7" name="Oval 6"/>
          <p:cNvSpPr/>
          <p:nvPr/>
        </p:nvSpPr>
        <p:spPr>
          <a:xfrm>
            <a:off x="548640"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3</a:t>
            </a:r>
          </a:p>
        </p:txBody>
      </p:sp>
      <p:sp>
        <p:nvSpPr>
          <p:cNvPr id="8" name="TextBox 7"/>
          <p:cNvSpPr txBox="1"/>
          <p:nvPr/>
        </p:nvSpPr>
        <p:spPr>
          <a:xfrm>
            <a:off x="1325880" y="3026664"/>
            <a:ext cx="4541367" cy="548640"/>
          </a:xfrm>
          <a:prstGeom prst="rect">
            <a:avLst/>
          </a:prstGeom>
          <a:noFill/>
        </p:spPr>
        <p:txBody>
          <a:bodyPr wrap="square" lIns="0" tIns="0" rIns="0" bIns="0" anchor="ctr"/>
          <a:lstStyle/>
          <a:p>
            <a:pPr algn="l"/>
            <a:endParaRPr sz="2400" b="0" i="0">
              <a:solidFill>
                <a:srgbClr val="2D3748"/>
              </a:solidFill>
              <a:latin typeface="Calibri"/>
            </a:endParaRPr>
          </a:p>
        </p:txBody>
      </p:sp>
      <p:sp>
        <p:nvSpPr>
          <p:cNvPr id="9" name="Oval 8"/>
          <p:cNvSpPr/>
          <p:nvPr/>
        </p:nvSpPr>
        <p:spPr>
          <a:xfrm>
            <a:off x="548640"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4</a:t>
            </a:r>
          </a:p>
        </p:txBody>
      </p:sp>
      <p:sp>
        <p:nvSpPr>
          <p:cNvPr id="10" name="TextBox 9"/>
          <p:cNvSpPr txBox="1"/>
          <p:nvPr/>
        </p:nvSpPr>
        <p:spPr>
          <a:xfrm>
            <a:off x="1325879"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System Architecture</a:t>
            </a:r>
          </a:p>
        </p:txBody>
      </p:sp>
      <p:sp>
        <p:nvSpPr>
          <p:cNvPr id="11" name="Oval 10"/>
          <p:cNvSpPr/>
          <p:nvPr/>
        </p:nvSpPr>
        <p:spPr>
          <a:xfrm>
            <a:off x="548640"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5</a:t>
            </a:r>
          </a:p>
        </p:txBody>
      </p:sp>
      <p:sp>
        <p:nvSpPr>
          <p:cNvPr id="12" name="TextBox 11"/>
          <p:cNvSpPr txBox="1"/>
          <p:nvPr/>
        </p:nvSpPr>
        <p:spPr>
          <a:xfrm>
            <a:off x="1325878"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Feature Extraction Pipeline</a:t>
            </a:r>
          </a:p>
        </p:txBody>
      </p:sp>
      <p:sp>
        <p:nvSpPr>
          <p:cNvPr id="13" name="Oval 12"/>
          <p:cNvSpPr/>
          <p:nvPr/>
        </p:nvSpPr>
        <p:spPr>
          <a:xfrm>
            <a:off x="548640" y="544068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6</a:t>
            </a:r>
          </a:p>
        </p:txBody>
      </p:sp>
      <p:sp>
        <p:nvSpPr>
          <p:cNvPr id="14" name="TextBox 13"/>
          <p:cNvSpPr txBox="1"/>
          <p:nvPr/>
        </p:nvSpPr>
        <p:spPr>
          <a:xfrm>
            <a:off x="1325877" y="4615455"/>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Models </a:t>
            </a:r>
            <a:r>
              <a:rPr lang="en-SG" sz="1900" b="1" i="0">
                <a:solidFill>
                  <a:srgbClr val="002A57"/>
                </a:solidFill>
                <a:latin typeface="Calibri"/>
              </a:rPr>
              <a:t>and Model Training</a:t>
            </a:r>
            <a:endParaRPr sz="2400" b="0" i="0">
              <a:solidFill>
                <a:srgbClr val="2D3748"/>
              </a:solidFill>
              <a:latin typeface="Calibri"/>
            </a:endParaRPr>
          </a:p>
        </p:txBody>
      </p:sp>
      <p:sp>
        <p:nvSpPr>
          <p:cNvPr id="15" name="Oval 14"/>
          <p:cNvSpPr/>
          <p:nvPr/>
        </p:nvSpPr>
        <p:spPr>
          <a:xfrm>
            <a:off x="6278727"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7</a:t>
            </a:r>
          </a:p>
        </p:txBody>
      </p:sp>
      <p:sp>
        <p:nvSpPr>
          <p:cNvPr id="16" name="TextBox 15"/>
          <p:cNvSpPr txBox="1"/>
          <p:nvPr/>
        </p:nvSpPr>
        <p:spPr>
          <a:xfrm>
            <a:off x="7055967"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Dataset — CUA-Suite</a:t>
            </a:r>
          </a:p>
        </p:txBody>
      </p:sp>
      <p:sp>
        <p:nvSpPr>
          <p:cNvPr id="17" name="Oval 16"/>
          <p:cNvSpPr/>
          <p:nvPr/>
        </p:nvSpPr>
        <p:spPr>
          <a:xfrm>
            <a:off x="6278727"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8</a:t>
            </a:r>
          </a:p>
        </p:txBody>
      </p:sp>
      <p:sp>
        <p:nvSpPr>
          <p:cNvPr id="18" name="TextBox 17"/>
          <p:cNvSpPr txBox="1"/>
          <p:nvPr/>
        </p:nvSpPr>
        <p:spPr>
          <a:xfrm>
            <a:off x="7055967" y="2221992"/>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dirty="0">
                <a:solidFill>
                  <a:srgbClr val="002A57"/>
                </a:solidFill>
                <a:latin typeface="Calibri"/>
              </a:rPr>
              <a:t>Evaluation</a:t>
            </a:r>
            <a:r>
              <a:rPr sz="1900" b="1" i="0" dirty="0">
                <a:solidFill>
                  <a:srgbClr val="002A57"/>
                </a:solidFill>
                <a:latin typeface="Calibri"/>
              </a:rPr>
              <a:t> Pipeline &amp; Results</a:t>
            </a:r>
          </a:p>
        </p:txBody>
      </p:sp>
      <p:sp>
        <p:nvSpPr>
          <p:cNvPr id="19" name="Oval 18"/>
          <p:cNvSpPr/>
          <p:nvPr/>
        </p:nvSpPr>
        <p:spPr>
          <a:xfrm>
            <a:off x="6278727"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9</a:t>
            </a:r>
          </a:p>
        </p:txBody>
      </p:sp>
      <p:sp>
        <p:nvSpPr>
          <p:cNvPr id="20" name="TextBox 19"/>
          <p:cNvSpPr txBox="1"/>
          <p:nvPr/>
        </p:nvSpPr>
        <p:spPr>
          <a:xfrm>
            <a:off x="7055967"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dirty="0">
                <a:solidFill>
                  <a:srgbClr val="002A57"/>
                </a:solidFill>
                <a:latin typeface="Calibri"/>
              </a:rPr>
              <a:t>Progress</a:t>
            </a:r>
          </a:p>
        </p:txBody>
      </p:sp>
      <p:sp>
        <p:nvSpPr>
          <p:cNvPr id="21" name="Oval 20"/>
          <p:cNvSpPr/>
          <p:nvPr/>
        </p:nvSpPr>
        <p:spPr>
          <a:xfrm>
            <a:off x="6278727"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10</a:t>
            </a:r>
          </a:p>
        </p:txBody>
      </p:sp>
      <p:sp>
        <p:nvSpPr>
          <p:cNvPr id="22" name="TextBox 21"/>
          <p:cNvSpPr txBox="1"/>
          <p:nvPr/>
        </p:nvSpPr>
        <p:spPr>
          <a:xfrm>
            <a:off x="7055967"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Challenges &amp; Solutions</a:t>
            </a:r>
          </a:p>
        </p:txBody>
      </p:sp>
      <p:sp>
        <p:nvSpPr>
          <p:cNvPr id="23" name="Oval 22"/>
          <p:cNvSpPr/>
          <p:nvPr/>
        </p:nvSpPr>
        <p:spPr>
          <a:xfrm>
            <a:off x="6278727"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11</a:t>
            </a:r>
          </a:p>
        </p:txBody>
      </p:sp>
      <p:sp>
        <p:nvSpPr>
          <p:cNvPr id="24" name="TextBox 23"/>
          <p:cNvSpPr txBox="1"/>
          <p:nvPr/>
        </p:nvSpPr>
        <p:spPr>
          <a:xfrm>
            <a:off x="7055967" y="4636008"/>
            <a:ext cx="4541367" cy="548640"/>
          </a:xfrm>
          <a:prstGeom prst="rect">
            <a:avLst/>
          </a:prstGeom>
          <a:noFill/>
        </p:spPr>
        <p:txBody>
          <a:bodyPr wrap="square" lIns="64008" tIns="32004" rIns="64008" bIns="32004" anchor="ctr">
            <a:normAutofit/>
          </a:bodyPr>
          <a:lstStyle/>
          <a:p>
            <a:pPr>
              <a:spcAft>
                <a:spcPts val="400"/>
              </a:spcAft>
            </a:pPr>
            <a:r>
              <a:rPr lang="en-SG" sz="1900" b="1" dirty="0">
                <a:solidFill>
                  <a:srgbClr val="002A57"/>
                </a:solidFill>
                <a:latin typeface="Calibri"/>
              </a:rPr>
              <a:t>Future Work &amp; Conclusion</a:t>
            </a:r>
          </a:p>
        </p:txBody>
      </p:sp>
      <p:sp>
        <p:nvSpPr>
          <p:cNvPr id="26" name="TextBox 25"/>
          <p:cNvSpPr txBox="1"/>
          <p:nvPr/>
        </p:nvSpPr>
        <p:spPr>
          <a:xfrm>
            <a:off x="7055967" y="5440680"/>
            <a:ext cx="4541367" cy="548640"/>
          </a:xfrm>
          <a:prstGeom prst="rect">
            <a:avLst/>
          </a:prstGeom>
          <a:noFill/>
        </p:spPr>
        <p:txBody>
          <a:bodyPr wrap="square" lIns="64008" tIns="32004" rIns="64008" bIns="32004" anchor="ctr">
            <a:normAutofit/>
          </a:bodyPr>
          <a:lstStyle/>
          <a:p>
            <a:pPr algn="l">
              <a:spcBef>
                <a:spcPts val="0"/>
              </a:spcBef>
              <a:spcAft>
                <a:spcPts val="400"/>
              </a:spcAft>
            </a:pPr>
            <a:endParaRPr sz="1900" b="1" i="0" dirty="0">
              <a:solidFill>
                <a:srgbClr val="002A57"/>
              </a:solidFill>
              <a:latin typeface="Calibri"/>
            </a:endParaRPr>
          </a:p>
        </p:txBody>
      </p:sp>
      <p:sp>
        <p:nvSpPr>
          <p:cNvPr id="28" name="TextBox 27">
            <a:extLst>
              <a:ext uri="{FF2B5EF4-FFF2-40B4-BE49-F238E27FC236}">
                <a16:creationId xmlns:a16="http://schemas.microsoft.com/office/drawing/2014/main" id="{C0421A11-D9D6-784B-602A-858035EB2FC5}"/>
              </a:ext>
            </a:extLst>
          </p:cNvPr>
          <p:cNvSpPr txBox="1"/>
          <p:nvPr/>
        </p:nvSpPr>
        <p:spPr>
          <a:xfrm>
            <a:off x="1371907" y="5435199"/>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Training Results</a:t>
            </a:r>
            <a:endParaRPr sz="2400" b="0" i="0">
              <a:solidFill>
                <a:srgbClr val="2D3748"/>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Background</a:t>
            </a:r>
            <a:endParaRPr lang="en-US" sz="4533"/>
          </a:p>
        </p:txBody>
      </p:sp>
      <p:sp>
        <p:nvSpPr>
          <p:cNvPr id="3" name="Text 1"/>
          <p:cNvSpPr txBox="1"/>
          <p:nvPr/>
        </p:nvSpPr>
        <p:spPr>
          <a:xfrm>
            <a:off x="609600" y="999744"/>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5C6B7A"/>
                </a:solidFill>
                <a:latin typeface="Calibri" pitchFamily="34" charset="0"/>
                <a:ea typeface="Calibri" pitchFamily="34" charset="-122"/>
                <a:cs typeface="Calibri" pitchFamily="34" charset="-120"/>
              </a:rPr>
              <a:t>Privileged users have deleted core systems, on purpose and by mistake</a:t>
            </a:r>
            <a:endParaRPr lang="en-US" sz="2133"/>
          </a:p>
        </p:txBody>
      </p:sp>
      <p:sp>
        <p:nvSpPr>
          <p:cNvPr id="4" name="Shape 2"/>
          <p:cNvSpPr/>
          <p:nvPr/>
        </p:nvSpPr>
        <p:spPr>
          <a:xfrm>
            <a:off x="609600" y="1706880"/>
            <a:ext cx="4145280" cy="4084320"/>
          </a:xfrm>
          <a:prstGeom prst="rect">
            <a:avLst/>
          </a:prstGeom>
          <a:solidFill>
            <a:srgbClr val="002A57"/>
          </a:solidFill>
          <a:ln/>
          <a:effectLst>
            <a:outerShdw blurRad="76200" dist="25400" dir="5400000" algn="bl" rotWithShape="0">
              <a:srgbClr val="000000">
                <a:alpha val="12000"/>
              </a:srgbClr>
            </a:outerShdw>
          </a:effectLst>
        </p:spPr>
        <p:txBody>
          <a:bodyPr/>
          <a:lstStyle/>
          <a:p>
            <a:endParaRPr lang="en-SG"/>
          </a:p>
        </p:txBody>
      </p:sp>
      <p:sp>
        <p:nvSpPr>
          <p:cNvPr id="5" name="Text 3"/>
          <p:cNvSpPr txBox="1"/>
          <p:nvPr/>
        </p:nvSpPr>
        <p:spPr>
          <a:xfrm>
            <a:off x="853440" y="1950720"/>
            <a:ext cx="3657600" cy="975360"/>
          </a:xfrm>
          <a:prstGeom prst="rect">
            <a:avLst/>
          </a:prstGeom>
          <a:noFill/>
          <a:ln/>
        </p:spPr>
        <p:txBody>
          <a:bodyPr wrap="square" lIns="64008" tIns="32004" rIns="64008" bIns="32004" rtlCol="0" anchor="ctr">
            <a:normAutofit/>
          </a:bodyPr>
          <a:lstStyle/>
          <a:p>
            <a:pPr>
              <a:spcBef>
                <a:spcPts val="0"/>
              </a:spcBef>
              <a:spcAft>
                <a:spcPts val="400"/>
              </a:spcAft>
            </a:pPr>
            <a:r>
              <a:rPr lang="en-US" sz="3000" b="1">
                <a:solidFill>
                  <a:schemeClr val="bg1"/>
                </a:solidFill>
                <a:latin typeface="Calibri" pitchFamily="34" charset="0"/>
                <a:ea typeface="Cambria" pitchFamily="34" charset="-122"/>
                <a:cs typeface="Cambria" pitchFamily="34" charset="-120"/>
              </a:rPr>
              <a:t>S$918,000</a:t>
            </a:r>
            <a:endParaRPr lang="en-US" sz="3000">
              <a:solidFill>
                <a:schemeClr val="bg1"/>
              </a:solidFill>
            </a:endParaRPr>
          </a:p>
        </p:txBody>
      </p:sp>
      <p:sp>
        <p:nvSpPr>
          <p:cNvPr id="6" name="Text 4"/>
          <p:cNvSpPr txBox="1"/>
          <p:nvPr/>
        </p:nvSpPr>
        <p:spPr>
          <a:xfrm>
            <a:off x="853440" y="3048000"/>
            <a:ext cx="3657600" cy="1584960"/>
          </a:xfrm>
          <a:prstGeom prst="rect">
            <a:avLst/>
          </a:prstGeom>
          <a:noFill/>
          <a:ln/>
        </p:spPr>
        <p:txBody>
          <a:bodyPr wrap="square" lIns="64008" tIns="32004" rIns="64008" bIns="32004" rtlCol="0" anchor="t">
            <a:normAutofit/>
          </a:bodyPr>
          <a:lstStyle/>
          <a:p>
            <a:pPr>
              <a:spcBef>
                <a:spcPts val="0"/>
              </a:spcBef>
              <a:spcAft>
                <a:spcPts val="400"/>
              </a:spcAft>
            </a:pPr>
            <a:r>
              <a:rPr lang="en-US" sz="1600">
                <a:solidFill>
                  <a:srgbClr val="C9DAEE"/>
                </a:solidFill>
                <a:latin typeface="Calibri" pitchFamily="34" charset="0"/>
                <a:ea typeface="Calibri" pitchFamily="34" charset="-122"/>
                <a:cs typeface="Calibri" pitchFamily="34" charset="-120"/>
              </a:rPr>
              <a:t>L</a:t>
            </a:r>
            <a:r>
              <a:rPr lang="en-US" sz="1600" b="0">
                <a:solidFill>
                  <a:srgbClr val="C9DAEE"/>
                </a:solidFill>
                <a:latin typeface="Calibri" pitchFamily="34" charset="0"/>
                <a:ea typeface="Calibri" pitchFamily="34" charset="-122"/>
                <a:cs typeface="Calibri" pitchFamily="34" charset="-120"/>
              </a:rPr>
              <a:t>oss after a dismissed system administrator deleted 180 virtual servers at a Singapore IT firm (2023)</a:t>
            </a:r>
            <a:endParaRPr lang="en-US" sz="2000"/>
          </a:p>
        </p:txBody>
      </p:sp>
      <p:sp>
        <p:nvSpPr>
          <p:cNvPr id="7" name="Text 5"/>
          <p:cNvSpPr txBox="1"/>
          <p:nvPr/>
        </p:nvSpPr>
        <p:spPr>
          <a:xfrm>
            <a:off x="853440" y="4876800"/>
            <a:ext cx="3657600" cy="609600"/>
          </a:xfrm>
          <a:prstGeom prst="rect">
            <a:avLst/>
          </a:prstGeom>
          <a:noFill/>
          <a:ln/>
        </p:spPr>
        <p:txBody>
          <a:bodyPr wrap="square" lIns="64008" tIns="32004" rIns="64008" bIns="32004" rtlCol="0" anchor="t">
            <a:normAutofit/>
          </a:bodyPr>
          <a:lstStyle/>
          <a:p>
            <a:pPr>
              <a:spcBef>
                <a:spcPts val="0"/>
              </a:spcBef>
              <a:spcAft>
                <a:spcPts val="400"/>
              </a:spcAft>
            </a:pPr>
            <a:r>
              <a:rPr lang="en-US" sz="1400" b="0" i="1">
                <a:solidFill>
                  <a:srgbClr val="FFFFFF"/>
                </a:solidFill>
                <a:latin typeface="Calibri" pitchFamily="34" charset="0"/>
                <a:ea typeface="Calibri" pitchFamily="34" charset="-122"/>
                <a:cs typeface="Calibri" pitchFamily="34" charset="-120"/>
              </a:rPr>
              <a:t>Sentenced to 2 years 8 months in jail</a:t>
            </a:r>
            <a:endParaRPr lang="en-US" sz="1600"/>
          </a:p>
        </p:txBody>
      </p:sp>
      <p:sp>
        <p:nvSpPr>
          <p:cNvPr id="8" name="Shape 6"/>
          <p:cNvSpPr/>
          <p:nvPr/>
        </p:nvSpPr>
        <p:spPr>
          <a:xfrm>
            <a:off x="5120640" y="1706880"/>
            <a:ext cx="6461760" cy="1280160"/>
          </a:xfrm>
          <a:prstGeom prst="rect">
            <a:avLst/>
          </a:prstGeom>
          <a:solidFill>
            <a:srgbClr val="F1F4F8"/>
          </a:solidFill>
          <a:ln/>
        </p:spPr>
        <p:txBody>
          <a:bodyPr/>
          <a:lstStyle/>
          <a:p>
            <a:endParaRPr lang="en-SG"/>
          </a:p>
        </p:txBody>
      </p:sp>
      <p:sp>
        <p:nvSpPr>
          <p:cNvPr id="9" name="Text 7"/>
          <p:cNvSpPr txBox="1"/>
          <p:nvPr/>
        </p:nvSpPr>
        <p:spPr>
          <a:xfrm>
            <a:off x="5364480" y="182880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SINGAPORE, 2023</a:t>
            </a:r>
            <a:endParaRPr lang="en-US" sz="1333"/>
          </a:p>
        </p:txBody>
      </p:sp>
      <p:sp>
        <p:nvSpPr>
          <p:cNvPr id="10" name="Text 8"/>
          <p:cNvSpPr txBox="1"/>
          <p:nvPr/>
        </p:nvSpPr>
        <p:spPr>
          <a:xfrm>
            <a:off x="5364480" y="217017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fired admin whose access was never revoked ran a script to delete all 180 servers of a test system, one by one.</a:t>
            </a:r>
            <a:endParaRPr lang="en-US" sz="1600"/>
          </a:p>
        </p:txBody>
      </p:sp>
      <p:sp>
        <p:nvSpPr>
          <p:cNvPr id="11" name="Shape 9"/>
          <p:cNvSpPr/>
          <p:nvPr/>
        </p:nvSpPr>
        <p:spPr>
          <a:xfrm>
            <a:off x="5120640" y="3108960"/>
            <a:ext cx="6461760" cy="1280160"/>
          </a:xfrm>
          <a:prstGeom prst="rect">
            <a:avLst/>
          </a:prstGeom>
          <a:solidFill>
            <a:srgbClr val="F1F4F8"/>
          </a:solidFill>
          <a:ln/>
        </p:spPr>
        <p:txBody>
          <a:bodyPr/>
          <a:lstStyle/>
          <a:p>
            <a:endParaRPr lang="en-SG"/>
          </a:p>
        </p:txBody>
      </p:sp>
      <p:sp>
        <p:nvSpPr>
          <p:cNvPr id="12" name="Text 10"/>
          <p:cNvSpPr txBox="1"/>
          <p:nvPr/>
        </p:nvSpPr>
        <p:spPr>
          <a:xfrm>
            <a:off x="5364480" y="323088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UNITED STATES</a:t>
            </a:r>
            <a:endParaRPr lang="en-US" sz="1333"/>
          </a:p>
        </p:txBody>
      </p:sp>
      <p:sp>
        <p:nvSpPr>
          <p:cNvPr id="13" name="Text 11"/>
          <p:cNvSpPr txBox="1"/>
          <p:nvPr/>
        </p:nvSpPr>
        <p:spPr>
          <a:xfrm>
            <a:off x="5364480" y="357225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former worker deleted critical boot files on company servers, crippling operations for two weeks and forcing paper records.</a:t>
            </a:r>
            <a:endParaRPr lang="en-US" sz="1600"/>
          </a:p>
        </p:txBody>
      </p:sp>
      <p:sp>
        <p:nvSpPr>
          <p:cNvPr id="14" name="Shape 12"/>
          <p:cNvSpPr/>
          <p:nvPr/>
        </p:nvSpPr>
        <p:spPr>
          <a:xfrm>
            <a:off x="5120640" y="4511040"/>
            <a:ext cx="6461760" cy="1280160"/>
          </a:xfrm>
          <a:prstGeom prst="rect">
            <a:avLst/>
          </a:prstGeom>
          <a:solidFill>
            <a:srgbClr val="F1F4F8"/>
          </a:solidFill>
          <a:ln/>
        </p:spPr>
        <p:txBody>
          <a:bodyPr/>
          <a:lstStyle/>
          <a:p>
            <a:endParaRPr lang="en-SG"/>
          </a:p>
        </p:txBody>
      </p:sp>
      <p:sp>
        <p:nvSpPr>
          <p:cNvPr id="15" name="Text 13"/>
          <p:cNvSpPr txBox="1"/>
          <p:nvPr/>
        </p:nvSpPr>
        <p:spPr>
          <a:xfrm>
            <a:off x="5364480" y="463296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ACCIDENTAL  |  EVERYWHERE</a:t>
            </a:r>
            <a:endParaRPr lang="en-US" sz="1333"/>
          </a:p>
        </p:txBody>
      </p:sp>
      <p:sp>
        <p:nvSpPr>
          <p:cNvPr id="16" name="Text 14"/>
          <p:cNvSpPr txBox="1"/>
          <p:nvPr/>
        </p:nvSpPr>
        <p:spPr>
          <a:xfrm>
            <a:off x="5364480" y="497433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Well-meaning admins also run destructive commands on the wrong server. Different intent, same damage.</a:t>
            </a:r>
            <a:endParaRPr lang="en-US" sz="1600"/>
          </a:p>
        </p:txBody>
      </p:sp>
      <p:sp>
        <p:nvSpPr>
          <p:cNvPr id="17" name="Text 15"/>
          <p:cNvSpPr txBox="1"/>
          <p:nvPr/>
        </p:nvSpPr>
        <p:spPr>
          <a:xfrm>
            <a:off x="609600" y="597408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002A57"/>
                </a:solidFill>
                <a:latin typeface="Calibri" pitchFamily="34" charset="0"/>
                <a:ea typeface="Calibri" pitchFamily="34" charset="-122"/>
                <a:cs typeface="Calibri" pitchFamily="34" charset="-120"/>
              </a:rPr>
              <a:t>Why this project: admin sessions can be recorded, but no one can review hours of video for risky actions.</a:t>
            </a:r>
            <a:endParaRPr lang="en-US" sz="1600"/>
          </a:p>
        </p:txBody>
      </p:sp>
      <p:sp>
        <p:nvSpPr>
          <p:cNvPr id="18" name="Text 16"/>
          <p:cNvSpPr txBox="1"/>
          <p:nvPr/>
        </p:nvSpPr>
        <p:spPr>
          <a:xfrm>
            <a:off x="609600" y="6400800"/>
            <a:ext cx="10972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Sources: </a:t>
            </a: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CNA</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DataBreaches.net</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TechRadar</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6" tooltip="https://blog.g5cybersecurity.com/former-worker-sentenced-for-wrecking-servers/">
                  <a:extLst>
                    <a:ext uri="{A12FA001-AC4F-418D-AE19-62706E023703}">
                      <ahyp:hlinkClr xmlns:ahyp="http://schemas.microsoft.com/office/drawing/2018/hyperlinkcolor" val="tx"/>
                    </a:ext>
                  </a:extLst>
                </a:hlinkClick>
              </a:rPr>
              <a:t>G5 Cyber Security (citing CSO Online)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Problem Statement</a:t>
            </a:r>
            <a:endParaRPr lang="en-US" sz="4533"/>
          </a:p>
        </p:txBody>
      </p:sp>
      <p:sp>
        <p:nvSpPr>
          <p:cNvPr id="3" name="Shape 1"/>
          <p:cNvSpPr/>
          <p:nvPr/>
        </p:nvSpPr>
        <p:spPr>
          <a:xfrm>
            <a:off x="609600" y="1280160"/>
            <a:ext cx="5364480" cy="2865120"/>
          </a:xfrm>
          <a:prstGeom prst="rect">
            <a:avLst/>
          </a:prstGeom>
          <a:solidFill>
            <a:srgbClr val="002A57"/>
          </a:solidFill>
          <a:ln/>
        </p:spPr>
        <p:txBody>
          <a:bodyPr/>
          <a:lstStyle/>
          <a:p>
            <a:endParaRPr lang="en-SG"/>
          </a:p>
        </p:txBody>
      </p:sp>
      <p:sp>
        <p:nvSpPr>
          <p:cNvPr id="4" name="Text 2"/>
          <p:cNvSpPr txBox="1"/>
          <p:nvPr/>
        </p:nvSpPr>
        <p:spPr>
          <a:xfrm>
            <a:off x="85344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1  |  SECURITY</a:t>
            </a:r>
            <a:endParaRPr lang="en-US" sz="1467"/>
          </a:p>
        </p:txBody>
      </p:sp>
      <p:sp>
        <p:nvSpPr>
          <p:cNvPr id="5" name="Text 3"/>
          <p:cNvSpPr txBox="1"/>
          <p:nvPr/>
        </p:nvSpPr>
        <p:spPr>
          <a:xfrm>
            <a:off x="85344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Users with privileged access can accidentally or knowingly delete core Windows and Linux files and trigger security incidents, usually found only after the damage is done.</a:t>
            </a:r>
            <a:endParaRPr lang="en-US" sz="2000">
              <a:solidFill>
                <a:schemeClr val="bg1"/>
              </a:solidFill>
            </a:endParaRPr>
          </a:p>
        </p:txBody>
      </p:sp>
      <p:sp>
        <p:nvSpPr>
          <p:cNvPr id="6" name="Shape 4"/>
          <p:cNvSpPr/>
          <p:nvPr/>
        </p:nvSpPr>
        <p:spPr>
          <a:xfrm>
            <a:off x="60960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7" name="Text 5"/>
          <p:cNvSpPr txBox="1"/>
          <p:nvPr/>
        </p:nvSpPr>
        <p:spPr>
          <a:xfrm>
            <a:off x="68275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Privileged action</a:t>
            </a:r>
            <a:endParaRPr lang="en-US" sz="1600">
              <a:solidFill>
                <a:schemeClr val="bg1"/>
              </a:solidFill>
            </a:endParaRPr>
          </a:p>
        </p:txBody>
      </p:sp>
      <p:sp>
        <p:nvSpPr>
          <p:cNvPr id="8" name="Text 6"/>
          <p:cNvSpPr txBox="1"/>
          <p:nvPr/>
        </p:nvSpPr>
        <p:spPr>
          <a:xfrm>
            <a:off x="219456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9" name="Shape 7"/>
          <p:cNvSpPr/>
          <p:nvPr/>
        </p:nvSpPr>
        <p:spPr>
          <a:xfrm>
            <a:off x="249936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0" name="Text 8"/>
          <p:cNvSpPr txBox="1"/>
          <p:nvPr/>
        </p:nvSpPr>
        <p:spPr>
          <a:xfrm>
            <a:off x="257251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Risky action</a:t>
            </a:r>
            <a:endParaRPr lang="en-US" sz="1600">
              <a:solidFill>
                <a:schemeClr val="bg1"/>
              </a:solidFill>
            </a:endParaRPr>
          </a:p>
        </p:txBody>
      </p:sp>
      <p:sp>
        <p:nvSpPr>
          <p:cNvPr id="11" name="Text 9"/>
          <p:cNvSpPr txBox="1"/>
          <p:nvPr/>
        </p:nvSpPr>
        <p:spPr>
          <a:xfrm>
            <a:off x="408432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12" name="Shape 10"/>
          <p:cNvSpPr/>
          <p:nvPr/>
        </p:nvSpPr>
        <p:spPr>
          <a:xfrm>
            <a:off x="438912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13" name="Text 11"/>
          <p:cNvSpPr txBox="1"/>
          <p:nvPr/>
        </p:nvSpPr>
        <p:spPr>
          <a:xfrm>
            <a:off x="44622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Found too late</a:t>
            </a:r>
            <a:endParaRPr lang="en-US" sz="1600"/>
          </a:p>
        </p:txBody>
      </p:sp>
      <p:sp>
        <p:nvSpPr>
          <p:cNvPr id="14" name="Shape 12"/>
          <p:cNvSpPr/>
          <p:nvPr/>
        </p:nvSpPr>
        <p:spPr>
          <a:xfrm>
            <a:off x="6217920" y="1280160"/>
            <a:ext cx="5364480" cy="2865120"/>
          </a:xfrm>
          <a:prstGeom prst="rect">
            <a:avLst/>
          </a:prstGeom>
          <a:solidFill>
            <a:srgbClr val="002A57"/>
          </a:solidFill>
          <a:ln/>
        </p:spPr>
        <p:txBody>
          <a:bodyPr/>
          <a:lstStyle/>
          <a:p>
            <a:endParaRPr lang="en-SG"/>
          </a:p>
        </p:txBody>
      </p:sp>
      <p:sp>
        <p:nvSpPr>
          <p:cNvPr id="15" name="Text 13"/>
          <p:cNvSpPr txBox="1"/>
          <p:nvPr/>
        </p:nvSpPr>
        <p:spPr>
          <a:xfrm>
            <a:off x="646176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2  |  KNOWLEDGE</a:t>
            </a:r>
            <a:endParaRPr lang="en-US" sz="1467"/>
          </a:p>
        </p:txBody>
      </p:sp>
      <p:sp>
        <p:nvSpPr>
          <p:cNvPr id="16" name="Text 14"/>
          <p:cNvSpPr txBox="1"/>
          <p:nvPr/>
        </p:nvSpPr>
        <p:spPr>
          <a:xfrm>
            <a:off x="646176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We routinely record videos of admin activities, but turning them into documents or knowledge-base articles is manual, slow and inconsistent, so the knowledge stays locked in video.</a:t>
            </a:r>
            <a:endParaRPr lang="en-US" sz="2000">
              <a:solidFill>
                <a:schemeClr val="bg1"/>
              </a:solidFill>
            </a:endParaRPr>
          </a:p>
        </p:txBody>
      </p:sp>
      <p:sp>
        <p:nvSpPr>
          <p:cNvPr id="17" name="Shape 15"/>
          <p:cNvSpPr/>
          <p:nvPr/>
        </p:nvSpPr>
        <p:spPr>
          <a:xfrm>
            <a:off x="621792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8" name="Text 16"/>
          <p:cNvSpPr txBox="1"/>
          <p:nvPr/>
        </p:nvSpPr>
        <p:spPr>
          <a:xfrm>
            <a:off x="62910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Recorded video</a:t>
            </a:r>
            <a:endParaRPr lang="en-US" sz="1600">
              <a:solidFill>
                <a:schemeClr val="bg1"/>
              </a:solidFill>
            </a:endParaRPr>
          </a:p>
        </p:txBody>
      </p:sp>
      <p:sp>
        <p:nvSpPr>
          <p:cNvPr id="19" name="Text 17"/>
          <p:cNvSpPr txBox="1"/>
          <p:nvPr/>
        </p:nvSpPr>
        <p:spPr>
          <a:xfrm>
            <a:off x="780288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0" name="Shape 18"/>
          <p:cNvSpPr/>
          <p:nvPr/>
        </p:nvSpPr>
        <p:spPr>
          <a:xfrm>
            <a:off x="810768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21" name="Text 19"/>
          <p:cNvSpPr txBox="1"/>
          <p:nvPr/>
        </p:nvSpPr>
        <p:spPr>
          <a:xfrm>
            <a:off x="818083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Manual write-up</a:t>
            </a:r>
            <a:endParaRPr lang="en-US" sz="1600">
              <a:solidFill>
                <a:schemeClr val="bg1"/>
              </a:solidFill>
            </a:endParaRPr>
          </a:p>
        </p:txBody>
      </p:sp>
      <p:sp>
        <p:nvSpPr>
          <p:cNvPr id="22" name="Text 20"/>
          <p:cNvSpPr txBox="1"/>
          <p:nvPr/>
        </p:nvSpPr>
        <p:spPr>
          <a:xfrm>
            <a:off x="969264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3" name="Shape 21"/>
          <p:cNvSpPr/>
          <p:nvPr/>
        </p:nvSpPr>
        <p:spPr>
          <a:xfrm>
            <a:off x="999744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24" name="Text 22"/>
          <p:cNvSpPr txBox="1"/>
          <p:nvPr/>
        </p:nvSpPr>
        <p:spPr>
          <a:xfrm>
            <a:off x="1007059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Stays locked in video</a:t>
            </a:r>
            <a:endParaRPr lang="en-US" sz="1600"/>
          </a:p>
        </p:txBody>
      </p:sp>
      <p:sp>
        <p:nvSpPr>
          <p:cNvPr id="25" name="Text 23"/>
          <p:cNvSpPr txBox="1"/>
          <p:nvPr/>
        </p:nvSpPr>
        <p:spPr>
          <a:xfrm>
            <a:off x="609600" y="591312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600" b="0" i="1">
                <a:solidFill>
                  <a:srgbClr val="273140"/>
                </a:solidFill>
                <a:latin typeface="Calibri" pitchFamily="34" charset="0"/>
                <a:ea typeface="Calibri" pitchFamily="34" charset="-122"/>
                <a:cs typeface="Calibri" pitchFamily="34" charset="-120"/>
              </a:rPr>
              <a:t>Both problems share one gap: what happens in a recorded session is not automatically understood.</a:t>
            </a:r>
            <a:endParaRPr lang="en-US" sz="173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Objective</a:t>
            </a:r>
          </a:p>
        </p:txBody>
      </p:sp>
      <p:sp>
        <p:nvSpPr>
          <p:cNvPr id="3" name="Text 1"/>
          <p:cNvSpPr txBox="1"/>
          <p:nvPr/>
        </p:nvSpPr>
        <p:spPr>
          <a:xfrm>
            <a:off x="609600" y="1185583"/>
            <a:ext cx="10972800" cy="1066351"/>
          </a:xfrm>
          <a:prstGeom prst="rect">
            <a:avLst/>
          </a:prstGeom>
          <a:noFill/>
          <a:ln/>
        </p:spPr>
        <p:txBody>
          <a:bodyPr wrap="square" lIns="64008" tIns="32004" rIns="64008" bIns="32004" rtlCol="0" anchor="t">
            <a:noAutofit/>
          </a:bodyPr>
          <a:lstStyle/>
          <a:p>
            <a:pPr>
              <a:spcBef>
                <a:spcPts val="0"/>
              </a:spcBef>
              <a:spcAft>
                <a:spcPts val="400"/>
              </a:spcAft>
            </a:pPr>
            <a:r>
              <a:rPr lang="en-US" b="1">
                <a:solidFill>
                  <a:srgbClr val="1F2933"/>
                </a:solidFill>
                <a:latin typeface="Calibri"/>
                <a:ea typeface="Calibri"/>
                <a:cs typeface="Calibri"/>
              </a:rPr>
              <a:t>Automatically understand what was done in server screen recordings, so risky actions are caught early and every recording becomes reusable knowledge.</a:t>
            </a:r>
            <a:r>
              <a:rPr lang="en-SG" b="1">
                <a:solidFill>
                  <a:srgbClr val="273140"/>
                </a:solidFill>
                <a:latin typeface="Calibri"/>
              </a:rPr>
              <a:t> Transform the recognized workflows into structured, searchable SOPs, runbooks, and troubleshooting guides, with traceability to support security, compliance, and proactive incident prevention.</a:t>
            </a:r>
            <a:endParaRPr lang="en-US" b="1">
              <a:ea typeface="Calibri"/>
              <a:cs typeface="Calibri"/>
            </a:endParaRPr>
          </a:p>
        </p:txBody>
      </p:sp>
      <p:sp>
        <p:nvSpPr>
          <p:cNvPr id="4" name="Shape 2"/>
          <p:cNvSpPr/>
          <p:nvPr/>
        </p:nvSpPr>
        <p:spPr>
          <a:xfrm>
            <a:off x="60960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5" name="Shape 3"/>
          <p:cNvSpPr/>
          <p:nvPr/>
        </p:nvSpPr>
        <p:spPr>
          <a:xfrm>
            <a:off x="914400" y="3108960"/>
            <a:ext cx="670560" cy="670560"/>
          </a:xfrm>
          <a:prstGeom prst="ellipse">
            <a:avLst/>
          </a:prstGeom>
          <a:solidFill>
            <a:srgbClr val="D62828"/>
          </a:solidFill>
          <a:ln/>
        </p:spPr>
        <p:txBody>
          <a:bodyPr/>
          <a:lstStyle/>
          <a:p>
            <a:endParaRPr lang="en-SG"/>
          </a:p>
        </p:txBody>
      </p:sp>
      <p:sp>
        <p:nvSpPr>
          <p:cNvPr id="6" name="Text 4"/>
          <p:cNvSpPr txBox="1"/>
          <p:nvPr/>
        </p:nvSpPr>
        <p:spPr>
          <a:xfrm>
            <a:off x="91440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1</a:t>
            </a:r>
            <a:endParaRPr lang="en-US" sz="2667"/>
          </a:p>
        </p:txBody>
      </p:sp>
      <p:sp>
        <p:nvSpPr>
          <p:cNvPr id="7" name="Text 5"/>
          <p:cNvSpPr txBox="1"/>
          <p:nvPr/>
        </p:nvSpPr>
        <p:spPr>
          <a:xfrm>
            <a:off x="91440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Identify</a:t>
            </a:r>
            <a:endParaRPr lang="en-US" sz="2667"/>
          </a:p>
        </p:txBody>
      </p:sp>
      <p:sp>
        <p:nvSpPr>
          <p:cNvPr id="8" name="Text 6"/>
          <p:cNvSpPr txBox="1"/>
          <p:nvPr/>
        </p:nvSpPr>
        <p:spPr>
          <a:xfrm>
            <a:off x="91440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Analyse recorded sessions with a tiered pipeline (frame features, sequence model, classifier) to recognise which action was performed.</a:t>
            </a:r>
            <a:endParaRPr lang="en-US" sz="1733"/>
          </a:p>
        </p:txBody>
      </p:sp>
      <p:sp>
        <p:nvSpPr>
          <p:cNvPr id="9" name="Shape 7"/>
          <p:cNvSpPr/>
          <p:nvPr/>
        </p:nvSpPr>
        <p:spPr>
          <a:xfrm>
            <a:off x="432816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0" name="Shape 8"/>
          <p:cNvSpPr/>
          <p:nvPr/>
        </p:nvSpPr>
        <p:spPr>
          <a:xfrm>
            <a:off x="4632960" y="3108960"/>
            <a:ext cx="670560" cy="670560"/>
          </a:xfrm>
          <a:prstGeom prst="ellipse">
            <a:avLst/>
          </a:prstGeom>
          <a:solidFill>
            <a:srgbClr val="D62828"/>
          </a:solidFill>
          <a:ln/>
        </p:spPr>
        <p:txBody>
          <a:bodyPr/>
          <a:lstStyle/>
          <a:p>
            <a:endParaRPr lang="en-SG"/>
          </a:p>
        </p:txBody>
      </p:sp>
      <p:sp>
        <p:nvSpPr>
          <p:cNvPr id="11" name="Text 9"/>
          <p:cNvSpPr txBox="1"/>
          <p:nvPr/>
        </p:nvSpPr>
        <p:spPr>
          <a:xfrm>
            <a:off x="463296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2</a:t>
            </a:r>
            <a:endParaRPr lang="en-US" sz="2667"/>
          </a:p>
        </p:txBody>
      </p:sp>
      <p:sp>
        <p:nvSpPr>
          <p:cNvPr id="12" name="Text 10"/>
          <p:cNvSpPr txBox="1"/>
          <p:nvPr/>
        </p:nvSpPr>
        <p:spPr>
          <a:xfrm>
            <a:off x="463296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Explain</a:t>
            </a:r>
            <a:endParaRPr lang="en-US" sz="2667"/>
          </a:p>
        </p:txBody>
      </p:sp>
      <p:sp>
        <p:nvSpPr>
          <p:cNvPr id="13" name="Text 11"/>
          <p:cNvSpPr txBox="1"/>
          <p:nvPr/>
        </p:nvSpPr>
        <p:spPr>
          <a:xfrm>
            <a:off x="463296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Generate a plain-language summary of the actions so reviewers do not have to watch the full video.</a:t>
            </a:r>
            <a:endParaRPr lang="en-US" sz="1733"/>
          </a:p>
        </p:txBody>
      </p:sp>
      <p:sp>
        <p:nvSpPr>
          <p:cNvPr id="14" name="Shape 12"/>
          <p:cNvSpPr/>
          <p:nvPr/>
        </p:nvSpPr>
        <p:spPr>
          <a:xfrm>
            <a:off x="804672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5" name="Shape 13"/>
          <p:cNvSpPr/>
          <p:nvPr/>
        </p:nvSpPr>
        <p:spPr>
          <a:xfrm>
            <a:off x="8351520" y="3108960"/>
            <a:ext cx="670560" cy="670560"/>
          </a:xfrm>
          <a:prstGeom prst="ellipse">
            <a:avLst/>
          </a:prstGeom>
          <a:solidFill>
            <a:srgbClr val="D62828"/>
          </a:solidFill>
          <a:ln/>
        </p:spPr>
        <p:txBody>
          <a:bodyPr/>
          <a:lstStyle/>
          <a:p>
            <a:endParaRPr lang="en-SG"/>
          </a:p>
        </p:txBody>
      </p:sp>
      <p:sp>
        <p:nvSpPr>
          <p:cNvPr id="16" name="Text 14"/>
          <p:cNvSpPr txBox="1"/>
          <p:nvPr/>
        </p:nvSpPr>
        <p:spPr>
          <a:xfrm>
            <a:off x="835152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3</a:t>
            </a:r>
            <a:endParaRPr lang="en-US" sz="2667"/>
          </a:p>
        </p:txBody>
      </p:sp>
      <p:sp>
        <p:nvSpPr>
          <p:cNvPr id="17" name="Text 15"/>
          <p:cNvSpPr txBox="1"/>
          <p:nvPr/>
        </p:nvSpPr>
        <p:spPr>
          <a:xfrm>
            <a:off x="835152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Prevent</a:t>
            </a:r>
            <a:endParaRPr lang="en-US" sz="2667"/>
          </a:p>
        </p:txBody>
      </p:sp>
      <p:sp>
        <p:nvSpPr>
          <p:cNvPr id="18" name="Text 16"/>
          <p:cNvSpPr txBox="1"/>
          <p:nvPr/>
        </p:nvSpPr>
        <p:spPr>
          <a:xfrm>
            <a:off x="835152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Flag high-risk actions such as deleting core files early, across many admins and organisations, not only after an incident.</a:t>
            </a:r>
            <a:endParaRPr lang="en-US" sz="1733"/>
          </a:p>
        </p:txBody>
      </p:sp>
      <p:sp>
        <p:nvSpPr>
          <p:cNvPr id="19" name="Text 17"/>
          <p:cNvSpPr txBox="1"/>
          <p:nvPr/>
        </p:nvSpPr>
        <p:spPr>
          <a:xfrm>
            <a:off x="609600" y="6156960"/>
            <a:ext cx="10972800" cy="36576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Scope: Windows and Linux server administration recordings</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69E4A59E-5013-7086-5F20-725436A68091}"/>
              </a:ext>
            </a:extLst>
          </p:cNvPr>
          <p:cNvPicPr>
            <a:picLocks noChangeAspect="1"/>
          </p:cNvPicPr>
          <p:nvPr/>
        </p:nvPicPr>
        <p:blipFill>
          <a:blip r:embed="rId2"/>
          <a:stretch>
            <a:fillRect/>
          </a:stretch>
        </p:blipFill>
        <p:spPr>
          <a:xfrm>
            <a:off x="754673" y="206644"/>
            <a:ext cx="10688390" cy="6627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80196B-9404-6E30-BF9A-9ABBD417E2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6E85EC-464E-5D66-9A69-BEB59D9FEC7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50F1C46-836A-2D5F-5E7E-246008EC697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791BF5-25E7-E7F8-44A8-C0EC6CBEC0E3}"/>
              </a:ext>
            </a:extLst>
          </p:cNvPr>
          <p:cNvSpPr txBox="1"/>
          <p:nvPr/>
        </p:nvSpPr>
        <p:spPr>
          <a:xfrm>
            <a:off x="966717" y="312762"/>
            <a:ext cx="81772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SG" sz="2800" b="1">
                <a:solidFill>
                  <a:srgbClr val="003D7C"/>
                </a:solidFill>
                <a:latin typeface="Calibri"/>
              </a:rPr>
              <a:t>Multimodal Feature Extraction Pipeline</a:t>
            </a:r>
            <a:endParaRPr lang="en-US" sz="2800" b="1">
              <a:solidFill>
                <a:schemeClr val="tx2"/>
              </a:solidFill>
              <a:latin typeface="Calibri"/>
              <a:ea typeface="Calibri"/>
              <a:cs typeface="Calibri"/>
            </a:endParaRPr>
          </a:p>
        </p:txBody>
      </p:sp>
      <p:sp>
        <p:nvSpPr>
          <p:cNvPr id="7" name="Rounded Rectangle 8">
            <a:extLst>
              <a:ext uri="{FF2B5EF4-FFF2-40B4-BE49-F238E27FC236}">
                <a16:creationId xmlns:a16="http://schemas.microsoft.com/office/drawing/2014/main" id="{EB593350-5299-8F7A-0F9D-F407BAEF0DA9}"/>
              </a:ext>
            </a:extLst>
          </p:cNvPr>
          <p:cNvSpPr/>
          <p:nvPr/>
        </p:nvSpPr>
        <p:spPr>
          <a:xfrm>
            <a:off x="457200" y="1371600"/>
            <a:ext cx="13716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dirty="0"/>
              <a:t>Video Input</a:t>
            </a:r>
          </a:p>
        </p:txBody>
      </p:sp>
      <p:sp>
        <p:nvSpPr>
          <p:cNvPr id="9" name="Up Arrow Callout 9">
            <a:extLst>
              <a:ext uri="{FF2B5EF4-FFF2-40B4-BE49-F238E27FC236}">
                <a16:creationId xmlns:a16="http://schemas.microsoft.com/office/drawing/2014/main" id="{FFFA23CF-CBA5-506D-1379-2B805AFB8FAC}"/>
              </a:ext>
            </a:extLst>
          </p:cNvPr>
          <p:cNvSpPr/>
          <p:nvPr/>
        </p:nvSpPr>
        <p:spPr>
          <a:xfrm>
            <a:off x="1874519"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3A44EDCA-EC8F-730B-5ECB-267207517AD2}"/>
              </a:ext>
            </a:extLst>
          </p:cNvPr>
          <p:cNvSpPr/>
          <p:nvPr/>
        </p:nvSpPr>
        <p:spPr>
          <a:xfrm>
            <a:off x="2194560" y="1371600"/>
            <a:ext cx="164592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dirty="0" err="1"/>
              <a:t>VideoProcessor</a:t>
            </a:r>
            <a:br>
              <a:rPr dirty="0"/>
            </a:br>
            <a:r>
              <a:rPr dirty="0"/>
              <a:t>Segments + Keyframes</a:t>
            </a:r>
          </a:p>
        </p:txBody>
      </p:sp>
      <p:sp>
        <p:nvSpPr>
          <p:cNvPr id="13" name="Up Arrow Callout 11">
            <a:extLst>
              <a:ext uri="{FF2B5EF4-FFF2-40B4-BE49-F238E27FC236}">
                <a16:creationId xmlns:a16="http://schemas.microsoft.com/office/drawing/2014/main" id="{7C0DA1F9-EBF1-D060-3976-B956998683A1}"/>
              </a:ext>
            </a:extLst>
          </p:cNvPr>
          <p:cNvSpPr/>
          <p:nvPr/>
        </p:nvSpPr>
        <p:spPr>
          <a:xfrm>
            <a:off x="3886200"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6CF372F6-90D4-89DA-AB46-B94C5FB49A0A}"/>
              </a:ext>
            </a:extLst>
          </p:cNvPr>
          <p:cNvSpPr/>
          <p:nvPr/>
        </p:nvSpPr>
        <p:spPr>
          <a:xfrm>
            <a:off x="4297680" y="1097280"/>
            <a:ext cx="292608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EasyOCR (text)</a:t>
            </a:r>
          </a:p>
          <a:p>
            <a:pPr algn="ctr">
              <a:spcAft>
                <a:spcPts val="200"/>
              </a:spcAft>
              <a:defRPr sz="1100" b="0">
                <a:solidFill>
                  <a:srgbClr val="EEEEEE"/>
                </a:solidFill>
                <a:latin typeface="Calibri"/>
              </a:defRPr>
            </a:pPr>
            <a:r>
              <a:t>TF-IDF → 50 dims</a:t>
            </a:r>
          </a:p>
        </p:txBody>
      </p:sp>
      <p:sp>
        <p:nvSpPr>
          <p:cNvPr id="17" name="Rounded Rectangle 13">
            <a:extLst>
              <a:ext uri="{FF2B5EF4-FFF2-40B4-BE49-F238E27FC236}">
                <a16:creationId xmlns:a16="http://schemas.microsoft.com/office/drawing/2014/main" id="{6F3AE356-9225-B103-90DF-2626802A2C64}"/>
              </a:ext>
            </a:extLst>
          </p:cNvPr>
          <p:cNvSpPr/>
          <p:nvPr/>
        </p:nvSpPr>
        <p:spPr>
          <a:xfrm>
            <a:off x="4297680" y="2240280"/>
            <a:ext cx="2926080" cy="9144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YOLOv8 (UI elements)</a:t>
            </a:r>
          </a:p>
          <a:p>
            <a:pPr algn="ctr">
              <a:spcAft>
                <a:spcPts val="200"/>
              </a:spcAft>
              <a:defRPr sz="1100" b="0">
                <a:solidFill>
                  <a:srgbClr val="EEEEEE"/>
                </a:solidFill>
                <a:latin typeface="Calibri"/>
              </a:defRPr>
            </a:pPr>
            <a:r>
              <a:t>counts/layout → 30 dims</a:t>
            </a:r>
          </a:p>
        </p:txBody>
      </p:sp>
      <p:sp>
        <p:nvSpPr>
          <p:cNvPr id="19" name="Rounded Rectangle 14">
            <a:extLst>
              <a:ext uri="{FF2B5EF4-FFF2-40B4-BE49-F238E27FC236}">
                <a16:creationId xmlns:a16="http://schemas.microsoft.com/office/drawing/2014/main" id="{CC30419E-CAD5-A994-7F0D-00C867035ED8}"/>
              </a:ext>
            </a:extLst>
          </p:cNvPr>
          <p:cNvSpPr/>
          <p:nvPr/>
        </p:nvSpPr>
        <p:spPr>
          <a:xfrm>
            <a:off x="4297680" y="3383280"/>
            <a:ext cx="29260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OpenCV (visual)</a:t>
            </a:r>
          </a:p>
          <a:p>
            <a:pPr algn="ctr">
              <a:spcAft>
                <a:spcPts val="200"/>
              </a:spcAft>
              <a:defRPr sz="1100" b="0">
                <a:solidFill>
                  <a:srgbClr val="EEEEEE"/>
                </a:solidFill>
                <a:latin typeface="Calibri"/>
              </a:defRPr>
            </a:pPr>
            <a:r>
              <a:t>color/edge/texture → 40 dims</a:t>
            </a:r>
          </a:p>
        </p:txBody>
      </p:sp>
      <p:sp>
        <p:nvSpPr>
          <p:cNvPr id="21" name="Rounded Rectangle 15">
            <a:extLst>
              <a:ext uri="{FF2B5EF4-FFF2-40B4-BE49-F238E27FC236}">
                <a16:creationId xmlns:a16="http://schemas.microsoft.com/office/drawing/2014/main" id="{5CF964D9-65C9-4F8E-E57D-1EA42A2A8502}"/>
              </a:ext>
            </a:extLst>
          </p:cNvPr>
          <p:cNvSpPr/>
          <p:nvPr/>
        </p:nvSpPr>
        <p:spPr>
          <a:xfrm>
            <a:off x="4297680" y="4526280"/>
            <a:ext cx="2926080" cy="9144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Action Parser (behavior)</a:t>
            </a:r>
          </a:p>
          <a:p>
            <a:pPr algn="ctr">
              <a:spcAft>
                <a:spcPts val="200"/>
              </a:spcAft>
              <a:defRPr sz="1100" b="0">
                <a:solidFill>
                  <a:srgbClr val="EEEEEE"/>
                </a:solidFill>
                <a:latin typeface="Calibri"/>
              </a:defRPr>
            </a:pPr>
            <a:r>
              <a:t>freq/temporal → 30 dims</a:t>
            </a:r>
          </a:p>
        </p:txBody>
      </p:sp>
      <p:sp>
        <p:nvSpPr>
          <p:cNvPr id="23" name="Up Arrow Callout 16">
            <a:extLst>
              <a:ext uri="{FF2B5EF4-FFF2-40B4-BE49-F238E27FC236}">
                <a16:creationId xmlns:a16="http://schemas.microsoft.com/office/drawing/2014/main" id="{58948E52-DB43-1027-AEA5-1141E0BEE16B}"/>
              </a:ext>
            </a:extLst>
          </p:cNvPr>
          <p:cNvSpPr/>
          <p:nvPr/>
        </p:nvSpPr>
        <p:spPr>
          <a:xfrm>
            <a:off x="7269480" y="1417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Arrow Callout 17">
            <a:extLst>
              <a:ext uri="{FF2B5EF4-FFF2-40B4-BE49-F238E27FC236}">
                <a16:creationId xmlns:a16="http://schemas.microsoft.com/office/drawing/2014/main" id="{BA8ACF11-8AAE-E15F-EEC9-C8BCD2DFC1C3}"/>
              </a:ext>
            </a:extLst>
          </p:cNvPr>
          <p:cNvSpPr/>
          <p:nvPr/>
        </p:nvSpPr>
        <p:spPr>
          <a:xfrm>
            <a:off x="7269480" y="2560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 Arrow Callout 18">
            <a:extLst>
              <a:ext uri="{FF2B5EF4-FFF2-40B4-BE49-F238E27FC236}">
                <a16:creationId xmlns:a16="http://schemas.microsoft.com/office/drawing/2014/main" id="{619DF9A3-77DA-5F1C-69FD-85FE5486CD75}"/>
              </a:ext>
            </a:extLst>
          </p:cNvPr>
          <p:cNvSpPr/>
          <p:nvPr/>
        </p:nvSpPr>
        <p:spPr>
          <a:xfrm>
            <a:off x="7269480" y="3703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Up Arrow Callout 19">
            <a:extLst>
              <a:ext uri="{FF2B5EF4-FFF2-40B4-BE49-F238E27FC236}">
                <a16:creationId xmlns:a16="http://schemas.microsoft.com/office/drawing/2014/main" id="{08E1F827-3C9F-F1C9-18DF-B66FD4805303}"/>
              </a:ext>
            </a:extLst>
          </p:cNvPr>
          <p:cNvSpPr/>
          <p:nvPr/>
        </p:nvSpPr>
        <p:spPr>
          <a:xfrm>
            <a:off x="7269480" y="4846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0">
            <a:extLst>
              <a:ext uri="{FF2B5EF4-FFF2-40B4-BE49-F238E27FC236}">
                <a16:creationId xmlns:a16="http://schemas.microsoft.com/office/drawing/2014/main" id="{AD88D7FF-3EB7-A23B-E98D-4A2E4CC24270}"/>
              </a:ext>
            </a:extLst>
          </p:cNvPr>
          <p:cNvSpPr/>
          <p:nvPr/>
        </p:nvSpPr>
        <p:spPr>
          <a:xfrm>
            <a:off x="7635240" y="2103120"/>
            <a:ext cx="1371600" cy="109728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Concatenate</a:t>
            </a:r>
            <a:br/>
            <a:r>
              <a:t>→ 150-dim</a:t>
            </a:r>
            <a:br/>
            <a:r>
              <a:t>feature vector</a:t>
            </a:r>
          </a:p>
        </p:txBody>
      </p:sp>
      <p:sp>
        <p:nvSpPr>
          <p:cNvPr id="33" name="Up Arrow Callout 21">
            <a:extLst>
              <a:ext uri="{FF2B5EF4-FFF2-40B4-BE49-F238E27FC236}">
                <a16:creationId xmlns:a16="http://schemas.microsoft.com/office/drawing/2014/main" id="{668B423B-37BB-8019-70D7-F770A1D496B2}"/>
              </a:ext>
            </a:extLst>
          </p:cNvPr>
          <p:cNvSpPr/>
          <p:nvPr/>
        </p:nvSpPr>
        <p:spPr>
          <a:xfrm>
            <a:off x="9052560" y="24688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2">
            <a:extLst>
              <a:ext uri="{FF2B5EF4-FFF2-40B4-BE49-F238E27FC236}">
                <a16:creationId xmlns:a16="http://schemas.microsoft.com/office/drawing/2014/main" id="{E962491E-7F3D-2164-AD90-E4E77072F19D}"/>
              </a:ext>
            </a:extLst>
          </p:cNvPr>
          <p:cNvSpPr/>
          <p:nvPr/>
        </p:nvSpPr>
        <p:spPr>
          <a:xfrm>
            <a:off x="9392194" y="1645920"/>
            <a:ext cx="1162594" cy="1554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3200" b="1">
                <a:solidFill>
                  <a:srgbClr val="FFFFFF"/>
                </a:solidFill>
                <a:latin typeface="Calibri"/>
              </a:defRPr>
            </a:pPr>
            <a:r>
              <a:rPr dirty="0"/>
              <a:t>14</a:t>
            </a:r>
          </a:p>
          <a:p>
            <a:pPr algn="ctr">
              <a:spcAft>
                <a:spcPts val="200"/>
              </a:spcAft>
              <a:defRPr sz="1400" b="1">
                <a:solidFill>
                  <a:srgbClr val="FFFFFF"/>
                </a:solidFill>
                <a:latin typeface="Calibri"/>
              </a:defRPr>
            </a:pPr>
            <a:r>
              <a:rPr dirty="0"/>
              <a:t>Classifiers</a:t>
            </a:r>
          </a:p>
          <a:p>
            <a:pPr algn="ctr">
              <a:spcAft>
                <a:spcPts val="200"/>
              </a:spcAft>
              <a:defRPr sz="1200" b="0">
                <a:solidFill>
                  <a:srgbClr val="CCDDFF"/>
                </a:solidFill>
                <a:latin typeface="Calibri"/>
              </a:defRPr>
            </a:pPr>
            <a:r>
              <a:rPr dirty="0"/>
              <a:t>(3 tiers)</a:t>
            </a:r>
          </a:p>
        </p:txBody>
      </p:sp>
      <p:sp>
        <p:nvSpPr>
          <p:cNvPr id="37" name="Up Arrow Callout 23">
            <a:extLst>
              <a:ext uri="{FF2B5EF4-FFF2-40B4-BE49-F238E27FC236}">
                <a16:creationId xmlns:a16="http://schemas.microsoft.com/office/drawing/2014/main" id="{E3525A4E-A554-5BC6-8278-64A2C5C675DE}"/>
              </a:ext>
            </a:extLst>
          </p:cNvPr>
          <p:cNvSpPr/>
          <p:nvPr/>
        </p:nvSpPr>
        <p:spPr>
          <a:xfrm>
            <a:off x="10593977" y="2407920"/>
            <a:ext cx="274320" cy="274320"/>
          </a:xfrm>
          <a:prstGeom prst="upArrowCallou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99FF922D-A097-03AE-0B53-C97B0E36272C}"/>
              </a:ext>
            </a:extLst>
          </p:cNvPr>
          <p:cNvSpPr/>
          <p:nvPr/>
        </p:nvSpPr>
        <p:spPr>
          <a:xfrm>
            <a:off x="10907486" y="1828800"/>
            <a:ext cx="1162594" cy="13716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rPr dirty="0"/>
              <a:t>Activity</a:t>
            </a:r>
          </a:p>
          <a:p>
            <a:pPr algn="ctr">
              <a:spcAft>
                <a:spcPts val="200"/>
              </a:spcAft>
              <a:defRPr sz="1300" b="1">
                <a:solidFill>
                  <a:srgbClr val="FFFFFF"/>
                </a:solidFill>
                <a:latin typeface="Calibri"/>
              </a:defRPr>
            </a:pPr>
            <a:r>
              <a:rPr dirty="0"/>
              <a:t>Label</a:t>
            </a:r>
          </a:p>
          <a:p>
            <a:pPr algn="ctr">
              <a:spcAft>
                <a:spcPts val="200"/>
              </a:spcAft>
              <a:defRPr sz="1100" b="0">
                <a:solidFill>
                  <a:srgbClr val="FFFFFF"/>
                </a:solidFill>
                <a:latin typeface="Calibri"/>
              </a:defRPr>
            </a:pPr>
            <a:r>
              <a:rPr dirty="0"/>
              <a:t>+</a:t>
            </a:r>
          </a:p>
          <a:p>
            <a:pPr algn="ctr">
              <a:spcAft>
                <a:spcPts val="200"/>
              </a:spcAft>
              <a:defRPr sz="1200" b="1">
                <a:solidFill>
                  <a:srgbClr val="FFFFFF"/>
                </a:solidFill>
                <a:latin typeface="Calibri"/>
              </a:defRPr>
            </a:pPr>
            <a:r>
              <a:rPr dirty="0"/>
              <a:t>Confidence</a:t>
            </a:r>
          </a:p>
        </p:txBody>
      </p:sp>
      <p:sp>
        <p:nvSpPr>
          <p:cNvPr id="41" name="Rounded Rectangle 25">
            <a:extLst>
              <a:ext uri="{FF2B5EF4-FFF2-40B4-BE49-F238E27FC236}">
                <a16:creationId xmlns:a16="http://schemas.microsoft.com/office/drawing/2014/main" id="{4EBDBF73-6BEE-1B66-C313-2D3DDF99862C}"/>
              </a:ext>
            </a:extLst>
          </p:cNvPr>
          <p:cNvSpPr/>
          <p:nvPr/>
        </p:nvSpPr>
        <p:spPr>
          <a:xfrm>
            <a:off x="1167499" y="5579280"/>
            <a:ext cx="10271455" cy="5486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EF7C00"/>
                </a:solidFill>
              </a:defRPr>
            </a:pPr>
            <a:r>
              <a:t>Each video segment is independently processed through all 4 extractors in parallel, producing a unified 150-dimensional feature vector</a:t>
            </a:r>
          </a:p>
        </p:txBody>
      </p:sp>
    </p:spTree>
    <p:extLst>
      <p:ext uri="{BB962C8B-B14F-4D97-AF65-F5344CB8AC3E}">
        <p14:creationId xmlns:p14="http://schemas.microsoft.com/office/powerpoint/2010/main" val="10893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0" tIns="0" rIns="0" bIns="0" anchor="ctr"/>
          <a:lstStyle/>
          <a:p>
            <a:pPr algn="l"/>
            <a:r>
              <a:rPr sz="3600" b="1" i="0" dirty="0">
                <a:solidFill>
                  <a:srgbClr val="003D7C"/>
                </a:solidFill>
                <a:latin typeface="Calibri"/>
              </a:rPr>
              <a:t>Classification Models — 14 Models, 3 Tiers</a:t>
            </a:r>
          </a:p>
        </p:txBody>
      </p:sp>
      <p:sp>
        <p:nvSpPr>
          <p:cNvPr id="3" name="Rounded Rectangle 2"/>
          <p:cNvSpPr/>
          <p:nvPr/>
        </p:nvSpPr>
        <p:spPr>
          <a:xfrm>
            <a:off x="548640" y="1325880"/>
            <a:ext cx="3515258" cy="3977639"/>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25880"/>
            <a:ext cx="3515258" cy="914400"/>
          </a:xfrm>
          <a:prstGeom prst="roundRect">
            <a:avLst>
              <a:gd name="adj" fmla="val 12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1</a:t>
            </a:r>
          </a:p>
          <a:p>
            <a:pPr algn="l"/>
            <a:r>
              <a:rPr sz="2000" b="0" i="0" dirty="0">
                <a:solidFill>
                  <a:srgbClr val="FFFFFF"/>
                </a:solidFill>
                <a:latin typeface="Calibri"/>
              </a:rPr>
              <a:t>Classical ML (7 models)</a:t>
            </a:r>
          </a:p>
        </p:txBody>
      </p:sp>
      <p:pic>
        <p:nvPicPr>
          <p:cNvPr id="5" name="Picture 4" descr="sitemap.png"/>
          <p:cNvPicPr>
            <a:picLocks noChangeAspect="1"/>
          </p:cNvPicPr>
          <p:nvPr/>
        </p:nvPicPr>
        <p:blipFill>
          <a:blip r:embed="rId2"/>
          <a:stretch>
            <a:fillRect/>
          </a:stretch>
        </p:blipFill>
        <p:spPr>
          <a:xfrm>
            <a:off x="777240" y="1572768"/>
            <a:ext cx="420624" cy="420624"/>
          </a:xfrm>
          <a:prstGeom prst="rect">
            <a:avLst/>
          </a:prstGeom>
        </p:spPr>
      </p:pic>
      <p:sp>
        <p:nvSpPr>
          <p:cNvPr id="6" name="TextBox 5"/>
          <p:cNvSpPr txBox="1"/>
          <p:nvPr/>
        </p:nvSpPr>
        <p:spPr>
          <a:xfrm>
            <a:off x="822959" y="2423160"/>
            <a:ext cx="3058058" cy="2834640"/>
          </a:xfrm>
          <a:prstGeom prst="rect">
            <a:avLst/>
          </a:prstGeom>
          <a:noFill/>
        </p:spPr>
        <p:txBody>
          <a:bodyPr wrap="square" lIns="0" tIns="0" rIns="0" bIns="0" anchor="t"/>
          <a:lstStyle/>
          <a:p>
            <a:pPr marL="274320" indent="-274320" algn="l">
              <a:spcAft>
                <a:spcPts val="600"/>
              </a:spcAft>
              <a:buClr>
                <a:srgbClr val="003D7C"/>
              </a:buClr>
              <a:buChar char="•"/>
            </a:pPr>
            <a:r>
              <a:rPr sz="2200" b="0" i="0" dirty="0">
                <a:solidFill>
                  <a:srgbClr val="2D3748"/>
                </a:solidFill>
                <a:latin typeface="Calibri"/>
              </a:rPr>
              <a:t>SVM</a:t>
            </a:r>
          </a:p>
          <a:p>
            <a:pPr marL="274320" indent="-274320" algn="l">
              <a:spcAft>
                <a:spcPts val="600"/>
              </a:spcAft>
              <a:buClr>
                <a:srgbClr val="003D7C"/>
              </a:buClr>
              <a:buChar char="•"/>
            </a:pPr>
            <a:r>
              <a:rPr sz="2200" b="0" i="0" dirty="0">
                <a:solidFill>
                  <a:srgbClr val="2D3748"/>
                </a:solidFill>
                <a:latin typeface="Calibri"/>
              </a:rPr>
              <a:t>Naive Bayes</a:t>
            </a:r>
          </a:p>
          <a:p>
            <a:pPr marL="274320" indent="-274320" algn="l">
              <a:spcAft>
                <a:spcPts val="600"/>
              </a:spcAft>
              <a:buClr>
                <a:srgbClr val="003D7C"/>
              </a:buClr>
              <a:buChar char="•"/>
            </a:pPr>
            <a:r>
              <a:rPr sz="2200" b="0" i="0" dirty="0">
                <a:solidFill>
                  <a:srgbClr val="2D3748"/>
                </a:solidFill>
                <a:latin typeface="Calibri"/>
              </a:rPr>
              <a:t>Decision Tree</a:t>
            </a:r>
          </a:p>
          <a:p>
            <a:pPr marL="274320" indent="-274320" algn="l">
              <a:spcAft>
                <a:spcPts val="600"/>
              </a:spcAft>
              <a:buClr>
                <a:srgbClr val="003D7C"/>
              </a:buClr>
              <a:buChar char="•"/>
            </a:pPr>
            <a:r>
              <a:rPr sz="2200" b="0" i="0" dirty="0">
                <a:solidFill>
                  <a:srgbClr val="2D3748"/>
                </a:solidFill>
                <a:latin typeface="Calibri"/>
              </a:rPr>
              <a:t>Random Forest</a:t>
            </a:r>
          </a:p>
          <a:p>
            <a:pPr marL="274320" indent="-274320" algn="l">
              <a:spcAft>
                <a:spcPts val="600"/>
              </a:spcAft>
              <a:buClr>
                <a:srgbClr val="003D7C"/>
              </a:buClr>
              <a:buChar char="•"/>
            </a:pPr>
            <a:r>
              <a:rPr sz="2200" b="0" i="0" dirty="0">
                <a:solidFill>
                  <a:srgbClr val="2D3748"/>
                </a:solidFill>
                <a:latin typeface="Calibri"/>
              </a:rPr>
              <a:t>KNN</a:t>
            </a:r>
          </a:p>
          <a:p>
            <a:pPr marL="274320" indent="-274320" algn="l">
              <a:spcAft>
                <a:spcPts val="600"/>
              </a:spcAft>
              <a:buClr>
                <a:srgbClr val="003D7C"/>
              </a:buClr>
              <a:buChar char="•"/>
            </a:pPr>
            <a:r>
              <a:rPr sz="2200" b="0" i="0" dirty="0" err="1">
                <a:solidFill>
                  <a:srgbClr val="2D3748"/>
                </a:solidFill>
                <a:latin typeface="Calibri"/>
              </a:rPr>
              <a:t>XGBoost</a:t>
            </a:r>
            <a:endParaRPr sz="2200" b="0" i="0" dirty="0">
              <a:solidFill>
                <a:srgbClr val="2D3748"/>
              </a:solidFill>
              <a:latin typeface="Calibri"/>
            </a:endParaRPr>
          </a:p>
          <a:p>
            <a:pPr marL="274320" indent="-274320" algn="l">
              <a:spcAft>
                <a:spcPts val="600"/>
              </a:spcAft>
              <a:buClr>
                <a:srgbClr val="003D7C"/>
              </a:buClr>
              <a:buChar char="•"/>
            </a:pPr>
            <a:r>
              <a:rPr sz="2200" b="0" i="0" dirty="0" err="1">
                <a:solidFill>
                  <a:srgbClr val="2D3748"/>
                </a:solidFill>
                <a:latin typeface="Calibri"/>
              </a:rPr>
              <a:t>LightGBM</a:t>
            </a:r>
            <a:endParaRPr sz="2200" b="0" i="0" dirty="0">
              <a:solidFill>
                <a:srgbClr val="2D3748"/>
              </a:solidFill>
              <a:latin typeface="Calibri"/>
            </a:endParaRPr>
          </a:p>
        </p:txBody>
      </p:sp>
      <p:sp>
        <p:nvSpPr>
          <p:cNvPr id="7" name="Rounded Rectangle 6"/>
          <p:cNvSpPr/>
          <p:nvPr/>
        </p:nvSpPr>
        <p:spPr>
          <a:xfrm>
            <a:off x="4338218" y="1325880"/>
            <a:ext cx="3515258" cy="3977639"/>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8218" y="1325880"/>
            <a:ext cx="3515258" cy="914400"/>
          </a:xfrm>
          <a:prstGeom prst="roundRect">
            <a:avLst>
              <a:gd name="adj" fmla="val 12000"/>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2</a:t>
            </a:r>
          </a:p>
          <a:p>
            <a:pPr algn="l"/>
            <a:r>
              <a:rPr sz="2000" b="0" i="0" dirty="0">
                <a:solidFill>
                  <a:srgbClr val="FFFFFF"/>
                </a:solidFill>
                <a:latin typeface="Calibri"/>
              </a:rPr>
              <a:t>Sequential Layer</a:t>
            </a:r>
          </a:p>
        </p:txBody>
      </p:sp>
      <p:pic>
        <p:nvPicPr>
          <p:cNvPr id="9" name="Picture 8" descr="stream.png"/>
          <p:cNvPicPr>
            <a:picLocks noChangeAspect="1"/>
          </p:cNvPicPr>
          <p:nvPr/>
        </p:nvPicPr>
        <p:blipFill>
          <a:blip r:embed="rId3"/>
          <a:stretch>
            <a:fillRect/>
          </a:stretch>
        </p:blipFill>
        <p:spPr>
          <a:xfrm>
            <a:off x="4566818" y="1572768"/>
            <a:ext cx="420624" cy="420624"/>
          </a:xfrm>
          <a:prstGeom prst="rect">
            <a:avLst/>
          </a:prstGeom>
        </p:spPr>
      </p:pic>
      <p:sp>
        <p:nvSpPr>
          <p:cNvPr id="10" name="TextBox 9"/>
          <p:cNvSpPr txBox="1"/>
          <p:nvPr/>
        </p:nvSpPr>
        <p:spPr>
          <a:xfrm>
            <a:off x="4612538" y="2423160"/>
            <a:ext cx="3058058" cy="2834640"/>
          </a:xfrm>
          <a:prstGeom prst="rect">
            <a:avLst/>
          </a:prstGeom>
          <a:noFill/>
        </p:spPr>
        <p:txBody>
          <a:bodyPr wrap="square" lIns="0" tIns="0" rIns="0" bIns="0" anchor="t"/>
          <a:lstStyle/>
          <a:p>
            <a:pPr marL="274320" indent="-274320" algn="l">
              <a:spcAft>
                <a:spcPts val="600"/>
              </a:spcAft>
              <a:buClr>
                <a:srgbClr val="5B4B9A"/>
              </a:buClr>
              <a:buChar char="•"/>
            </a:pPr>
            <a:r>
              <a:rPr sz="2200" b="0" i="0" dirty="0">
                <a:solidFill>
                  <a:srgbClr val="2D3748"/>
                </a:solidFill>
                <a:latin typeface="Calibri"/>
              </a:rPr>
              <a:t>LSTM</a:t>
            </a:r>
          </a:p>
          <a:p>
            <a:pPr marL="274320" indent="-274320" algn="l">
              <a:spcAft>
                <a:spcPts val="600"/>
              </a:spcAft>
              <a:buClr>
                <a:srgbClr val="5B4B9A"/>
              </a:buClr>
              <a:buChar char="•"/>
            </a:pPr>
            <a:r>
              <a:rPr sz="2200" b="0" i="0" dirty="0">
                <a:solidFill>
                  <a:srgbClr val="2D3748"/>
                </a:solidFill>
                <a:latin typeface="Calibri"/>
              </a:rPr>
              <a:t>Transformer</a:t>
            </a:r>
            <a:endParaRPr lang="en-SG" sz="2200" b="0" i="0" dirty="0">
              <a:solidFill>
                <a:srgbClr val="2D3748"/>
              </a:solidFill>
              <a:latin typeface="Calibri"/>
            </a:endParaRPr>
          </a:p>
          <a:p>
            <a:pPr algn="l">
              <a:spcAft>
                <a:spcPts val="600"/>
              </a:spcAft>
              <a:buClr>
                <a:srgbClr val="5B4B9A"/>
              </a:buClr>
            </a:pPr>
            <a:endParaRPr sz="2200" b="0" i="0" dirty="0">
              <a:solidFill>
                <a:srgbClr val="2D3748"/>
              </a:solidFill>
              <a:latin typeface="Calibri"/>
            </a:endParaRPr>
          </a:p>
        </p:txBody>
      </p:sp>
      <p:sp>
        <p:nvSpPr>
          <p:cNvPr id="11" name="Rounded Rectangle 10"/>
          <p:cNvSpPr/>
          <p:nvPr/>
        </p:nvSpPr>
        <p:spPr>
          <a:xfrm>
            <a:off x="8127796" y="1325880"/>
            <a:ext cx="3515258" cy="3977639"/>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27796" y="1325880"/>
            <a:ext cx="3515258" cy="914400"/>
          </a:xfrm>
          <a:prstGeom prst="roundRect">
            <a:avLst>
              <a:gd name="adj" fmla="val 12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3</a:t>
            </a:r>
          </a:p>
          <a:p>
            <a:pPr algn="l"/>
            <a:r>
              <a:rPr sz="2000" b="0" i="0" dirty="0">
                <a:solidFill>
                  <a:srgbClr val="FFFFFF"/>
                </a:solidFill>
                <a:latin typeface="Calibri"/>
              </a:rPr>
              <a:t>Ensemble (3 models)</a:t>
            </a:r>
          </a:p>
        </p:txBody>
      </p:sp>
      <p:pic>
        <p:nvPicPr>
          <p:cNvPr id="13" name="Picture 12" descr="layers.png"/>
          <p:cNvPicPr>
            <a:picLocks noChangeAspect="1"/>
          </p:cNvPicPr>
          <p:nvPr/>
        </p:nvPicPr>
        <p:blipFill>
          <a:blip r:embed="rId4"/>
          <a:stretch>
            <a:fillRect/>
          </a:stretch>
        </p:blipFill>
        <p:spPr>
          <a:xfrm>
            <a:off x="8356396" y="1572768"/>
            <a:ext cx="420624" cy="420624"/>
          </a:xfrm>
          <a:prstGeom prst="rect">
            <a:avLst/>
          </a:prstGeom>
        </p:spPr>
      </p:pic>
      <p:sp>
        <p:nvSpPr>
          <p:cNvPr id="14" name="TextBox 13"/>
          <p:cNvSpPr txBox="1"/>
          <p:nvPr/>
        </p:nvSpPr>
        <p:spPr>
          <a:xfrm>
            <a:off x="8402116" y="2423160"/>
            <a:ext cx="3058058" cy="2834640"/>
          </a:xfrm>
          <a:prstGeom prst="rect">
            <a:avLst/>
          </a:prstGeom>
          <a:noFill/>
        </p:spPr>
        <p:txBody>
          <a:bodyPr wrap="square" lIns="0" tIns="0" rIns="0" bIns="0" anchor="t"/>
          <a:lstStyle/>
          <a:p>
            <a:pPr marL="274320" indent="-274320" algn="l">
              <a:buClr>
                <a:srgbClr val="0E9384"/>
              </a:buClr>
              <a:buChar char="•"/>
            </a:pPr>
            <a:r>
              <a:rPr sz="2200" b="1" i="0">
                <a:solidFill>
                  <a:srgbClr val="2D3748"/>
                </a:solidFill>
                <a:latin typeface="Calibri"/>
              </a:rPr>
              <a:t>Voting</a:t>
            </a:r>
          </a:p>
          <a:p>
            <a:pPr marL="274320" algn="l">
              <a:spcAft>
                <a:spcPts val="600"/>
              </a:spcAft>
            </a:pPr>
            <a:r>
              <a:rPr sz="2000" b="0" i="0">
                <a:solidFill>
                  <a:srgbClr val="5B6475"/>
                </a:solidFill>
                <a:latin typeface="Calibri"/>
              </a:rPr>
              <a:t>Soft voting: SVM + RF + MLP</a:t>
            </a:r>
          </a:p>
          <a:p>
            <a:pPr marL="274320" indent="-274320" algn="l">
              <a:spcAft>
                <a:spcPts val="600"/>
              </a:spcAft>
              <a:buClr>
                <a:srgbClr val="0E9384"/>
              </a:buClr>
              <a:buChar char="•"/>
            </a:pPr>
            <a:r>
              <a:rPr sz="2200" b="0" i="0">
                <a:solidFill>
                  <a:srgbClr val="2D3748"/>
                </a:solidFill>
                <a:latin typeface="Calibri"/>
              </a:rPr>
              <a:t>Boosting</a:t>
            </a:r>
          </a:p>
          <a:p>
            <a:pPr marL="274320" indent="-274320" algn="l">
              <a:spcAft>
                <a:spcPts val="600"/>
              </a:spcAft>
              <a:buClr>
                <a:srgbClr val="0E9384"/>
              </a:buClr>
              <a:buChar char="•"/>
            </a:pPr>
            <a:r>
              <a:rPr sz="2200" b="0" i="0">
                <a:solidFill>
                  <a:srgbClr val="2D3748"/>
                </a:solidFill>
                <a:latin typeface="Calibri"/>
              </a:rPr>
              <a:t>Late Fusion</a:t>
            </a:r>
          </a:p>
        </p:txBody>
      </p:sp>
      <p:sp>
        <p:nvSpPr>
          <p:cNvPr id="15" name="Rounded Rectangle 14"/>
          <p:cNvSpPr/>
          <p:nvPr/>
        </p:nvSpPr>
        <p:spPr>
          <a:xfrm>
            <a:off x="1097280" y="5532120"/>
            <a:ext cx="9997135" cy="822960"/>
          </a:xfrm>
          <a:prstGeom prst="roundRect">
            <a:avLst>
              <a:gd name="adj" fmla="val 10000"/>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r>
              <a:rPr sz="2000" b="1" i="0">
                <a:solidFill>
                  <a:srgbClr val="C96A00"/>
                </a:solidFill>
                <a:latin typeface="Calibri"/>
              </a:rPr>
              <a:t>All 14 models run on the same 150-dim feature vector and produce comparable predictions with confidence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C1AAFBF-F8FA-C387-9397-67394A4A4A6A}"/>
              </a:ext>
            </a:extLst>
          </p:cNvPr>
          <p:cNvSpPr txBox="1"/>
          <p:nvPr/>
        </p:nvSpPr>
        <p:spPr>
          <a:xfrm>
            <a:off x="3590487" y="2446894"/>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dirty="0">
                <a:solidFill>
                  <a:srgbClr val="FFFFFF"/>
                </a:solidFill>
                <a:latin typeface="Calibri"/>
              </a:rPr>
              <a:t>    Model Training</a:t>
            </a:r>
            <a:endParaRPr lang="en-SG" sz="4000" b="1" dirty="0"/>
          </a:p>
        </p:txBody>
      </p:sp>
    </p:spTree>
    <p:extLst>
      <p:ext uri="{BB962C8B-B14F-4D97-AF65-F5344CB8AC3E}">
        <p14:creationId xmlns:p14="http://schemas.microsoft.com/office/powerpoint/2010/main" val="3288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dirty="0">
                <a:solidFill>
                  <a:srgbClr val="003D7C"/>
                </a:solidFill>
                <a:latin typeface="Calibri"/>
              </a:rPr>
              <a:t>Training Overview — 4 </a:t>
            </a:r>
            <a:r>
              <a:rPr lang="en-SG" sz="2800" b="1" dirty="0">
                <a:solidFill>
                  <a:srgbClr val="003D7C"/>
                </a:solidFill>
                <a:latin typeface="Calibri"/>
              </a:rPr>
              <a:t>Steps</a:t>
            </a:r>
            <a:endParaRPr sz="2800" b="1" dirty="0">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End-to-end pipeline from raw dataset to evaluated classifiers</a:t>
            </a:r>
          </a:p>
        </p:txBody>
      </p:sp>
      <p:sp>
        <p:nvSpPr>
          <p:cNvPr id="5" name="Rounded Rectangle 4"/>
          <p:cNvSpPr/>
          <p:nvPr/>
        </p:nvSpPr>
        <p:spPr>
          <a:xfrm>
            <a:off x="548640" y="1463040"/>
            <a:ext cx="2468880" cy="219456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554480"/>
            <a:ext cx="1371600" cy="3200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1</a:t>
            </a:r>
            <a:endParaRPr lang="en-US"/>
          </a:p>
        </p:txBody>
      </p:sp>
      <p:sp>
        <p:nvSpPr>
          <p:cNvPr id="7" name="TextBox 6"/>
          <p:cNvSpPr txBox="1"/>
          <p:nvPr/>
        </p:nvSpPr>
        <p:spPr>
          <a:xfrm>
            <a:off x="68580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Data Preparation</a:t>
            </a:r>
          </a:p>
        </p:txBody>
      </p:sp>
      <p:sp>
        <p:nvSpPr>
          <p:cNvPr id="8" name="TextBox 7"/>
          <p:cNvSpPr txBox="1"/>
          <p:nvPr/>
        </p:nvSpPr>
        <p:spPr>
          <a:xfrm>
            <a:off x="68580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Split 9,609 tasks</a:t>
            </a:r>
            <a:br/>
            <a:r>
              <a:rPr sz="1400" b="0">
                <a:solidFill>
                  <a:srgbClr val="273140"/>
                </a:solidFill>
                <a:latin typeface="Calibri"/>
              </a:rPr>
              <a:t>80% train / 20% test</a:t>
            </a:r>
          </a:p>
        </p:txBody>
      </p:sp>
      <p:sp>
        <p:nvSpPr>
          <p:cNvPr id="9" name="TextBox 8"/>
          <p:cNvSpPr txBox="1"/>
          <p:nvPr/>
        </p:nvSpPr>
        <p:spPr>
          <a:xfrm>
            <a:off x="306324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03D7C"/>
                </a:solidFill>
                <a:latin typeface="Calibri"/>
              </a:defRPr>
            </a:pPr>
            <a:r>
              <a:rPr sz="1400" b="0">
                <a:solidFill>
                  <a:srgbClr val="273140"/>
                </a:solidFill>
                <a:latin typeface="Calibri"/>
              </a:rPr>
              <a:t>→</a:t>
            </a:r>
          </a:p>
        </p:txBody>
      </p:sp>
      <p:sp>
        <p:nvSpPr>
          <p:cNvPr id="10" name="Rounded Rectangle 9"/>
          <p:cNvSpPr/>
          <p:nvPr/>
        </p:nvSpPr>
        <p:spPr>
          <a:xfrm>
            <a:off x="3429000" y="1463040"/>
            <a:ext cx="2468880" cy="219456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1554480"/>
            <a:ext cx="1371600" cy="32004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2</a:t>
            </a:r>
            <a:endParaRPr lang="en-US"/>
          </a:p>
        </p:txBody>
      </p:sp>
      <p:sp>
        <p:nvSpPr>
          <p:cNvPr id="12" name="TextBox 11"/>
          <p:cNvSpPr txBox="1"/>
          <p:nvPr/>
        </p:nvSpPr>
        <p:spPr>
          <a:xfrm>
            <a:off x="356616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Feature Extraction</a:t>
            </a:r>
          </a:p>
        </p:txBody>
      </p:sp>
      <p:sp>
        <p:nvSpPr>
          <p:cNvPr id="13" name="TextBox 12"/>
          <p:cNvSpPr txBox="1"/>
          <p:nvPr/>
        </p:nvSpPr>
        <p:spPr>
          <a:xfrm>
            <a:off x="356616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Video + actions</a:t>
            </a:r>
            <a:br/>
            <a:r>
              <a:rPr sz="1400" b="0">
                <a:solidFill>
                  <a:srgbClr val="273140"/>
                </a:solidFill>
                <a:latin typeface="Calibri"/>
              </a:rPr>
              <a:t>→ 150-dim vectors</a:t>
            </a:r>
          </a:p>
        </p:txBody>
      </p:sp>
      <p:sp>
        <p:nvSpPr>
          <p:cNvPr id="14" name="TextBox 13"/>
          <p:cNvSpPr txBox="1"/>
          <p:nvPr/>
        </p:nvSpPr>
        <p:spPr>
          <a:xfrm>
            <a:off x="594360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E9384"/>
                </a:solidFill>
                <a:latin typeface="Calibri"/>
              </a:defRPr>
            </a:pPr>
            <a:r>
              <a:rPr sz="1400" b="0">
                <a:solidFill>
                  <a:srgbClr val="273140"/>
                </a:solidFill>
                <a:latin typeface="Calibri"/>
              </a:rPr>
              <a:t>→</a:t>
            </a:r>
          </a:p>
        </p:txBody>
      </p:sp>
      <p:sp>
        <p:nvSpPr>
          <p:cNvPr id="15" name="Rounded Rectangle 14"/>
          <p:cNvSpPr/>
          <p:nvPr/>
        </p:nvSpPr>
        <p:spPr>
          <a:xfrm>
            <a:off x="6309360" y="1463040"/>
            <a:ext cx="2468880" cy="219456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0" y="1554480"/>
            <a:ext cx="13716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273140"/>
                </a:solidFill>
                <a:latin typeface="Calibri"/>
              </a:rPr>
              <a:t>Step 3</a:t>
            </a:r>
            <a:endParaRPr lang="en-US"/>
          </a:p>
        </p:txBody>
      </p:sp>
      <p:sp>
        <p:nvSpPr>
          <p:cNvPr id="17" name="TextBox 16"/>
          <p:cNvSpPr txBox="1"/>
          <p:nvPr/>
        </p:nvSpPr>
        <p:spPr>
          <a:xfrm>
            <a:off x="644652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Model Training</a:t>
            </a:r>
          </a:p>
        </p:txBody>
      </p:sp>
      <p:sp>
        <p:nvSpPr>
          <p:cNvPr id="18" name="TextBox 17"/>
          <p:cNvSpPr txBox="1"/>
          <p:nvPr/>
        </p:nvSpPr>
        <p:spPr>
          <a:xfrm>
            <a:off x="644652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14 models learn</a:t>
            </a:r>
            <a:br/>
            <a:r>
              <a:rPr sz="1400" b="0">
                <a:solidFill>
                  <a:srgbClr val="273140"/>
                </a:solidFill>
                <a:latin typeface="Calibri"/>
              </a:rPr>
              <a:t>from feature vectors</a:t>
            </a:r>
          </a:p>
        </p:txBody>
      </p:sp>
      <p:sp>
        <p:nvSpPr>
          <p:cNvPr id="19" name="TextBox 18"/>
          <p:cNvSpPr txBox="1"/>
          <p:nvPr/>
        </p:nvSpPr>
        <p:spPr>
          <a:xfrm>
            <a:off x="882396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EF7C00"/>
                </a:solidFill>
                <a:latin typeface="Calibri"/>
              </a:defRPr>
            </a:pPr>
            <a:r>
              <a:rPr sz="1400" b="0">
                <a:solidFill>
                  <a:srgbClr val="273140"/>
                </a:solidFill>
                <a:latin typeface="Calibri"/>
              </a:rPr>
              <a:t>→</a:t>
            </a:r>
          </a:p>
        </p:txBody>
      </p:sp>
      <p:sp>
        <p:nvSpPr>
          <p:cNvPr id="20" name="Rounded Rectangle 19"/>
          <p:cNvSpPr/>
          <p:nvPr/>
        </p:nvSpPr>
        <p:spPr>
          <a:xfrm>
            <a:off x="9189720" y="1463040"/>
            <a:ext cx="2468880" cy="2194560"/>
          </a:xfrm>
          <a:prstGeom prst="roundRect">
            <a:avLst/>
          </a:prstGeom>
          <a:solidFill>
            <a:srgbClr val="EC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8360" y="1554480"/>
            <a:ext cx="1371600" cy="32004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4</a:t>
            </a:r>
            <a:endParaRPr lang="en-US" sz="1400" b="0">
              <a:solidFill>
                <a:srgbClr val="273140"/>
              </a:solidFill>
              <a:latin typeface="Calibri"/>
            </a:endParaRPr>
          </a:p>
        </p:txBody>
      </p:sp>
      <p:sp>
        <p:nvSpPr>
          <p:cNvPr id="22" name="TextBox 21"/>
          <p:cNvSpPr txBox="1"/>
          <p:nvPr/>
        </p:nvSpPr>
        <p:spPr>
          <a:xfrm>
            <a:off x="932688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5B4B9A"/>
                </a:solidFill>
                <a:latin typeface="Calibri"/>
              </a:defRPr>
            </a:pPr>
            <a:r>
              <a:rPr sz="1400" b="0">
                <a:solidFill>
                  <a:srgbClr val="273140"/>
                </a:solidFill>
                <a:latin typeface="Calibri"/>
              </a:rPr>
              <a:t>Evaluation</a:t>
            </a:r>
          </a:p>
        </p:txBody>
      </p:sp>
      <p:sp>
        <p:nvSpPr>
          <p:cNvPr id="23" name="TextBox 22"/>
          <p:cNvSpPr txBox="1"/>
          <p:nvPr/>
        </p:nvSpPr>
        <p:spPr>
          <a:xfrm>
            <a:off x="932688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Test set → metrics</a:t>
            </a:r>
            <a:br/>
            <a:r>
              <a:rPr sz="1400" b="0">
                <a:solidFill>
                  <a:srgbClr val="273140"/>
                </a:solidFill>
                <a:latin typeface="Calibri"/>
              </a:rPr>
              <a:t>→ model comparison</a:t>
            </a:r>
          </a:p>
        </p:txBody>
      </p:sp>
      <p:sp>
        <p:nvSpPr>
          <p:cNvPr id="24" name="Rounded Rectangle 23"/>
          <p:cNvSpPr/>
          <p:nvPr/>
        </p:nvSpPr>
        <p:spPr>
          <a:xfrm>
            <a:off x="1371600" y="4114800"/>
            <a:ext cx="941832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4206240"/>
            <a:ext cx="9144000" cy="365760"/>
          </a:xfrm>
          <a:prstGeom prst="rect">
            <a:avLst/>
          </a:prstGeom>
          <a:noFill/>
        </p:spPr>
        <p:txBody>
          <a:bodyPr wrap="square" lIns="64008" tIns="32004" rIns="64008" bIns="32004">
            <a:normAutofit/>
          </a:bodyPr>
          <a:lstStyle/>
          <a:p>
            <a:pPr>
              <a:spcBef>
                <a:spcPts val="0"/>
              </a:spcBef>
              <a:spcAft>
                <a:spcPts val="400"/>
              </a:spcAft>
              <a:defRPr sz="1300">
                <a:solidFill>
                  <a:srgbClr val="0E9384"/>
                </a:solidFill>
                <a:latin typeface="Courier New"/>
              </a:defRPr>
            </a:pPr>
            <a:r>
              <a:rPr sz="1400" b="0">
                <a:solidFill>
                  <a:schemeClr val="bg1"/>
                </a:solidFill>
                <a:latin typeface="Calibri"/>
              </a:rPr>
              <a:t>$ python -m </a:t>
            </a:r>
            <a:r>
              <a:rPr sz="1400" b="0" err="1">
                <a:solidFill>
                  <a:schemeClr val="bg1"/>
                </a:solidFill>
                <a:latin typeface="Calibri"/>
              </a:rPr>
              <a:t>app.train</a:t>
            </a:r>
            <a:r>
              <a:rPr sz="1400" b="0">
                <a:solidFill>
                  <a:schemeClr val="bg1"/>
                </a:solidFill>
                <a:latin typeface="Calibri"/>
              </a:rPr>
              <a:t> --dataset-root ./dataset --model-</a:t>
            </a:r>
            <a:r>
              <a:rPr sz="1400" b="0" err="1">
                <a:solidFill>
                  <a:schemeClr val="bg1"/>
                </a:solidFill>
                <a:latin typeface="Calibri"/>
              </a:rPr>
              <a:t>dir</a:t>
            </a:r>
            <a:r>
              <a:rPr sz="1400" b="0">
                <a:solidFill>
                  <a:schemeClr val="bg1"/>
                </a:solidFill>
                <a:latin typeface="Calibri"/>
              </a:rPr>
              <a:t> ./models</a:t>
            </a:r>
          </a:p>
        </p:txBody>
      </p:sp>
      <p:sp>
        <p:nvSpPr>
          <p:cNvPr id="26" name="TextBox 25"/>
          <p:cNvSpPr txBox="1"/>
          <p:nvPr/>
        </p:nvSpPr>
        <p:spPr>
          <a:xfrm>
            <a:off x="731520" y="4937760"/>
            <a:ext cx="10515600" cy="548640"/>
          </a:xfrm>
          <a:prstGeom prst="rect">
            <a:avLst/>
          </a:prstGeom>
          <a:noFill/>
        </p:spPr>
        <p:txBody>
          <a:bodyPr wrap="square" lIns="64008" tIns="32004" rIns="64008" bIns="32004">
            <a:normAutofit/>
          </a:bodyPr>
          <a:lstStyle/>
          <a:p>
            <a:pPr algn="ctr">
              <a:spcBef>
                <a:spcPts val="0"/>
              </a:spcBef>
              <a:spcAft>
                <a:spcPts val="400"/>
              </a:spcAft>
              <a:defRPr sz="1400" b="0">
                <a:solidFill>
                  <a:srgbClr val="666666"/>
                </a:solidFill>
                <a:latin typeface="Calibri"/>
              </a:defRPr>
            </a:pPr>
            <a:r>
              <a:rPr sz="1400" b="0">
                <a:solidFill>
                  <a:srgbClr val="273140"/>
                </a:solidFill>
                <a:latin typeface="Calibri"/>
              </a:rPr>
              <a:t>One command trains all 14 models, evaluates on held-out test set, and logs results to MLflow</a:t>
            </a:r>
          </a:p>
        </p:txBody>
      </p:sp>
    </p:spTree>
    <p:extLst>
      <p:ext uri="{BB962C8B-B14F-4D97-AF65-F5344CB8AC3E}">
        <p14:creationId xmlns:p14="http://schemas.microsoft.com/office/powerpoint/2010/main" val="384924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spcAft>
                <a:spcPts val="200"/>
              </a:spcAft>
              <a:defRPr sz="2800" b="1">
                <a:solidFill>
                  <a:srgbClr val="2D2D2D"/>
                </a:solidFill>
                <a:latin typeface="Calibri"/>
              </a:defRPr>
            </a:pPr>
            <a:r>
              <a:rPr lang="en-US" sz="2800" b="1">
                <a:solidFill>
                  <a:srgbClr val="003D7C"/>
                </a:solidFill>
                <a:latin typeface="Calibri"/>
              </a:rPr>
              <a:t>Step </a:t>
            </a:r>
            <a:r>
              <a:rPr sz="2800" b="1">
                <a:solidFill>
                  <a:srgbClr val="003D7C"/>
                </a:solidFill>
                <a:latin typeface="Calibri"/>
              </a:rPr>
              <a:t>1 — Data Preparation</a:t>
            </a:r>
            <a:endParaRPr lang="en-US" sz="2800" b="1">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273140"/>
                </a:solidFill>
                <a:latin typeface="Calibri"/>
              </a:rPr>
              <a:t>Stratified Train/Test Split</a:t>
            </a:r>
          </a:p>
        </p:txBody>
      </p:sp>
      <p:sp>
        <p:nvSpPr>
          <p:cNvPr id="5" name="Rounded Rectangle 4"/>
          <p:cNvSpPr/>
          <p:nvPr/>
        </p:nvSpPr>
        <p:spPr>
          <a:xfrm>
            <a:off x="731520" y="1371600"/>
            <a:ext cx="2011680" cy="5486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600" b="1">
                <a:solidFill>
                  <a:srgbClr val="FFFFFF"/>
                </a:solidFill>
              </a:defRPr>
            </a:pPr>
            <a:r>
              <a:rPr sz="1400" b="0">
                <a:solidFill>
                  <a:srgbClr val="FFFFFF"/>
                </a:solidFill>
                <a:latin typeface="Calibri"/>
              </a:rPr>
              <a:t>9,609 Tasks</a:t>
            </a:r>
          </a:p>
        </p:txBody>
      </p:sp>
      <p:sp>
        <p:nvSpPr>
          <p:cNvPr id="6" name="TextBox 5"/>
          <p:cNvSpPr txBox="1"/>
          <p:nvPr/>
        </p:nvSpPr>
        <p:spPr>
          <a:xfrm>
            <a:off x="2834640" y="1417320"/>
            <a:ext cx="365760" cy="365760"/>
          </a:xfrm>
          <a:prstGeom prst="rect">
            <a:avLst/>
          </a:prstGeom>
          <a:noFill/>
        </p:spPr>
        <p:txBody>
          <a:bodyPr wrap="square" lIns="64008" tIns="32004" rIns="64008" bIns="32004">
            <a:normAutofit/>
          </a:bodyPr>
          <a:lstStyle/>
          <a:p>
            <a:pPr algn="ctr">
              <a:spcBef>
                <a:spcPts val="0"/>
              </a:spcBef>
              <a:spcAft>
                <a:spcPts val="400"/>
              </a:spcAft>
              <a:defRPr sz="2200" b="1">
                <a:solidFill>
                  <a:srgbClr val="003D7C"/>
                </a:solidFill>
                <a:latin typeface="Calibri"/>
              </a:defRPr>
            </a:pPr>
            <a:r>
              <a:rPr sz="1400" b="0">
                <a:solidFill>
                  <a:srgbClr val="273140"/>
                </a:solidFill>
                <a:latin typeface="Calibri"/>
              </a:rPr>
              <a:t>→</a:t>
            </a:r>
          </a:p>
        </p:txBody>
      </p:sp>
      <p:sp>
        <p:nvSpPr>
          <p:cNvPr id="7" name="Rounded Rectangle 6"/>
          <p:cNvSpPr/>
          <p:nvPr/>
        </p:nvSpPr>
        <p:spPr>
          <a:xfrm>
            <a:off x="3291840" y="1280160"/>
            <a:ext cx="2286000" cy="4114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FFFFFF"/>
                </a:solidFill>
                <a:latin typeface="Calibri"/>
              </a:rPr>
              <a:t>7,685 train (80%)</a:t>
            </a:r>
          </a:p>
        </p:txBody>
      </p:sp>
      <p:sp>
        <p:nvSpPr>
          <p:cNvPr id="8" name="Rounded Rectangle 7"/>
          <p:cNvSpPr/>
          <p:nvPr/>
        </p:nvSpPr>
        <p:spPr>
          <a:xfrm>
            <a:off x="3291840" y="17373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273140"/>
                </a:solidFill>
                <a:latin typeface="Calibri"/>
              </a:rPr>
              <a:t>1,924 test (20%)</a:t>
            </a:r>
          </a:p>
        </p:txBody>
      </p:sp>
      <p:sp>
        <p:nvSpPr>
          <p:cNvPr id="9" name="TextBox 8"/>
          <p:cNvSpPr txBox="1"/>
          <p:nvPr/>
        </p:nvSpPr>
        <p:spPr>
          <a:xfrm>
            <a:off x="731520" y="2377440"/>
            <a:ext cx="45720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Label Distribution</a:t>
            </a:r>
          </a:p>
        </p:txBody>
      </p:sp>
      <p:sp>
        <p:nvSpPr>
          <p:cNvPr id="10" name="Rectangle 9"/>
          <p:cNvSpPr/>
          <p:nvPr/>
        </p:nvSpPr>
        <p:spPr>
          <a:xfrm>
            <a:off x="731520" y="274320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Label</a:t>
            </a:r>
          </a:p>
        </p:txBody>
      </p:sp>
      <p:sp>
        <p:nvSpPr>
          <p:cNvPr id="12" name="TextBox 11"/>
          <p:cNvSpPr txBox="1"/>
          <p:nvPr/>
        </p:nvSpPr>
        <p:spPr>
          <a:xfrm>
            <a:off x="2743200" y="2743200"/>
            <a:ext cx="109728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Count</a:t>
            </a:r>
          </a:p>
        </p:txBody>
      </p:sp>
      <p:sp>
        <p:nvSpPr>
          <p:cNvPr id="13" name="TextBox 12"/>
          <p:cNvSpPr txBox="1"/>
          <p:nvPr/>
        </p:nvSpPr>
        <p:spPr>
          <a:xfrm>
            <a:off x="4023360" y="274320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Pct</a:t>
            </a:r>
          </a:p>
        </p:txBody>
      </p:sp>
      <p:sp>
        <p:nvSpPr>
          <p:cNvPr id="14" name="TextBox 13"/>
          <p:cNvSpPr txBox="1"/>
          <p:nvPr/>
        </p:nvSpPr>
        <p:spPr>
          <a:xfrm>
            <a:off x="5029200" y="2743200"/>
            <a:ext cx="73152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5" name="Rectangle 14"/>
          <p:cNvSpPr/>
          <p:nvPr/>
        </p:nvSpPr>
        <p:spPr>
          <a:xfrm>
            <a:off x="731520" y="306324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0632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other</a:t>
            </a:r>
          </a:p>
        </p:txBody>
      </p:sp>
      <p:sp>
        <p:nvSpPr>
          <p:cNvPr id="17" name="TextBox 16"/>
          <p:cNvSpPr txBox="1"/>
          <p:nvPr/>
        </p:nvSpPr>
        <p:spPr>
          <a:xfrm>
            <a:off x="2743200" y="30632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5,441</a:t>
            </a:r>
          </a:p>
        </p:txBody>
      </p:sp>
      <p:sp>
        <p:nvSpPr>
          <p:cNvPr id="18" name="TextBox 17"/>
          <p:cNvSpPr txBox="1"/>
          <p:nvPr/>
        </p:nvSpPr>
        <p:spPr>
          <a:xfrm>
            <a:off x="4023360" y="30632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57%</a:t>
            </a:r>
          </a:p>
        </p:txBody>
      </p:sp>
      <p:sp>
        <p:nvSpPr>
          <p:cNvPr id="19" name="Rectangle 18"/>
          <p:cNvSpPr/>
          <p:nvPr/>
        </p:nvSpPr>
        <p:spPr>
          <a:xfrm>
            <a:off x="5029200" y="3127248"/>
            <a:ext cx="653406" cy="16459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333756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375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coding_editing</a:t>
            </a:r>
          </a:p>
        </p:txBody>
      </p:sp>
      <p:sp>
        <p:nvSpPr>
          <p:cNvPr id="22" name="TextBox 21"/>
          <p:cNvSpPr txBox="1"/>
          <p:nvPr/>
        </p:nvSpPr>
        <p:spPr>
          <a:xfrm>
            <a:off x="2743200" y="33375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3,240</a:t>
            </a:r>
          </a:p>
        </p:txBody>
      </p:sp>
      <p:sp>
        <p:nvSpPr>
          <p:cNvPr id="23" name="TextBox 22"/>
          <p:cNvSpPr txBox="1"/>
          <p:nvPr/>
        </p:nvSpPr>
        <p:spPr>
          <a:xfrm>
            <a:off x="4023360" y="33375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34%</a:t>
            </a:r>
          </a:p>
        </p:txBody>
      </p:sp>
      <p:sp>
        <p:nvSpPr>
          <p:cNvPr id="24" name="Rectangle 23"/>
          <p:cNvSpPr/>
          <p:nvPr/>
        </p:nvSpPr>
        <p:spPr>
          <a:xfrm>
            <a:off x="5029200" y="3383280"/>
            <a:ext cx="548640" cy="164592"/>
          </a:xfrm>
          <a:prstGeom prst="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361188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6118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documentation</a:t>
            </a:r>
          </a:p>
        </p:txBody>
      </p:sp>
      <p:sp>
        <p:nvSpPr>
          <p:cNvPr id="27" name="TextBox 26"/>
          <p:cNvSpPr txBox="1"/>
          <p:nvPr/>
        </p:nvSpPr>
        <p:spPr>
          <a:xfrm>
            <a:off x="2743200" y="36118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449</a:t>
            </a:r>
          </a:p>
        </p:txBody>
      </p:sp>
      <p:sp>
        <p:nvSpPr>
          <p:cNvPr id="28" name="TextBox 27"/>
          <p:cNvSpPr txBox="1"/>
          <p:nvPr/>
        </p:nvSpPr>
        <p:spPr>
          <a:xfrm>
            <a:off x="4023360" y="36118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4.7%</a:t>
            </a:r>
          </a:p>
        </p:txBody>
      </p:sp>
      <p:sp>
        <p:nvSpPr>
          <p:cNvPr id="29" name="Rectangle 28"/>
          <p:cNvSpPr/>
          <p:nvPr/>
        </p:nvSpPr>
        <p:spPr>
          <a:xfrm>
            <a:off x="5029200" y="3675888"/>
            <a:ext cx="90549" cy="146304"/>
          </a:xfrm>
          <a:prstGeom prst="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88620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862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docker_workflow</a:t>
            </a:r>
          </a:p>
        </p:txBody>
      </p:sp>
      <p:sp>
        <p:nvSpPr>
          <p:cNvPr id="32" name="TextBox 31"/>
          <p:cNvSpPr txBox="1"/>
          <p:nvPr/>
        </p:nvSpPr>
        <p:spPr>
          <a:xfrm>
            <a:off x="2743200" y="38862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299</a:t>
            </a:r>
          </a:p>
        </p:txBody>
      </p:sp>
      <p:sp>
        <p:nvSpPr>
          <p:cNvPr id="33" name="TextBox 32"/>
          <p:cNvSpPr txBox="1"/>
          <p:nvPr/>
        </p:nvSpPr>
        <p:spPr>
          <a:xfrm>
            <a:off x="4023360" y="38862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3.1%</a:t>
            </a:r>
          </a:p>
        </p:txBody>
      </p:sp>
      <p:sp>
        <p:nvSpPr>
          <p:cNvPr id="34" name="Rectangle 33"/>
          <p:cNvSpPr/>
          <p:nvPr/>
        </p:nvSpPr>
        <p:spPr>
          <a:xfrm>
            <a:off x="5029200" y="3950208"/>
            <a:ext cx="60298"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416052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16052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git_operations</a:t>
            </a:r>
          </a:p>
        </p:txBody>
      </p:sp>
      <p:sp>
        <p:nvSpPr>
          <p:cNvPr id="37" name="TextBox 36"/>
          <p:cNvSpPr txBox="1"/>
          <p:nvPr/>
        </p:nvSpPr>
        <p:spPr>
          <a:xfrm>
            <a:off x="2743200" y="416052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87</a:t>
            </a:r>
          </a:p>
        </p:txBody>
      </p:sp>
      <p:sp>
        <p:nvSpPr>
          <p:cNvPr id="38" name="TextBox 37"/>
          <p:cNvSpPr txBox="1"/>
          <p:nvPr/>
        </p:nvSpPr>
        <p:spPr>
          <a:xfrm>
            <a:off x="4023360" y="416052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0.9%</a:t>
            </a:r>
          </a:p>
        </p:txBody>
      </p:sp>
      <p:sp>
        <p:nvSpPr>
          <p:cNvPr id="39" name="Rectangle 38"/>
          <p:cNvSpPr/>
          <p:nvPr/>
        </p:nvSpPr>
        <p:spPr>
          <a:xfrm>
            <a:off x="731520" y="443484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4348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aws_console</a:t>
            </a:r>
          </a:p>
        </p:txBody>
      </p:sp>
      <p:sp>
        <p:nvSpPr>
          <p:cNvPr id="41" name="TextBox 40"/>
          <p:cNvSpPr txBox="1"/>
          <p:nvPr/>
        </p:nvSpPr>
        <p:spPr>
          <a:xfrm>
            <a:off x="2743200" y="44348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45</a:t>
            </a:r>
          </a:p>
        </p:txBody>
      </p:sp>
      <p:sp>
        <p:nvSpPr>
          <p:cNvPr id="42" name="TextBox 41"/>
          <p:cNvSpPr txBox="1"/>
          <p:nvPr/>
        </p:nvSpPr>
        <p:spPr>
          <a:xfrm>
            <a:off x="4023360" y="44348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0.5%</a:t>
            </a:r>
          </a:p>
        </p:txBody>
      </p:sp>
      <p:sp>
        <p:nvSpPr>
          <p:cNvPr id="43" name="Rectangle 42"/>
          <p:cNvSpPr/>
          <p:nvPr/>
        </p:nvSpPr>
        <p:spPr>
          <a:xfrm>
            <a:off x="731520" y="470916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7091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debugging</a:t>
            </a:r>
          </a:p>
        </p:txBody>
      </p:sp>
      <p:sp>
        <p:nvSpPr>
          <p:cNvPr id="45" name="TextBox 44"/>
          <p:cNvSpPr txBox="1"/>
          <p:nvPr/>
        </p:nvSpPr>
        <p:spPr>
          <a:xfrm>
            <a:off x="2743200" y="47091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38</a:t>
            </a:r>
          </a:p>
        </p:txBody>
      </p:sp>
      <p:sp>
        <p:nvSpPr>
          <p:cNvPr id="46" name="TextBox 45"/>
          <p:cNvSpPr txBox="1"/>
          <p:nvPr/>
        </p:nvSpPr>
        <p:spPr>
          <a:xfrm>
            <a:off x="4023360" y="47091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0.4%</a:t>
            </a:r>
          </a:p>
        </p:txBody>
      </p:sp>
      <p:sp>
        <p:nvSpPr>
          <p:cNvPr id="47" name="Rectangle 46"/>
          <p:cNvSpPr/>
          <p:nvPr/>
        </p:nvSpPr>
        <p:spPr>
          <a:xfrm>
            <a:off x="731520" y="498348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834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kubernetes_ops</a:t>
            </a:r>
          </a:p>
        </p:txBody>
      </p:sp>
      <p:sp>
        <p:nvSpPr>
          <p:cNvPr id="49" name="TextBox 48"/>
          <p:cNvSpPr txBox="1"/>
          <p:nvPr/>
        </p:nvSpPr>
        <p:spPr>
          <a:xfrm>
            <a:off x="2743200" y="49834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9</a:t>
            </a:r>
          </a:p>
        </p:txBody>
      </p:sp>
      <p:sp>
        <p:nvSpPr>
          <p:cNvPr id="50" name="TextBox 49"/>
          <p:cNvSpPr txBox="1"/>
          <p:nvPr/>
        </p:nvSpPr>
        <p:spPr>
          <a:xfrm>
            <a:off x="4023360" y="49834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0.1%</a:t>
            </a:r>
          </a:p>
        </p:txBody>
      </p:sp>
      <p:sp>
        <p:nvSpPr>
          <p:cNvPr id="51" name="Rectangle 50"/>
          <p:cNvSpPr/>
          <p:nvPr/>
        </p:nvSpPr>
        <p:spPr>
          <a:xfrm>
            <a:off x="731520" y="525780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2578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jenkins_ci_cd</a:t>
            </a:r>
          </a:p>
        </p:txBody>
      </p:sp>
      <p:sp>
        <p:nvSpPr>
          <p:cNvPr id="53" name="TextBox 52"/>
          <p:cNvSpPr txBox="1"/>
          <p:nvPr/>
        </p:nvSpPr>
        <p:spPr>
          <a:xfrm>
            <a:off x="2743200" y="52578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1</a:t>
            </a:r>
          </a:p>
        </p:txBody>
      </p:sp>
      <p:sp>
        <p:nvSpPr>
          <p:cNvPr id="54" name="TextBox 53"/>
          <p:cNvSpPr txBox="1"/>
          <p:nvPr/>
        </p:nvSpPr>
        <p:spPr>
          <a:xfrm>
            <a:off x="4023360" y="52578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0.01%</a:t>
            </a:r>
          </a:p>
        </p:txBody>
      </p:sp>
      <p:sp>
        <p:nvSpPr>
          <p:cNvPr id="55" name="Rounded Rectangle 54"/>
          <p:cNvSpPr/>
          <p:nvPr/>
        </p:nvSpPr>
        <p:spPr>
          <a:xfrm>
            <a:off x="6583680" y="1371600"/>
            <a:ext cx="4846320" cy="137160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766560" y="14630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03D7C"/>
                </a:solidFill>
                <a:latin typeface="Calibri"/>
              </a:defRPr>
            </a:pPr>
            <a:r>
              <a:rPr sz="1400" b="0">
                <a:solidFill>
                  <a:srgbClr val="273140"/>
                </a:solidFill>
                <a:latin typeface="Calibri"/>
              </a:rPr>
              <a:t>Stratified Split</a:t>
            </a:r>
          </a:p>
        </p:txBody>
      </p:sp>
      <p:sp>
        <p:nvSpPr>
          <p:cNvPr id="57" name="TextBox 56"/>
          <p:cNvSpPr txBox="1"/>
          <p:nvPr/>
        </p:nvSpPr>
        <p:spPr>
          <a:xfrm>
            <a:off x="6766560" y="1828800"/>
            <a:ext cx="4480560" cy="822960"/>
          </a:xfrm>
          <a:prstGeom prst="rect">
            <a:avLst/>
          </a:prstGeom>
          <a:noFill/>
        </p:spPr>
        <p:txBody>
          <a:bodyPr wrap="square" lIns="64008" tIns="32004" rIns="64008" bIns="32004">
            <a:normAutofit/>
          </a:bodyPr>
          <a:lstStyle/>
          <a:p>
            <a:pPr>
              <a:spcBef>
                <a:spcPts val="0"/>
              </a:spcBef>
              <a:spcAft>
                <a:spcPts val="400"/>
              </a:spcAft>
              <a:defRPr sz="1200">
                <a:solidFill>
                  <a:srgbClr val="2D2D2D"/>
                </a:solidFill>
                <a:latin typeface="Calibri"/>
              </a:defRPr>
            </a:pPr>
            <a:r>
              <a:rPr sz="1400" b="0">
                <a:solidFill>
                  <a:srgbClr val="273140"/>
                </a:solidFill>
                <a:latin typeface="Calibri"/>
              </a:rPr>
              <a:t>Same label proportions in both train and test</a:t>
            </a:r>
          </a:p>
          <a:p>
            <a:pPr>
              <a:spcBef>
                <a:spcPts val="0"/>
              </a:spcBef>
              <a:spcAft>
                <a:spcPts val="400"/>
              </a:spcAft>
              <a:defRPr sz="1200">
                <a:solidFill>
                  <a:srgbClr val="2D2D2D"/>
                </a:solidFill>
                <a:latin typeface="Calibri"/>
              </a:defRPr>
            </a:pPr>
            <a:r>
              <a:rPr sz="1400" b="0">
                <a:solidFill>
                  <a:srgbClr val="273140"/>
                </a:solidFill>
                <a:latin typeface="Calibri"/>
              </a:rPr>
              <a:t>Ensures test set is representative of real data</a:t>
            </a:r>
          </a:p>
          <a:p>
            <a:pPr>
              <a:spcBef>
                <a:spcPts val="0"/>
              </a:spcBef>
              <a:spcAft>
                <a:spcPts val="400"/>
              </a:spcAft>
              <a:defRPr sz="1200">
                <a:solidFill>
                  <a:srgbClr val="2D2D2D"/>
                </a:solidFill>
                <a:latin typeface="Calibri"/>
              </a:defRPr>
            </a:pPr>
            <a:r>
              <a:rPr sz="1400" b="0">
                <a:solidFill>
                  <a:srgbClr val="273140"/>
                </a:solidFill>
                <a:latin typeface="Calibri"/>
              </a:rPr>
              <a:t>sklearn.model_selection.train_test_split(stratify=y)</a:t>
            </a:r>
          </a:p>
        </p:txBody>
      </p:sp>
      <p:sp>
        <p:nvSpPr>
          <p:cNvPr id="58" name="Rounded Rectangle 57"/>
          <p:cNvSpPr/>
          <p:nvPr/>
        </p:nvSpPr>
        <p:spPr>
          <a:xfrm>
            <a:off x="6583680" y="3017520"/>
            <a:ext cx="4846320" cy="128016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766560" y="310896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DC3545"/>
                </a:solidFill>
                <a:latin typeface="Calibri"/>
              </a:defRPr>
            </a:pPr>
            <a:r>
              <a:rPr sz="1400" b="0">
                <a:solidFill>
                  <a:srgbClr val="273140"/>
                </a:solidFill>
                <a:latin typeface="Calibri"/>
              </a:rPr>
              <a:t>Class Imbalance Problem</a:t>
            </a:r>
          </a:p>
        </p:txBody>
      </p:sp>
      <p:sp>
        <p:nvSpPr>
          <p:cNvPr id="60" name="TextBox 59"/>
          <p:cNvSpPr txBox="1"/>
          <p:nvPr/>
        </p:nvSpPr>
        <p:spPr>
          <a:xfrm>
            <a:off x="6766560" y="3474720"/>
            <a:ext cx="4480560" cy="731520"/>
          </a:xfrm>
          <a:prstGeom prst="rect">
            <a:avLst/>
          </a:prstGeom>
          <a:noFill/>
        </p:spPr>
        <p:txBody>
          <a:bodyPr wrap="square" lIns="64008" tIns="32004" rIns="64008" bIns="32004">
            <a:normAutofit fontScale="92500" lnSpcReduction="10000"/>
          </a:bodyPr>
          <a:lstStyle/>
          <a:p>
            <a:pPr>
              <a:spcBef>
                <a:spcPts val="0"/>
              </a:spcBef>
              <a:spcAft>
                <a:spcPts val="400"/>
              </a:spcAft>
              <a:defRPr sz="1200">
                <a:solidFill>
                  <a:srgbClr val="2D2D2D"/>
                </a:solidFill>
                <a:latin typeface="Calibri"/>
              </a:defRPr>
            </a:pPr>
            <a:r>
              <a:rPr sz="1400" b="0">
                <a:solidFill>
                  <a:srgbClr val="273140"/>
                </a:solidFill>
                <a:latin typeface="Calibri"/>
              </a:rPr>
              <a:t>"other" dominates at 57% — model can just predict "other"</a:t>
            </a:r>
          </a:p>
          <a:p>
            <a:pPr>
              <a:spcBef>
                <a:spcPts val="0"/>
              </a:spcBef>
              <a:spcAft>
                <a:spcPts val="400"/>
              </a:spcAft>
              <a:defRPr sz="1200">
                <a:solidFill>
                  <a:srgbClr val="2D2D2D"/>
                </a:solidFill>
                <a:latin typeface="Calibri"/>
              </a:defRPr>
            </a:pPr>
            <a:r>
              <a:rPr sz="1400" b="0">
                <a:solidFill>
                  <a:srgbClr val="273140"/>
                </a:solidFill>
                <a:latin typeface="Calibri"/>
              </a:rPr>
              <a:t>jenkins_ci_cd has only 1 sample</a:t>
            </a:r>
          </a:p>
          <a:p>
            <a:pPr>
              <a:spcBef>
                <a:spcPts val="0"/>
              </a:spcBef>
              <a:spcAft>
                <a:spcPts val="400"/>
              </a:spcAft>
              <a:defRPr sz="1200">
                <a:solidFill>
                  <a:srgbClr val="2D2D2D"/>
                </a:solidFill>
                <a:latin typeface="Calibri"/>
              </a:defRPr>
            </a:pPr>
            <a:r>
              <a:rPr sz="1400" b="0">
                <a:solidFill>
                  <a:srgbClr val="273140"/>
                </a:solidFill>
                <a:latin typeface="Calibri"/>
              </a:rPr>
              <a:t>Data augmentation applied when &lt; 100 training samples (5x)</a:t>
            </a:r>
          </a:p>
        </p:txBody>
      </p:sp>
      <p:sp>
        <p:nvSpPr>
          <p:cNvPr id="61" name="Rounded Rectangle 60"/>
          <p:cNvSpPr/>
          <p:nvPr/>
        </p:nvSpPr>
        <p:spPr>
          <a:xfrm>
            <a:off x="6583680" y="4572000"/>
            <a:ext cx="4846320" cy="91440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0" y="46634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E9384"/>
                </a:solidFill>
                <a:latin typeface="Calibri"/>
              </a:defRPr>
            </a:pPr>
            <a:r>
              <a:rPr sz="1400" b="0">
                <a:solidFill>
                  <a:srgbClr val="273140"/>
                </a:solidFill>
                <a:latin typeface="Calibri"/>
              </a:rPr>
              <a:t>Data Augmentation</a:t>
            </a:r>
          </a:p>
        </p:txBody>
      </p:sp>
      <p:sp>
        <p:nvSpPr>
          <p:cNvPr id="63" name="TextBox 62"/>
          <p:cNvSpPr txBox="1"/>
          <p:nvPr/>
        </p:nvSpPr>
        <p:spPr>
          <a:xfrm>
            <a:off x="6766560" y="5029200"/>
            <a:ext cx="4480560" cy="365760"/>
          </a:xfrm>
          <a:prstGeom prst="rect">
            <a:avLst/>
          </a:prstGeom>
          <a:noFill/>
        </p:spPr>
        <p:txBody>
          <a:bodyPr wrap="square" lIns="64008" tIns="32004" rIns="64008" bIns="32004">
            <a:normAutofit fontScale="70000" lnSpcReduction="20000"/>
          </a:bodyPr>
          <a:lstStyle/>
          <a:p>
            <a:pPr>
              <a:spcBef>
                <a:spcPts val="0"/>
              </a:spcBef>
              <a:spcAft>
                <a:spcPts val="400"/>
              </a:spcAft>
              <a:defRPr sz="1200">
                <a:solidFill>
                  <a:srgbClr val="2D2D2D"/>
                </a:solidFill>
                <a:latin typeface="Calibri"/>
              </a:defRPr>
            </a:pPr>
            <a:r>
              <a:rPr sz="1400" b="0">
                <a:solidFill>
                  <a:srgbClr val="273140"/>
                </a:solidFill>
                <a:latin typeface="Calibri"/>
              </a:rPr>
              <a:t>Classes with &lt; 100 samples get 5x augmentation</a:t>
            </a:r>
          </a:p>
          <a:p>
            <a:pPr>
              <a:spcBef>
                <a:spcPts val="0"/>
              </a:spcBef>
              <a:spcAft>
                <a:spcPts val="400"/>
              </a:spcAft>
              <a:defRPr sz="1200">
                <a:solidFill>
                  <a:srgbClr val="2D2D2D"/>
                </a:solidFill>
                <a:latin typeface="Calibri"/>
              </a:defRPr>
            </a:pPr>
            <a:r>
              <a:rPr sz="1400" b="0">
                <a:solidFill>
                  <a:srgbClr val="273140"/>
                </a:solidFill>
                <a:latin typeface="Calibri"/>
              </a:rPr>
              <a:t>Adds noise to feature vectors to create synthetic samples</a:t>
            </a:r>
          </a:p>
        </p:txBody>
      </p:sp>
    </p:spTree>
    <p:extLst>
      <p:ext uri="{BB962C8B-B14F-4D97-AF65-F5344CB8AC3E}">
        <p14:creationId xmlns:p14="http://schemas.microsoft.com/office/powerpoint/2010/main" val="28369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a:solidFill>
                  <a:srgbClr val="003D7C"/>
                </a:solidFill>
                <a:latin typeface="Calibri"/>
              </a:rPr>
              <a:t>Step</a:t>
            </a:r>
            <a:r>
              <a:rPr sz="2800" b="1">
                <a:solidFill>
                  <a:srgbClr val="003D7C"/>
                </a:solidFill>
                <a:latin typeface="Calibri"/>
              </a:rPr>
              <a:t> 2 — Feature Extraction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Converting raw video + actions into numeric vectors</a:t>
            </a:r>
          </a:p>
        </p:txBody>
      </p:sp>
      <p:sp>
        <p:nvSpPr>
          <p:cNvPr id="36" name="Rounded Rectangle 9">
            <a:extLst>
              <a:ext uri="{FF2B5EF4-FFF2-40B4-BE49-F238E27FC236}">
                <a16:creationId xmlns:a16="http://schemas.microsoft.com/office/drawing/2014/main" id="{E92DAF9B-DB9A-AB5A-8A16-0CEF0F5584B5}"/>
              </a:ext>
            </a:extLst>
          </p:cNvPr>
          <p:cNvSpPr/>
          <p:nvPr/>
        </p:nvSpPr>
        <p:spPr>
          <a:xfrm>
            <a:off x="731520" y="1698172"/>
            <a:ext cx="182880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Video +</a:t>
            </a:r>
            <a:br/>
            <a:r>
              <a:t>action_log</a:t>
            </a:r>
          </a:p>
        </p:txBody>
      </p:sp>
      <p:sp>
        <p:nvSpPr>
          <p:cNvPr id="37" name="TextBox 10">
            <a:extLst>
              <a:ext uri="{FF2B5EF4-FFF2-40B4-BE49-F238E27FC236}">
                <a16:creationId xmlns:a16="http://schemas.microsoft.com/office/drawing/2014/main" id="{9B9239FC-E795-0EEB-FA84-C5EC7CE60B7B}"/>
              </a:ext>
            </a:extLst>
          </p:cNvPr>
          <p:cNvSpPr txBox="1"/>
          <p:nvPr/>
        </p:nvSpPr>
        <p:spPr>
          <a:xfrm>
            <a:off x="260604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007ACC"/>
                </a:solidFill>
                <a:latin typeface="Calibri"/>
              </a:defRPr>
            </a:pPr>
            <a:r>
              <a:t>→</a:t>
            </a:r>
          </a:p>
        </p:txBody>
      </p:sp>
      <p:sp>
        <p:nvSpPr>
          <p:cNvPr id="38" name="Rounded Rectangle 11">
            <a:extLst>
              <a:ext uri="{FF2B5EF4-FFF2-40B4-BE49-F238E27FC236}">
                <a16:creationId xmlns:a16="http://schemas.microsoft.com/office/drawing/2014/main" id="{3D4A2486-A8D3-742D-77BE-CA0737FAB1E0}"/>
              </a:ext>
            </a:extLst>
          </p:cNvPr>
          <p:cNvSpPr/>
          <p:nvPr/>
        </p:nvSpPr>
        <p:spPr>
          <a:xfrm>
            <a:off x="3108960" y="151529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12">
            <a:extLst>
              <a:ext uri="{FF2B5EF4-FFF2-40B4-BE49-F238E27FC236}">
                <a16:creationId xmlns:a16="http://schemas.microsoft.com/office/drawing/2014/main" id="{8E661A75-C44E-AC7D-ED10-9137FA444BA6}"/>
              </a:ext>
            </a:extLst>
          </p:cNvPr>
          <p:cNvSpPr txBox="1"/>
          <p:nvPr/>
        </p:nvSpPr>
        <p:spPr>
          <a:xfrm>
            <a:off x="3200400" y="153358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Visual</a:t>
            </a:r>
          </a:p>
        </p:txBody>
      </p:sp>
      <p:sp>
        <p:nvSpPr>
          <p:cNvPr id="40" name="TextBox 13">
            <a:extLst>
              <a:ext uri="{FF2B5EF4-FFF2-40B4-BE49-F238E27FC236}">
                <a16:creationId xmlns:a16="http://schemas.microsoft.com/office/drawing/2014/main" id="{FF1F9D96-ECCE-F963-C0D5-ED90985D3386}"/>
              </a:ext>
            </a:extLst>
          </p:cNvPr>
          <p:cNvSpPr txBox="1"/>
          <p:nvPr/>
        </p:nvSpPr>
        <p:spPr>
          <a:xfrm>
            <a:off x="4023360" y="153358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Frames, UI layout,</a:t>
            </a:r>
            <a:br/>
            <a:r>
              <a:t>screen regions</a:t>
            </a:r>
          </a:p>
        </p:txBody>
      </p:sp>
      <p:sp>
        <p:nvSpPr>
          <p:cNvPr id="41" name="Rounded Rectangle 14">
            <a:extLst>
              <a:ext uri="{FF2B5EF4-FFF2-40B4-BE49-F238E27FC236}">
                <a16:creationId xmlns:a16="http://schemas.microsoft.com/office/drawing/2014/main" id="{DF3F472F-E03F-AF84-6D9B-1EE112ABE1CB}"/>
              </a:ext>
            </a:extLst>
          </p:cNvPr>
          <p:cNvSpPr/>
          <p:nvPr/>
        </p:nvSpPr>
        <p:spPr>
          <a:xfrm>
            <a:off x="3108960" y="206393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2" name="TextBox 15">
            <a:extLst>
              <a:ext uri="{FF2B5EF4-FFF2-40B4-BE49-F238E27FC236}">
                <a16:creationId xmlns:a16="http://schemas.microsoft.com/office/drawing/2014/main" id="{4276A9B2-47A4-3C5D-5E09-738731007745}"/>
              </a:ext>
            </a:extLst>
          </p:cNvPr>
          <p:cNvSpPr txBox="1"/>
          <p:nvPr/>
        </p:nvSpPr>
        <p:spPr>
          <a:xfrm>
            <a:off x="3200400" y="208222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OCR</a:t>
            </a:r>
          </a:p>
        </p:txBody>
      </p:sp>
      <p:sp>
        <p:nvSpPr>
          <p:cNvPr id="43" name="TextBox 16">
            <a:extLst>
              <a:ext uri="{FF2B5EF4-FFF2-40B4-BE49-F238E27FC236}">
                <a16:creationId xmlns:a16="http://schemas.microsoft.com/office/drawing/2014/main" id="{D39E3253-ADCA-627A-C3A0-7CFE32B365E8}"/>
              </a:ext>
            </a:extLst>
          </p:cNvPr>
          <p:cNvSpPr txBox="1"/>
          <p:nvPr/>
        </p:nvSpPr>
        <p:spPr>
          <a:xfrm>
            <a:off x="4023360" y="208222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Text on screen,</a:t>
            </a:r>
            <a:br/>
            <a:r>
              <a:t>command output</a:t>
            </a:r>
          </a:p>
        </p:txBody>
      </p:sp>
      <p:sp>
        <p:nvSpPr>
          <p:cNvPr id="44" name="Rounded Rectangle 17">
            <a:extLst>
              <a:ext uri="{FF2B5EF4-FFF2-40B4-BE49-F238E27FC236}">
                <a16:creationId xmlns:a16="http://schemas.microsoft.com/office/drawing/2014/main" id="{4A40D89B-1CB9-1683-368C-A6AC57E0C30E}"/>
              </a:ext>
            </a:extLst>
          </p:cNvPr>
          <p:cNvSpPr/>
          <p:nvPr/>
        </p:nvSpPr>
        <p:spPr>
          <a:xfrm>
            <a:off x="3108960" y="261257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8">
            <a:extLst>
              <a:ext uri="{FF2B5EF4-FFF2-40B4-BE49-F238E27FC236}">
                <a16:creationId xmlns:a16="http://schemas.microsoft.com/office/drawing/2014/main" id="{51E812D9-B749-3EA7-88DF-5013236B8AEC}"/>
              </a:ext>
            </a:extLst>
          </p:cNvPr>
          <p:cNvSpPr txBox="1"/>
          <p:nvPr/>
        </p:nvSpPr>
        <p:spPr>
          <a:xfrm>
            <a:off x="3200400" y="263086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Interaction</a:t>
            </a:r>
          </a:p>
        </p:txBody>
      </p:sp>
      <p:sp>
        <p:nvSpPr>
          <p:cNvPr id="46" name="TextBox 19">
            <a:extLst>
              <a:ext uri="{FF2B5EF4-FFF2-40B4-BE49-F238E27FC236}">
                <a16:creationId xmlns:a16="http://schemas.microsoft.com/office/drawing/2014/main" id="{3DB882A9-1AAC-15BB-09B7-681B93A347DC}"/>
              </a:ext>
            </a:extLst>
          </p:cNvPr>
          <p:cNvSpPr txBox="1"/>
          <p:nvPr/>
        </p:nvSpPr>
        <p:spPr>
          <a:xfrm>
            <a:off x="4023360" y="263086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Mouse, keyboard,</a:t>
            </a:r>
            <a:br/>
            <a:r>
              <a:t>timing patterns</a:t>
            </a:r>
          </a:p>
        </p:txBody>
      </p:sp>
      <p:sp>
        <p:nvSpPr>
          <p:cNvPr id="47" name="Rounded Rectangle 20">
            <a:extLst>
              <a:ext uri="{FF2B5EF4-FFF2-40B4-BE49-F238E27FC236}">
                <a16:creationId xmlns:a16="http://schemas.microsoft.com/office/drawing/2014/main" id="{0B5F00CD-B11C-5515-C7D4-1F86D958331E}"/>
              </a:ext>
            </a:extLst>
          </p:cNvPr>
          <p:cNvSpPr/>
          <p:nvPr/>
        </p:nvSpPr>
        <p:spPr>
          <a:xfrm>
            <a:off x="3108960" y="316121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21">
            <a:extLst>
              <a:ext uri="{FF2B5EF4-FFF2-40B4-BE49-F238E27FC236}">
                <a16:creationId xmlns:a16="http://schemas.microsoft.com/office/drawing/2014/main" id="{BDAA9064-264D-047C-81D5-7FCC142EF042}"/>
              </a:ext>
            </a:extLst>
          </p:cNvPr>
          <p:cNvSpPr txBox="1"/>
          <p:nvPr/>
        </p:nvSpPr>
        <p:spPr>
          <a:xfrm>
            <a:off x="3200400" y="317950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Action Log</a:t>
            </a:r>
          </a:p>
        </p:txBody>
      </p:sp>
      <p:sp>
        <p:nvSpPr>
          <p:cNvPr id="49" name="TextBox 22">
            <a:extLst>
              <a:ext uri="{FF2B5EF4-FFF2-40B4-BE49-F238E27FC236}">
                <a16:creationId xmlns:a16="http://schemas.microsoft.com/office/drawing/2014/main" id="{7C9E3EB7-8D1C-3D90-4033-2A10F57DE5EC}"/>
              </a:ext>
            </a:extLst>
          </p:cNvPr>
          <p:cNvSpPr txBox="1"/>
          <p:nvPr/>
        </p:nvSpPr>
        <p:spPr>
          <a:xfrm>
            <a:off x="4023360" y="317950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CLI commands,</a:t>
            </a:r>
            <a:br/>
            <a:r>
              <a:t>file operations</a:t>
            </a:r>
          </a:p>
        </p:txBody>
      </p:sp>
      <p:sp>
        <p:nvSpPr>
          <p:cNvPr id="50" name="TextBox 23">
            <a:extLst>
              <a:ext uri="{FF2B5EF4-FFF2-40B4-BE49-F238E27FC236}">
                <a16:creationId xmlns:a16="http://schemas.microsoft.com/office/drawing/2014/main" id="{99D8872D-5CA8-B587-A2C2-713033EB527D}"/>
              </a:ext>
            </a:extLst>
          </p:cNvPr>
          <p:cNvSpPr txBox="1"/>
          <p:nvPr/>
        </p:nvSpPr>
        <p:spPr>
          <a:xfrm>
            <a:off x="548640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28A745"/>
                </a:solidFill>
                <a:latin typeface="Calibri"/>
              </a:defRPr>
            </a:pPr>
            <a:r>
              <a:t>→</a:t>
            </a:r>
          </a:p>
        </p:txBody>
      </p:sp>
      <p:sp>
        <p:nvSpPr>
          <p:cNvPr id="51" name="Rounded Rectangle 24">
            <a:extLst>
              <a:ext uri="{FF2B5EF4-FFF2-40B4-BE49-F238E27FC236}">
                <a16:creationId xmlns:a16="http://schemas.microsoft.com/office/drawing/2014/main" id="{E91D4D0A-8606-B89B-18D5-02F23E417604}"/>
              </a:ext>
            </a:extLst>
          </p:cNvPr>
          <p:cNvSpPr/>
          <p:nvPr/>
        </p:nvSpPr>
        <p:spPr>
          <a:xfrm>
            <a:off x="5943600" y="1698172"/>
            <a:ext cx="20116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150-dim</a:t>
            </a:r>
            <a:br/>
            <a:r>
              <a:t>Feature Vector</a:t>
            </a:r>
          </a:p>
        </p:txBody>
      </p:sp>
      <p:sp>
        <p:nvSpPr>
          <p:cNvPr id="52" name="TextBox 25">
            <a:extLst>
              <a:ext uri="{FF2B5EF4-FFF2-40B4-BE49-F238E27FC236}">
                <a16:creationId xmlns:a16="http://schemas.microsoft.com/office/drawing/2014/main" id="{6BE612AE-898F-A398-464D-B94B492184A4}"/>
              </a:ext>
            </a:extLst>
          </p:cNvPr>
          <p:cNvSpPr txBox="1"/>
          <p:nvPr/>
        </p:nvSpPr>
        <p:spPr>
          <a:xfrm>
            <a:off x="731520" y="334409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Result Matrices</a:t>
            </a:r>
          </a:p>
        </p:txBody>
      </p:sp>
      <p:sp>
        <p:nvSpPr>
          <p:cNvPr id="53" name="Rounded Rectangle 26">
            <a:extLst>
              <a:ext uri="{FF2B5EF4-FFF2-40B4-BE49-F238E27FC236}">
                <a16:creationId xmlns:a16="http://schemas.microsoft.com/office/drawing/2014/main" id="{E68BFAE1-989F-66F3-44CF-82D2CC7969C3}"/>
              </a:ext>
            </a:extLst>
          </p:cNvPr>
          <p:cNvSpPr/>
          <p:nvPr/>
        </p:nvSpPr>
        <p:spPr>
          <a:xfrm>
            <a:off x="731520" y="3801292"/>
            <a:ext cx="32004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4" name="TextBox 27">
            <a:extLst>
              <a:ext uri="{FF2B5EF4-FFF2-40B4-BE49-F238E27FC236}">
                <a16:creationId xmlns:a16="http://schemas.microsoft.com/office/drawing/2014/main" id="{B7D8AAB1-F2A2-CC59-0249-E522BA97583A}"/>
              </a:ext>
            </a:extLst>
          </p:cNvPr>
          <p:cNvSpPr txBox="1"/>
          <p:nvPr/>
        </p:nvSpPr>
        <p:spPr>
          <a:xfrm>
            <a:off x="822960" y="3847012"/>
            <a:ext cx="30175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X_train shape: (7685, 150)</a:t>
            </a:r>
          </a:p>
        </p:txBody>
      </p:sp>
      <p:sp>
        <p:nvSpPr>
          <p:cNvPr id="55" name="Rounded Rectangle 28">
            <a:extLst>
              <a:ext uri="{FF2B5EF4-FFF2-40B4-BE49-F238E27FC236}">
                <a16:creationId xmlns:a16="http://schemas.microsoft.com/office/drawing/2014/main" id="{CF96EC3B-AA32-BB55-C980-86A9CE32DEA2}"/>
              </a:ext>
            </a:extLst>
          </p:cNvPr>
          <p:cNvSpPr/>
          <p:nvPr/>
        </p:nvSpPr>
        <p:spPr>
          <a:xfrm>
            <a:off x="4206240" y="3801292"/>
            <a:ext cx="27432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6" name="TextBox 29">
            <a:extLst>
              <a:ext uri="{FF2B5EF4-FFF2-40B4-BE49-F238E27FC236}">
                <a16:creationId xmlns:a16="http://schemas.microsoft.com/office/drawing/2014/main" id="{B66F0429-BD4D-D892-0C3B-526024493D86}"/>
              </a:ext>
            </a:extLst>
          </p:cNvPr>
          <p:cNvSpPr txBox="1"/>
          <p:nvPr/>
        </p:nvSpPr>
        <p:spPr>
          <a:xfrm>
            <a:off x="4297680" y="3847012"/>
            <a:ext cx="25603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y_train shape: (7685,)</a:t>
            </a:r>
          </a:p>
        </p:txBody>
      </p:sp>
      <p:sp>
        <p:nvSpPr>
          <p:cNvPr id="57" name="TextBox 30">
            <a:extLst>
              <a:ext uri="{FF2B5EF4-FFF2-40B4-BE49-F238E27FC236}">
                <a16:creationId xmlns:a16="http://schemas.microsoft.com/office/drawing/2014/main" id="{5A285F65-5FCC-5727-4B69-D542C04ADAE6}"/>
              </a:ext>
            </a:extLst>
          </p:cNvPr>
          <p:cNvSpPr txBox="1"/>
          <p:nvPr/>
        </p:nvSpPr>
        <p:spPr>
          <a:xfrm>
            <a:off x="731520" y="453281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t>Sample Row</a:t>
            </a:r>
          </a:p>
        </p:txBody>
      </p:sp>
      <p:sp>
        <p:nvSpPr>
          <p:cNvPr id="58" name="Rounded Rectangle 31">
            <a:extLst>
              <a:ext uri="{FF2B5EF4-FFF2-40B4-BE49-F238E27FC236}">
                <a16:creationId xmlns:a16="http://schemas.microsoft.com/office/drawing/2014/main" id="{CB395860-27C7-618D-769E-FE86FC0D874B}"/>
              </a:ext>
            </a:extLst>
          </p:cNvPr>
          <p:cNvSpPr/>
          <p:nvPr/>
        </p:nvSpPr>
        <p:spPr>
          <a:xfrm>
            <a:off x="731520" y="4898572"/>
            <a:ext cx="100584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32">
            <a:extLst>
              <a:ext uri="{FF2B5EF4-FFF2-40B4-BE49-F238E27FC236}">
                <a16:creationId xmlns:a16="http://schemas.microsoft.com/office/drawing/2014/main" id="{CA15411C-B8AA-00D3-A29A-360163766B97}"/>
              </a:ext>
            </a:extLst>
          </p:cNvPr>
          <p:cNvSpPr txBox="1"/>
          <p:nvPr/>
        </p:nvSpPr>
        <p:spPr>
          <a:xfrm>
            <a:off x="868680" y="4990012"/>
            <a:ext cx="9784080" cy="548640"/>
          </a:xfrm>
          <a:prstGeom prst="rect">
            <a:avLst/>
          </a:prstGeom>
          <a:solidFill>
            <a:schemeClr val="tx2"/>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rPr dirty="0"/>
              <a:t>X[0] = [0.82, 0.75, 0.03, 0.91, ..., 0.29]   # 150 features</a:t>
            </a:r>
          </a:p>
          <a:p>
            <a:pPr algn="l">
              <a:spcAft>
                <a:spcPts val="200"/>
              </a:spcAft>
              <a:defRPr sz="1200" b="0">
                <a:solidFill>
                  <a:srgbClr val="28A745"/>
                </a:solidFill>
                <a:latin typeface="Courier New"/>
              </a:defRPr>
            </a:pPr>
            <a:r>
              <a:rPr dirty="0"/>
              <a:t>y[0] = 0                                       # </a:t>
            </a:r>
            <a:r>
              <a:rPr dirty="0" err="1"/>
              <a:t>git_operations</a:t>
            </a:r>
            <a:endParaRPr dirty="0"/>
          </a:p>
        </p:txBody>
      </p:sp>
      <p:sp>
        <p:nvSpPr>
          <p:cNvPr id="60" name="TextBox 33">
            <a:extLst>
              <a:ext uri="{FF2B5EF4-FFF2-40B4-BE49-F238E27FC236}">
                <a16:creationId xmlns:a16="http://schemas.microsoft.com/office/drawing/2014/main" id="{C1EA92B9-389E-F507-7B98-865A4E2612BB}"/>
              </a:ext>
            </a:extLst>
          </p:cNvPr>
          <p:cNvSpPr txBox="1"/>
          <p:nvPr/>
        </p:nvSpPr>
        <p:spPr>
          <a:xfrm>
            <a:off x="731520" y="5904412"/>
            <a:ext cx="5029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rgbClr val="C00000"/>
                </a:solidFill>
              </a:rPr>
              <a:t>Each row is one task, each column is one feature</a:t>
            </a:r>
          </a:p>
        </p:txBody>
      </p:sp>
      <p:sp>
        <p:nvSpPr>
          <p:cNvPr id="61" name="TextBox 34">
            <a:extLst>
              <a:ext uri="{FF2B5EF4-FFF2-40B4-BE49-F238E27FC236}">
                <a16:creationId xmlns:a16="http://schemas.microsoft.com/office/drawing/2014/main" id="{3C5A77DD-7960-78FA-532B-85431C83AC62}"/>
              </a:ext>
            </a:extLst>
          </p:cNvPr>
          <p:cNvSpPr txBox="1"/>
          <p:nvPr/>
        </p:nvSpPr>
        <p:spPr>
          <a:xfrm>
            <a:off x="5943600" y="5904412"/>
            <a:ext cx="5486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EF7C00"/>
                </a:solidFill>
                <a:latin typeface="Calibri"/>
              </a:defRPr>
            </a:pPr>
            <a:r>
              <a:t>This matrix is what every model trains on</a:t>
            </a:r>
          </a:p>
        </p:txBody>
      </p:sp>
      <p:sp>
        <p:nvSpPr>
          <p:cNvPr id="62" name="Rounded Rectangle 35">
            <a:extLst>
              <a:ext uri="{FF2B5EF4-FFF2-40B4-BE49-F238E27FC236}">
                <a16:creationId xmlns:a16="http://schemas.microsoft.com/office/drawing/2014/main" id="{D970FCF5-56F2-3A97-8DF5-E5338905805C}"/>
              </a:ext>
            </a:extLst>
          </p:cNvPr>
          <p:cNvSpPr/>
          <p:nvPr/>
        </p:nvSpPr>
        <p:spPr>
          <a:xfrm>
            <a:off x="8229600" y="1515292"/>
            <a:ext cx="32004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3" name="TextBox 36">
            <a:extLst>
              <a:ext uri="{FF2B5EF4-FFF2-40B4-BE49-F238E27FC236}">
                <a16:creationId xmlns:a16="http://schemas.microsoft.com/office/drawing/2014/main" id="{95C10C93-E33E-E282-E81A-145C46A8D79B}"/>
              </a:ext>
            </a:extLst>
          </p:cNvPr>
          <p:cNvSpPr txBox="1"/>
          <p:nvPr/>
        </p:nvSpPr>
        <p:spPr>
          <a:xfrm>
            <a:off x="8412480" y="1606732"/>
            <a:ext cx="28346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4 Extractors → 150 Dimensions</a:t>
            </a:r>
          </a:p>
        </p:txBody>
      </p:sp>
      <p:sp>
        <p:nvSpPr>
          <p:cNvPr id="64" name="TextBox 37">
            <a:extLst>
              <a:ext uri="{FF2B5EF4-FFF2-40B4-BE49-F238E27FC236}">
                <a16:creationId xmlns:a16="http://schemas.microsoft.com/office/drawing/2014/main" id="{E272D953-CB3B-AFB3-1102-5450A2E8BA9D}"/>
              </a:ext>
            </a:extLst>
          </p:cNvPr>
          <p:cNvSpPr txBox="1"/>
          <p:nvPr/>
        </p:nvSpPr>
        <p:spPr>
          <a:xfrm>
            <a:off x="8412480" y="1972492"/>
            <a:ext cx="2834640" cy="1463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100" b="0">
                <a:solidFill>
                  <a:srgbClr val="EF7C00"/>
                </a:solidFill>
                <a:latin typeface="Courier New"/>
              </a:defRPr>
            </a:pPr>
            <a:r>
              <a:t>Visual extractor:    ~40 dims</a:t>
            </a:r>
          </a:p>
          <a:p>
            <a:pPr algn="l">
              <a:spcAft>
                <a:spcPts val="500"/>
              </a:spcAft>
              <a:defRPr sz="1100" b="0">
                <a:solidFill>
                  <a:srgbClr val="EF7C00"/>
                </a:solidFill>
                <a:latin typeface="Courier New"/>
              </a:defRPr>
            </a:pPr>
            <a:r>
              <a:t>OCR extractor:       ~40 dims</a:t>
            </a:r>
          </a:p>
          <a:p>
            <a:pPr algn="l">
              <a:spcAft>
                <a:spcPts val="500"/>
              </a:spcAft>
              <a:defRPr sz="1100" b="0">
                <a:solidFill>
                  <a:srgbClr val="EF7C00"/>
                </a:solidFill>
                <a:latin typeface="Courier New"/>
              </a:defRPr>
            </a:pPr>
            <a:r>
              <a:t>Interaction extractor: ~40 dims</a:t>
            </a:r>
          </a:p>
          <a:p>
            <a:pPr algn="l">
              <a:spcAft>
                <a:spcPts val="500"/>
              </a:spcAft>
              <a:defRPr sz="1100" b="0">
                <a:solidFill>
                  <a:srgbClr val="EF7C00"/>
                </a:solidFill>
                <a:latin typeface="Courier New"/>
              </a:defRPr>
            </a:pPr>
            <a:r>
              <a:t>Action log extractor: ~30 dims</a:t>
            </a:r>
          </a:p>
          <a:p>
            <a:pPr algn="l">
              <a:spcAft>
                <a:spcPts val="500"/>
              </a:spcAft>
              <a:defRPr sz="1100" b="0">
                <a:solidFill>
                  <a:srgbClr val="EF7C00"/>
                </a:solidFill>
                <a:latin typeface="Courier New"/>
              </a:defRPr>
            </a:pPr>
            <a:r>
              <a:t>---</a:t>
            </a:r>
          </a:p>
          <a:p>
            <a:pPr algn="l">
              <a:spcAft>
                <a:spcPts val="500"/>
              </a:spcAft>
              <a:defRPr sz="1100" b="0">
                <a:solidFill>
                  <a:srgbClr val="EF7C00"/>
                </a:solidFill>
                <a:latin typeface="Courier New"/>
              </a:defRPr>
            </a:pPr>
            <a:r>
              <a:t>Total:               150 dims</a:t>
            </a:r>
          </a:p>
        </p:txBody>
      </p:sp>
    </p:spTree>
    <p:extLst>
      <p:ext uri="{BB962C8B-B14F-4D97-AF65-F5344CB8AC3E}">
        <p14:creationId xmlns:p14="http://schemas.microsoft.com/office/powerpoint/2010/main" val="1177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dirty="0">
                <a:solidFill>
                  <a:srgbClr val="003D7C"/>
                </a:solidFill>
                <a:latin typeface="Calibri"/>
              </a:rPr>
              <a:t>Step 3</a:t>
            </a:r>
            <a:r>
              <a:rPr sz="2800" b="1" dirty="0">
                <a:solidFill>
                  <a:srgbClr val="003D7C"/>
                </a:solidFill>
                <a:latin typeface="Calibri"/>
              </a:rPr>
              <a:t> — SVM: Finding the Optimal Boundary</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Support Vector Machine with RBF kernel</a:t>
            </a:r>
          </a:p>
        </p:txBody>
      </p:sp>
      <p:sp>
        <p:nvSpPr>
          <p:cNvPr id="92" name="Rounded Rectangle 9">
            <a:extLst>
              <a:ext uri="{FF2B5EF4-FFF2-40B4-BE49-F238E27FC236}">
                <a16:creationId xmlns:a16="http://schemas.microsoft.com/office/drawing/2014/main" id="{F6B4CF87-4679-41F5-CAE7-DD5A765FD203}"/>
              </a:ext>
            </a:extLst>
          </p:cNvPr>
          <p:cNvSpPr/>
          <p:nvPr/>
        </p:nvSpPr>
        <p:spPr>
          <a:xfrm>
            <a:off x="846909" y="1554480"/>
            <a:ext cx="4572000" cy="4389120"/>
          </a:xfrm>
          <a:prstGeom prst="round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3" name="TextBox 10">
            <a:extLst>
              <a:ext uri="{FF2B5EF4-FFF2-40B4-BE49-F238E27FC236}">
                <a16:creationId xmlns:a16="http://schemas.microsoft.com/office/drawing/2014/main" id="{3EBC08C0-8227-EF3D-840B-28EC511CDE98}"/>
              </a:ext>
            </a:extLst>
          </p:cNvPr>
          <p:cNvSpPr txBox="1"/>
          <p:nvPr/>
        </p:nvSpPr>
        <p:spPr>
          <a:xfrm>
            <a:off x="1029789" y="1600200"/>
            <a:ext cx="420624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0">
                <a:solidFill>
                  <a:srgbClr val="CCCCCC"/>
                </a:solidFill>
                <a:latin typeface="Calibri"/>
              </a:defRPr>
            </a:pPr>
            <a:r>
              <a:rPr dirty="0">
                <a:solidFill>
                  <a:schemeClr val="accent2"/>
                </a:solidFill>
              </a:rPr>
              <a:t>2D Visualization (simplified from 150D)</a:t>
            </a:r>
          </a:p>
        </p:txBody>
      </p:sp>
      <p:sp>
        <p:nvSpPr>
          <p:cNvPr id="94" name="Rounded Rectangle 11">
            <a:extLst>
              <a:ext uri="{FF2B5EF4-FFF2-40B4-BE49-F238E27FC236}">
                <a16:creationId xmlns:a16="http://schemas.microsoft.com/office/drawing/2014/main" id="{411B96B6-0C6A-AEEA-102E-02DC67D798BB}"/>
              </a:ext>
            </a:extLst>
          </p:cNvPr>
          <p:cNvSpPr/>
          <p:nvPr/>
        </p:nvSpPr>
        <p:spPr>
          <a:xfrm>
            <a:off x="1212669" y="23774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5" name="Rounded Rectangle 12">
            <a:extLst>
              <a:ext uri="{FF2B5EF4-FFF2-40B4-BE49-F238E27FC236}">
                <a16:creationId xmlns:a16="http://schemas.microsoft.com/office/drawing/2014/main" id="{1B8F6B08-558E-5302-5AA5-BCC938AC5B9F}"/>
              </a:ext>
            </a:extLst>
          </p:cNvPr>
          <p:cNvSpPr/>
          <p:nvPr/>
        </p:nvSpPr>
        <p:spPr>
          <a:xfrm>
            <a:off x="1486989" y="29260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6" name="Rounded Rectangle 13">
            <a:extLst>
              <a:ext uri="{FF2B5EF4-FFF2-40B4-BE49-F238E27FC236}">
                <a16:creationId xmlns:a16="http://schemas.microsoft.com/office/drawing/2014/main" id="{8F7C02DD-17BC-DD79-49A7-A48B41ADEC1E}"/>
              </a:ext>
            </a:extLst>
          </p:cNvPr>
          <p:cNvSpPr/>
          <p:nvPr/>
        </p:nvSpPr>
        <p:spPr>
          <a:xfrm>
            <a:off x="1304109" y="34747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Rounded Rectangle 14">
            <a:extLst>
              <a:ext uri="{FF2B5EF4-FFF2-40B4-BE49-F238E27FC236}">
                <a16:creationId xmlns:a16="http://schemas.microsoft.com/office/drawing/2014/main" id="{B50BDEFA-6D41-6B07-CE95-8042CA0F2ED1}"/>
              </a:ext>
            </a:extLst>
          </p:cNvPr>
          <p:cNvSpPr/>
          <p:nvPr/>
        </p:nvSpPr>
        <p:spPr>
          <a:xfrm>
            <a:off x="1669869" y="26517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8" name="Rounded Rectangle 15">
            <a:extLst>
              <a:ext uri="{FF2B5EF4-FFF2-40B4-BE49-F238E27FC236}">
                <a16:creationId xmlns:a16="http://schemas.microsoft.com/office/drawing/2014/main" id="{55E2F1C9-44DE-D297-FC6D-EC21E1A08046}"/>
              </a:ext>
            </a:extLst>
          </p:cNvPr>
          <p:cNvSpPr/>
          <p:nvPr/>
        </p:nvSpPr>
        <p:spPr>
          <a:xfrm>
            <a:off x="1121229" y="31089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9" name="Rounded Rectangle 16">
            <a:extLst>
              <a:ext uri="{FF2B5EF4-FFF2-40B4-BE49-F238E27FC236}">
                <a16:creationId xmlns:a16="http://schemas.microsoft.com/office/drawing/2014/main" id="{7676211E-C861-C090-5910-A7BF6AC5A366}"/>
              </a:ext>
            </a:extLst>
          </p:cNvPr>
          <p:cNvSpPr/>
          <p:nvPr/>
        </p:nvSpPr>
        <p:spPr>
          <a:xfrm>
            <a:off x="1578429" y="37490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0" name="Rounded Rectangle 17">
            <a:extLst>
              <a:ext uri="{FF2B5EF4-FFF2-40B4-BE49-F238E27FC236}">
                <a16:creationId xmlns:a16="http://schemas.microsoft.com/office/drawing/2014/main" id="{71F521CB-0429-48F9-CD7A-BE0A1F2272A2}"/>
              </a:ext>
            </a:extLst>
          </p:cNvPr>
          <p:cNvSpPr/>
          <p:nvPr/>
        </p:nvSpPr>
        <p:spPr>
          <a:xfrm>
            <a:off x="1395549" y="39319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1" name="Rounded Rectangle 18">
            <a:extLst>
              <a:ext uri="{FF2B5EF4-FFF2-40B4-BE49-F238E27FC236}">
                <a16:creationId xmlns:a16="http://schemas.microsoft.com/office/drawing/2014/main" id="{E598C768-5B00-ADBA-1A81-36ACD0B402AD}"/>
              </a:ext>
            </a:extLst>
          </p:cNvPr>
          <p:cNvSpPr/>
          <p:nvPr/>
        </p:nvSpPr>
        <p:spPr>
          <a:xfrm>
            <a:off x="1852749" y="320040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2" name="Rounded Rectangle 19">
            <a:extLst>
              <a:ext uri="{FF2B5EF4-FFF2-40B4-BE49-F238E27FC236}">
                <a16:creationId xmlns:a16="http://schemas.microsoft.com/office/drawing/2014/main" id="{806F45D0-3DC0-CAB3-5011-5B89AE156D32}"/>
              </a:ext>
            </a:extLst>
          </p:cNvPr>
          <p:cNvSpPr/>
          <p:nvPr/>
        </p:nvSpPr>
        <p:spPr>
          <a:xfrm>
            <a:off x="1761309" y="4114799"/>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3" name="Rounded Rectangle 20">
            <a:extLst>
              <a:ext uri="{FF2B5EF4-FFF2-40B4-BE49-F238E27FC236}">
                <a16:creationId xmlns:a16="http://schemas.microsoft.com/office/drawing/2014/main" id="{4EFE299F-5C22-429B-6F47-67C2C4866999}"/>
              </a:ext>
            </a:extLst>
          </p:cNvPr>
          <p:cNvSpPr/>
          <p:nvPr/>
        </p:nvSpPr>
        <p:spPr>
          <a:xfrm>
            <a:off x="1212669" y="42976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4" name="Rounded Rectangle 21">
            <a:extLst>
              <a:ext uri="{FF2B5EF4-FFF2-40B4-BE49-F238E27FC236}">
                <a16:creationId xmlns:a16="http://schemas.microsoft.com/office/drawing/2014/main" id="{D3833343-790E-2B16-6CFF-007D04418BD1}"/>
              </a:ext>
            </a:extLst>
          </p:cNvPr>
          <p:cNvSpPr/>
          <p:nvPr/>
        </p:nvSpPr>
        <p:spPr>
          <a:xfrm>
            <a:off x="3315789" y="22860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5" name="Rounded Rectangle 22">
            <a:extLst>
              <a:ext uri="{FF2B5EF4-FFF2-40B4-BE49-F238E27FC236}">
                <a16:creationId xmlns:a16="http://schemas.microsoft.com/office/drawing/2014/main" id="{39624619-69C1-C935-DDE8-1A78893A0E38}"/>
              </a:ext>
            </a:extLst>
          </p:cNvPr>
          <p:cNvSpPr/>
          <p:nvPr/>
        </p:nvSpPr>
        <p:spPr>
          <a:xfrm>
            <a:off x="3590109" y="28346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6" name="Rounded Rectangle 23">
            <a:extLst>
              <a:ext uri="{FF2B5EF4-FFF2-40B4-BE49-F238E27FC236}">
                <a16:creationId xmlns:a16="http://schemas.microsoft.com/office/drawing/2014/main" id="{420899CA-593D-79A3-FCFB-1E2B6D29193F}"/>
              </a:ext>
            </a:extLst>
          </p:cNvPr>
          <p:cNvSpPr/>
          <p:nvPr/>
        </p:nvSpPr>
        <p:spPr>
          <a:xfrm>
            <a:off x="3407228" y="338328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7" name="Rounded Rectangle 24">
            <a:extLst>
              <a:ext uri="{FF2B5EF4-FFF2-40B4-BE49-F238E27FC236}">
                <a16:creationId xmlns:a16="http://schemas.microsoft.com/office/drawing/2014/main" id="{FCC1CC13-CF2E-BE25-ABCA-8F2B9F067716}"/>
              </a:ext>
            </a:extLst>
          </p:cNvPr>
          <p:cNvSpPr/>
          <p:nvPr/>
        </p:nvSpPr>
        <p:spPr>
          <a:xfrm>
            <a:off x="3772989" y="25603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8" name="Rounded Rectangle 25">
            <a:extLst>
              <a:ext uri="{FF2B5EF4-FFF2-40B4-BE49-F238E27FC236}">
                <a16:creationId xmlns:a16="http://schemas.microsoft.com/office/drawing/2014/main" id="{06178003-7B59-1A51-D853-06428C9674D8}"/>
              </a:ext>
            </a:extLst>
          </p:cNvPr>
          <p:cNvSpPr/>
          <p:nvPr/>
        </p:nvSpPr>
        <p:spPr>
          <a:xfrm>
            <a:off x="3224349" y="310896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9" name="Rounded Rectangle 26">
            <a:extLst>
              <a:ext uri="{FF2B5EF4-FFF2-40B4-BE49-F238E27FC236}">
                <a16:creationId xmlns:a16="http://schemas.microsoft.com/office/drawing/2014/main" id="{985FAE1D-17C6-0235-94A0-D010024BC7A8}"/>
              </a:ext>
            </a:extLst>
          </p:cNvPr>
          <p:cNvSpPr/>
          <p:nvPr/>
        </p:nvSpPr>
        <p:spPr>
          <a:xfrm>
            <a:off x="3681549" y="36576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0" name="Rounded Rectangle 27">
            <a:extLst>
              <a:ext uri="{FF2B5EF4-FFF2-40B4-BE49-F238E27FC236}">
                <a16:creationId xmlns:a16="http://schemas.microsoft.com/office/drawing/2014/main" id="{5A9CCDAA-93B4-5E20-22CA-4CDA843A1692}"/>
              </a:ext>
            </a:extLst>
          </p:cNvPr>
          <p:cNvSpPr/>
          <p:nvPr/>
        </p:nvSpPr>
        <p:spPr>
          <a:xfrm>
            <a:off x="3498669" y="39319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1" name="Rounded Rectangle 28">
            <a:extLst>
              <a:ext uri="{FF2B5EF4-FFF2-40B4-BE49-F238E27FC236}">
                <a16:creationId xmlns:a16="http://schemas.microsoft.com/office/drawing/2014/main" id="{ADD8AD5C-DA39-14F5-C3F2-31F46017D6B7}"/>
              </a:ext>
            </a:extLst>
          </p:cNvPr>
          <p:cNvSpPr/>
          <p:nvPr/>
        </p:nvSpPr>
        <p:spPr>
          <a:xfrm>
            <a:off x="3955869" y="32918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2" name="Rounded Rectangle 29">
            <a:extLst>
              <a:ext uri="{FF2B5EF4-FFF2-40B4-BE49-F238E27FC236}">
                <a16:creationId xmlns:a16="http://schemas.microsoft.com/office/drawing/2014/main" id="{CA03EA04-8A96-5F8F-83EF-B8B177EBBB69}"/>
              </a:ext>
            </a:extLst>
          </p:cNvPr>
          <p:cNvSpPr/>
          <p:nvPr/>
        </p:nvSpPr>
        <p:spPr>
          <a:xfrm>
            <a:off x="3864429" y="4114799"/>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3" name="Rounded Rectangle 30">
            <a:extLst>
              <a:ext uri="{FF2B5EF4-FFF2-40B4-BE49-F238E27FC236}">
                <a16:creationId xmlns:a16="http://schemas.microsoft.com/office/drawing/2014/main" id="{85A98CDC-FC98-1523-26A3-FD32B2253117}"/>
              </a:ext>
            </a:extLst>
          </p:cNvPr>
          <p:cNvSpPr/>
          <p:nvPr/>
        </p:nvSpPr>
        <p:spPr>
          <a:xfrm>
            <a:off x="3590109" y="43891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4" name="Rectangle 113">
            <a:extLst>
              <a:ext uri="{FF2B5EF4-FFF2-40B4-BE49-F238E27FC236}">
                <a16:creationId xmlns:a16="http://schemas.microsoft.com/office/drawing/2014/main" id="{C078B85C-5195-1C95-7840-A96BE68C2AA5}"/>
              </a:ext>
            </a:extLst>
          </p:cNvPr>
          <p:cNvSpPr/>
          <p:nvPr/>
        </p:nvSpPr>
        <p:spPr>
          <a:xfrm>
            <a:off x="2629989" y="2011680"/>
            <a:ext cx="36576" cy="3657600"/>
          </a:xfrm>
          <a:prstGeom prst="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5" name="Rectangle 114">
            <a:extLst>
              <a:ext uri="{FF2B5EF4-FFF2-40B4-BE49-F238E27FC236}">
                <a16:creationId xmlns:a16="http://schemas.microsoft.com/office/drawing/2014/main" id="{94559FC1-BEFA-31F7-2B6D-30E54F8135A5}"/>
              </a:ext>
            </a:extLst>
          </p:cNvPr>
          <p:cNvSpPr/>
          <p:nvPr/>
        </p:nvSpPr>
        <p:spPr>
          <a:xfrm>
            <a:off x="21727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6" name="Rectangle 115">
            <a:extLst>
              <a:ext uri="{FF2B5EF4-FFF2-40B4-BE49-F238E27FC236}">
                <a16:creationId xmlns:a16="http://schemas.microsoft.com/office/drawing/2014/main" id="{30D796FC-E66C-423C-B25F-D3CFCB3EC52B}"/>
              </a:ext>
            </a:extLst>
          </p:cNvPr>
          <p:cNvSpPr/>
          <p:nvPr/>
        </p:nvSpPr>
        <p:spPr>
          <a:xfrm>
            <a:off x="30871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7" name="TextBox 34">
            <a:extLst>
              <a:ext uri="{FF2B5EF4-FFF2-40B4-BE49-F238E27FC236}">
                <a16:creationId xmlns:a16="http://schemas.microsoft.com/office/drawing/2014/main" id="{6D9A45F0-CA8C-C401-A18E-1C9616593171}"/>
              </a:ext>
            </a:extLst>
          </p:cNvPr>
          <p:cNvSpPr txBox="1"/>
          <p:nvPr/>
        </p:nvSpPr>
        <p:spPr>
          <a:xfrm>
            <a:off x="2035629" y="4937760"/>
            <a:ext cx="1280160" cy="24622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000" b="0">
                <a:solidFill>
                  <a:srgbClr val="CCCCCC"/>
                </a:solidFill>
                <a:latin typeface="Calibri"/>
              </a:defRPr>
            </a:pPr>
            <a:r>
              <a:rPr dirty="0">
                <a:solidFill>
                  <a:schemeClr val="accent3"/>
                </a:solidFill>
              </a:rPr>
              <a:t>← margin →</a:t>
            </a:r>
          </a:p>
        </p:txBody>
      </p:sp>
      <p:sp>
        <p:nvSpPr>
          <p:cNvPr id="118" name="TextBox 35">
            <a:extLst>
              <a:ext uri="{FF2B5EF4-FFF2-40B4-BE49-F238E27FC236}">
                <a16:creationId xmlns:a16="http://schemas.microsoft.com/office/drawing/2014/main" id="{E19EE73B-53B7-47F4-6981-4F16EFC41CAA}"/>
              </a:ext>
            </a:extLst>
          </p:cNvPr>
          <p:cNvSpPr txBox="1"/>
          <p:nvPr/>
        </p:nvSpPr>
        <p:spPr>
          <a:xfrm>
            <a:off x="102978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007ACC"/>
                </a:solidFill>
                <a:latin typeface="Calibri"/>
              </a:defRPr>
            </a:pPr>
            <a:r>
              <a:t>■ git_ops</a:t>
            </a:r>
          </a:p>
        </p:txBody>
      </p:sp>
      <p:sp>
        <p:nvSpPr>
          <p:cNvPr id="119" name="TextBox 36">
            <a:extLst>
              <a:ext uri="{FF2B5EF4-FFF2-40B4-BE49-F238E27FC236}">
                <a16:creationId xmlns:a16="http://schemas.microsoft.com/office/drawing/2014/main" id="{D02F551D-A4AE-1576-A670-26E6E605712C}"/>
              </a:ext>
            </a:extLst>
          </p:cNvPr>
          <p:cNvSpPr txBox="1"/>
          <p:nvPr/>
        </p:nvSpPr>
        <p:spPr>
          <a:xfrm>
            <a:off x="230994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EF7C00"/>
                </a:solidFill>
                <a:latin typeface="Calibri"/>
              </a:defRPr>
            </a:pPr>
            <a:r>
              <a:t>■ coding</a:t>
            </a:r>
          </a:p>
        </p:txBody>
      </p:sp>
      <p:sp>
        <p:nvSpPr>
          <p:cNvPr id="120" name="TextBox 37">
            <a:extLst>
              <a:ext uri="{FF2B5EF4-FFF2-40B4-BE49-F238E27FC236}">
                <a16:creationId xmlns:a16="http://schemas.microsoft.com/office/drawing/2014/main" id="{12956D3A-2087-C849-9824-FFF9EED98553}"/>
              </a:ext>
            </a:extLst>
          </p:cNvPr>
          <p:cNvSpPr txBox="1"/>
          <p:nvPr/>
        </p:nvSpPr>
        <p:spPr>
          <a:xfrm>
            <a:off x="3590109" y="5257800"/>
            <a:ext cx="16459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2233"/>
                </a:solidFill>
                <a:latin typeface="Calibri"/>
              </a:defRPr>
            </a:pPr>
            <a:r>
              <a:t>— Boundary</a:t>
            </a:r>
          </a:p>
        </p:txBody>
      </p:sp>
      <p:sp>
        <p:nvSpPr>
          <p:cNvPr id="121" name="TextBox 38">
            <a:extLst>
              <a:ext uri="{FF2B5EF4-FFF2-40B4-BE49-F238E27FC236}">
                <a16:creationId xmlns:a16="http://schemas.microsoft.com/office/drawing/2014/main" id="{2E862855-C2F6-FC21-51B4-663F5280BF7E}"/>
              </a:ext>
            </a:extLst>
          </p:cNvPr>
          <p:cNvSpPr txBox="1"/>
          <p:nvPr/>
        </p:nvSpPr>
        <p:spPr>
          <a:xfrm>
            <a:off x="5876109" y="1554480"/>
            <a:ext cx="5486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Key Concepts</a:t>
            </a:r>
          </a:p>
        </p:txBody>
      </p:sp>
      <p:sp>
        <p:nvSpPr>
          <p:cNvPr id="122" name="Rounded Rectangle 39">
            <a:extLst>
              <a:ext uri="{FF2B5EF4-FFF2-40B4-BE49-F238E27FC236}">
                <a16:creationId xmlns:a16="http://schemas.microsoft.com/office/drawing/2014/main" id="{C4CC8CDB-5E3A-887E-2092-AF9FC64799BD}"/>
              </a:ext>
            </a:extLst>
          </p:cNvPr>
          <p:cNvSpPr/>
          <p:nvPr/>
        </p:nvSpPr>
        <p:spPr>
          <a:xfrm>
            <a:off x="5876109" y="19202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3" name="TextBox 40">
            <a:extLst>
              <a:ext uri="{FF2B5EF4-FFF2-40B4-BE49-F238E27FC236}">
                <a16:creationId xmlns:a16="http://schemas.microsoft.com/office/drawing/2014/main" id="{4CFC5804-ACC7-26C0-0112-5B3EC033BC98}"/>
              </a:ext>
            </a:extLst>
          </p:cNvPr>
          <p:cNvSpPr txBox="1"/>
          <p:nvPr/>
        </p:nvSpPr>
        <p:spPr>
          <a:xfrm>
            <a:off x="6058989" y="19659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Maximize Margin</a:t>
            </a:r>
          </a:p>
        </p:txBody>
      </p:sp>
      <p:sp>
        <p:nvSpPr>
          <p:cNvPr id="124" name="TextBox 41">
            <a:extLst>
              <a:ext uri="{FF2B5EF4-FFF2-40B4-BE49-F238E27FC236}">
                <a16:creationId xmlns:a16="http://schemas.microsoft.com/office/drawing/2014/main" id="{143ABAFE-E847-9823-2F46-7ED40F19A388}"/>
              </a:ext>
            </a:extLst>
          </p:cNvPr>
          <p:cNvSpPr txBox="1"/>
          <p:nvPr/>
        </p:nvSpPr>
        <p:spPr>
          <a:xfrm>
            <a:off x="6058989" y="22402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Finds the hyperplane that maximizes the gap between classes</a:t>
            </a:r>
          </a:p>
        </p:txBody>
      </p:sp>
      <p:sp>
        <p:nvSpPr>
          <p:cNvPr id="125" name="Rounded Rectangle 42">
            <a:extLst>
              <a:ext uri="{FF2B5EF4-FFF2-40B4-BE49-F238E27FC236}">
                <a16:creationId xmlns:a16="http://schemas.microsoft.com/office/drawing/2014/main" id="{D657C7E1-7B6B-B115-A01F-AE53BADE1830}"/>
              </a:ext>
            </a:extLst>
          </p:cNvPr>
          <p:cNvSpPr/>
          <p:nvPr/>
        </p:nvSpPr>
        <p:spPr>
          <a:xfrm>
            <a:off x="5876109" y="28346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6" name="TextBox 43">
            <a:extLst>
              <a:ext uri="{FF2B5EF4-FFF2-40B4-BE49-F238E27FC236}">
                <a16:creationId xmlns:a16="http://schemas.microsoft.com/office/drawing/2014/main" id="{5E631F73-9841-46B7-AABB-554387029A10}"/>
              </a:ext>
            </a:extLst>
          </p:cNvPr>
          <p:cNvSpPr txBox="1"/>
          <p:nvPr/>
        </p:nvSpPr>
        <p:spPr>
          <a:xfrm>
            <a:off x="6058989" y="28803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RBF Kernel</a:t>
            </a:r>
          </a:p>
        </p:txBody>
      </p:sp>
      <p:sp>
        <p:nvSpPr>
          <p:cNvPr id="127" name="TextBox 44">
            <a:extLst>
              <a:ext uri="{FF2B5EF4-FFF2-40B4-BE49-F238E27FC236}">
                <a16:creationId xmlns:a16="http://schemas.microsoft.com/office/drawing/2014/main" id="{F552B85A-E901-337A-02AB-A3513E5713AD}"/>
              </a:ext>
            </a:extLst>
          </p:cNvPr>
          <p:cNvSpPr txBox="1"/>
          <p:nvPr/>
        </p:nvSpPr>
        <p:spPr>
          <a:xfrm>
            <a:off x="6058989" y="31546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K(x,x') = exp(-γ||x-x'||²) — maps to higher dimensions for non-linear boundaries</a:t>
            </a:r>
          </a:p>
        </p:txBody>
      </p:sp>
      <p:sp>
        <p:nvSpPr>
          <p:cNvPr id="128" name="Rounded Rectangle 45">
            <a:extLst>
              <a:ext uri="{FF2B5EF4-FFF2-40B4-BE49-F238E27FC236}">
                <a16:creationId xmlns:a16="http://schemas.microsoft.com/office/drawing/2014/main" id="{33DFDFEA-0EFE-321E-36E9-EB0C4CC15806}"/>
              </a:ext>
            </a:extLst>
          </p:cNvPr>
          <p:cNvSpPr/>
          <p:nvPr/>
        </p:nvSpPr>
        <p:spPr>
          <a:xfrm>
            <a:off x="5876109" y="37490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9" name="TextBox 46">
            <a:extLst>
              <a:ext uri="{FF2B5EF4-FFF2-40B4-BE49-F238E27FC236}">
                <a16:creationId xmlns:a16="http://schemas.microsoft.com/office/drawing/2014/main" id="{831DB2C9-A648-0D75-66F8-49BF58858225}"/>
              </a:ext>
            </a:extLst>
          </p:cNvPr>
          <p:cNvSpPr txBox="1"/>
          <p:nvPr/>
        </p:nvSpPr>
        <p:spPr>
          <a:xfrm>
            <a:off x="6058989" y="37947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Support Vectors</a:t>
            </a:r>
          </a:p>
        </p:txBody>
      </p:sp>
      <p:sp>
        <p:nvSpPr>
          <p:cNvPr id="130" name="TextBox 47">
            <a:extLst>
              <a:ext uri="{FF2B5EF4-FFF2-40B4-BE49-F238E27FC236}">
                <a16:creationId xmlns:a16="http://schemas.microsoft.com/office/drawing/2014/main" id="{03FC3B6C-A6EE-654F-12BE-5C107627B1C5}"/>
              </a:ext>
            </a:extLst>
          </p:cNvPr>
          <p:cNvSpPr txBox="1"/>
          <p:nvPr/>
        </p:nvSpPr>
        <p:spPr>
          <a:xfrm>
            <a:off x="6058989" y="40690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The boundary points closest to the hyperplane that define the decision</a:t>
            </a:r>
          </a:p>
        </p:txBody>
      </p:sp>
      <p:sp>
        <p:nvSpPr>
          <p:cNvPr id="131" name="Rounded Rectangle 48">
            <a:extLst>
              <a:ext uri="{FF2B5EF4-FFF2-40B4-BE49-F238E27FC236}">
                <a16:creationId xmlns:a16="http://schemas.microsoft.com/office/drawing/2014/main" id="{A3C4C994-E071-9FFB-A50E-A3269F41765A}"/>
              </a:ext>
            </a:extLst>
          </p:cNvPr>
          <p:cNvSpPr/>
          <p:nvPr/>
        </p:nvSpPr>
        <p:spPr>
          <a:xfrm>
            <a:off x="5876109" y="46634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2" name="TextBox 49">
            <a:extLst>
              <a:ext uri="{FF2B5EF4-FFF2-40B4-BE49-F238E27FC236}">
                <a16:creationId xmlns:a16="http://schemas.microsoft.com/office/drawing/2014/main" id="{F130149D-291B-0A0A-9B24-EF237CB8D446}"/>
              </a:ext>
            </a:extLst>
          </p:cNvPr>
          <p:cNvSpPr txBox="1"/>
          <p:nvPr/>
        </p:nvSpPr>
        <p:spPr>
          <a:xfrm>
            <a:off x="6058989" y="47091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Multi-class</a:t>
            </a:r>
          </a:p>
        </p:txBody>
      </p:sp>
      <p:sp>
        <p:nvSpPr>
          <p:cNvPr id="133" name="TextBox 50">
            <a:extLst>
              <a:ext uri="{FF2B5EF4-FFF2-40B4-BE49-F238E27FC236}">
                <a16:creationId xmlns:a16="http://schemas.microsoft.com/office/drawing/2014/main" id="{FB072B02-D42E-87FD-1824-68A324C02248}"/>
              </a:ext>
            </a:extLst>
          </p:cNvPr>
          <p:cNvSpPr txBox="1"/>
          <p:nvPr/>
        </p:nvSpPr>
        <p:spPr>
          <a:xfrm>
            <a:off x="6058989" y="49834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150-dim space → find separating hyperplanes for all 9 classes (one-vs-one)</a:t>
            </a:r>
          </a:p>
        </p:txBody>
      </p:sp>
      <p:sp>
        <p:nvSpPr>
          <p:cNvPr id="134" name="Rounded Rectangle 51">
            <a:extLst>
              <a:ext uri="{FF2B5EF4-FFF2-40B4-BE49-F238E27FC236}">
                <a16:creationId xmlns:a16="http://schemas.microsoft.com/office/drawing/2014/main" id="{77668DC2-0E98-B5B3-4047-3CC63361186A}"/>
              </a:ext>
            </a:extLst>
          </p:cNvPr>
          <p:cNvSpPr/>
          <p:nvPr/>
        </p:nvSpPr>
        <p:spPr>
          <a:xfrm>
            <a:off x="5876109" y="5577840"/>
            <a:ext cx="2743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time: 52.6 seconds</a:t>
            </a:r>
          </a:p>
        </p:txBody>
      </p:sp>
    </p:spTree>
    <p:extLst>
      <p:ext uri="{BB962C8B-B14F-4D97-AF65-F5344CB8AC3E}">
        <p14:creationId xmlns:p14="http://schemas.microsoft.com/office/powerpoint/2010/main" val="167006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F32E2-7186-C08D-343D-62173145BEFF}"/>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FC27D57-7D61-EF92-A656-03126D5CECE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700BFF20-E65E-DAF4-C833-4C6C8E6539E1}"/>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8A5924A-8019-5692-32C0-FE9D77828B66}"/>
              </a:ext>
            </a:extLst>
          </p:cNvPr>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3b — Decision Tree &amp; Random Forest</a:t>
            </a:r>
          </a:p>
        </p:txBody>
      </p:sp>
      <p:sp>
        <p:nvSpPr>
          <p:cNvPr id="3" name="Rectangle 2">
            <a:extLst>
              <a:ext uri="{FF2B5EF4-FFF2-40B4-BE49-F238E27FC236}">
                <a16:creationId xmlns:a16="http://schemas.microsoft.com/office/drawing/2014/main" id="{A2A43225-AAC0-7EC9-E92B-F9B4B72D44F9}"/>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CB2FD1-36D8-4C77-C4E9-57C8870E9764}"/>
              </a:ext>
            </a:extLst>
          </p:cNvPr>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Greedy splitting and ensemble aggregation</a:t>
            </a:r>
          </a:p>
        </p:txBody>
      </p:sp>
      <p:sp>
        <p:nvSpPr>
          <p:cNvPr id="44" name="Rounded Rectangle 9">
            <a:extLst>
              <a:ext uri="{FF2B5EF4-FFF2-40B4-BE49-F238E27FC236}">
                <a16:creationId xmlns:a16="http://schemas.microsoft.com/office/drawing/2014/main" id="{B992E747-DE76-C88D-4D3F-5D9901B72943}"/>
              </a:ext>
            </a:extLst>
          </p:cNvPr>
          <p:cNvSpPr/>
          <p:nvPr/>
        </p:nvSpPr>
        <p:spPr>
          <a:xfrm>
            <a:off x="762000" y="1547949"/>
            <a:ext cx="5029200" cy="47548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0">
            <a:extLst>
              <a:ext uri="{FF2B5EF4-FFF2-40B4-BE49-F238E27FC236}">
                <a16:creationId xmlns:a16="http://schemas.microsoft.com/office/drawing/2014/main" id="{D0FD1E80-1A43-512C-CFC1-D698C986497A}"/>
              </a:ext>
            </a:extLst>
          </p:cNvPr>
          <p:cNvSpPr txBox="1"/>
          <p:nvPr/>
        </p:nvSpPr>
        <p:spPr>
          <a:xfrm>
            <a:off x="94488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007ACC"/>
                </a:solidFill>
                <a:latin typeface="Calibri"/>
              </a:defRPr>
            </a:pPr>
            <a:r>
              <a:t>Decision Tree</a:t>
            </a:r>
          </a:p>
        </p:txBody>
      </p:sp>
      <p:sp>
        <p:nvSpPr>
          <p:cNvPr id="46" name="TextBox 11">
            <a:extLst>
              <a:ext uri="{FF2B5EF4-FFF2-40B4-BE49-F238E27FC236}">
                <a16:creationId xmlns:a16="http://schemas.microsoft.com/office/drawing/2014/main" id="{C292F67A-5202-5473-6B88-F3932F159818}"/>
              </a:ext>
            </a:extLst>
          </p:cNvPr>
          <p:cNvSpPr txBox="1"/>
          <p:nvPr/>
        </p:nvSpPr>
        <p:spPr>
          <a:xfrm>
            <a:off x="944880" y="2096589"/>
            <a:ext cx="4663440" cy="9144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t>Greedy recursive splitting</a:t>
            </a:r>
          </a:p>
          <a:p>
            <a:pPr algn="l">
              <a:spcAft>
                <a:spcPts val="500"/>
              </a:spcAft>
              <a:defRPr sz="1200" b="0">
                <a:solidFill>
                  <a:srgbClr val="EF7C00"/>
                </a:solidFill>
                <a:latin typeface="Calibri"/>
              </a:defRPr>
            </a:pPr>
            <a:r>
              <a:t>At each node: pick feature + threshold that maximizes</a:t>
            </a:r>
          </a:p>
          <a:p>
            <a:pPr algn="l">
              <a:spcAft>
                <a:spcPts val="500"/>
              </a:spcAft>
              <a:defRPr sz="1200" b="0">
                <a:solidFill>
                  <a:srgbClr val="EF7C00"/>
                </a:solidFill>
                <a:latin typeface="Calibri"/>
              </a:defRPr>
            </a:pPr>
            <a:r>
              <a:t>Information Gain</a:t>
            </a:r>
          </a:p>
        </p:txBody>
      </p:sp>
      <p:sp>
        <p:nvSpPr>
          <p:cNvPr id="47" name="Rounded Rectangle 12">
            <a:extLst>
              <a:ext uri="{FF2B5EF4-FFF2-40B4-BE49-F238E27FC236}">
                <a16:creationId xmlns:a16="http://schemas.microsoft.com/office/drawing/2014/main" id="{0B2AAB2D-402A-0917-70B2-03F2DC9D9E2A}"/>
              </a:ext>
            </a:extLst>
          </p:cNvPr>
          <p:cNvSpPr/>
          <p:nvPr/>
        </p:nvSpPr>
        <p:spPr>
          <a:xfrm>
            <a:off x="944880" y="2828109"/>
            <a:ext cx="466344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13">
            <a:extLst>
              <a:ext uri="{FF2B5EF4-FFF2-40B4-BE49-F238E27FC236}">
                <a16:creationId xmlns:a16="http://schemas.microsoft.com/office/drawing/2014/main" id="{4AB19B2F-1F77-FC3B-89C4-7BCCDF4FCC9A}"/>
              </a:ext>
            </a:extLst>
          </p:cNvPr>
          <p:cNvSpPr txBox="1"/>
          <p:nvPr/>
        </p:nvSpPr>
        <p:spPr>
          <a:xfrm>
            <a:off x="1082040" y="2919549"/>
            <a:ext cx="43891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100" b="0">
                <a:solidFill>
                  <a:srgbClr val="28A745"/>
                </a:solidFill>
                <a:latin typeface="Courier New"/>
              </a:defRPr>
            </a:pPr>
            <a:r>
              <a:t>IG = Entropy(parent) - Σ(weighted × Entropy(children))</a:t>
            </a:r>
          </a:p>
        </p:txBody>
      </p:sp>
      <p:sp>
        <p:nvSpPr>
          <p:cNvPr id="49" name="Rounded Rectangle 14">
            <a:extLst>
              <a:ext uri="{FF2B5EF4-FFF2-40B4-BE49-F238E27FC236}">
                <a16:creationId xmlns:a16="http://schemas.microsoft.com/office/drawing/2014/main" id="{9F0E56F8-0682-014E-5A25-E1DF882BF775}"/>
              </a:ext>
            </a:extLst>
          </p:cNvPr>
          <p:cNvSpPr/>
          <p:nvPr/>
        </p:nvSpPr>
        <p:spPr>
          <a:xfrm>
            <a:off x="1859280" y="3468189"/>
            <a:ext cx="256032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OCR[3] &gt; 0.5 ?</a:t>
            </a:r>
          </a:p>
        </p:txBody>
      </p:sp>
      <p:sp>
        <p:nvSpPr>
          <p:cNvPr id="50" name="Rounded Rectangle 15">
            <a:extLst>
              <a:ext uri="{FF2B5EF4-FFF2-40B4-BE49-F238E27FC236}">
                <a16:creationId xmlns:a16="http://schemas.microsoft.com/office/drawing/2014/main" id="{357262C3-9C79-DD79-4FAA-2B586AE3DE4B}"/>
              </a:ext>
            </a:extLst>
          </p:cNvPr>
          <p:cNvSpPr/>
          <p:nvPr/>
        </p:nvSpPr>
        <p:spPr>
          <a:xfrm>
            <a:off x="944880" y="4291149"/>
            <a:ext cx="2011680"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git_ops</a:t>
            </a:r>
          </a:p>
        </p:txBody>
      </p:sp>
      <p:sp>
        <p:nvSpPr>
          <p:cNvPr id="51" name="Rounded Rectangle 16">
            <a:extLst>
              <a:ext uri="{FF2B5EF4-FFF2-40B4-BE49-F238E27FC236}">
                <a16:creationId xmlns:a16="http://schemas.microsoft.com/office/drawing/2014/main" id="{CE9C7D81-32CD-CB82-308E-B7B3E6FC40BA}"/>
              </a:ext>
            </a:extLst>
          </p:cNvPr>
          <p:cNvSpPr/>
          <p:nvPr/>
        </p:nvSpPr>
        <p:spPr>
          <a:xfrm>
            <a:off x="3322319" y="4291149"/>
            <a:ext cx="228600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coding_editing</a:t>
            </a:r>
          </a:p>
        </p:txBody>
      </p:sp>
      <p:sp>
        <p:nvSpPr>
          <p:cNvPr id="52" name="TextBox 17">
            <a:extLst>
              <a:ext uri="{FF2B5EF4-FFF2-40B4-BE49-F238E27FC236}">
                <a16:creationId xmlns:a16="http://schemas.microsoft.com/office/drawing/2014/main" id="{63A8E93F-17C5-71DC-325E-4714888D44CA}"/>
              </a:ext>
            </a:extLst>
          </p:cNvPr>
          <p:cNvSpPr txBox="1"/>
          <p:nvPr/>
        </p:nvSpPr>
        <p:spPr>
          <a:xfrm>
            <a:off x="222504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3" name="TextBox 18">
            <a:extLst>
              <a:ext uri="{FF2B5EF4-FFF2-40B4-BE49-F238E27FC236}">
                <a16:creationId xmlns:a16="http://schemas.microsoft.com/office/drawing/2014/main" id="{57893AC8-D4CC-6F4B-D7F3-B0C915690A87}"/>
              </a:ext>
            </a:extLst>
          </p:cNvPr>
          <p:cNvSpPr txBox="1"/>
          <p:nvPr/>
        </p:nvSpPr>
        <p:spPr>
          <a:xfrm>
            <a:off x="350520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4" name="TextBox 19">
            <a:extLst>
              <a:ext uri="{FF2B5EF4-FFF2-40B4-BE49-F238E27FC236}">
                <a16:creationId xmlns:a16="http://schemas.microsoft.com/office/drawing/2014/main" id="{D5594867-879F-F5B2-13F3-DA42A22AFDFD}"/>
              </a:ext>
            </a:extLst>
          </p:cNvPr>
          <p:cNvSpPr txBox="1"/>
          <p:nvPr/>
        </p:nvSpPr>
        <p:spPr>
          <a:xfrm>
            <a:off x="14020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28A745"/>
                </a:solidFill>
                <a:latin typeface="Calibri"/>
              </a:defRPr>
            </a:pPr>
            <a:r>
              <a:t>Yes</a:t>
            </a:r>
          </a:p>
        </p:txBody>
      </p:sp>
      <p:sp>
        <p:nvSpPr>
          <p:cNvPr id="55" name="TextBox 20">
            <a:extLst>
              <a:ext uri="{FF2B5EF4-FFF2-40B4-BE49-F238E27FC236}">
                <a16:creationId xmlns:a16="http://schemas.microsoft.com/office/drawing/2014/main" id="{DCDD9969-1A12-B121-4A02-BAFEFB4D51BD}"/>
              </a:ext>
            </a:extLst>
          </p:cNvPr>
          <p:cNvSpPr txBox="1"/>
          <p:nvPr/>
        </p:nvSpPr>
        <p:spPr>
          <a:xfrm>
            <a:off x="41452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EF7C00"/>
                </a:solidFill>
                <a:latin typeface="Calibri"/>
              </a:defRPr>
            </a:pPr>
            <a:r>
              <a:t>No</a:t>
            </a:r>
          </a:p>
        </p:txBody>
      </p:sp>
      <p:sp>
        <p:nvSpPr>
          <p:cNvPr id="56" name="Rounded Rectangle 21">
            <a:extLst>
              <a:ext uri="{FF2B5EF4-FFF2-40B4-BE49-F238E27FC236}">
                <a16:creationId xmlns:a16="http://schemas.microsoft.com/office/drawing/2014/main" id="{0EB015A4-3AD9-65A8-25AA-B4A9816E5F94}"/>
              </a:ext>
            </a:extLst>
          </p:cNvPr>
          <p:cNvSpPr/>
          <p:nvPr/>
        </p:nvSpPr>
        <p:spPr>
          <a:xfrm>
            <a:off x="944880" y="5022669"/>
            <a:ext cx="27432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0.2 seconds</a:t>
            </a:r>
          </a:p>
        </p:txBody>
      </p:sp>
      <p:sp>
        <p:nvSpPr>
          <p:cNvPr id="57" name="TextBox 22">
            <a:extLst>
              <a:ext uri="{FF2B5EF4-FFF2-40B4-BE49-F238E27FC236}">
                <a16:creationId xmlns:a16="http://schemas.microsoft.com/office/drawing/2014/main" id="{6A220CDE-FCD4-894D-6A81-87DE83975A8A}"/>
              </a:ext>
            </a:extLst>
          </p:cNvPr>
          <p:cNvSpPr txBox="1"/>
          <p:nvPr/>
        </p:nvSpPr>
        <p:spPr>
          <a:xfrm>
            <a:off x="94488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Interpretable: you can read the rules</a:t>
            </a:r>
          </a:p>
          <a:p>
            <a:pPr algn="l">
              <a:spcAft>
                <a:spcPts val="400"/>
              </a:spcAft>
              <a:defRPr sz="1100" b="0">
                <a:solidFill>
                  <a:srgbClr val="EF7C00"/>
                </a:solidFill>
                <a:latin typeface="Calibri"/>
              </a:defRPr>
            </a:pPr>
            <a:r>
              <a:t>+ Fastest inference (2ms)</a:t>
            </a:r>
          </a:p>
          <a:p>
            <a:pPr algn="l">
              <a:spcAft>
                <a:spcPts val="400"/>
              </a:spcAft>
              <a:defRPr sz="1100" b="0">
                <a:solidFill>
                  <a:srgbClr val="EF7C00"/>
                </a:solidFill>
                <a:latin typeface="Calibri"/>
              </a:defRPr>
            </a:pPr>
            <a:r>
              <a:t>- Prone to overfitting on training data</a:t>
            </a:r>
          </a:p>
        </p:txBody>
      </p:sp>
      <p:sp>
        <p:nvSpPr>
          <p:cNvPr id="58" name="Rounded Rectangle 23">
            <a:extLst>
              <a:ext uri="{FF2B5EF4-FFF2-40B4-BE49-F238E27FC236}">
                <a16:creationId xmlns:a16="http://schemas.microsoft.com/office/drawing/2014/main" id="{3296CCAF-34A9-6CDB-C847-DEC55FE79751}"/>
              </a:ext>
            </a:extLst>
          </p:cNvPr>
          <p:cNvSpPr/>
          <p:nvPr/>
        </p:nvSpPr>
        <p:spPr>
          <a:xfrm>
            <a:off x="6065520" y="1547949"/>
            <a:ext cx="5029200" cy="47548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24">
            <a:extLst>
              <a:ext uri="{FF2B5EF4-FFF2-40B4-BE49-F238E27FC236}">
                <a16:creationId xmlns:a16="http://schemas.microsoft.com/office/drawing/2014/main" id="{B655331D-7443-E9AD-A20E-DEBF1DA39BCF}"/>
              </a:ext>
            </a:extLst>
          </p:cNvPr>
          <p:cNvSpPr txBox="1"/>
          <p:nvPr/>
        </p:nvSpPr>
        <p:spPr>
          <a:xfrm>
            <a:off x="624840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28A745"/>
                </a:solidFill>
                <a:latin typeface="Calibri"/>
              </a:defRPr>
            </a:pPr>
            <a:r>
              <a:t>Random Forest</a:t>
            </a:r>
          </a:p>
        </p:txBody>
      </p:sp>
      <p:sp>
        <p:nvSpPr>
          <p:cNvPr id="60" name="TextBox 25">
            <a:extLst>
              <a:ext uri="{FF2B5EF4-FFF2-40B4-BE49-F238E27FC236}">
                <a16:creationId xmlns:a16="http://schemas.microsoft.com/office/drawing/2014/main" id="{7646FC60-4FD6-7F3C-A85E-450C75FFB942}"/>
              </a:ext>
            </a:extLst>
          </p:cNvPr>
          <p:cNvSpPr txBox="1"/>
          <p:nvPr/>
        </p:nvSpPr>
        <p:spPr>
          <a:xfrm>
            <a:off x="6248400" y="2096589"/>
            <a:ext cx="4663440" cy="10972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defRPr sz="1200" b="0">
                <a:solidFill>
                  <a:srgbClr val="EF7C00"/>
                </a:solidFill>
                <a:latin typeface="Calibri"/>
              </a:defRPr>
            </a:pPr>
            <a:r>
              <a:t>100 trees, each trained on random bootstrap sample</a:t>
            </a:r>
          </a:p>
          <a:p>
            <a:pPr algn="l">
              <a:spcAft>
                <a:spcPts val="600"/>
              </a:spcAft>
              <a:defRPr sz="1200" b="0">
                <a:solidFill>
                  <a:srgbClr val="EF7C00"/>
                </a:solidFill>
                <a:latin typeface="Calibri"/>
              </a:defRPr>
            </a:pPr>
            <a:r>
              <a:t>Each split considers only √150 ≈ 12 random features</a:t>
            </a:r>
          </a:p>
          <a:p>
            <a:pPr algn="l">
              <a:spcAft>
                <a:spcPts val="600"/>
              </a:spcAft>
              <a:defRPr sz="1200" b="0">
                <a:solidFill>
                  <a:srgbClr val="EF7C00"/>
                </a:solidFill>
                <a:latin typeface="Calibri"/>
              </a:defRPr>
            </a:pPr>
            <a:r>
              <a:t>Prediction = majority vote of 100 trees</a:t>
            </a:r>
          </a:p>
          <a:p>
            <a:pPr algn="l">
              <a:spcAft>
                <a:spcPts val="600"/>
              </a:spcAft>
              <a:defRPr sz="1200" b="0">
                <a:solidFill>
                  <a:srgbClr val="EF7C00"/>
                </a:solidFill>
                <a:latin typeface="Calibri"/>
              </a:defRPr>
            </a:pPr>
            <a:r>
              <a:t>Diversity + aggregation = robustness</a:t>
            </a:r>
          </a:p>
        </p:txBody>
      </p:sp>
      <p:sp>
        <p:nvSpPr>
          <p:cNvPr id="61" name="Rounded Rectangle 26">
            <a:extLst>
              <a:ext uri="{FF2B5EF4-FFF2-40B4-BE49-F238E27FC236}">
                <a16:creationId xmlns:a16="http://schemas.microsoft.com/office/drawing/2014/main" id="{3E75C04D-47A9-F4F1-4F5A-5D41FD62003B}"/>
              </a:ext>
            </a:extLst>
          </p:cNvPr>
          <p:cNvSpPr/>
          <p:nvPr/>
        </p:nvSpPr>
        <p:spPr>
          <a:xfrm>
            <a:off x="643128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1</a:t>
            </a:r>
          </a:p>
        </p:txBody>
      </p:sp>
      <p:sp>
        <p:nvSpPr>
          <p:cNvPr id="62" name="Rounded Rectangle 27">
            <a:extLst>
              <a:ext uri="{FF2B5EF4-FFF2-40B4-BE49-F238E27FC236}">
                <a16:creationId xmlns:a16="http://schemas.microsoft.com/office/drawing/2014/main" id="{03AD9ED4-216A-27E2-FB29-999756B450FB}"/>
              </a:ext>
            </a:extLst>
          </p:cNvPr>
          <p:cNvSpPr/>
          <p:nvPr/>
        </p:nvSpPr>
        <p:spPr>
          <a:xfrm>
            <a:off x="63398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3" name="Rounded Rectangle 28">
            <a:extLst>
              <a:ext uri="{FF2B5EF4-FFF2-40B4-BE49-F238E27FC236}">
                <a16:creationId xmlns:a16="http://schemas.microsoft.com/office/drawing/2014/main" id="{F64000F2-7CD4-2A00-9075-23B4A066CBDD}"/>
              </a:ext>
            </a:extLst>
          </p:cNvPr>
          <p:cNvSpPr/>
          <p:nvPr/>
        </p:nvSpPr>
        <p:spPr>
          <a:xfrm>
            <a:off x="68427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4" name="Rounded Rectangle 29">
            <a:extLst>
              <a:ext uri="{FF2B5EF4-FFF2-40B4-BE49-F238E27FC236}">
                <a16:creationId xmlns:a16="http://schemas.microsoft.com/office/drawing/2014/main" id="{FC346504-1886-7380-74F0-36E460194C3A}"/>
              </a:ext>
            </a:extLst>
          </p:cNvPr>
          <p:cNvSpPr/>
          <p:nvPr/>
        </p:nvSpPr>
        <p:spPr>
          <a:xfrm>
            <a:off x="739140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2</a:t>
            </a:r>
          </a:p>
        </p:txBody>
      </p:sp>
      <p:sp>
        <p:nvSpPr>
          <p:cNvPr id="65" name="Rounded Rectangle 30">
            <a:extLst>
              <a:ext uri="{FF2B5EF4-FFF2-40B4-BE49-F238E27FC236}">
                <a16:creationId xmlns:a16="http://schemas.microsoft.com/office/drawing/2014/main" id="{DA5C86DE-4BB2-DB8D-E937-3B55DAD39FF6}"/>
              </a:ext>
            </a:extLst>
          </p:cNvPr>
          <p:cNvSpPr/>
          <p:nvPr/>
        </p:nvSpPr>
        <p:spPr>
          <a:xfrm>
            <a:off x="72999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6" name="Rounded Rectangle 31">
            <a:extLst>
              <a:ext uri="{FF2B5EF4-FFF2-40B4-BE49-F238E27FC236}">
                <a16:creationId xmlns:a16="http://schemas.microsoft.com/office/drawing/2014/main" id="{8997B287-6ABA-4374-3333-BFC05029D1E4}"/>
              </a:ext>
            </a:extLst>
          </p:cNvPr>
          <p:cNvSpPr/>
          <p:nvPr/>
        </p:nvSpPr>
        <p:spPr>
          <a:xfrm>
            <a:off x="78028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7" name="Rounded Rectangle 32">
            <a:extLst>
              <a:ext uri="{FF2B5EF4-FFF2-40B4-BE49-F238E27FC236}">
                <a16:creationId xmlns:a16="http://schemas.microsoft.com/office/drawing/2014/main" id="{CB6576C2-2166-19DB-23D7-948D1F0D9343}"/>
              </a:ext>
            </a:extLst>
          </p:cNvPr>
          <p:cNvSpPr/>
          <p:nvPr/>
        </p:nvSpPr>
        <p:spPr>
          <a:xfrm>
            <a:off x="835152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3</a:t>
            </a:r>
          </a:p>
        </p:txBody>
      </p:sp>
      <p:sp>
        <p:nvSpPr>
          <p:cNvPr id="68" name="Rounded Rectangle 33">
            <a:extLst>
              <a:ext uri="{FF2B5EF4-FFF2-40B4-BE49-F238E27FC236}">
                <a16:creationId xmlns:a16="http://schemas.microsoft.com/office/drawing/2014/main" id="{B76AA947-3FC6-11AE-9760-DB5C250FF67A}"/>
              </a:ext>
            </a:extLst>
          </p:cNvPr>
          <p:cNvSpPr/>
          <p:nvPr/>
        </p:nvSpPr>
        <p:spPr>
          <a:xfrm>
            <a:off x="82600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9" name="Rounded Rectangle 34">
            <a:extLst>
              <a:ext uri="{FF2B5EF4-FFF2-40B4-BE49-F238E27FC236}">
                <a16:creationId xmlns:a16="http://schemas.microsoft.com/office/drawing/2014/main" id="{FC1E220F-4159-C3EE-D352-2730869AF404}"/>
              </a:ext>
            </a:extLst>
          </p:cNvPr>
          <p:cNvSpPr/>
          <p:nvPr/>
        </p:nvSpPr>
        <p:spPr>
          <a:xfrm>
            <a:off x="87630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0" name="Rounded Rectangle 35">
            <a:extLst>
              <a:ext uri="{FF2B5EF4-FFF2-40B4-BE49-F238E27FC236}">
                <a16:creationId xmlns:a16="http://schemas.microsoft.com/office/drawing/2014/main" id="{3CBBF3D2-447F-6664-6473-6CE9D7E38CE5}"/>
              </a:ext>
            </a:extLst>
          </p:cNvPr>
          <p:cNvSpPr/>
          <p:nvPr/>
        </p:nvSpPr>
        <p:spPr>
          <a:xfrm>
            <a:off x="931164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4</a:t>
            </a:r>
          </a:p>
        </p:txBody>
      </p:sp>
      <p:sp>
        <p:nvSpPr>
          <p:cNvPr id="71" name="Rounded Rectangle 36">
            <a:extLst>
              <a:ext uri="{FF2B5EF4-FFF2-40B4-BE49-F238E27FC236}">
                <a16:creationId xmlns:a16="http://schemas.microsoft.com/office/drawing/2014/main" id="{CF915ED4-03B5-EF20-6D57-7EED32AC6EE0}"/>
              </a:ext>
            </a:extLst>
          </p:cNvPr>
          <p:cNvSpPr/>
          <p:nvPr/>
        </p:nvSpPr>
        <p:spPr>
          <a:xfrm>
            <a:off x="92202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2" name="Rounded Rectangle 37">
            <a:extLst>
              <a:ext uri="{FF2B5EF4-FFF2-40B4-BE49-F238E27FC236}">
                <a16:creationId xmlns:a16="http://schemas.microsoft.com/office/drawing/2014/main" id="{79C07075-56D1-9F1E-1BCF-D355FF818743}"/>
              </a:ext>
            </a:extLst>
          </p:cNvPr>
          <p:cNvSpPr/>
          <p:nvPr/>
        </p:nvSpPr>
        <p:spPr>
          <a:xfrm>
            <a:off x="97231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3" name="Rounded Rectangle 38">
            <a:extLst>
              <a:ext uri="{FF2B5EF4-FFF2-40B4-BE49-F238E27FC236}">
                <a16:creationId xmlns:a16="http://schemas.microsoft.com/office/drawing/2014/main" id="{D0C295D2-6578-3E32-5916-CBB13FA3C7AF}"/>
              </a:ext>
            </a:extLst>
          </p:cNvPr>
          <p:cNvSpPr/>
          <p:nvPr/>
        </p:nvSpPr>
        <p:spPr>
          <a:xfrm>
            <a:off x="1027176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5</a:t>
            </a:r>
          </a:p>
        </p:txBody>
      </p:sp>
      <p:sp>
        <p:nvSpPr>
          <p:cNvPr id="74" name="Rounded Rectangle 39">
            <a:extLst>
              <a:ext uri="{FF2B5EF4-FFF2-40B4-BE49-F238E27FC236}">
                <a16:creationId xmlns:a16="http://schemas.microsoft.com/office/drawing/2014/main" id="{11645312-63A1-0642-EEDC-A987B5876B63}"/>
              </a:ext>
            </a:extLst>
          </p:cNvPr>
          <p:cNvSpPr/>
          <p:nvPr/>
        </p:nvSpPr>
        <p:spPr>
          <a:xfrm>
            <a:off x="101803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5" name="Rounded Rectangle 40">
            <a:extLst>
              <a:ext uri="{FF2B5EF4-FFF2-40B4-BE49-F238E27FC236}">
                <a16:creationId xmlns:a16="http://schemas.microsoft.com/office/drawing/2014/main" id="{F80E9A29-2445-A9BB-28A2-99E5FE772933}"/>
              </a:ext>
            </a:extLst>
          </p:cNvPr>
          <p:cNvSpPr/>
          <p:nvPr/>
        </p:nvSpPr>
        <p:spPr>
          <a:xfrm>
            <a:off x="106832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6" name="TextBox 41">
            <a:extLst>
              <a:ext uri="{FF2B5EF4-FFF2-40B4-BE49-F238E27FC236}">
                <a16:creationId xmlns:a16="http://schemas.microsoft.com/office/drawing/2014/main" id="{3102F663-1D89-4A6B-B0C7-125E1CAAA674}"/>
              </a:ext>
            </a:extLst>
          </p:cNvPr>
          <p:cNvSpPr txBox="1"/>
          <p:nvPr/>
        </p:nvSpPr>
        <p:spPr>
          <a:xfrm>
            <a:off x="10911840" y="337674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CCCCCC"/>
                </a:solidFill>
                <a:latin typeface="Calibri"/>
              </a:defRPr>
            </a:pPr>
            <a:r>
              <a:t>...</a:t>
            </a:r>
          </a:p>
        </p:txBody>
      </p:sp>
      <p:sp>
        <p:nvSpPr>
          <p:cNvPr id="77" name="TextBox 42">
            <a:extLst>
              <a:ext uri="{FF2B5EF4-FFF2-40B4-BE49-F238E27FC236}">
                <a16:creationId xmlns:a16="http://schemas.microsoft.com/office/drawing/2014/main" id="{753C31A4-61B5-FBAD-E84D-EBDCEB13DBBE}"/>
              </a:ext>
            </a:extLst>
          </p:cNvPr>
          <p:cNvSpPr txBox="1"/>
          <p:nvPr/>
        </p:nvSpPr>
        <p:spPr>
          <a:xfrm>
            <a:off x="8260080" y="4108269"/>
            <a:ext cx="18288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1">
                <a:solidFill>
                  <a:srgbClr val="28A745"/>
                </a:solidFill>
                <a:latin typeface="Calibri"/>
              </a:defRPr>
            </a:pPr>
            <a:r>
              <a:t>↓  Majority Vote  ↓</a:t>
            </a:r>
          </a:p>
        </p:txBody>
      </p:sp>
      <p:sp>
        <p:nvSpPr>
          <p:cNvPr id="78" name="Rounded Rectangle 43">
            <a:extLst>
              <a:ext uri="{FF2B5EF4-FFF2-40B4-BE49-F238E27FC236}">
                <a16:creationId xmlns:a16="http://schemas.microsoft.com/office/drawing/2014/main" id="{CF5ECEF2-36E6-9DEA-3A44-B0F62425D4D1}"/>
              </a:ext>
            </a:extLst>
          </p:cNvPr>
          <p:cNvSpPr/>
          <p:nvPr/>
        </p:nvSpPr>
        <p:spPr>
          <a:xfrm>
            <a:off x="7620000" y="4474029"/>
            <a:ext cx="32004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Final Prediction: coding_editing</a:t>
            </a:r>
          </a:p>
        </p:txBody>
      </p:sp>
      <p:sp>
        <p:nvSpPr>
          <p:cNvPr id="79" name="Rounded Rectangle 44">
            <a:extLst>
              <a:ext uri="{FF2B5EF4-FFF2-40B4-BE49-F238E27FC236}">
                <a16:creationId xmlns:a16="http://schemas.microsoft.com/office/drawing/2014/main" id="{4AE17784-D7A5-F7AE-5FDB-583F42FB20DF}"/>
              </a:ext>
            </a:extLst>
          </p:cNvPr>
          <p:cNvSpPr/>
          <p:nvPr/>
        </p:nvSpPr>
        <p:spPr>
          <a:xfrm>
            <a:off x="6248400" y="5022669"/>
            <a:ext cx="27432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0.8 seconds</a:t>
            </a:r>
          </a:p>
        </p:txBody>
      </p:sp>
      <p:sp>
        <p:nvSpPr>
          <p:cNvPr id="80" name="TextBox 45">
            <a:extLst>
              <a:ext uri="{FF2B5EF4-FFF2-40B4-BE49-F238E27FC236}">
                <a16:creationId xmlns:a16="http://schemas.microsoft.com/office/drawing/2014/main" id="{E055E21C-5CF0-2797-BE21-7BA9F5AE5A14}"/>
              </a:ext>
            </a:extLst>
          </p:cNvPr>
          <p:cNvSpPr txBox="1"/>
          <p:nvPr/>
        </p:nvSpPr>
        <p:spPr>
          <a:xfrm>
            <a:off x="624840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Reduces overfitting via bagging (bootstrap aggregation)</a:t>
            </a:r>
          </a:p>
          <a:p>
            <a:pPr algn="l">
              <a:spcAft>
                <a:spcPts val="400"/>
              </a:spcAft>
              <a:defRPr sz="1100" b="0">
                <a:solidFill>
                  <a:srgbClr val="EF7C00"/>
                </a:solidFill>
                <a:latin typeface="Calibri"/>
              </a:defRPr>
            </a:pPr>
            <a:r>
              <a:t>+ Handles high-dimensional data well</a:t>
            </a:r>
          </a:p>
          <a:p>
            <a:pPr algn="l">
              <a:spcAft>
                <a:spcPts val="400"/>
              </a:spcAft>
              <a:defRPr sz="1100" b="0">
                <a:solidFill>
                  <a:srgbClr val="EF7C00"/>
                </a:solidFill>
                <a:latin typeface="Calibri"/>
              </a:defRPr>
            </a:pPr>
            <a:r>
              <a:t>- Less interpretable than a single tree</a:t>
            </a:r>
          </a:p>
        </p:txBody>
      </p:sp>
    </p:spTree>
    <p:extLst>
      <p:ext uri="{BB962C8B-B14F-4D97-AF65-F5344CB8AC3E}">
        <p14:creationId xmlns:p14="http://schemas.microsoft.com/office/powerpoint/2010/main" val="102856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3c — </a:t>
            </a:r>
            <a:r>
              <a:rPr dirty="0" err="1"/>
              <a:t>XGBoost</a:t>
            </a:r>
            <a:r>
              <a:rPr dirty="0"/>
              <a:t>: Sequential Error Correction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Gradient Boosted Decision Trees</a:t>
            </a:r>
          </a:p>
        </p:txBody>
      </p:sp>
      <p:sp>
        <p:nvSpPr>
          <p:cNvPr id="5" name="TextBox 4"/>
          <p:cNvSpPr txBox="1"/>
          <p:nvPr/>
        </p:nvSpPr>
        <p:spPr>
          <a:xfrm>
            <a:off x="731520" y="1371600"/>
            <a:ext cx="10058400" cy="365760"/>
          </a:xfrm>
          <a:prstGeom prst="rect">
            <a:avLst/>
          </a:prstGeom>
          <a:noFill/>
        </p:spPr>
        <p:txBody>
          <a:bodyPr wrap="square">
            <a:spAutoFit/>
          </a:bodyPr>
          <a:lstStyle/>
          <a:p>
            <a:pPr algn="l">
              <a:defRPr sz="1500" b="1">
                <a:solidFill>
                  <a:srgbClr val="2D2D2D"/>
                </a:solidFill>
                <a:latin typeface="Calibri"/>
              </a:defRPr>
            </a:pPr>
            <a:r>
              <a:t>Boosting Process: Each tree corrects the previous tree's mistakes</a:t>
            </a:r>
          </a:p>
        </p:txBody>
      </p:sp>
      <p:sp>
        <p:nvSpPr>
          <p:cNvPr id="6" name="Rounded Rectangle 5"/>
          <p:cNvSpPr/>
          <p:nvPr/>
        </p:nvSpPr>
        <p:spPr>
          <a:xfrm>
            <a:off x="731520" y="1828800"/>
            <a:ext cx="10972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1</a:t>
            </a:r>
          </a:p>
        </p:txBody>
      </p:sp>
      <p:sp>
        <p:nvSpPr>
          <p:cNvPr id="7" name="TextBox 6"/>
          <p:cNvSpPr txBox="1"/>
          <p:nvPr/>
        </p:nvSpPr>
        <p:spPr>
          <a:xfrm>
            <a:off x="2011680" y="1856232"/>
            <a:ext cx="5943600" cy="320040"/>
          </a:xfrm>
          <a:prstGeom prst="rect">
            <a:avLst/>
          </a:prstGeom>
          <a:noFill/>
        </p:spPr>
        <p:txBody>
          <a:bodyPr wrap="square">
            <a:spAutoFit/>
          </a:bodyPr>
          <a:lstStyle/>
          <a:p>
            <a:pPr algn="l">
              <a:defRPr sz="1300" b="0">
                <a:solidFill>
                  <a:srgbClr val="2D2D2D"/>
                </a:solidFill>
                <a:latin typeface="Calibri"/>
              </a:defRPr>
            </a:pPr>
            <a:r>
              <a:t>Tree₁ predicts</a:t>
            </a:r>
          </a:p>
        </p:txBody>
      </p:sp>
      <p:sp>
        <p:nvSpPr>
          <p:cNvPr id="8" name="Rounded Rectangle 7"/>
          <p:cNvSpPr/>
          <p:nvPr/>
        </p:nvSpPr>
        <p:spPr>
          <a:xfrm>
            <a:off x="8229600" y="1828800"/>
            <a:ext cx="20116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60% correct</a:t>
            </a:r>
          </a:p>
        </p:txBody>
      </p:sp>
      <p:sp>
        <p:nvSpPr>
          <p:cNvPr id="9" name="TextBox 8"/>
          <p:cNvSpPr txBox="1"/>
          <p:nvPr/>
        </p:nvSpPr>
        <p:spPr>
          <a:xfrm>
            <a:off x="1097280" y="2148840"/>
            <a:ext cx="457200" cy="307777"/>
          </a:xfrm>
          <a:prstGeom prst="rect">
            <a:avLst/>
          </a:prstGeom>
          <a:noFill/>
        </p:spPr>
        <p:txBody>
          <a:bodyPr wrap="square">
            <a:spAutoFit/>
          </a:bodyPr>
          <a:lstStyle/>
          <a:p>
            <a:pPr algn="ctr">
              <a:defRPr sz="1400" b="1">
                <a:solidFill>
                  <a:srgbClr val="003D7C"/>
                </a:solidFill>
                <a:latin typeface="Calibri"/>
              </a:defRPr>
            </a:pPr>
            <a:r>
              <a:rPr>
                <a:solidFill>
                  <a:schemeClr val="bg1"/>
                </a:solidFill>
              </a:rPr>
              <a:t>↓</a:t>
            </a:r>
          </a:p>
        </p:txBody>
      </p:sp>
      <p:sp>
        <p:nvSpPr>
          <p:cNvPr id="10" name="Rounded Rectangle 9"/>
          <p:cNvSpPr/>
          <p:nvPr/>
        </p:nvSpPr>
        <p:spPr>
          <a:xfrm>
            <a:off x="731520" y="2423160"/>
            <a:ext cx="10972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2</a:t>
            </a:r>
          </a:p>
        </p:txBody>
      </p:sp>
      <p:sp>
        <p:nvSpPr>
          <p:cNvPr id="11" name="TextBox 10"/>
          <p:cNvSpPr txBox="1"/>
          <p:nvPr/>
        </p:nvSpPr>
        <p:spPr>
          <a:xfrm>
            <a:off x="2011680" y="2450592"/>
            <a:ext cx="5943600" cy="320040"/>
          </a:xfrm>
          <a:prstGeom prst="rect">
            <a:avLst/>
          </a:prstGeom>
          <a:noFill/>
        </p:spPr>
        <p:txBody>
          <a:bodyPr wrap="square">
            <a:spAutoFit/>
          </a:bodyPr>
          <a:lstStyle/>
          <a:p>
            <a:pPr algn="l">
              <a:defRPr sz="1300" b="0">
                <a:solidFill>
                  <a:srgbClr val="2D2D2D"/>
                </a:solidFill>
                <a:latin typeface="Calibri"/>
              </a:defRPr>
            </a:pPr>
            <a:r>
              <a:t>Tree₂ on RESIDUALS of Tree₁</a:t>
            </a:r>
          </a:p>
        </p:txBody>
      </p:sp>
      <p:sp>
        <p:nvSpPr>
          <p:cNvPr id="12" name="Rounded Rectangle 11"/>
          <p:cNvSpPr/>
          <p:nvPr/>
        </p:nvSpPr>
        <p:spPr>
          <a:xfrm>
            <a:off x="8229600" y="2423160"/>
            <a:ext cx="20116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20% more</a:t>
            </a:r>
          </a:p>
        </p:txBody>
      </p:sp>
      <p:sp>
        <p:nvSpPr>
          <p:cNvPr id="13" name="TextBox 12"/>
          <p:cNvSpPr txBox="1"/>
          <p:nvPr/>
        </p:nvSpPr>
        <p:spPr>
          <a:xfrm>
            <a:off x="1097280" y="2743200"/>
            <a:ext cx="457200" cy="307777"/>
          </a:xfrm>
          <a:prstGeom prst="rect">
            <a:avLst/>
          </a:prstGeom>
          <a:noFill/>
        </p:spPr>
        <p:txBody>
          <a:bodyPr wrap="square">
            <a:spAutoFit/>
          </a:bodyPr>
          <a:lstStyle/>
          <a:p>
            <a:pPr algn="ctr">
              <a:defRPr sz="1400" b="1">
                <a:solidFill>
                  <a:srgbClr val="0E9384"/>
                </a:solidFill>
                <a:latin typeface="Calibri"/>
              </a:defRPr>
            </a:pPr>
            <a:r>
              <a:rPr>
                <a:solidFill>
                  <a:schemeClr val="bg1"/>
                </a:solidFill>
              </a:rPr>
              <a:t>↓</a:t>
            </a:r>
          </a:p>
        </p:txBody>
      </p:sp>
      <p:sp>
        <p:nvSpPr>
          <p:cNvPr id="14" name="Rounded Rectangle 13"/>
          <p:cNvSpPr/>
          <p:nvPr/>
        </p:nvSpPr>
        <p:spPr>
          <a:xfrm>
            <a:off x="731520" y="3017520"/>
            <a:ext cx="10972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3</a:t>
            </a:r>
          </a:p>
        </p:txBody>
      </p:sp>
      <p:sp>
        <p:nvSpPr>
          <p:cNvPr id="15" name="TextBox 14"/>
          <p:cNvSpPr txBox="1"/>
          <p:nvPr/>
        </p:nvSpPr>
        <p:spPr>
          <a:xfrm>
            <a:off x="2011680" y="3044952"/>
            <a:ext cx="5943600" cy="320040"/>
          </a:xfrm>
          <a:prstGeom prst="rect">
            <a:avLst/>
          </a:prstGeom>
          <a:noFill/>
        </p:spPr>
        <p:txBody>
          <a:bodyPr wrap="square">
            <a:spAutoFit/>
          </a:bodyPr>
          <a:lstStyle/>
          <a:p>
            <a:pPr algn="l">
              <a:defRPr sz="1300" b="0">
                <a:solidFill>
                  <a:srgbClr val="2D2D2D"/>
                </a:solidFill>
                <a:latin typeface="Calibri"/>
              </a:defRPr>
            </a:pPr>
            <a:r>
              <a:t>Tree₃ on remaining errors</a:t>
            </a:r>
          </a:p>
        </p:txBody>
      </p:sp>
      <p:sp>
        <p:nvSpPr>
          <p:cNvPr id="16" name="Rounded Rectangle 15"/>
          <p:cNvSpPr/>
          <p:nvPr/>
        </p:nvSpPr>
        <p:spPr>
          <a:xfrm>
            <a:off x="8229600" y="3017520"/>
            <a:ext cx="20116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10% more</a:t>
            </a:r>
          </a:p>
        </p:txBody>
      </p:sp>
      <p:sp>
        <p:nvSpPr>
          <p:cNvPr id="17" name="TextBox 16"/>
          <p:cNvSpPr txBox="1"/>
          <p:nvPr/>
        </p:nvSpPr>
        <p:spPr>
          <a:xfrm>
            <a:off x="1097280" y="3337560"/>
            <a:ext cx="457200" cy="307777"/>
          </a:xfrm>
          <a:prstGeom prst="rect">
            <a:avLst/>
          </a:prstGeom>
          <a:noFill/>
        </p:spPr>
        <p:txBody>
          <a:bodyPr wrap="square">
            <a:spAutoFit/>
          </a:bodyPr>
          <a:lstStyle/>
          <a:p>
            <a:pPr algn="ctr">
              <a:defRPr sz="1400" b="1">
                <a:solidFill>
                  <a:srgbClr val="EF7C00"/>
                </a:solidFill>
                <a:latin typeface="Calibri"/>
              </a:defRPr>
            </a:pPr>
            <a:r>
              <a:rPr>
                <a:solidFill>
                  <a:schemeClr val="bg1"/>
                </a:solidFill>
              </a:rPr>
              <a:t>↓</a:t>
            </a:r>
          </a:p>
        </p:txBody>
      </p:sp>
      <p:sp>
        <p:nvSpPr>
          <p:cNvPr id="18" name="Rounded Rectangle 17"/>
          <p:cNvSpPr/>
          <p:nvPr/>
        </p:nvSpPr>
        <p:spPr>
          <a:xfrm>
            <a:off x="731520" y="3611880"/>
            <a:ext cx="1097280" cy="3657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a:t>
            </a:r>
          </a:p>
        </p:txBody>
      </p:sp>
      <p:sp>
        <p:nvSpPr>
          <p:cNvPr id="19" name="TextBox 18"/>
          <p:cNvSpPr txBox="1"/>
          <p:nvPr/>
        </p:nvSpPr>
        <p:spPr>
          <a:xfrm>
            <a:off x="2011680" y="3639312"/>
            <a:ext cx="5943600" cy="320040"/>
          </a:xfrm>
          <a:prstGeom prst="rect">
            <a:avLst/>
          </a:prstGeom>
          <a:noFill/>
        </p:spPr>
        <p:txBody>
          <a:bodyPr wrap="square">
            <a:spAutoFit/>
          </a:bodyPr>
          <a:lstStyle/>
          <a:p>
            <a:pPr algn="l">
              <a:defRPr sz="1300" b="0">
                <a:solidFill>
                  <a:srgbClr val="2D2D2D"/>
                </a:solidFill>
                <a:latin typeface="Calibri"/>
              </a:defRPr>
            </a:pPr>
            <a:r>
              <a:t>100 rounds total</a:t>
            </a:r>
          </a:p>
        </p:txBody>
      </p:sp>
      <p:sp>
        <p:nvSpPr>
          <p:cNvPr id="20" name="TextBox 19"/>
          <p:cNvSpPr txBox="1"/>
          <p:nvPr/>
        </p:nvSpPr>
        <p:spPr>
          <a:xfrm>
            <a:off x="1097280" y="3931920"/>
            <a:ext cx="457200" cy="307777"/>
          </a:xfrm>
          <a:prstGeom prst="rect">
            <a:avLst/>
          </a:prstGeom>
          <a:noFill/>
        </p:spPr>
        <p:txBody>
          <a:bodyPr wrap="square">
            <a:spAutoFit/>
          </a:bodyPr>
          <a:lstStyle/>
          <a:p>
            <a:pPr algn="ctr">
              <a:defRPr sz="1400" b="1">
                <a:solidFill>
                  <a:srgbClr val="666666"/>
                </a:solidFill>
                <a:latin typeface="Calibri"/>
              </a:defRPr>
            </a:pPr>
            <a:r>
              <a:rPr>
                <a:solidFill>
                  <a:schemeClr val="bg1"/>
                </a:solidFill>
              </a:rPr>
              <a:t>↓</a:t>
            </a:r>
          </a:p>
        </p:txBody>
      </p:sp>
      <p:sp>
        <p:nvSpPr>
          <p:cNvPr id="21" name="Rounded Rectangle 20"/>
          <p:cNvSpPr/>
          <p:nvPr/>
        </p:nvSpPr>
        <p:spPr>
          <a:xfrm>
            <a:off x="731520" y="4206240"/>
            <a:ext cx="10972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Final</a:t>
            </a:r>
          </a:p>
        </p:txBody>
      </p:sp>
      <p:sp>
        <p:nvSpPr>
          <p:cNvPr id="22" name="TextBox 21"/>
          <p:cNvSpPr txBox="1"/>
          <p:nvPr/>
        </p:nvSpPr>
        <p:spPr>
          <a:xfrm>
            <a:off x="2011680" y="4233672"/>
            <a:ext cx="5943600" cy="320040"/>
          </a:xfrm>
          <a:prstGeom prst="rect">
            <a:avLst/>
          </a:prstGeom>
          <a:noFill/>
        </p:spPr>
        <p:txBody>
          <a:bodyPr wrap="square">
            <a:spAutoFit/>
          </a:bodyPr>
          <a:lstStyle/>
          <a:p>
            <a:pPr algn="l">
              <a:defRPr sz="1300" b="0">
                <a:solidFill>
                  <a:srgbClr val="2D2D2D"/>
                </a:solidFill>
                <a:latin typeface="Calibri"/>
              </a:defRPr>
            </a:pPr>
            <a:r>
              <a:t>F(x) = Tree₁ + 0.1×Tree₂ + 0.1×Tree₃ + ...</a:t>
            </a:r>
          </a:p>
        </p:txBody>
      </p:sp>
      <p:sp>
        <p:nvSpPr>
          <p:cNvPr id="23" name="Rounded Rectangle 22"/>
          <p:cNvSpPr/>
          <p:nvPr/>
        </p:nvSpPr>
        <p:spPr>
          <a:xfrm>
            <a:off x="8229600" y="4206240"/>
            <a:ext cx="20116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93% correct</a:t>
            </a:r>
          </a:p>
        </p:txBody>
      </p:sp>
      <p:sp>
        <p:nvSpPr>
          <p:cNvPr id="24" name="TextBox 23"/>
          <p:cNvSpPr txBox="1"/>
          <p:nvPr/>
        </p:nvSpPr>
        <p:spPr>
          <a:xfrm>
            <a:off x="731520" y="4846320"/>
            <a:ext cx="10058400" cy="320040"/>
          </a:xfrm>
          <a:prstGeom prst="rect">
            <a:avLst/>
          </a:prstGeom>
          <a:noFill/>
        </p:spPr>
        <p:txBody>
          <a:bodyPr wrap="square">
            <a:spAutoFit/>
          </a:bodyPr>
          <a:lstStyle/>
          <a:p>
            <a:pPr algn="l">
              <a:defRPr sz="1600" b="1">
                <a:solidFill>
                  <a:srgbClr val="2D2D2D"/>
                </a:solidFill>
                <a:latin typeface="Calibri"/>
              </a:defRPr>
            </a:pPr>
            <a:r>
              <a:t>Key Formula</a:t>
            </a:r>
          </a:p>
        </p:txBody>
      </p:sp>
      <p:sp>
        <p:nvSpPr>
          <p:cNvPr id="25" name="Rounded Rectangle 24"/>
          <p:cNvSpPr/>
          <p:nvPr/>
        </p:nvSpPr>
        <p:spPr>
          <a:xfrm>
            <a:off x="731520" y="5212080"/>
            <a:ext cx="59436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303520"/>
            <a:ext cx="5669280" cy="307777"/>
          </a:xfrm>
          <a:prstGeom prst="rect">
            <a:avLst/>
          </a:prstGeom>
          <a:noFill/>
        </p:spPr>
        <p:txBody>
          <a:bodyPr wrap="square">
            <a:spAutoFit/>
          </a:bodyPr>
          <a:lstStyle/>
          <a:p>
            <a:pPr>
              <a:spcAft>
                <a:spcPts val="200"/>
              </a:spcAft>
              <a:defRPr sz="1400">
                <a:solidFill>
                  <a:srgbClr val="0E9384"/>
                </a:solidFill>
                <a:latin typeface="Courier New"/>
              </a:defRPr>
            </a:pPr>
            <a:r>
              <a:rPr>
                <a:solidFill>
                  <a:schemeClr val="bg1"/>
                </a:solidFill>
              </a:rPr>
              <a:t>F_m(x) = F_{m-1}(x) + η × h_m(x)</a:t>
            </a:r>
          </a:p>
        </p:txBody>
      </p:sp>
      <p:sp>
        <p:nvSpPr>
          <p:cNvPr id="27" name="Rounded Rectangle 26"/>
          <p:cNvSpPr/>
          <p:nvPr/>
        </p:nvSpPr>
        <p:spPr>
          <a:xfrm>
            <a:off x="7132320" y="4846320"/>
            <a:ext cx="4297680" cy="1371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4937760"/>
            <a:ext cx="3931920" cy="320040"/>
          </a:xfrm>
          <a:prstGeom prst="rect">
            <a:avLst/>
          </a:prstGeom>
          <a:noFill/>
        </p:spPr>
        <p:txBody>
          <a:bodyPr wrap="square">
            <a:spAutoFit/>
          </a:bodyPr>
          <a:lstStyle/>
          <a:p>
            <a:pPr algn="l">
              <a:defRPr sz="1400" b="1">
                <a:solidFill>
                  <a:srgbClr val="2D2D2D"/>
                </a:solidFill>
                <a:latin typeface="Calibri"/>
              </a:defRPr>
            </a:pPr>
            <a:r>
              <a:t>Key Parameters</a:t>
            </a:r>
          </a:p>
        </p:txBody>
      </p:sp>
      <p:sp>
        <p:nvSpPr>
          <p:cNvPr id="29" name="TextBox 28"/>
          <p:cNvSpPr txBox="1"/>
          <p:nvPr/>
        </p:nvSpPr>
        <p:spPr>
          <a:xfrm>
            <a:off x="7315200" y="5303520"/>
            <a:ext cx="3931920" cy="822960"/>
          </a:xfrm>
          <a:prstGeom prst="rect">
            <a:avLst/>
          </a:prstGeom>
          <a:noFill/>
        </p:spPr>
        <p:txBody>
          <a:bodyPr wrap="square">
            <a:spAutoFit/>
          </a:bodyPr>
          <a:lstStyle/>
          <a:p>
            <a:pPr>
              <a:spcAft>
                <a:spcPts val="500"/>
              </a:spcAft>
              <a:defRPr sz="1100">
                <a:solidFill>
                  <a:srgbClr val="2D2D2D"/>
                </a:solidFill>
                <a:latin typeface="Calibri"/>
              </a:defRPr>
            </a:pPr>
            <a:r>
              <a:t>η = 0.1 (learning rate) — small steps prevent overfitting</a:t>
            </a:r>
          </a:p>
          <a:p>
            <a:pPr>
              <a:spcAft>
                <a:spcPts val="500"/>
              </a:spcAft>
              <a:defRPr sz="1100">
                <a:solidFill>
                  <a:srgbClr val="2D2D2D"/>
                </a:solidFill>
                <a:latin typeface="Calibri"/>
              </a:defRPr>
            </a:pPr>
            <a:r>
              <a:t>Regularization Ω(h) penalizes complex trees</a:t>
            </a:r>
          </a:p>
          <a:p>
            <a:pPr>
              <a:spcAft>
                <a:spcPts val="500"/>
              </a:spcAft>
              <a:defRPr sz="1100">
                <a:solidFill>
                  <a:srgbClr val="2D2D2D"/>
                </a:solidFill>
                <a:latin typeface="Calibri"/>
              </a:defRPr>
            </a:pPr>
            <a:r>
              <a:t>100 boosting rounds total</a:t>
            </a:r>
          </a:p>
        </p:txBody>
      </p:sp>
      <p:sp>
        <p:nvSpPr>
          <p:cNvPr id="30" name="Rounded Rectangle 29"/>
          <p:cNvSpPr/>
          <p:nvPr/>
        </p:nvSpPr>
        <p:spPr>
          <a:xfrm>
            <a:off x="731520" y="5943600"/>
            <a:ext cx="27432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Training: 3.7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3d — MLP: Forward Pass + Backpropagation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Multi-Layer Perceptron (feed-forward neural network)</a:t>
            </a:r>
          </a:p>
        </p:txBody>
      </p:sp>
      <p:sp>
        <p:nvSpPr>
          <p:cNvPr id="5" name="Rounded Rectangle 4"/>
          <p:cNvSpPr/>
          <p:nvPr/>
        </p:nvSpPr>
        <p:spPr>
          <a:xfrm>
            <a:off x="731520" y="1371600"/>
            <a:ext cx="1828800" cy="7315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Input</a:t>
            </a:r>
            <a:br>
              <a:rPr>
                <a:solidFill>
                  <a:schemeClr val="bg1"/>
                </a:solidFill>
              </a:rPr>
            </a:br>
            <a:r>
              <a:rPr>
                <a:solidFill>
                  <a:schemeClr val="bg1"/>
                </a:solidFill>
              </a:rPr>
              <a:t>150</a:t>
            </a:r>
          </a:p>
        </p:txBody>
      </p:sp>
      <p:sp>
        <p:nvSpPr>
          <p:cNvPr id="6" name="Rounded Rectangle 5"/>
          <p:cNvSpPr/>
          <p:nvPr/>
        </p:nvSpPr>
        <p:spPr>
          <a:xfrm>
            <a:off x="3200400" y="1371600"/>
            <a:ext cx="1828800" cy="73152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1</a:t>
            </a:r>
            <a:br>
              <a:rPr>
                <a:solidFill>
                  <a:schemeClr val="bg1"/>
                </a:solidFill>
              </a:rPr>
            </a:br>
            <a:r>
              <a:rPr>
                <a:solidFill>
                  <a:schemeClr val="bg1"/>
                </a:solidFill>
              </a:rPr>
              <a:t>256 neurons</a:t>
            </a:r>
          </a:p>
        </p:txBody>
      </p:sp>
      <p:sp>
        <p:nvSpPr>
          <p:cNvPr id="7" name="Rounded Rectangle 6"/>
          <p:cNvSpPr/>
          <p:nvPr/>
        </p:nvSpPr>
        <p:spPr>
          <a:xfrm>
            <a:off x="5669280" y="1371600"/>
            <a:ext cx="182880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2</a:t>
            </a:r>
            <a:br>
              <a:rPr>
                <a:solidFill>
                  <a:schemeClr val="bg1"/>
                </a:solidFill>
              </a:rPr>
            </a:br>
            <a:r>
              <a:rPr>
                <a:solidFill>
                  <a:schemeClr val="bg1"/>
                </a:solidFill>
              </a:rPr>
              <a:t>128 neurons</a:t>
            </a:r>
          </a:p>
        </p:txBody>
      </p:sp>
      <p:sp>
        <p:nvSpPr>
          <p:cNvPr id="8" name="Rounded Rectangle 7"/>
          <p:cNvSpPr/>
          <p:nvPr/>
        </p:nvSpPr>
        <p:spPr>
          <a:xfrm>
            <a:off x="8138160" y="1371600"/>
            <a:ext cx="1828800" cy="73152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Output</a:t>
            </a:r>
            <a:br>
              <a:rPr>
                <a:solidFill>
                  <a:schemeClr val="bg1"/>
                </a:solidFill>
              </a:rPr>
            </a:br>
            <a:r>
              <a:rPr>
                <a:solidFill>
                  <a:schemeClr val="bg1"/>
                </a:solidFill>
              </a:rPr>
              <a:t>9 classes</a:t>
            </a:r>
          </a:p>
        </p:txBody>
      </p:sp>
      <p:sp>
        <p:nvSpPr>
          <p:cNvPr id="9" name="TextBox 8"/>
          <p:cNvSpPr txBox="1"/>
          <p:nvPr/>
        </p:nvSpPr>
        <p:spPr>
          <a:xfrm>
            <a:off x="260603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0" name="TextBox 9"/>
          <p:cNvSpPr txBox="1"/>
          <p:nvPr/>
        </p:nvSpPr>
        <p:spPr>
          <a:xfrm>
            <a:off x="507491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1" name="TextBox 10"/>
          <p:cNvSpPr txBox="1"/>
          <p:nvPr/>
        </p:nvSpPr>
        <p:spPr>
          <a:xfrm>
            <a:off x="754379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2" name="TextBox 11"/>
          <p:cNvSpPr txBox="1"/>
          <p:nvPr/>
        </p:nvSpPr>
        <p:spPr>
          <a:xfrm>
            <a:off x="731520" y="2377440"/>
            <a:ext cx="10058400" cy="338554"/>
          </a:xfrm>
          <a:prstGeom prst="rect">
            <a:avLst/>
          </a:prstGeom>
          <a:noFill/>
        </p:spPr>
        <p:txBody>
          <a:bodyPr wrap="square">
            <a:spAutoFit/>
          </a:bodyPr>
          <a:lstStyle/>
          <a:p>
            <a:pPr algn="l">
              <a:defRPr sz="1600" b="1">
                <a:solidFill>
                  <a:srgbClr val="0E9384"/>
                </a:solidFill>
                <a:latin typeface="Calibri"/>
              </a:defRPr>
            </a:pPr>
            <a:r>
              <a:rPr>
                <a:solidFill>
                  <a:schemeClr val="bg1"/>
                </a:solidFill>
              </a:rPr>
              <a:t>Forward Pass</a:t>
            </a:r>
          </a:p>
        </p:txBody>
      </p:sp>
      <p:sp>
        <p:nvSpPr>
          <p:cNvPr id="13" name="Rounded Rectangle 12"/>
          <p:cNvSpPr/>
          <p:nvPr/>
        </p:nvSpPr>
        <p:spPr>
          <a:xfrm>
            <a:off x="731520" y="2743200"/>
            <a:ext cx="5029200" cy="10058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868680" y="2834640"/>
            <a:ext cx="4754880" cy="697627"/>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h₁ = ReLU(W₁·x + b₁)    # 256 neurons</a:t>
            </a:r>
          </a:p>
          <a:p>
            <a:pPr>
              <a:spcAft>
                <a:spcPts val="200"/>
              </a:spcAft>
              <a:defRPr sz="1200">
                <a:solidFill>
                  <a:srgbClr val="0E9384"/>
                </a:solidFill>
                <a:latin typeface="Courier New"/>
              </a:defRPr>
            </a:pPr>
            <a:r>
              <a:rPr>
                <a:solidFill>
                  <a:schemeClr val="bg1"/>
                </a:solidFill>
              </a:rPr>
              <a:t>h₂ = ReLU(W₂·h₁ + b₂)   # 128 neurons</a:t>
            </a:r>
          </a:p>
          <a:p>
            <a:pPr>
              <a:spcAft>
                <a:spcPts val="200"/>
              </a:spcAft>
              <a:defRPr sz="1200">
                <a:solidFill>
                  <a:srgbClr val="0E9384"/>
                </a:solidFill>
                <a:latin typeface="Courier New"/>
              </a:defRPr>
            </a:pPr>
            <a:r>
              <a:rPr>
                <a:solidFill>
                  <a:schemeClr val="bg1"/>
                </a:solidFill>
              </a:rPr>
              <a:t>ŷ  = Softmax(W₃·h₂ + b₃) # 9 class probs</a:t>
            </a:r>
          </a:p>
        </p:txBody>
      </p:sp>
      <p:sp>
        <p:nvSpPr>
          <p:cNvPr id="15" name="TextBox 14"/>
          <p:cNvSpPr txBox="1"/>
          <p:nvPr/>
        </p:nvSpPr>
        <p:spPr>
          <a:xfrm>
            <a:off x="6217920" y="2377440"/>
            <a:ext cx="5486400" cy="338554"/>
          </a:xfrm>
          <a:prstGeom prst="rect">
            <a:avLst/>
          </a:prstGeom>
          <a:noFill/>
        </p:spPr>
        <p:txBody>
          <a:bodyPr wrap="square">
            <a:spAutoFit/>
          </a:bodyPr>
          <a:lstStyle/>
          <a:p>
            <a:pPr algn="l">
              <a:defRPr sz="1600" b="1">
                <a:solidFill>
                  <a:srgbClr val="DC3545"/>
                </a:solidFill>
                <a:latin typeface="Calibri"/>
              </a:defRPr>
            </a:pPr>
            <a:r>
              <a:rPr>
                <a:solidFill>
                  <a:schemeClr val="bg1"/>
                </a:solidFill>
              </a:rPr>
              <a:t>Loss Function</a:t>
            </a:r>
          </a:p>
        </p:txBody>
      </p:sp>
      <p:sp>
        <p:nvSpPr>
          <p:cNvPr id="16" name="Rounded Rectangle 15"/>
          <p:cNvSpPr/>
          <p:nvPr/>
        </p:nvSpPr>
        <p:spPr>
          <a:xfrm>
            <a:off x="6217920" y="2743200"/>
            <a:ext cx="50292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6355080" y="2834640"/>
            <a:ext cx="4754880" cy="2743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CrossEntropy = -log(predicted prob of true class)</a:t>
            </a:r>
          </a:p>
        </p:txBody>
      </p:sp>
      <p:sp>
        <p:nvSpPr>
          <p:cNvPr id="18" name="TextBox 17"/>
          <p:cNvSpPr txBox="1"/>
          <p:nvPr/>
        </p:nvSpPr>
        <p:spPr>
          <a:xfrm>
            <a:off x="6217920" y="3383280"/>
            <a:ext cx="5486400" cy="338554"/>
          </a:xfrm>
          <a:prstGeom prst="rect">
            <a:avLst/>
          </a:prstGeom>
          <a:noFill/>
        </p:spPr>
        <p:txBody>
          <a:bodyPr wrap="square">
            <a:spAutoFit/>
          </a:bodyPr>
          <a:lstStyle/>
          <a:p>
            <a:pPr algn="l">
              <a:defRPr sz="1600" b="1">
                <a:solidFill>
                  <a:srgbClr val="EF7C00"/>
                </a:solidFill>
                <a:latin typeface="Calibri"/>
              </a:defRPr>
            </a:pPr>
            <a:r>
              <a:rPr>
                <a:solidFill>
                  <a:schemeClr val="bg1"/>
                </a:solidFill>
              </a:rPr>
              <a:t>Backward Pass (Backpropagation)</a:t>
            </a:r>
          </a:p>
        </p:txBody>
      </p:sp>
      <p:sp>
        <p:nvSpPr>
          <p:cNvPr id="19" name="Rounded Rectangle 18"/>
          <p:cNvSpPr/>
          <p:nvPr/>
        </p:nvSpPr>
        <p:spPr>
          <a:xfrm>
            <a:off x="6217920" y="3749039"/>
            <a:ext cx="502920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 name="TextBox 19"/>
          <p:cNvSpPr txBox="1"/>
          <p:nvPr/>
        </p:nvSpPr>
        <p:spPr>
          <a:xfrm>
            <a:off x="6355080" y="3840479"/>
            <a:ext cx="4754880" cy="5029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1. Compute gradient ∂Loss/∂W for each layer</a:t>
            </a:r>
          </a:p>
          <a:p>
            <a:pPr>
              <a:spcAft>
                <a:spcPts val="200"/>
              </a:spcAft>
              <a:defRPr sz="1200">
                <a:solidFill>
                  <a:srgbClr val="0E9384"/>
                </a:solidFill>
                <a:latin typeface="Courier New"/>
              </a:defRPr>
            </a:pPr>
            <a:r>
              <a:rPr>
                <a:solidFill>
                  <a:schemeClr val="bg1"/>
                </a:solidFill>
              </a:rPr>
              <a:t>2. Update: W = W - learning_rate × gradient</a:t>
            </a:r>
          </a:p>
        </p:txBody>
      </p:sp>
      <p:sp>
        <p:nvSpPr>
          <p:cNvPr id="21" name="Rounded Rectangle 20"/>
          <p:cNvSpPr/>
          <p:nvPr/>
        </p:nvSpPr>
        <p:spPr>
          <a:xfrm>
            <a:off x="731520" y="4114800"/>
            <a:ext cx="5029200" cy="16459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206240"/>
            <a:ext cx="4663440" cy="320040"/>
          </a:xfrm>
          <a:prstGeom prst="rect">
            <a:avLst/>
          </a:prstGeom>
          <a:noFill/>
        </p:spPr>
        <p:txBody>
          <a:bodyPr wrap="square">
            <a:spAutoFit/>
          </a:bodyPr>
          <a:lstStyle/>
          <a:p>
            <a:pPr algn="l">
              <a:defRPr sz="1500" b="1">
                <a:solidFill>
                  <a:srgbClr val="2D2D2D"/>
                </a:solidFill>
                <a:latin typeface="Calibri"/>
              </a:defRPr>
            </a:pPr>
            <a:r>
              <a:rPr>
                <a:solidFill>
                  <a:schemeClr val="bg1"/>
                </a:solidFill>
              </a:rPr>
              <a:t>Network Statistics</a:t>
            </a:r>
          </a:p>
        </p:txBody>
      </p:sp>
      <p:sp>
        <p:nvSpPr>
          <p:cNvPr id="23" name="TextBox 22"/>
          <p:cNvSpPr txBox="1"/>
          <p:nvPr/>
        </p:nvSpPr>
        <p:spPr>
          <a:xfrm>
            <a:off x="914400" y="4572000"/>
            <a:ext cx="2286000" cy="228600"/>
          </a:xfrm>
          <a:prstGeom prst="rect">
            <a:avLst/>
          </a:prstGeom>
          <a:noFill/>
        </p:spPr>
        <p:txBody>
          <a:bodyPr wrap="square">
            <a:spAutoFit/>
          </a:bodyPr>
          <a:lstStyle/>
          <a:p>
            <a:pPr algn="l">
              <a:defRPr sz="1100" b="0">
                <a:solidFill>
                  <a:srgbClr val="2D2D2D"/>
                </a:solidFill>
                <a:latin typeface="Courier New"/>
              </a:defRPr>
            </a:pPr>
            <a:r>
              <a:t>Total parameters:</a:t>
            </a:r>
          </a:p>
        </p:txBody>
      </p:sp>
      <p:sp>
        <p:nvSpPr>
          <p:cNvPr id="24" name="TextBox 23"/>
          <p:cNvSpPr txBox="1"/>
          <p:nvPr/>
        </p:nvSpPr>
        <p:spPr>
          <a:xfrm>
            <a:off x="3200400" y="4572000"/>
            <a:ext cx="2286000" cy="228600"/>
          </a:xfrm>
          <a:prstGeom prst="rect">
            <a:avLst/>
          </a:prstGeom>
          <a:noFill/>
        </p:spPr>
        <p:txBody>
          <a:bodyPr wrap="square">
            <a:spAutoFit/>
          </a:bodyPr>
          <a:lstStyle/>
          <a:p>
            <a:pPr algn="l">
              <a:defRPr sz="1100" b="1">
                <a:solidFill>
                  <a:srgbClr val="003D7C"/>
                </a:solidFill>
                <a:latin typeface="Courier New"/>
              </a:defRPr>
            </a:pPr>
            <a:r>
              <a:t>72,448</a:t>
            </a:r>
          </a:p>
        </p:txBody>
      </p:sp>
      <p:sp>
        <p:nvSpPr>
          <p:cNvPr id="25" name="TextBox 24"/>
          <p:cNvSpPr txBox="1"/>
          <p:nvPr/>
        </p:nvSpPr>
        <p:spPr>
          <a:xfrm>
            <a:off x="914400" y="4800600"/>
            <a:ext cx="2286000" cy="228600"/>
          </a:xfrm>
          <a:prstGeom prst="rect">
            <a:avLst/>
          </a:prstGeom>
          <a:noFill/>
        </p:spPr>
        <p:txBody>
          <a:bodyPr wrap="square">
            <a:spAutoFit/>
          </a:bodyPr>
          <a:lstStyle/>
          <a:p>
            <a:pPr algn="l">
              <a:defRPr sz="1100" b="0">
                <a:solidFill>
                  <a:srgbClr val="2D2D2D"/>
                </a:solidFill>
                <a:latin typeface="Courier New"/>
              </a:defRPr>
            </a:pPr>
            <a:r>
              <a:t>  Layer 1 (150→256):</a:t>
            </a:r>
          </a:p>
        </p:txBody>
      </p:sp>
      <p:sp>
        <p:nvSpPr>
          <p:cNvPr id="26" name="TextBox 25"/>
          <p:cNvSpPr txBox="1"/>
          <p:nvPr/>
        </p:nvSpPr>
        <p:spPr>
          <a:xfrm>
            <a:off x="3200400" y="4800600"/>
            <a:ext cx="2286000" cy="228600"/>
          </a:xfrm>
          <a:prstGeom prst="rect">
            <a:avLst/>
          </a:prstGeom>
          <a:noFill/>
        </p:spPr>
        <p:txBody>
          <a:bodyPr wrap="square">
            <a:spAutoFit/>
          </a:bodyPr>
          <a:lstStyle/>
          <a:p>
            <a:pPr algn="l">
              <a:defRPr sz="1100" b="1">
                <a:solidFill>
                  <a:srgbClr val="003D7C"/>
                </a:solidFill>
                <a:latin typeface="Courier New"/>
              </a:defRPr>
            </a:pPr>
            <a:r>
              <a:t>150×256 + 256 = 38,656</a:t>
            </a:r>
          </a:p>
        </p:txBody>
      </p:sp>
      <p:sp>
        <p:nvSpPr>
          <p:cNvPr id="27" name="TextBox 26"/>
          <p:cNvSpPr txBox="1"/>
          <p:nvPr/>
        </p:nvSpPr>
        <p:spPr>
          <a:xfrm>
            <a:off x="914400" y="5029200"/>
            <a:ext cx="2286000" cy="228600"/>
          </a:xfrm>
          <a:prstGeom prst="rect">
            <a:avLst/>
          </a:prstGeom>
          <a:noFill/>
        </p:spPr>
        <p:txBody>
          <a:bodyPr wrap="square">
            <a:spAutoFit/>
          </a:bodyPr>
          <a:lstStyle/>
          <a:p>
            <a:pPr algn="l">
              <a:defRPr sz="1100" b="0">
                <a:solidFill>
                  <a:srgbClr val="2D2D2D"/>
                </a:solidFill>
                <a:latin typeface="Courier New"/>
              </a:defRPr>
            </a:pPr>
            <a:r>
              <a:t>  Layer 2 (256→128):</a:t>
            </a:r>
          </a:p>
        </p:txBody>
      </p:sp>
      <p:sp>
        <p:nvSpPr>
          <p:cNvPr id="28" name="TextBox 27"/>
          <p:cNvSpPr txBox="1"/>
          <p:nvPr/>
        </p:nvSpPr>
        <p:spPr>
          <a:xfrm>
            <a:off x="3200400" y="5029200"/>
            <a:ext cx="2286000" cy="228600"/>
          </a:xfrm>
          <a:prstGeom prst="rect">
            <a:avLst/>
          </a:prstGeom>
          <a:noFill/>
        </p:spPr>
        <p:txBody>
          <a:bodyPr wrap="square">
            <a:spAutoFit/>
          </a:bodyPr>
          <a:lstStyle/>
          <a:p>
            <a:pPr algn="l">
              <a:defRPr sz="1100" b="1">
                <a:solidFill>
                  <a:srgbClr val="003D7C"/>
                </a:solidFill>
                <a:latin typeface="Courier New"/>
              </a:defRPr>
            </a:pPr>
            <a:r>
              <a:t>256×128 + 128 = 32,896</a:t>
            </a:r>
          </a:p>
        </p:txBody>
      </p:sp>
      <p:sp>
        <p:nvSpPr>
          <p:cNvPr id="29" name="TextBox 28"/>
          <p:cNvSpPr txBox="1"/>
          <p:nvPr/>
        </p:nvSpPr>
        <p:spPr>
          <a:xfrm>
            <a:off x="914400" y="5257800"/>
            <a:ext cx="2286000" cy="228600"/>
          </a:xfrm>
          <a:prstGeom prst="rect">
            <a:avLst/>
          </a:prstGeom>
          <a:noFill/>
        </p:spPr>
        <p:txBody>
          <a:bodyPr wrap="square">
            <a:spAutoFit/>
          </a:bodyPr>
          <a:lstStyle/>
          <a:p>
            <a:pPr algn="l">
              <a:defRPr sz="1100" b="0">
                <a:solidFill>
                  <a:srgbClr val="2D2D2D"/>
                </a:solidFill>
                <a:latin typeface="Courier New"/>
              </a:defRPr>
            </a:pPr>
            <a:r>
              <a:t>  Layer 3 (128→9):</a:t>
            </a:r>
          </a:p>
        </p:txBody>
      </p:sp>
      <p:sp>
        <p:nvSpPr>
          <p:cNvPr id="30" name="TextBox 29"/>
          <p:cNvSpPr txBox="1"/>
          <p:nvPr/>
        </p:nvSpPr>
        <p:spPr>
          <a:xfrm>
            <a:off x="3200400" y="5257800"/>
            <a:ext cx="2286000" cy="228600"/>
          </a:xfrm>
          <a:prstGeom prst="rect">
            <a:avLst/>
          </a:prstGeom>
          <a:noFill/>
        </p:spPr>
        <p:txBody>
          <a:bodyPr wrap="square">
            <a:spAutoFit/>
          </a:bodyPr>
          <a:lstStyle/>
          <a:p>
            <a:pPr algn="l">
              <a:defRPr sz="1100" b="1">
                <a:solidFill>
                  <a:srgbClr val="003D7C"/>
                </a:solidFill>
                <a:latin typeface="Courier New"/>
              </a:defRPr>
            </a:pPr>
            <a:r>
              <a:t>128×9 + 9 = 1,161</a:t>
            </a:r>
          </a:p>
        </p:txBody>
      </p:sp>
      <p:sp>
        <p:nvSpPr>
          <p:cNvPr id="31" name="Rounded Rectangle 30"/>
          <p:cNvSpPr/>
          <p:nvPr/>
        </p:nvSpPr>
        <p:spPr>
          <a:xfrm>
            <a:off x="6217920" y="4754880"/>
            <a:ext cx="5029200" cy="100584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846320"/>
            <a:ext cx="4663440" cy="320040"/>
          </a:xfrm>
          <a:prstGeom prst="rect">
            <a:avLst/>
          </a:prstGeom>
          <a:noFill/>
        </p:spPr>
        <p:txBody>
          <a:bodyPr wrap="square">
            <a:spAutoFit/>
          </a:bodyPr>
          <a:lstStyle/>
          <a:p>
            <a:pPr algn="l">
              <a:defRPr sz="1500" b="1">
                <a:solidFill>
                  <a:srgbClr val="EF7C00"/>
                </a:solidFill>
                <a:latin typeface="Calibri"/>
              </a:defRPr>
            </a:pPr>
            <a:r>
              <a:t>Training Process</a:t>
            </a:r>
          </a:p>
        </p:txBody>
      </p:sp>
      <p:sp>
        <p:nvSpPr>
          <p:cNvPr id="33" name="TextBox 32"/>
          <p:cNvSpPr txBox="1"/>
          <p:nvPr/>
        </p:nvSpPr>
        <p:spPr>
          <a:xfrm>
            <a:off x="6400800" y="5212080"/>
            <a:ext cx="4663440" cy="457200"/>
          </a:xfrm>
          <a:prstGeom prst="rect">
            <a:avLst/>
          </a:prstGeom>
          <a:noFill/>
        </p:spPr>
        <p:txBody>
          <a:bodyPr wrap="square">
            <a:spAutoFit/>
          </a:bodyPr>
          <a:lstStyle/>
          <a:p>
            <a:pPr>
              <a:spcAft>
                <a:spcPts val="500"/>
              </a:spcAft>
              <a:defRPr sz="1200">
                <a:solidFill>
                  <a:srgbClr val="2D2D2D"/>
                </a:solidFill>
                <a:latin typeface="Calibri"/>
              </a:defRPr>
            </a:pPr>
            <a:r>
              <a:t>7,685 samples × 50 epochs = 384,250 weight updates</a:t>
            </a:r>
          </a:p>
          <a:p>
            <a:pPr>
              <a:spcAft>
                <a:spcPts val="500"/>
              </a:spcAft>
              <a:defRPr sz="1200">
                <a:solidFill>
                  <a:srgbClr val="2D2D2D"/>
                </a:solidFill>
                <a:latin typeface="Calibri"/>
              </a:defRPr>
            </a:pPr>
            <a:r>
              <a:t>Training time: 14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7E466-2F57-85FE-9AC3-361FDFC45B0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A4FEB7E-614C-ADFA-05BA-976F9A5146C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4EE9678-55F7-F752-2DB7-F5AE92AC5BF6}"/>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37D7DEE-3F22-6707-8B9D-802E7BA30ACB}"/>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3e — LSTM: Learning Sequences with Memory</a:t>
            </a:r>
            <a:endParaRPr dirty="0"/>
          </a:p>
        </p:txBody>
      </p:sp>
      <p:sp>
        <p:nvSpPr>
          <p:cNvPr id="3" name="Rectangle 2">
            <a:extLst>
              <a:ext uri="{FF2B5EF4-FFF2-40B4-BE49-F238E27FC236}">
                <a16:creationId xmlns:a16="http://schemas.microsoft.com/office/drawing/2014/main" id="{E35A7E1B-94A9-D07F-8CC3-5A998D1598D1}"/>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EDF2A4-3320-426D-1A56-77FEBF3061EE}"/>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Long Short-Term Memory recurrent neural network</a:t>
            </a:r>
            <a:endParaRPr dirty="0"/>
          </a:p>
        </p:txBody>
      </p:sp>
      <p:sp>
        <p:nvSpPr>
          <p:cNvPr id="63" name="TextBox 9">
            <a:extLst>
              <a:ext uri="{FF2B5EF4-FFF2-40B4-BE49-F238E27FC236}">
                <a16:creationId xmlns:a16="http://schemas.microsoft.com/office/drawing/2014/main" id="{C6C07440-CD2A-065E-04A0-EF80B026E32C}"/>
              </a:ext>
            </a:extLst>
          </p:cNvPr>
          <p:cNvSpPr txBox="1"/>
          <p:nvPr/>
        </p:nvSpPr>
        <p:spPr>
          <a:xfrm>
            <a:off x="644434" y="147610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Input Reshape</a:t>
            </a:r>
          </a:p>
        </p:txBody>
      </p:sp>
      <p:sp>
        <p:nvSpPr>
          <p:cNvPr id="64" name="Rounded Rectangle 10">
            <a:extLst>
              <a:ext uri="{FF2B5EF4-FFF2-40B4-BE49-F238E27FC236}">
                <a16:creationId xmlns:a16="http://schemas.microsoft.com/office/drawing/2014/main" id="{93392906-BC9D-6C4C-BA69-C231456E3A90}"/>
              </a:ext>
            </a:extLst>
          </p:cNvPr>
          <p:cNvSpPr/>
          <p:nvPr/>
        </p:nvSpPr>
        <p:spPr>
          <a:xfrm>
            <a:off x="644434" y="1841863"/>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(150,) flat</a:t>
            </a:r>
          </a:p>
        </p:txBody>
      </p:sp>
      <p:sp>
        <p:nvSpPr>
          <p:cNvPr id="65" name="TextBox 11">
            <a:extLst>
              <a:ext uri="{FF2B5EF4-FFF2-40B4-BE49-F238E27FC236}">
                <a16:creationId xmlns:a16="http://schemas.microsoft.com/office/drawing/2014/main" id="{CE8F081B-A27B-FEAB-83BE-363CAC02D159}"/>
              </a:ext>
            </a:extLst>
          </p:cNvPr>
          <p:cNvSpPr txBox="1"/>
          <p:nvPr/>
        </p:nvSpPr>
        <p:spPr>
          <a:xfrm>
            <a:off x="3021874" y="1887583"/>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66" name="Rounded Rectangle 12">
            <a:extLst>
              <a:ext uri="{FF2B5EF4-FFF2-40B4-BE49-F238E27FC236}">
                <a16:creationId xmlns:a16="http://schemas.microsoft.com/office/drawing/2014/main" id="{D561D069-5121-A9E5-FEC3-95D73D5DD4EC}"/>
              </a:ext>
            </a:extLst>
          </p:cNvPr>
          <p:cNvSpPr/>
          <p:nvPr/>
        </p:nvSpPr>
        <p:spPr>
          <a:xfrm>
            <a:off x="3479074" y="1841863"/>
            <a:ext cx="32004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(10 timesteps, 15 features)</a:t>
            </a:r>
          </a:p>
        </p:txBody>
      </p:sp>
      <p:sp>
        <p:nvSpPr>
          <p:cNvPr id="67" name="TextBox 13">
            <a:extLst>
              <a:ext uri="{FF2B5EF4-FFF2-40B4-BE49-F238E27FC236}">
                <a16:creationId xmlns:a16="http://schemas.microsoft.com/office/drawing/2014/main" id="{268C3AA0-F2CA-3F7F-1017-70E6BAB77437}"/>
              </a:ext>
            </a:extLst>
          </p:cNvPr>
          <p:cNvSpPr txBox="1"/>
          <p:nvPr/>
        </p:nvSpPr>
        <p:spPr>
          <a:xfrm>
            <a:off x="644434" y="257338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LSTM Cell: 4 Gates Control Information Flow</a:t>
            </a:r>
          </a:p>
        </p:txBody>
      </p:sp>
      <p:sp>
        <p:nvSpPr>
          <p:cNvPr id="68" name="Rounded Rectangle 14">
            <a:extLst>
              <a:ext uri="{FF2B5EF4-FFF2-40B4-BE49-F238E27FC236}">
                <a16:creationId xmlns:a16="http://schemas.microsoft.com/office/drawing/2014/main" id="{36D3D493-39DE-202B-39B1-C1BE0150B19F}"/>
              </a:ext>
            </a:extLst>
          </p:cNvPr>
          <p:cNvSpPr/>
          <p:nvPr/>
        </p:nvSpPr>
        <p:spPr>
          <a:xfrm>
            <a:off x="644434" y="3030583"/>
            <a:ext cx="2560320" cy="137160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9" name="Rounded Rectangle 15">
            <a:extLst>
              <a:ext uri="{FF2B5EF4-FFF2-40B4-BE49-F238E27FC236}">
                <a16:creationId xmlns:a16="http://schemas.microsoft.com/office/drawing/2014/main" id="{A537CEE8-50CF-FB5B-6A20-8CCCE47D27FB}"/>
              </a:ext>
            </a:extLst>
          </p:cNvPr>
          <p:cNvSpPr/>
          <p:nvPr/>
        </p:nvSpPr>
        <p:spPr>
          <a:xfrm>
            <a:off x="827314" y="3122023"/>
            <a:ext cx="2194560" cy="320040"/>
          </a:xfrm>
          <a:prstGeom prst="round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Forget Gate</a:t>
            </a:r>
          </a:p>
        </p:txBody>
      </p:sp>
      <p:sp>
        <p:nvSpPr>
          <p:cNvPr id="70" name="TextBox 16">
            <a:extLst>
              <a:ext uri="{FF2B5EF4-FFF2-40B4-BE49-F238E27FC236}">
                <a16:creationId xmlns:a16="http://schemas.microsoft.com/office/drawing/2014/main" id="{B51097CF-B7D1-F28D-65A6-FAB577D17CA5}"/>
              </a:ext>
            </a:extLst>
          </p:cNvPr>
          <p:cNvSpPr txBox="1"/>
          <p:nvPr/>
        </p:nvSpPr>
        <p:spPr>
          <a:xfrm>
            <a:off x="7358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f_t = σ(W_f · [h_{t-1}, x_t])</a:t>
            </a:r>
          </a:p>
        </p:txBody>
      </p:sp>
      <p:sp>
        <p:nvSpPr>
          <p:cNvPr id="71" name="TextBox 17">
            <a:extLst>
              <a:ext uri="{FF2B5EF4-FFF2-40B4-BE49-F238E27FC236}">
                <a16:creationId xmlns:a16="http://schemas.microsoft.com/office/drawing/2014/main" id="{C3E0D4D6-9E11-366E-09AF-8431BF72C62C}"/>
              </a:ext>
            </a:extLst>
          </p:cNvPr>
          <p:cNvSpPr txBox="1"/>
          <p:nvPr/>
        </p:nvSpPr>
        <p:spPr>
          <a:xfrm>
            <a:off x="7358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forget from memory</a:t>
            </a:r>
          </a:p>
        </p:txBody>
      </p:sp>
      <p:sp>
        <p:nvSpPr>
          <p:cNvPr id="72" name="Rounded Rectangle 18">
            <a:extLst>
              <a:ext uri="{FF2B5EF4-FFF2-40B4-BE49-F238E27FC236}">
                <a16:creationId xmlns:a16="http://schemas.microsoft.com/office/drawing/2014/main" id="{4FEA952A-CA85-1D37-19A6-6C45574C7A79}"/>
              </a:ext>
            </a:extLst>
          </p:cNvPr>
          <p:cNvSpPr/>
          <p:nvPr/>
        </p:nvSpPr>
        <p:spPr>
          <a:xfrm>
            <a:off x="3387634" y="3030583"/>
            <a:ext cx="2560320" cy="13716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3" name="Rounded Rectangle 19">
            <a:extLst>
              <a:ext uri="{FF2B5EF4-FFF2-40B4-BE49-F238E27FC236}">
                <a16:creationId xmlns:a16="http://schemas.microsoft.com/office/drawing/2014/main" id="{B0BE9A75-9359-0989-9158-8CB5ACE040B9}"/>
              </a:ext>
            </a:extLst>
          </p:cNvPr>
          <p:cNvSpPr/>
          <p:nvPr/>
        </p:nvSpPr>
        <p:spPr>
          <a:xfrm>
            <a:off x="3570514" y="3122023"/>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Input Gate</a:t>
            </a:r>
          </a:p>
        </p:txBody>
      </p:sp>
      <p:sp>
        <p:nvSpPr>
          <p:cNvPr id="74" name="TextBox 20">
            <a:extLst>
              <a:ext uri="{FF2B5EF4-FFF2-40B4-BE49-F238E27FC236}">
                <a16:creationId xmlns:a16="http://schemas.microsoft.com/office/drawing/2014/main" id="{92FA46ED-8417-DB63-9812-C6EC668D0460}"/>
              </a:ext>
            </a:extLst>
          </p:cNvPr>
          <p:cNvSpPr txBox="1"/>
          <p:nvPr/>
        </p:nvSpPr>
        <p:spPr>
          <a:xfrm>
            <a:off x="34790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i_t = σ(W_i · [h_{t-1}, x_t])</a:t>
            </a:r>
          </a:p>
        </p:txBody>
      </p:sp>
      <p:sp>
        <p:nvSpPr>
          <p:cNvPr id="75" name="TextBox 21">
            <a:extLst>
              <a:ext uri="{FF2B5EF4-FFF2-40B4-BE49-F238E27FC236}">
                <a16:creationId xmlns:a16="http://schemas.microsoft.com/office/drawing/2014/main" id="{97CBF9AA-1484-BB20-F986-AAAF99D1D645}"/>
              </a:ext>
            </a:extLst>
          </p:cNvPr>
          <p:cNvSpPr txBox="1"/>
          <p:nvPr/>
        </p:nvSpPr>
        <p:spPr>
          <a:xfrm>
            <a:off x="34790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new info to store</a:t>
            </a:r>
          </a:p>
        </p:txBody>
      </p:sp>
      <p:sp>
        <p:nvSpPr>
          <p:cNvPr id="76" name="Rounded Rectangle 22">
            <a:extLst>
              <a:ext uri="{FF2B5EF4-FFF2-40B4-BE49-F238E27FC236}">
                <a16:creationId xmlns:a16="http://schemas.microsoft.com/office/drawing/2014/main" id="{65DC1780-D62B-2B29-EE19-1E6D9FA20FBB}"/>
              </a:ext>
            </a:extLst>
          </p:cNvPr>
          <p:cNvSpPr/>
          <p:nvPr/>
        </p:nvSpPr>
        <p:spPr>
          <a:xfrm>
            <a:off x="6130834" y="3030583"/>
            <a:ext cx="2560320" cy="1371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7" name="Rounded Rectangle 23">
            <a:extLst>
              <a:ext uri="{FF2B5EF4-FFF2-40B4-BE49-F238E27FC236}">
                <a16:creationId xmlns:a16="http://schemas.microsoft.com/office/drawing/2014/main" id="{CD7C70D4-15C5-B0BF-8498-B3BCB16D267F}"/>
              </a:ext>
            </a:extLst>
          </p:cNvPr>
          <p:cNvSpPr/>
          <p:nvPr/>
        </p:nvSpPr>
        <p:spPr>
          <a:xfrm>
            <a:off x="6313714" y="3122023"/>
            <a:ext cx="219456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Cell Update</a:t>
            </a:r>
          </a:p>
        </p:txBody>
      </p:sp>
      <p:sp>
        <p:nvSpPr>
          <p:cNvPr id="78" name="TextBox 24">
            <a:extLst>
              <a:ext uri="{FF2B5EF4-FFF2-40B4-BE49-F238E27FC236}">
                <a16:creationId xmlns:a16="http://schemas.microsoft.com/office/drawing/2014/main" id="{5836E340-C93C-6AD4-36FA-49FCE592812A}"/>
              </a:ext>
            </a:extLst>
          </p:cNvPr>
          <p:cNvSpPr txBox="1"/>
          <p:nvPr/>
        </p:nvSpPr>
        <p:spPr>
          <a:xfrm>
            <a:off x="62222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C̃_t = tanh(W_c · [h_{t-1}, x_t])</a:t>
            </a:r>
          </a:p>
        </p:txBody>
      </p:sp>
      <p:sp>
        <p:nvSpPr>
          <p:cNvPr id="79" name="TextBox 25">
            <a:extLst>
              <a:ext uri="{FF2B5EF4-FFF2-40B4-BE49-F238E27FC236}">
                <a16:creationId xmlns:a16="http://schemas.microsoft.com/office/drawing/2014/main" id="{4439267B-5227-1FC2-1149-1C31ADB140F4}"/>
              </a:ext>
            </a:extLst>
          </p:cNvPr>
          <p:cNvSpPr txBox="1"/>
          <p:nvPr/>
        </p:nvSpPr>
        <p:spPr>
          <a:xfrm>
            <a:off x="62222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New candidate information</a:t>
            </a:r>
          </a:p>
        </p:txBody>
      </p:sp>
      <p:sp>
        <p:nvSpPr>
          <p:cNvPr id="80" name="Rounded Rectangle 26">
            <a:extLst>
              <a:ext uri="{FF2B5EF4-FFF2-40B4-BE49-F238E27FC236}">
                <a16:creationId xmlns:a16="http://schemas.microsoft.com/office/drawing/2014/main" id="{CBEBD3D8-A5B5-404E-F6D0-EE6D06CEFC58}"/>
              </a:ext>
            </a:extLst>
          </p:cNvPr>
          <p:cNvSpPr/>
          <p:nvPr/>
        </p:nvSpPr>
        <p:spPr>
          <a:xfrm>
            <a:off x="8874034" y="3030583"/>
            <a:ext cx="2560320" cy="13716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Rounded Rectangle 27">
            <a:extLst>
              <a:ext uri="{FF2B5EF4-FFF2-40B4-BE49-F238E27FC236}">
                <a16:creationId xmlns:a16="http://schemas.microsoft.com/office/drawing/2014/main" id="{84F64B51-61DD-44E7-5625-FFDB4085F6ED}"/>
              </a:ext>
            </a:extLst>
          </p:cNvPr>
          <p:cNvSpPr/>
          <p:nvPr/>
        </p:nvSpPr>
        <p:spPr>
          <a:xfrm>
            <a:off x="9056914" y="3122023"/>
            <a:ext cx="219456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Output Gate</a:t>
            </a:r>
          </a:p>
        </p:txBody>
      </p:sp>
      <p:sp>
        <p:nvSpPr>
          <p:cNvPr id="82" name="TextBox 28">
            <a:extLst>
              <a:ext uri="{FF2B5EF4-FFF2-40B4-BE49-F238E27FC236}">
                <a16:creationId xmlns:a16="http://schemas.microsoft.com/office/drawing/2014/main" id="{D9031F4F-9B4E-DC77-9D25-F6DD6CD660C3}"/>
              </a:ext>
            </a:extLst>
          </p:cNvPr>
          <p:cNvSpPr txBox="1"/>
          <p:nvPr/>
        </p:nvSpPr>
        <p:spPr>
          <a:xfrm>
            <a:off x="89654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o_t = σ(W_o · [h_{t-1}, x_t])</a:t>
            </a:r>
          </a:p>
        </p:txBody>
      </p:sp>
      <p:sp>
        <p:nvSpPr>
          <p:cNvPr id="83" name="TextBox 29">
            <a:extLst>
              <a:ext uri="{FF2B5EF4-FFF2-40B4-BE49-F238E27FC236}">
                <a16:creationId xmlns:a16="http://schemas.microsoft.com/office/drawing/2014/main" id="{D2059DB9-0CE0-A6D8-458F-76B920CC2977}"/>
              </a:ext>
            </a:extLst>
          </p:cNvPr>
          <p:cNvSpPr txBox="1"/>
          <p:nvPr/>
        </p:nvSpPr>
        <p:spPr>
          <a:xfrm>
            <a:off x="89654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output</a:t>
            </a:r>
          </a:p>
        </p:txBody>
      </p:sp>
      <p:sp>
        <p:nvSpPr>
          <p:cNvPr id="84" name="TextBox 30">
            <a:extLst>
              <a:ext uri="{FF2B5EF4-FFF2-40B4-BE49-F238E27FC236}">
                <a16:creationId xmlns:a16="http://schemas.microsoft.com/office/drawing/2014/main" id="{4A74CF3B-0EF5-634F-F209-03AA26D38A99}"/>
              </a:ext>
            </a:extLst>
          </p:cNvPr>
          <p:cNvSpPr txBox="1"/>
          <p:nvPr/>
        </p:nvSpPr>
        <p:spPr>
          <a:xfrm>
            <a:off x="644434" y="4676503"/>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FFFFFF"/>
                </a:solidFill>
                <a:latin typeface="Calibri"/>
              </a:defRPr>
            </a:pPr>
            <a:r>
              <a:rPr dirty="0">
                <a:solidFill>
                  <a:schemeClr val="tx2"/>
                </a:solidFill>
              </a:rPr>
              <a:t>Cell State Update</a:t>
            </a:r>
          </a:p>
        </p:txBody>
      </p:sp>
      <p:sp>
        <p:nvSpPr>
          <p:cNvPr id="85" name="Rounded Rectangle 31">
            <a:extLst>
              <a:ext uri="{FF2B5EF4-FFF2-40B4-BE49-F238E27FC236}">
                <a16:creationId xmlns:a16="http://schemas.microsoft.com/office/drawing/2014/main" id="{05914B9A-9939-DF99-A20E-F151C37D8AD8}"/>
              </a:ext>
            </a:extLst>
          </p:cNvPr>
          <p:cNvSpPr/>
          <p:nvPr/>
        </p:nvSpPr>
        <p:spPr>
          <a:xfrm>
            <a:off x="644434" y="5042263"/>
            <a:ext cx="731520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6" name="TextBox 32">
            <a:extLst>
              <a:ext uri="{FF2B5EF4-FFF2-40B4-BE49-F238E27FC236}">
                <a16:creationId xmlns:a16="http://schemas.microsoft.com/office/drawing/2014/main" id="{12C0DFB4-89F5-C866-A0F0-F77B64B2B8E4}"/>
              </a:ext>
            </a:extLst>
          </p:cNvPr>
          <p:cNvSpPr txBox="1"/>
          <p:nvPr/>
        </p:nvSpPr>
        <p:spPr>
          <a:xfrm>
            <a:off x="781594" y="5133703"/>
            <a:ext cx="704088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t>C_t = f_t ⊙ C_{t-1} + i_t ⊙ C̃_t    # forget old + add new</a:t>
            </a:r>
          </a:p>
        </p:txBody>
      </p:sp>
      <p:sp>
        <p:nvSpPr>
          <p:cNvPr id="87" name="TextBox 33">
            <a:extLst>
              <a:ext uri="{FF2B5EF4-FFF2-40B4-BE49-F238E27FC236}">
                <a16:creationId xmlns:a16="http://schemas.microsoft.com/office/drawing/2014/main" id="{CA2660CC-E7BA-095B-5D86-D89DB7ED0CEA}"/>
              </a:ext>
            </a:extLst>
          </p:cNvPr>
          <p:cNvSpPr txBox="1"/>
          <p:nvPr/>
        </p:nvSpPr>
        <p:spPr>
          <a:xfrm>
            <a:off x="644434" y="5682343"/>
            <a:ext cx="10058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After 10 steps: final hidden state → Linear(64, 9) → prediction</a:t>
            </a:r>
          </a:p>
        </p:txBody>
      </p:sp>
      <p:sp>
        <p:nvSpPr>
          <p:cNvPr id="88" name="TextBox 34">
            <a:extLst>
              <a:ext uri="{FF2B5EF4-FFF2-40B4-BE49-F238E27FC236}">
                <a16:creationId xmlns:a16="http://schemas.microsoft.com/office/drawing/2014/main" id="{10BF89E5-2BE5-0F2F-3527-BC83B799FBB1}"/>
              </a:ext>
            </a:extLst>
          </p:cNvPr>
          <p:cNvSpPr txBox="1"/>
          <p:nvPr/>
        </p:nvSpPr>
        <p:spPr>
          <a:xfrm>
            <a:off x="644434" y="6048103"/>
            <a:ext cx="7315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CCCCCC"/>
                </a:solidFill>
                <a:latin typeface="Calibri"/>
              </a:defRPr>
            </a:pPr>
            <a:r>
              <a:t>Backpropagation Through Time (BPTT) — gradients flow back through all 10 timesteps</a:t>
            </a:r>
          </a:p>
        </p:txBody>
      </p:sp>
      <p:sp>
        <p:nvSpPr>
          <p:cNvPr id="89" name="Rounded Rectangle 35">
            <a:extLst>
              <a:ext uri="{FF2B5EF4-FFF2-40B4-BE49-F238E27FC236}">
                <a16:creationId xmlns:a16="http://schemas.microsoft.com/office/drawing/2014/main" id="{65D2DE01-A9B9-50EE-ECF0-F73F46FEDEDA}"/>
              </a:ext>
            </a:extLst>
          </p:cNvPr>
          <p:cNvSpPr/>
          <p:nvPr/>
        </p:nvSpPr>
        <p:spPr>
          <a:xfrm>
            <a:off x="8416834" y="5773783"/>
            <a:ext cx="2743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16 seconds</a:t>
            </a:r>
          </a:p>
        </p:txBody>
      </p:sp>
    </p:spTree>
    <p:extLst>
      <p:ext uri="{BB962C8B-B14F-4D97-AF65-F5344CB8AC3E}">
        <p14:creationId xmlns:p14="http://schemas.microsoft.com/office/powerpoint/2010/main" val="143042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588C86-DABF-CC37-EB9F-16E3DD32FC4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DC4B139-CFC3-B241-BB3F-1A6299FAD546}"/>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72DC1E29-3F9E-E961-C43B-BB50075B84C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CB8D894-88D7-42CB-D6FC-A6E0DD3A9B5E}"/>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3f — </a:t>
            </a:r>
            <a:r>
              <a:rPr lang="en-SG" dirty="0"/>
              <a:t>Transformer: Self-Attention</a:t>
            </a:r>
            <a:endParaRPr dirty="0"/>
          </a:p>
        </p:txBody>
      </p:sp>
      <p:sp>
        <p:nvSpPr>
          <p:cNvPr id="3" name="Rectangle 2">
            <a:extLst>
              <a:ext uri="{FF2B5EF4-FFF2-40B4-BE49-F238E27FC236}">
                <a16:creationId xmlns:a16="http://schemas.microsoft.com/office/drawing/2014/main" id="{32B5C645-5EBB-4575-B904-87E6A2018F32}"/>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A2B503-F561-C733-0CCB-F16F54B60A27}"/>
              </a:ext>
            </a:extLst>
          </p:cNvPr>
          <p:cNvSpPr txBox="1"/>
          <p:nvPr/>
        </p:nvSpPr>
        <p:spPr>
          <a:xfrm>
            <a:off x="731520" y="914400"/>
            <a:ext cx="10058400" cy="492443"/>
          </a:xfrm>
          <a:prstGeom prst="rect">
            <a:avLst/>
          </a:prstGeom>
          <a:noFill/>
        </p:spPr>
        <p:txBody>
          <a:bodyPr wrap="square">
            <a:spAutoFit/>
          </a:bodyPr>
          <a:lstStyle/>
          <a:p>
            <a:pPr>
              <a:defRPr sz="1300" b="0">
                <a:solidFill>
                  <a:srgbClr val="666666"/>
                </a:solidFill>
                <a:latin typeface="Calibri"/>
              </a:defRPr>
            </a:pPr>
            <a:r>
              <a:rPr lang="en-US" dirty="0">
                <a:solidFill>
                  <a:schemeClr val="tx2"/>
                </a:solidFill>
              </a:rPr>
              <a:t>Learning which feature pairs matter for each class</a:t>
            </a:r>
          </a:p>
          <a:p>
            <a:pPr>
              <a:defRPr sz="1300" b="0">
                <a:solidFill>
                  <a:srgbClr val="666666"/>
                </a:solidFill>
                <a:latin typeface="Calibri"/>
              </a:defRPr>
            </a:pPr>
            <a:endParaRPr dirty="0"/>
          </a:p>
        </p:txBody>
      </p:sp>
      <p:sp>
        <p:nvSpPr>
          <p:cNvPr id="6" name="TextBox 9">
            <a:extLst>
              <a:ext uri="{FF2B5EF4-FFF2-40B4-BE49-F238E27FC236}">
                <a16:creationId xmlns:a16="http://schemas.microsoft.com/office/drawing/2014/main" id="{43A548ED-1C1D-7B91-D32A-F1A1CFE63FCA}"/>
              </a:ext>
            </a:extLst>
          </p:cNvPr>
          <p:cNvSpPr txBox="1"/>
          <p:nvPr/>
        </p:nvSpPr>
        <p:spPr>
          <a:xfrm>
            <a:off x="731520" y="1892588"/>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Self-Attention Mechanism</a:t>
            </a:r>
          </a:p>
        </p:txBody>
      </p:sp>
      <p:sp>
        <p:nvSpPr>
          <p:cNvPr id="7" name="Rounded Rectangle 10">
            <a:extLst>
              <a:ext uri="{FF2B5EF4-FFF2-40B4-BE49-F238E27FC236}">
                <a16:creationId xmlns:a16="http://schemas.microsoft.com/office/drawing/2014/main" id="{9791DAB8-FA92-739D-154F-259078776997}"/>
              </a:ext>
            </a:extLst>
          </p:cNvPr>
          <p:cNvSpPr/>
          <p:nvPr/>
        </p:nvSpPr>
        <p:spPr>
          <a:xfrm>
            <a:off x="731520" y="2349788"/>
            <a:ext cx="3291840" cy="10972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11">
            <a:extLst>
              <a:ext uri="{FF2B5EF4-FFF2-40B4-BE49-F238E27FC236}">
                <a16:creationId xmlns:a16="http://schemas.microsoft.com/office/drawing/2014/main" id="{C4EF9902-A0B3-3B39-76F2-FDEEEED7DA95}"/>
              </a:ext>
            </a:extLst>
          </p:cNvPr>
          <p:cNvSpPr/>
          <p:nvPr/>
        </p:nvSpPr>
        <p:spPr>
          <a:xfrm>
            <a:off x="1463040" y="2441228"/>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Query</a:t>
            </a:r>
          </a:p>
        </p:txBody>
      </p:sp>
      <p:sp>
        <p:nvSpPr>
          <p:cNvPr id="9" name="TextBox 12">
            <a:extLst>
              <a:ext uri="{FF2B5EF4-FFF2-40B4-BE49-F238E27FC236}">
                <a16:creationId xmlns:a16="http://schemas.microsoft.com/office/drawing/2014/main" id="{2EEC38C8-E26E-26C2-9691-A60319F4BAFA}"/>
              </a:ext>
            </a:extLst>
          </p:cNvPr>
          <p:cNvSpPr txBox="1"/>
          <p:nvPr/>
        </p:nvSpPr>
        <p:spPr>
          <a:xfrm>
            <a:off x="86868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Q_i = W_Q · x_i</a:t>
            </a:r>
          </a:p>
        </p:txBody>
      </p:sp>
      <p:sp>
        <p:nvSpPr>
          <p:cNvPr id="10" name="TextBox 13">
            <a:extLst>
              <a:ext uri="{FF2B5EF4-FFF2-40B4-BE49-F238E27FC236}">
                <a16:creationId xmlns:a16="http://schemas.microsoft.com/office/drawing/2014/main" id="{E9202771-81D1-6E97-EB58-B919DED3C00D}"/>
              </a:ext>
            </a:extLst>
          </p:cNvPr>
          <p:cNvSpPr txBox="1"/>
          <p:nvPr/>
        </p:nvSpPr>
        <p:spPr>
          <a:xfrm>
            <a:off x="86868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am I looking for?"</a:t>
            </a:r>
          </a:p>
        </p:txBody>
      </p:sp>
      <p:sp>
        <p:nvSpPr>
          <p:cNvPr id="11" name="Rounded Rectangle 14">
            <a:extLst>
              <a:ext uri="{FF2B5EF4-FFF2-40B4-BE49-F238E27FC236}">
                <a16:creationId xmlns:a16="http://schemas.microsoft.com/office/drawing/2014/main" id="{626BBADE-0488-AFC5-881D-257DF4443B95}"/>
              </a:ext>
            </a:extLst>
          </p:cNvPr>
          <p:cNvSpPr/>
          <p:nvPr/>
        </p:nvSpPr>
        <p:spPr>
          <a:xfrm>
            <a:off x="4251960" y="2349788"/>
            <a:ext cx="329184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5">
            <a:extLst>
              <a:ext uri="{FF2B5EF4-FFF2-40B4-BE49-F238E27FC236}">
                <a16:creationId xmlns:a16="http://schemas.microsoft.com/office/drawing/2014/main" id="{A0D94E83-AED1-CFEA-0B16-FE783AC67FD3}"/>
              </a:ext>
            </a:extLst>
          </p:cNvPr>
          <p:cNvSpPr/>
          <p:nvPr/>
        </p:nvSpPr>
        <p:spPr>
          <a:xfrm>
            <a:off x="4983480" y="2441228"/>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Key</a:t>
            </a:r>
          </a:p>
        </p:txBody>
      </p:sp>
      <p:sp>
        <p:nvSpPr>
          <p:cNvPr id="13" name="TextBox 16">
            <a:extLst>
              <a:ext uri="{FF2B5EF4-FFF2-40B4-BE49-F238E27FC236}">
                <a16:creationId xmlns:a16="http://schemas.microsoft.com/office/drawing/2014/main" id="{C289F8BE-FF5B-64D1-F4C5-2ECEF0FF2027}"/>
              </a:ext>
            </a:extLst>
          </p:cNvPr>
          <p:cNvSpPr txBox="1"/>
          <p:nvPr/>
        </p:nvSpPr>
        <p:spPr>
          <a:xfrm>
            <a:off x="438912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K_j = W_K · x_j</a:t>
            </a:r>
          </a:p>
        </p:txBody>
      </p:sp>
      <p:sp>
        <p:nvSpPr>
          <p:cNvPr id="14" name="TextBox 17">
            <a:extLst>
              <a:ext uri="{FF2B5EF4-FFF2-40B4-BE49-F238E27FC236}">
                <a16:creationId xmlns:a16="http://schemas.microsoft.com/office/drawing/2014/main" id="{B023B728-2E00-1DFE-56D0-2B1A7E70B1F0}"/>
              </a:ext>
            </a:extLst>
          </p:cNvPr>
          <p:cNvSpPr txBox="1"/>
          <p:nvPr/>
        </p:nvSpPr>
        <p:spPr>
          <a:xfrm>
            <a:off x="438912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contain?"</a:t>
            </a:r>
          </a:p>
        </p:txBody>
      </p:sp>
      <p:sp>
        <p:nvSpPr>
          <p:cNvPr id="15" name="Rounded Rectangle 18">
            <a:extLst>
              <a:ext uri="{FF2B5EF4-FFF2-40B4-BE49-F238E27FC236}">
                <a16:creationId xmlns:a16="http://schemas.microsoft.com/office/drawing/2014/main" id="{AC415556-376A-4FA9-B15E-FE545919349F}"/>
              </a:ext>
            </a:extLst>
          </p:cNvPr>
          <p:cNvSpPr/>
          <p:nvPr/>
        </p:nvSpPr>
        <p:spPr>
          <a:xfrm>
            <a:off x="7772400" y="2349788"/>
            <a:ext cx="329184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9">
            <a:extLst>
              <a:ext uri="{FF2B5EF4-FFF2-40B4-BE49-F238E27FC236}">
                <a16:creationId xmlns:a16="http://schemas.microsoft.com/office/drawing/2014/main" id="{08455B60-6C4C-3D31-57E7-5396E8E2FEB6}"/>
              </a:ext>
            </a:extLst>
          </p:cNvPr>
          <p:cNvSpPr/>
          <p:nvPr/>
        </p:nvSpPr>
        <p:spPr>
          <a:xfrm>
            <a:off x="8503920" y="2441228"/>
            <a:ext cx="18288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Value</a:t>
            </a:r>
          </a:p>
        </p:txBody>
      </p:sp>
      <p:sp>
        <p:nvSpPr>
          <p:cNvPr id="17" name="TextBox 20">
            <a:extLst>
              <a:ext uri="{FF2B5EF4-FFF2-40B4-BE49-F238E27FC236}">
                <a16:creationId xmlns:a16="http://schemas.microsoft.com/office/drawing/2014/main" id="{A9198252-E14A-C379-7332-71315082CAE5}"/>
              </a:ext>
            </a:extLst>
          </p:cNvPr>
          <p:cNvSpPr txBox="1"/>
          <p:nvPr/>
        </p:nvSpPr>
        <p:spPr>
          <a:xfrm>
            <a:off x="790956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V_j = W_V · x_j</a:t>
            </a:r>
          </a:p>
        </p:txBody>
      </p:sp>
      <p:sp>
        <p:nvSpPr>
          <p:cNvPr id="18" name="TextBox 21">
            <a:extLst>
              <a:ext uri="{FF2B5EF4-FFF2-40B4-BE49-F238E27FC236}">
                <a16:creationId xmlns:a16="http://schemas.microsoft.com/office/drawing/2014/main" id="{2DD578A7-B007-14AB-ED14-21051A792299}"/>
              </a:ext>
            </a:extLst>
          </p:cNvPr>
          <p:cNvSpPr txBox="1"/>
          <p:nvPr/>
        </p:nvSpPr>
        <p:spPr>
          <a:xfrm>
            <a:off x="790956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offer?"</a:t>
            </a:r>
          </a:p>
        </p:txBody>
      </p:sp>
      <p:sp>
        <p:nvSpPr>
          <p:cNvPr id="19" name="TextBox 22">
            <a:extLst>
              <a:ext uri="{FF2B5EF4-FFF2-40B4-BE49-F238E27FC236}">
                <a16:creationId xmlns:a16="http://schemas.microsoft.com/office/drawing/2014/main" id="{5ADAAEE0-1472-2044-0B71-630CACD656C5}"/>
              </a:ext>
            </a:extLst>
          </p:cNvPr>
          <p:cNvSpPr txBox="1"/>
          <p:nvPr/>
        </p:nvSpPr>
        <p:spPr>
          <a:xfrm>
            <a:off x="731520" y="3721388"/>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Attention Computation</a:t>
            </a:r>
          </a:p>
        </p:txBody>
      </p:sp>
      <p:sp>
        <p:nvSpPr>
          <p:cNvPr id="20" name="Rounded Rectangle 23">
            <a:extLst>
              <a:ext uri="{FF2B5EF4-FFF2-40B4-BE49-F238E27FC236}">
                <a16:creationId xmlns:a16="http://schemas.microsoft.com/office/drawing/2014/main" id="{7523D90B-ACBC-5E12-E283-8AB96DC56112}"/>
              </a:ext>
            </a:extLst>
          </p:cNvPr>
          <p:cNvSpPr/>
          <p:nvPr/>
        </p:nvSpPr>
        <p:spPr>
          <a:xfrm>
            <a:off x="731520" y="4087148"/>
            <a:ext cx="64008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4">
            <a:extLst>
              <a:ext uri="{FF2B5EF4-FFF2-40B4-BE49-F238E27FC236}">
                <a16:creationId xmlns:a16="http://schemas.microsoft.com/office/drawing/2014/main" id="{73054365-16B2-CBCF-2C19-A885BA9ECECD}"/>
              </a:ext>
            </a:extLst>
          </p:cNvPr>
          <p:cNvSpPr txBox="1"/>
          <p:nvPr/>
        </p:nvSpPr>
        <p:spPr>
          <a:xfrm>
            <a:off x="868680" y="4178588"/>
            <a:ext cx="612648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300" b="0">
                <a:solidFill>
                  <a:srgbClr val="28A745"/>
                </a:solidFill>
                <a:latin typeface="Courier New"/>
              </a:defRPr>
            </a:pPr>
            <a:r>
              <a:t>Attention weights: α = softmax(Q·Kᵀ / √d_k)</a:t>
            </a:r>
          </a:p>
          <a:p>
            <a:pPr algn="l">
              <a:spcAft>
                <a:spcPts val="200"/>
              </a:spcAft>
              <a:defRPr sz="1300" b="0">
                <a:solidFill>
                  <a:srgbClr val="28A745"/>
                </a:solidFill>
                <a:latin typeface="Courier New"/>
              </a:defRPr>
            </a:pPr>
            <a:r>
              <a:t>Output:           z = α · V   # weighted combination</a:t>
            </a:r>
          </a:p>
        </p:txBody>
      </p:sp>
      <p:sp>
        <p:nvSpPr>
          <p:cNvPr id="22" name="Rounded Rectangle 25">
            <a:extLst>
              <a:ext uri="{FF2B5EF4-FFF2-40B4-BE49-F238E27FC236}">
                <a16:creationId xmlns:a16="http://schemas.microsoft.com/office/drawing/2014/main" id="{C9275ABD-8227-C3B9-D92F-63B83B17F280}"/>
              </a:ext>
            </a:extLst>
          </p:cNvPr>
          <p:cNvSpPr/>
          <p:nvPr/>
        </p:nvSpPr>
        <p:spPr>
          <a:xfrm>
            <a:off x="731520" y="5092988"/>
            <a:ext cx="105156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26">
            <a:extLst>
              <a:ext uri="{FF2B5EF4-FFF2-40B4-BE49-F238E27FC236}">
                <a16:creationId xmlns:a16="http://schemas.microsoft.com/office/drawing/2014/main" id="{9D4CDE2A-B44C-8690-2BD1-BD4A55E060DB}"/>
              </a:ext>
            </a:extLst>
          </p:cNvPr>
          <p:cNvSpPr txBox="1"/>
          <p:nvPr/>
        </p:nvSpPr>
        <p:spPr>
          <a:xfrm>
            <a:off x="914400" y="5184428"/>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EF7C00"/>
                </a:solidFill>
                <a:latin typeface="Calibri"/>
              </a:defRPr>
            </a:pPr>
            <a:r>
              <a:t>Example: How Attention Helps Classification</a:t>
            </a:r>
          </a:p>
        </p:txBody>
      </p:sp>
      <p:sp>
        <p:nvSpPr>
          <p:cNvPr id="24" name="TextBox 27">
            <a:extLst>
              <a:ext uri="{FF2B5EF4-FFF2-40B4-BE49-F238E27FC236}">
                <a16:creationId xmlns:a16="http://schemas.microsoft.com/office/drawing/2014/main" id="{F49FE0BC-EE77-F332-E2B5-57051D46EC74}"/>
              </a:ext>
            </a:extLst>
          </p:cNvPr>
          <p:cNvSpPr txBox="1"/>
          <p:nvPr/>
        </p:nvSpPr>
        <p:spPr>
          <a:xfrm>
            <a:off x="914400" y="555018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007ACC"/>
                </a:solidFill>
                <a:latin typeface="Calibri"/>
              </a:defRPr>
            </a:pPr>
            <a:r>
              <a:t>OCR feature "git" attends to Interaction feature "typing commands" → strong signal for git_operations</a:t>
            </a:r>
          </a:p>
        </p:txBody>
      </p:sp>
      <p:sp>
        <p:nvSpPr>
          <p:cNvPr id="25" name="TextBox 28">
            <a:extLst>
              <a:ext uri="{FF2B5EF4-FFF2-40B4-BE49-F238E27FC236}">
                <a16:creationId xmlns:a16="http://schemas.microsoft.com/office/drawing/2014/main" id="{8952B758-AA09-E602-32A2-CF9EDB8DC94D}"/>
              </a:ext>
            </a:extLst>
          </p:cNvPr>
          <p:cNvSpPr txBox="1"/>
          <p:nvPr/>
        </p:nvSpPr>
        <p:spPr>
          <a:xfrm>
            <a:off x="914400" y="591594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Learns WHICH feature pairs matter for each class — no manual feature engineering needed</a:t>
            </a:r>
          </a:p>
        </p:txBody>
      </p:sp>
      <p:sp>
        <p:nvSpPr>
          <p:cNvPr id="26" name="Rounded Rectangle 29">
            <a:extLst>
              <a:ext uri="{FF2B5EF4-FFF2-40B4-BE49-F238E27FC236}">
                <a16:creationId xmlns:a16="http://schemas.microsoft.com/office/drawing/2014/main" id="{C7EE050D-8C4E-7F13-2D9E-EC75EEF1D1EB}"/>
              </a:ext>
            </a:extLst>
          </p:cNvPr>
          <p:cNvSpPr/>
          <p:nvPr/>
        </p:nvSpPr>
        <p:spPr>
          <a:xfrm>
            <a:off x="7589520" y="4087148"/>
            <a:ext cx="347472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60 seconds</a:t>
            </a:r>
          </a:p>
        </p:txBody>
      </p:sp>
      <p:sp>
        <p:nvSpPr>
          <p:cNvPr id="27" name="Rounded Rectangle 30">
            <a:extLst>
              <a:ext uri="{FF2B5EF4-FFF2-40B4-BE49-F238E27FC236}">
                <a16:creationId xmlns:a16="http://schemas.microsoft.com/office/drawing/2014/main" id="{530AE0F3-554F-C084-4523-CEB69614DC45}"/>
              </a:ext>
            </a:extLst>
          </p:cNvPr>
          <p:cNvSpPr/>
          <p:nvPr/>
        </p:nvSpPr>
        <p:spPr>
          <a:xfrm>
            <a:off x="7589520" y="4635788"/>
            <a:ext cx="3474720" cy="2743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1">
            <a:extLst>
              <a:ext uri="{FF2B5EF4-FFF2-40B4-BE49-F238E27FC236}">
                <a16:creationId xmlns:a16="http://schemas.microsoft.com/office/drawing/2014/main" id="{41200811-9BE1-BAE4-C217-E710F78FC1C4}"/>
              </a:ext>
            </a:extLst>
          </p:cNvPr>
          <p:cNvSpPr txBox="1"/>
          <p:nvPr/>
        </p:nvSpPr>
        <p:spPr>
          <a:xfrm>
            <a:off x="7680960" y="4635788"/>
            <a:ext cx="32918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100" b="1">
                <a:solidFill>
                  <a:srgbClr val="6F42C1"/>
                </a:solidFill>
                <a:latin typeface="Calibri"/>
              </a:defRPr>
            </a:pPr>
            <a:r>
              <a:t>2 attention heads, 2 encoder layers</a:t>
            </a:r>
          </a:p>
        </p:txBody>
      </p:sp>
    </p:spTree>
    <p:extLst>
      <p:ext uri="{BB962C8B-B14F-4D97-AF65-F5344CB8AC3E}">
        <p14:creationId xmlns:p14="http://schemas.microsoft.com/office/powerpoint/2010/main" val="323569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BCB716-1CDD-099F-9ABB-A3C9F87539D3}"/>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518E61A-9A60-C4D2-7123-30593F604F3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4881985C-ED48-5411-ED44-372DF90A667A}"/>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330E5E3-E07A-33E3-1C5C-3BD4B37AEFFF}"/>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3g — Stacking: Learning Which Model to Trust</a:t>
            </a:r>
            <a:endParaRPr dirty="0"/>
          </a:p>
        </p:txBody>
      </p:sp>
      <p:sp>
        <p:nvSpPr>
          <p:cNvPr id="3" name="Rectangle 2">
            <a:extLst>
              <a:ext uri="{FF2B5EF4-FFF2-40B4-BE49-F238E27FC236}">
                <a16:creationId xmlns:a16="http://schemas.microsoft.com/office/drawing/2014/main" id="{75F79C0F-3C76-F7C3-145E-AF186A3B7E3A}"/>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1879584-C4A0-9B1D-C1AF-A31D9176112F}"/>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SG" dirty="0"/>
              <a:t>Two-phase meta-learning ensemble</a:t>
            </a:r>
            <a:endParaRPr dirty="0"/>
          </a:p>
        </p:txBody>
      </p:sp>
      <p:sp>
        <p:nvSpPr>
          <p:cNvPr id="5" name="TextBox 4">
            <a:extLst>
              <a:ext uri="{FF2B5EF4-FFF2-40B4-BE49-F238E27FC236}">
                <a16:creationId xmlns:a16="http://schemas.microsoft.com/office/drawing/2014/main" id="{026FF9C6-1A54-0974-3233-26DF49078350}"/>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30" name="TextBox 9">
            <a:extLst>
              <a:ext uri="{FF2B5EF4-FFF2-40B4-BE49-F238E27FC236}">
                <a16:creationId xmlns:a16="http://schemas.microsoft.com/office/drawing/2014/main" id="{A707F1EE-ECB8-E608-0FD8-C35233094EAE}"/>
              </a:ext>
            </a:extLst>
          </p:cNvPr>
          <p:cNvSpPr txBox="1"/>
          <p:nvPr/>
        </p:nvSpPr>
        <p:spPr>
          <a:xfrm>
            <a:off x="705394" y="16459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Phase A: Train Base Models on X_train</a:t>
            </a:r>
          </a:p>
        </p:txBody>
      </p:sp>
      <p:sp>
        <p:nvSpPr>
          <p:cNvPr id="31" name="Rounded Rectangle 10">
            <a:extLst>
              <a:ext uri="{FF2B5EF4-FFF2-40B4-BE49-F238E27FC236}">
                <a16:creationId xmlns:a16="http://schemas.microsoft.com/office/drawing/2014/main" id="{7572B0DF-2A80-090B-3816-73F77587E8D4}"/>
              </a:ext>
            </a:extLst>
          </p:cNvPr>
          <p:cNvSpPr/>
          <p:nvPr/>
        </p:nvSpPr>
        <p:spPr>
          <a:xfrm>
            <a:off x="705394" y="2011680"/>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SVM</a:t>
            </a:r>
          </a:p>
        </p:txBody>
      </p:sp>
      <p:sp>
        <p:nvSpPr>
          <p:cNvPr id="32" name="Rounded Rectangle 11">
            <a:extLst>
              <a:ext uri="{FF2B5EF4-FFF2-40B4-BE49-F238E27FC236}">
                <a16:creationId xmlns:a16="http://schemas.microsoft.com/office/drawing/2014/main" id="{5A0002E9-036A-666C-7377-E5A0AD019959}"/>
              </a:ext>
            </a:extLst>
          </p:cNvPr>
          <p:cNvSpPr/>
          <p:nvPr/>
        </p:nvSpPr>
        <p:spPr>
          <a:xfrm>
            <a:off x="3265714" y="2011680"/>
            <a:ext cx="22860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Random Forest</a:t>
            </a:r>
          </a:p>
        </p:txBody>
      </p:sp>
      <p:sp>
        <p:nvSpPr>
          <p:cNvPr id="33" name="Rounded Rectangle 12">
            <a:extLst>
              <a:ext uri="{FF2B5EF4-FFF2-40B4-BE49-F238E27FC236}">
                <a16:creationId xmlns:a16="http://schemas.microsoft.com/office/drawing/2014/main" id="{3829AD5E-C022-3B56-6BC5-5DE6955527B1}"/>
              </a:ext>
            </a:extLst>
          </p:cNvPr>
          <p:cNvSpPr/>
          <p:nvPr/>
        </p:nvSpPr>
        <p:spPr>
          <a:xfrm>
            <a:off x="5826034" y="2011680"/>
            <a:ext cx="2286000" cy="4572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MLP</a:t>
            </a:r>
          </a:p>
        </p:txBody>
      </p:sp>
      <p:sp>
        <p:nvSpPr>
          <p:cNvPr id="36" name="TextBox 13">
            <a:extLst>
              <a:ext uri="{FF2B5EF4-FFF2-40B4-BE49-F238E27FC236}">
                <a16:creationId xmlns:a16="http://schemas.microsoft.com/office/drawing/2014/main" id="{F95BE841-1CF4-D989-DF17-3E0E0EF4EF23}"/>
              </a:ext>
            </a:extLst>
          </p:cNvPr>
          <p:cNvSpPr txBox="1"/>
          <p:nvPr/>
        </p:nvSpPr>
        <p:spPr>
          <a:xfrm>
            <a:off x="705394" y="274320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28A745"/>
                </a:solidFill>
                <a:latin typeface="Calibri"/>
              </a:defRPr>
            </a:pPr>
            <a:r>
              <a:t>Phase B: Each base model predicts on X_train → probability outputs</a:t>
            </a:r>
          </a:p>
        </p:txBody>
      </p:sp>
      <p:sp>
        <p:nvSpPr>
          <p:cNvPr id="37" name="Rounded Rectangle 14">
            <a:extLst>
              <a:ext uri="{FF2B5EF4-FFF2-40B4-BE49-F238E27FC236}">
                <a16:creationId xmlns:a16="http://schemas.microsoft.com/office/drawing/2014/main" id="{AC33DBB6-5E99-7954-BC89-7A5B0E3911A4}"/>
              </a:ext>
            </a:extLst>
          </p:cNvPr>
          <p:cNvSpPr/>
          <p:nvPr/>
        </p:nvSpPr>
        <p:spPr>
          <a:xfrm>
            <a:off x="705394" y="3108960"/>
            <a:ext cx="22860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SVM → (7685, 9)</a:t>
            </a:r>
          </a:p>
        </p:txBody>
      </p:sp>
      <p:sp>
        <p:nvSpPr>
          <p:cNvPr id="38" name="Rounded Rectangle 15">
            <a:extLst>
              <a:ext uri="{FF2B5EF4-FFF2-40B4-BE49-F238E27FC236}">
                <a16:creationId xmlns:a16="http://schemas.microsoft.com/office/drawing/2014/main" id="{574EED3D-6640-E67C-3D9E-10ED26A2BA50}"/>
              </a:ext>
            </a:extLst>
          </p:cNvPr>
          <p:cNvSpPr/>
          <p:nvPr/>
        </p:nvSpPr>
        <p:spPr>
          <a:xfrm>
            <a:off x="3265714" y="3108960"/>
            <a:ext cx="22860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RF → (7685, 9)</a:t>
            </a:r>
          </a:p>
        </p:txBody>
      </p:sp>
      <p:sp>
        <p:nvSpPr>
          <p:cNvPr id="39" name="Rounded Rectangle 16">
            <a:extLst>
              <a:ext uri="{FF2B5EF4-FFF2-40B4-BE49-F238E27FC236}">
                <a16:creationId xmlns:a16="http://schemas.microsoft.com/office/drawing/2014/main" id="{D9732960-EE7A-D8A5-48EF-5EF96E097EE9}"/>
              </a:ext>
            </a:extLst>
          </p:cNvPr>
          <p:cNvSpPr/>
          <p:nvPr/>
        </p:nvSpPr>
        <p:spPr>
          <a:xfrm>
            <a:off x="5826034" y="31089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MLP → (7685, 9)</a:t>
            </a:r>
          </a:p>
        </p:txBody>
      </p:sp>
      <p:sp>
        <p:nvSpPr>
          <p:cNvPr id="40" name="TextBox 17">
            <a:extLst>
              <a:ext uri="{FF2B5EF4-FFF2-40B4-BE49-F238E27FC236}">
                <a16:creationId xmlns:a16="http://schemas.microsoft.com/office/drawing/2014/main" id="{F48419AD-BBC3-6A96-5D9E-79D46DC56330}"/>
              </a:ext>
            </a:extLst>
          </p:cNvPr>
          <p:cNvSpPr txBox="1"/>
          <p:nvPr/>
        </p:nvSpPr>
        <p:spPr>
          <a:xfrm>
            <a:off x="8203474" y="3108960"/>
            <a:ext cx="1371600"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FFFFFF"/>
                </a:solidFill>
                <a:latin typeface="Calibri"/>
              </a:defRPr>
            </a:pPr>
            <a:r>
              <a:rPr dirty="0">
                <a:solidFill>
                  <a:schemeClr val="tx2"/>
                </a:solidFill>
              </a:rPr>
              <a:t>→ Stack</a:t>
            </a:r>
          </a:p>
        </p:txBody>
      </p:sp>
      <p:sp>
        <p:nvSpPr>
          <p:cNvPr id="41" name="Rounded Rectangle 18">
            <a:extLst>
              <a:ext uri="{FF2B5EF4-FFF2-40B4-BE49-F238E27FC236}">
                <a16:creationId xmlns:a16="http://schemas.microsoft.com/office/drawing/2014/main" id="{E37771B4-193C-1CC1-7CBC-CE0B5872D981}"/>
              </a:ext>
            </a:extLst>
          </p:cNvPr>
          <p:cNvSpPr/>
          <p:nvPr/>
        </p:nvSpPr>
        <p:spPr>
          <a:xfrm>
            <a:off x="9300754" y="3017520"/>
            <a:ext cx="201168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meta_X</a:t>
            </a:r>
            <a:br/>
            <a:r>
              <a:t>(7685, 27)</a:t>
            </a:r>
          </a:p>
        </p:txBody>
      </p:sp>
      <p:sp>
        <p:nvSpPr>
          <p:cNvPr id="42" name="TextBox 19">
            <a:extLst>
              <a:ext uri="{FF2B5EF4-FFF2-40B4-BE49-F238E27FC236}">
                <a16:creationId xmlns:a16="http://schemas.microsoft.com/office/drawing/2014/main" id="{E9FB05E8-A043-75EF-F675-5A9608EF0EF9}"/>
              </a:ext>
            </a:extLst>
          </p:cNvPr>
          <p:cNvSpPr txBox="1"/>
          <p:nvPr/>
        </p:nvSpPr>
        <p:spPr>
          <a:xfrm>
            <a:off x="705394" y="38404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6F42C1"/>
                </a:solidFill>
                <a:latin typeface="Calibri"/>
              </a:defRPr>
            </a:pPr>
            <a:r>
              <a:t>Phase C: Train LogisticRegression on meta_X</a:t>
            </a:r>
          </a:p>
        </p:txBody>
      </p:sp>
      <p:sp>
        <p:nvSpPr>
          <p:cNvPr id="43" name="Rounded Rectangle 20">
            <a:extLst>
              <a:ext uri="{FF2B5EF4-FFF2-40B4-BE49-F238E27FC236}">
                <a16:creationId xmlns:a16="http://schemas.microsoft.com/office/drawing/2014/main" id="{316BBC33-0B5B-B663-29E0-C62983430B44}"/>
              </a:ext>
            </a:extLst>
          </p:cNvPr>
          <p:cNvSpPr/>
          <p:nvPr/>
        </p:nvSpPr>
        <p:spPr>
          <a:xfrm>
            <a:off x="705394" y="4297680"/>
            <a:ext cx="10515600" cy="146304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4" name="TextBox 21">
            <a:extLst>
              <a:ext uri="{FF2B5EF4-FFF2-40B4-BE49-F238E27FC236}">
                <a16:creationId xmlns:a16="http://schemas.microsoft.com/office/drawing/2014/main" id="{FC8E7ADE-0060-7987-71A6-F85EB437A4E9}"/>
              </a:ext>
            </a:extLst>
          </p:cNvPr>
          <p:cNvSpPr txBox="1"/>
          <p:nvPr/>
        </p:nvSpPr>
        <p:spPr>
          <a:xfrm>
            <a:off x="888274" y="43891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Meta-learner discovers which model to trust for each class:</a:t>
            </a:r>
          </a:p>
        </p:txBody>
      </p:sp>
      <p:sp>
        <p:nvSpPr>
          <p:cNvPr id="45" name="TextBox 22">
            <a:extLst>
              <a:ext uri="{FF2B5EF4-FFF2-40B4-BE49-F238E27FC236}">
                <a16:creationId xmlns:a16="http://schemas.microsoft.com/office/drawing/2014/main" id="{6156C768-541D-2152-80A8-2AD4601F09FF}"/>
              </a:ext>
            </a:extLst>
          </p:cNvPr>
          <p:cNvSpPr txBox="1"/>
          <p:nvPr/>
        </p:nvSpPr>
        <p:spPr>
          <a:xfrm>
            <a:off x="1345474" y="475488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git_operations:</a:t>
            </a:r>
          </a:p>
        </p:txBody>
      </p:sp>
      <p:sp>
        <p:nvSpPr>
          <p:cNvPr id="46" name="TextBox 23">
            <a:extLst>
              <a:ext uri="{FF2B5EF4-FFF2-40B4-BE49-F238E27FC236}">
                <a16:creationId xmlns:a16="http://schemas.microsoft.com/office/drawing/2014/main" id="{5102217E-E4CE-0AD1-230B-CB902680F4E6}"/>
              </a:ext>
            </a:extLst>
          </p:cNvPr>
          <p:cNvSpPr txBox="1"/>
          <p:nvPr/>
        </p:nvSpPr>
        <p:spPr>
          <a:xfrm>
            <a:off x="3174274" y="475488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RF (0.6) &gt; MLP (0.3) &gt; SVM (0.1)</a:t>
            </a:r>
          </a:p>
        </p:txBody>
      </p:sp>
      <p:sp>
        <p:nvSpPr>
          <p:cNvPr id="47" name="TextBox 24">
            <a:extLst>
              <a:ext uri="{FF2B5EF4-FFF2-40B4-BE49-F238E27FC236}">
                <a16:creationId xmlns:a16="http://schemas.microsoft.com/office/drawing/2014/main" id="{13EC5BD7-94A1-CA71-4B96-1D3B000083C8}"/>
              </a:ext>
            </a:extLst>
          </p:cNvPr>
          <p:cNvSpPr txBox="1"/>
          <p:nvPr/>
        </p:nvSpPr>
        <p:spPr>
          <a:xfrm>
            <a:off x="1345474" y="502920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coding_editing:</a:t>
            </a:r>
          </a:p>
        </p:txBody>
      </p:sp>
      <p:sp>
        <p:nvSpPr>
          <p:cNvPr id="48" name="TextBox 25">
            <a:extLst>
              <a:ext uri="{FF2B5EF4-FFF2-40B4-BE49-F238E27FC236}">
                <a16:creationId xmlns:a16="http://schemas.microsoft.com/office/drawing/2014/main" id="{48378CB8-8A69-2887-FB4A-E1D73094492A}"/>
              </a:ext>
            </a:extLst>
          </p:cNvPr>
          <p:cNvSpPr txBox="1"/>
          <p:nvPr/>
        </p:nvSpPr>
        <p:spPr>
          <a:xfrm>
            <a:off x="3174274" y="502920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SVM (0.5) &gt; RF (0.3) &gt; MLP (0.2)</a:t>
            </a:r>
          </a:p>
        </p:txBody>
      </p:sp>
      <p:sp>
        <p:nvSpPr>
          <p:cNvPr id="49" name="TextBox 26">
            <a:extLst>
              <a:ext uri="{FF2B5EF4-FFF2-40B4-BE49-F238E27FC236}">
                <a16:creationId xmlns:a16="http://schemas.microsoft.com/office/drawing/2014/main" id="{4F15DB0A-4861-813A-7FDE-625004190D76}"/>
              </a:ext>
            </a:extLst>
          </p:cNvPr>
          <p:cNvSpPr txBox="1"/>
          <p:nvPr/>
        </p:nvSpPr>
        <p:spPr>
          <a:xfrm>
            <a:off x="1345474" y="530352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documentation:</a:t>
            </a:r>
          </a:p>
        </p:txBody>
      </p:sp>
      <p:sp>
        <p:nvSpPr>
          <p:cNvPr id="50" name="TextBox 27">
            <a:extLst>
              <a:ext uri="{FF2B5EF4-FFF2-40B4-BE49-F238E27FC236}">
                <a16:creationId xmlns:a16="http://schemas.microsoft.com/office/drawing/2014/main" id="{09868FE1-387A-D88D-EF54-7FBC87E49600}"/>
              </a:ext>
            </a:extLst>
          </p:cNvPr>
          <p:cNvSpPr txBox="1"/>
          <p:nvPr/>
        </p:nvSpPr>
        <p:spPr>
          <a:xfrm>
            <a:off x="3174274" y="530352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MLP (0.5) &gt; SVM (0.3) &gt; RF (0.2)</a:t>
            </a:r>
          </a:p>
        </p:txBody>
      </p:sp>
      <p:sp>
        <p:nvSpPr>
          <p:cNvPr id="51" name="TextBox 29">
            <a:extLst>
              <a:ext uri="{FF2B5EF4-FFF2-40B4-BE49-F238E27FC236}">
                <a16:creationId xmlns:a16="http://schemas.microsoft.com/office/drawing/2014/main" id="{7D1286A7-D38F-4BCF-0946-8E78D48DAC39}"/>
              </a:ext>
            </a:extLst>
          </p:cNvPr>
          <p:cNvSpPr txBox="1"/>
          <p:nvPr/>
        </p:nvSpPr>
        <p:spPr>
          <a:xfrm>
            <a:off x="705394" y="6126480"/>
            <a:ext cx="7315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chemeClr val="tx2"/>
                </a:solidFill>
              </a:rPr>
              <a:t>Stacking learns to combine strengths of different model families</a:t>
            </a:r>
          </a:p>
        </p:txBody>
      </p:sp>
      <p:sp>
        <p:nvSpPr>
          <p:cNvPr id="52" name="Rounded Rectangle 28">
            <a:extLst>
              <a:ext uri="{FF2B5EF4-FFF2-40B4-BE49-F238E27FC236}">
                <a16:creationId xmlns:a16="http://schemas.microsoft.com/office/drawing/2014/main" id="{DFE300CF-7EED-23A7-058A-0C7A1D892BF1}"/>
              </a:ext>
            </a:extLst>
          </p:cNvPr>
          <p:cNvSpPr/>
          <p:nvPr/>
        </p:nvSpPr>
        <p:spPr>
          <a:xfrm>
            <a:off x="8203474" y="5943600"/>
            <a:ext cx="320040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90 seconds</a:t>
            </a:r>
          </a:p>
        </p:txBody>
      </p:sp>
    </p:spTree>
    <p:extLst>
      <p:ext uri="{BB962C8B-B14F-4D97-AF65-F5344CB8AC3E}">
        <p14:creationId xmlns:p14="http://schemas.microsoft.com/office/powerpoint/2010/main" val="418920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E3C597-B1C5-2A67-B9BA-81126D427C3C}"/>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E431DC6C-AD14-A521-C1FC-5334F729810D}"/>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3167B4-1E2C-C602-3EAF-EFDF526EF6B0}"/>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785B2AA-18BC-2881-1361-0F9486626949}"/>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4 — </a:t>
            </a:r>
            <a:r>
              <a:rPr lang="en-SG" dirty="0"/>
              <a:t>How Models Are Evaluated</a:t>
            </a:r>
            <a:endParaRPr dirty="0"/>
          </a:p>
        </p:txBody>
      </p:sp>
      <p:sp>
        <p:nvSpPr>
          <p:cNvPr id="3" name="Rectangle 2">
            <a:extLst>
              <a:ext uri="{FF2B5EF4-FFF2-40B4-BE49-F238E27FC236}">
                <a16:creationId xmlns:a16="http://schemas.microsoft.com/office/drawing/2014/main" id="{FDA8C68E-BC1F-838A-AD72-AD66A267CF04}"/>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CD9ACC-8449-E0C8-A954-97A0B94AFE3C}"/>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Testing on held-out data with standardized metrics</a:t>
            </a:r>
            <a:endParaRPr dirty="0"/>
          </a:p>
        </p:txBody>
      </p:sp>
      <p:sp>
        <p:nvSpPr>
          <p:cNvPr id="5" name="TextBox 4">
            <a:extLst>
              <a:ext uri="{FF2B5EF4-FFF2-40B4-BE49-F238E27FC236}">
                <a16:creationId xmlns:a16="http://schemas.microsoft.com/office/drawing/2014/main" id="{D5AD04C2-E71A-1322-C5BA-8657374F1FC2}"/>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7" name="Rounded Rectangle 9">
            <a:extLst>
              <a:ext uri="{FF2B5EF4-FFF2-40B4-BE49-F238E27FC236}">
                <a16:creationId xmlns:a16="http://schemas.microsoft.com/office/drawing/2014/main" id="{3AEC1440-FF91-E451-08F2-52F2109FD950}"/>
              </a:ext>
            </a:extLst>
          </p:cNvPr>
          <p:cNvSpPr/>
          <p:nvPr/>
        </p:nvSpPr>
        <p:spPr>
          <a:xfrm>
            <a:off x="838200" y="1508760"/>
            <a:ext cx="228600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X_test (1924, 150)</a:t>
            </a:r>
          </a:p>
        </p:txBody>
      </p:sp>
      <p:sp>
        <p:nvSpPr>
          <p:cNvPr id="8" name="TextBox 10">
            <a:extLst>
              <a:ext uri="{FF2B5EF4-FFF2-40B4-BE49-F238E27FC236}">
                <a16:creationId xmlns:a16="http://schemas.microsoft.com/office/drawing/2014/main" id="{340B526C-C0B4-2853-5599-3393FF415E4B}"/>
              </a:ext>
            </a:extLst>
          </p:cNvPr>
          <p:cNvSpPr txBox="1"/>
          <p:nvPr/>
        </p:nvSpPr>
        <p:spPr>
          <a:xfrm>
            <a:off x="321564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9" name="Rounded Rectangle 11">
            <a:extLst>
              <a:ext uri="{FF2B5EF4-FFF2-40B4-BE49-F238E27FC236}">
                <a16:creationId xmlns:a16="http://schemas.microsoft.com/office/drawing/2014/main" id="{26659F54-BA40-D8E0-2A23-F702907B8433}"/>
              </a:ext>
            </a:extLst>
          </p:cNvPr>
          <p:cNvSpPr/>
          <p:nvPr/>
        </p:nvSpPr>
        <p:spPr>
          <a:xfrm>
            <a:off x="3672840" y="1508760"/>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model.predict()</a:t>
            </a:r>
          </a:p>
        </p:txBody>
      </p:sp>
      <p:sp>
        <p:nvSpPr>
          <p:cNvPr id="10" name="TextBox 12">
            <a:extLst>
              <a:ext uri="{FF2B5EF4-FFF2-40B4-BE49-F238E27FC236}">
                <a16:creationId xmlns:a16="http://schemas.microsoft.com/office/drawing/2014/main" id="{0F117C38-B59A-26B6-AE22-E03E489F9EBF}"/>
              </a:ext>
            </a:extLst>
          </p:cNvPr>
          <p:cNvSpPr txBox="1"/>
          <p:nvPr/>
        </p:nvSpPr>
        <p:spPr>
          <a:xfrm>
            <a:off x="605028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28A745"/>
                </a:solidFill>
                <a:latin typeface="Calibri"/>
              </a:defRPr>
            </a:pPr>
            <a:r>
              <a:t>→</a:t>
            </a:r>
          </a:p>
        </p:txBody>
      </p:sp>
      <p:sp>
        <p:nvSpPr>
          <p:cNvPr id="11" name="Rounded Rectangle 13">
            <a:extLst>
              <a:ext uri="{FF2B5EF4-FFF2-40B4-BE49-F238E27FC236}">
                <a16:creationId xmlns:a16="http://schemas.microsoft.com/office/drawing/2014/main" id="{4B0566A7-046F-FAE3-C3F1-23AA6D65A483}"/>
              </a:ext>
            </a:extLst>
          </p:cNvPr>
          <p:cNvSpPr/>
          <p:nvPr/>
        </p:nvSpPr>
        <p:spPr>
          <a:xfrm>
            <a:off x="6507480" y="1508760"/>
            <a:ext cx="2286000" cy="5029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y_pred (1924,)</a:t>
            </a:r>
          </a:p>
        </p:txBody>
      </p:sp>
      <p:sp>
        <p:nvSpPr>
          <p:cNvPr id="12" name="TextBox 14">
            <a:extLst>
              <a:ext uri="{FF2B5EF4-FFF2-40B4-BE49-F238E27FC236}">
                <a16:creationId xmlns:a16="http://schemas.microsoft.com/office/drawing/2014/main" id="{EF1D92AA-D2DA-3390-9C1D-3533E2BBF420}"/>
              </a:ext>
            </a:extLst>
          </p:cNvPr>
          <p:cNvSpPr txBox="1"/>
          <p:nvPr/>
        </p:nvSpPr>
        <p:spPr>
          <a:xfrm>
            <a:off x="888492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EF7C00"/>
                </a:solidFill>
                <a:latin typeface="Calibri"/>
              </a:defRPr>
            </a:pPr>
            <a:r>
              <a:t>→</a:t>
            </a:r>
          </a:p>
        </p:txBody>
      </p:sp>
      <p:sp>
        <p:nvSpPr>
          <p:cNvPr id="13" name="Rounded Rectangle 15">
            <a:extLst>
              <a:ext uri="{FF2B5EF4-FFF2-40B4-BE49-F238E27FC236}">
                <a16:creationId xmlns:a16="http://schemas.microsoft.com/office/drawing/2014/main" id="{6F65106F-8008-B8E7-54A0-2FC9FEE5326E}"/>
              </a:ext>
            </a:extLst>
          </p:cNvPr>
          <p:cNvSpPr/>
          <p:nvPr/>
        </p:nvSpPr>
        <p:spPr>
          <a:xfrm>
            <a:off x="9342120" y="1508760"/>
            <a:ext cx="182880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Metrics</a:t>
            </a:r>
          </a:p>
        </p:txBody>
      </p:sp>
      <p:sp>
        <p:nvSpPr>
          <p:cNvPr id="14" name="TextBox 16">
            <a:extLst>
              <a:ext uri="{FF2B5EF4-FFF2-40B4-BE49-F238E27FC236}">
                <a16:creationId xmlns:a16="http://schemas.microsoft.com/office/drawing/2014/main" id="{C1A692A4-89EF-3732-CA43-E4791FE57715}"/>
              </a:ext>
            </a:extLst>
          </p:cNvPr>
          <p:cNvSpPr txBox="1"/>
          <p:nvPr/>
        </p:nvSpPr>
        <p:spPr>
          <a:xfrm>
            <a:off x="838200" y="2331720"/>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Metrics Explained</a:t>
            </a:r>
          </a:p>
        </p:txBody>
      </p:sp>
      <p:sp>
        <p:nvSpPr>
          <p:cNvPr id="15" name="Rounded Rectangle 17">
            <a:extLst>
              <a:ext uri="{FF2B5EF4-FFF2-40B4-BE49-F238E27FC236}">
                <a16:creationId xmlns:a16="http://schemas.microsoft.com/office/drawing/2014/main" id="{8CB5169E-CC44-6626-017C-69640C3790A7}"/>
              </a:ext>
            </a:extLst>
          </p:cNvPr>
          <p:cNvSpPr/>
          <p:nvPr/>
        </p:nvSpPr>
        <p:spPr>
          <a:xfrm>
            <a:off x="838200" y="2697480"/>
            <a:ext cx="10515600" cy="777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8">
            <a:extLst>
              <a:ext uri="{FF2B5EF4-FFF2-40B4-BE49-F238E27FC236}">
                <a16:creationId xmlns:a16="http://schemas.microsoft.com/office/drawing/2014/main" id="{D2E03379-3470-5CBB-9D8A-1A772139828A}"/>
              </a:ext>
            </a:extLst>
          </p:cNvPr>
          <p:cNvSpPr/>
          <p:nvPr/>
        </p:nvSpPr>
        <p:spPr>
          <a:xfrm>
            <a:off x="929640" y="2788920"/>
            <a:ext cx="164592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Accuracy</a:t>
            </a:r>
          </a:p>
        </p:txBody>
      </p:sp>
      <p:sp>
        <p:nvSpPr>
          <p:cNvPr id="17" name="TextBox 19">
            <a:extLst>
              <a:ext uri="{FF2B5EF4-FFF2-40B4-BE49-F238E27FC236}">
                <a16:creationId xmlns:a16="http://schemas.microsoft.com/office/drawing/2014/main" id="{5DB4429F-08B7-AA3B-496B-F02F1D9062D1}"/>
              </a:ext>
            </a:extLst>
          </p:cNvPr>
          <p:cNvSpPr txBox="1"/>
          <p:nvPr/>
        </p:nvSpPr>
        <p:spPr>
          <a:xfrm>
            <a:off x="2849880" y="274320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correct / total</a:t>
            </a:r>
          </a:p>
        </p:txBody>
      </p:sp>
      <p:sp>
        <p:nvSpPr>
          <p:cNvPr id="18" name="TextBox 20">
            <a:extLst>
              <a:ext uri="{FF2B5EF4-FFF2-40B4-BE49-F238E27FC236}">
                <a16:creationId xmlns:a16="http://schemas.microsoft.com/office/drawing/2014/main" id="{1643D0ED-BB7A-2F95-804B-77A27096624B}"/>
              </a:ext>
            </a:extLst>
          </p:cNvPr>
          <p:cNvSpPr txBox="1"/>
          <p:nvPr/>
        </p:nvSpPr>
        <p:spPr>
          <a:xfrm>
            <a:off x="2849880" y="308152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Simple but misleading with imbalanced classes</a:t>
            </a:r>
          </a:p>
        </p:txBody>
      </p:sp>
      <p:sp>
        <p:nvSpPr>
          <p:cNvPr id="19" name="Rounded Rectangle 21">
            <a:extLst>
              <a:ext uri="{FF2B5EF4-FFF2-40B4-BE49-F238E27FC236}">
                <a16:creationId xmlns:a16="http://schemas.microsoft.com/office/drawing/2014/main" id="{DAB3CC9F-86E7-F38F-3504-227C5D51EE36}"/>
              </a:ext>
            </a:extLst>
          </p:cNvPr>
          <p:cNvSpPr/>
          <p:nvPr/>
        </p:nvSpPr>
        <p:spPr>
          <a:xfrm>
            <a:off x="838200" y="3566160"/>
            <a:ext cx="10515600" cy="7772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Rounded Rectangle 22">
            <a:extLst>
              <a:ext uri="{FF2B5EF4-FFF2-40B4-BE49-F238E27FC236}">
                <a16:creationId xmlns:a16="http://schemas.microsoft.com/office/drawing/2014/main" id="{FBEE48CB-6F56-EF17-F6CD-EA6C24A10E37}"/>
              </a:ext>
            </a:extLst>
          </p:cNvPr>
          <p:cNvSpPr/>
          <p:nvPr/>
        </p:nvSpPr>
        <p:spPr>
          <a:xfrm>
            <a:off x="929640" y="36576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per Class</a:t>
            </a:r>
          </a:p>
        </p:txBody>
      </p:sp>
      <p:sp>
        <p:nvSpPr>
          <p:cNvPr id="21" name="TextBox 23">
            <a:extLst>
              <a:ext uri="{FF2B5EF4-FFF2-40B4-BE49-F238E27FC236}">
                <a16:creationId xmlns:a16="http://schemas.microsoft.com/office/drawing/2014/main" id="{573727BD-0CAE-E068-06FF-0C36B467F53E}"/>
              </a:ext>
            </a:extLst>
          </p:cNvPr>
          <p:cNvSpPr txBox="1"/>
          <p:nvPr/>
        </p:nvSpPr>
        <p:spPr>
          <a:xfrm>
            <a:off x="2849880" y="361188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2 × (Precision × Recall) / (Precision + Recall)</a:t>
            </a:r>
          </a:p>
        </p:txBody>
      </p:sp>
      <p:sp>
        <p:nvSpPr>
          <p:cNvPr id="22" name="TextBox 24">
            <a:extLst>
              <a:ext uri="{FF2B5EF4-FFF2-40B4-BE49-F238E27FC236}">
                <a16:creationId xmlns:a16="http://schemas.microsoft.com/office/drawing/2014/main" id="{807CEB83-FE3E-4995-B65D-EED02475D633}"/>
              </a:ext>
            </a:extLst>
          </p:cNvPr>
          <p:cNvSpPr txBox="1"/>
          <p:nvPr/>
        </p:nvSpPr>
        <p:spPr>
          <a:xfrm>
            <a:off x="2849880" y="395020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Balances false positives and false negatives</a:t>
            </a:r>
          </a:p>
        </p:txBody>
      </p:sp>
      <p:sp>
        <p:nvSpPr>
          <p:cNvPr id="23" name="Rounded Rectangle 25">
            <a:extLst>
              <a:ext uri="{FF2B5EF4-FFF2-40B4-BE49-F238E27FC236}">
                <a16:creationId xmlns:a16="http://schemas.microsoft.com/office/drawing/2014/main" id="{CC4068B9-EE21-3A2E-EB11-E0B5E77852DE}"/>
              </a:ext>
            </a:extLst>
          </p:cNvPr>
          <p:cNvSpPr/>
          <p:nvPr/>
        </p:nvSpPr>
        <p:spPr>
          <a:xfrm>
            <a:off x="838200" y="4434840"/>
            <a:ext cx="10515600" cy="77724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Rounded Rectangle 26">
            <a:extLst>
              <a:ext uri="{FF2B5EF4-FFF2-40B4-BE49-F238E27FC236}">
                <a16:creationId xmlns:a16="http://schemas.microsoft.com/office/drawing/2014/main" id="{057DCE0E-197C-21C8-06AD-23C539A56C99}"/>
              </a:ext>
            </a:extLst>
          </p:cNvPr>
          <p:cNvSpPr/>
          <p:nvPr/>
        </p:nvSpPr>
        <p:spPr>
          <a:xfrm>
            <a:off x="929640" y="4526280"/>
            <a:ext cx="164592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Macro</a:t>
            </a:r>
          </a:p>
        </p:txBody>
      </p:sp>
      <p:sp>
        <p:nvSpPr>
          <p:cNvPr id="25" name="TextBox 27">
            <a:extLst>
              <a:ext uri="{FF2B5EF4-FFF2-40B4-BE49-F238E27FC236}">
                <a16:creationId xmlns:a16="http://schemas.microsoft.com/office/drawing/2014/main" id="{0AEFECED-12A9-051B-A683-2E118CB23DDB}"/>
              </a:ext>
            </a:extLst>
          </p:cNvPr>
          <p:cNvSpPr txBox="1"/>
          <p:nvPr/>
        </p:nvSpPr>
        <p:spPr>
          <a:xfrm>
            <a:off x="2849880" y="448056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Average of all 9 class F1 scores</a:t>
            </a:r>
          </a:p>
        </p:txBody>
      </p:sp>
      <p:sp>
        <p:nvSpPr>
          <p:cNvPr id="26" name="TextBox 28">
            <a:extLst>
              <a:ext uri="{FF2B5EF4-FFF2-40B4-BE49-F238E27FC236}">
                <a16:creationId xmlns:a16="http://schemas.microsoft.com/office/drawing/2014/main" id="{0019C26D-0005-D2DA-E195-7A093943F7BA}"/>
              </a:ext>
            </a:extLst>
          </p:cNvPr>
          <p:cNvSpPr txBox="1"/>
          <p:nvPr/>
        </p:nvSpPr>
        <p:spPr>
          <a:xfrm>
            <a:off x="2849880" y="481888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PRIMARY METRIC — treats all classes equally</a:t>
            </a:r>
          </a:p>
        </p:txBody>
      </p:sp>
      <p:sp>
        <p:nvSpPr>
          <p:cNvPr id="27" name="Rounded Rectangle 29">
            <a:extLst>
              <a:ext uri="{FF2B5EF4-FFF2-40B4-BE49-F238E27FC236}">
                <a16:creationId xmlns:a16="http://schemas.microsoft.com/office/drawing/2014/main" id="{E8249AE1-81B7-C560-3B08-E0A2609092AD}"/>
              </a:ext>
            </a:extLst>
          </p:cNvPr>
          <p:cNvSpPr/>
          <p:nvPr/>
        </p:nvSpPr>
        <p:spPr>
          <a:xfrm>
            <a:off x="838200" y="5349240"/>
            <a:ext cx="10515600" cy="109728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0">
            <a:extLst>
              <a:ext uri="{FF2B5EF4-FFF2-40B4-BE49-F238E27FC236}">
                <a16:creationId xmlns:a16="http://schemas.microsoft.com/office/drawing/2014/main" id="{F9C9FB45-25C3-B8D4-3BCE-12F94F00A2D8}"/>
              </a:ext>
            </a:extLst>
          </p:cNvPr>
          <p:cNvSpPr txBox="1"/>
          <p:nvPr/>
        </p:nvSpPr>
        <p:spPr>
          <a:xfrm>
            <a:off x="1021080" y="54406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CC2233"/>
                </a:solidFill>
                <a:latin typeface="Calibri"/>
              </a:defRPr>
            </a:pPr>
            <a:r>
              <a:t>Why F1 Macro, not Accuracy?</a:t>
            </a:r>
          </a:p>
        </p:txBody>
      </p:sp>
      <p:sp>
        <p:nvSpPr>
          <p:cNvPr id="29" name="TextBox 31">
            <a:extLst>
              <a:ext uri="{FF2B5EF4-FFF2-40B4-BE49-F238E27FC236}">
                <a16:creationId xmlns:a16="http://schemas.microsoft.com/office/drawing/2014/main" id="{E3FF4B2D-D505-3BBB-DA9B-21C188D6781A}"/>
              </a:ext>
            </a:extLst>
          </p:cNvPr>
          <p:cNvSpPr txBox="1"/>
          <p:nvPr/>
        </p:nvSpPr>
        <p:spPr>
          <a:xfrm>
            <a:off x="1021080" y="5669280"/>
            <a:ext cx="1005840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rPr dirty="0"/>
              <a:t>A model always predicting "other" gets 57% accuracy but F1 Macro ≈ 0.06</a:t>
            </a:r>
          </a:p>
          <a:p>
            <a:pPr algn="l">
              <a:spcAft>
                <a:spcPts val="500"/>
              </a:spcAft>
              <a:defRPr sz="1200" b="0">
                <a:solidFill>
                  <a:srgbClr val="EF7C00"/>
                </a:solidFill>
                <a:latin typeface="Calibri"/>
              </a:defRPr>
            </a:pPr>
            <a:r>
              <a:rPr dirty="0"/>
              <a:t>F1 Macro treats all 9 classes equally — minority classes matter</a:t>
            </a:r>
          </a:p>
          <a:p>
            <a:pPr algn="l">
              <a:spcAft>
                <a:spcPts val="500"/>
              </a:spcAft>
              <a:defRPr sz="1200" b="0">
                <a:solidFill>
                  <a:srgbClr val="EF7C00"/>
                </a:solidFill>
                <a:latin typeface="Calibri"/>
              </a:defRPr>
            </a:pPr>
            <a:r>
              <a:rPr dirty="0"/>
              <a:t>Latency measured with </a:t>
            </a:r>
            <a:r>
              <a:rPr dirty="0" err="1"/>
              <a:t>time.perf_counter</a:t>
            </a:r>
            <a:r>
              <a:rPr dirty="0"/>
              <a:t>() around predict()</a:t>
            </a:r>
          </a:p>
        </p:txBody>
      </p:sp>
    </p:spTree>
    <p:extLst>
      <p:ext uri="{BB962C8B-B14F-4D97-AF65-F5344CB8AC3E}">
        <p14:creationId xmlns:p14="http://schemas.microsoft.com/office/powerpoint/2010/main" val="3429771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3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Training Results — 14 Models Compared</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Sorted by F1 Macro (primary metric)</a:t>
            </a:r>
          </a:p>
        </p:txBody>
      </p:sp>
      <p:sp>
        <p:nvSpPr>
          <p:cNvPr id="5" name="Rectangle 4"/>
          <p:cNvSpPr/>
          <p:nvPr/>
        </p:nvSpPr>
        <p:spPr>
          <a:xfrm>
            <a:off x="457200" y="1280160"/>
            <a:ext cx="11247120" cy="3657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07592"/>
            <a:ext cx="36576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a:t>
            </a:r>
          </a:p>
        </p:txBody>
      </p:sp>
      <p:sp>
        <p:nvSpPr>
          <p:cNvPr id="7" name="TextBox 6"/>
          <p:cNvSpPr txBox="1"/>
          <p:nvPr/>
        </p:nvSpPr>
        <p:spPr>
          <a:xfrm>
            <a:off x="914400" y="1307592"/>
            <a:ext cx="20116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lang="en-US" sz="1400" b="0">
                <a:solidFill>
                  <a:schemeClr val="bg1"/>
                </a:solidFill>
                <a:latin typeface="Calibri"/>
              </a:rPr>
              <a:t>Model</a:t>
            </a:r>
          </a:p>
        </p:txBody>
      </p:sp>
      <p:sp>
        <p:nvSpPr>
          <p:cNvPr id="8" name="TextBox 7"/>
          <p:cNvSpPr txBox="1"/>
          <p:nvPr/>
        </p:nvSpPr>
        <p:spPr>
          <a:xfrm>
            <a:off x="2926080" y="1307592"/>
            <a:ext cx="73152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Tier</a:t>
            </a:r>
            <a:endParaRPr lang="en-US" sz="1400" b="0">
              <a:solidFill>
                <a:schemeClr val="bg1"/>
              </a:solidFill>
              <a:latin typeface="Calibri"/>
            </a:endParaRPr>
          </a:p>
        </p:txBody>
      </p:sp>
      <p:sp>
        <p:nvSpPr>
          <p:cNvPr id="9" name="TextBox 8"/>
          <p:cNvSpPr txBox="1"/>
          <p:nvPr/>
        </p:nvSpPr>
        <p:spPr>
          <a:xfrm>
            <a:off x="384048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Accuracy</a:t>
            </a:r>
            <a:endParaRPr lang="en-US" sz="1400" b="0">
              <a:solidFill>
                <a:schemeClr val="bg1"/>
              </a:solidFill>
              <a:latin typeface="Calibri"/>
            </a:endParaRPr>
          </a:p>
        </p:txBody>
      </p:sp>
      <p:sp>
        <p:nvSpPr>
          <p:cNvPr id="10" name="TextBox 9"/>
          <p:cNvSpPr txBox="1"/>
          <p:nvPr/>
        </p:nvSpPr>
        <p:spPr>
          <a:xfrm>
            <a:off x="512064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F1 Macro</a:t>
            </a:r>
            <a:endParaRPr lang="en-US" sz="1400" b="0">
              <a:solidFill>
                <a:schemeClr val="bg1"/>
              </a:solidFill>
              <a:latin typeface="Calibri"/>
            </a:endParaRPr>
          </a:p>
        </p:txBody>
      </p:sp>
      <p:sp>
        <p:nvSpPr>
          <p:cNvPr id="11" name="TextBox 10"/>
          <p:cNvSpPr txBox="1"/>
          <p:nvPr/>
        </p:nvSpPr>
        <p:spPr>
          <a:xfrm>
            <a:off x="640080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Latency</a:t>
            </a:r>
          </a:p>
        </p:txBody>
      </p:sp>
      <p:sp>
        <p:nvSpPr>
          <p:cNvPr id="12" name="TextBox 11"/>
          <p:cNvSpPr txBox="1"/>
          <p:nvPr/>
        </p:nvSpPr>
        <p:spPr>
          <a:xfrm>
            <a:off x="7772400" y="1307592"/>
            <a:ext cx="365760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3" name="Rectangle 12"/>
          <p:cNvSpPr/>
          <p:nvPr/>
        </p:nvSpPr>
        <p:spPr>
          <a:xfrm>
            <a:off x="457200" y="164592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4592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a:t>
            </a:r>
          </a:p>
        </p:txBody>
      </p:sp>
      <p:sp>
        <p:nvSpPr>
          <p:cNvPr id="15" name="TextBox 14"/>
          <p:cNvSpPr txBox="1"/>
          <p:nvPr/>
        </p:nvSpPr>
        <p:spPr>
          <a:xfrm>
            <a:off x="914400" y="164592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stacking</a:t>
            </a:r>
          </a:p>
        </p:txBody>
      </p:sp>
      <p:sp>
        <p:nvSpPr>
          <p:cNvPr id="16" name="Rounded Rectangle 15"/>
          <p:cNvSpPr/>
          <p:nvPr/>
        </p:nvSpPr>
        <p:spPr>
          <a:xfrm>
            <a:off x="2926080" y="1673352"/>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17" name="TextBox 16"/>
          <p:cNvSpPr txBox="1"/>
          <p:nvPr/>
        </p:nvSpPr>
        <p:spPr>
          <a:xfrm>
            <a:off x="384048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0.566</a:t>
            </a:r>
          </a:p>
        </p:txBody>
      </p:sp>
      <p:sp>
        <p:nvSpPr>
          <p:cNvPr id="18" name="TextBox 17"/>
          <p:cNvSpPr txBox="1"/>
          <p:nvPr/>
        </p:nvSpPr>
        <p:spPr>
          <a:xfrm>
            <a:off x="5120640" y="1645920"/>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0.189</a:t>
            </a:r>
          </a:p>
        </p:txBody>
      </p:sp>
      <p:sp>
        <p:nvSpPr>
          <p:cNvPr id="19" name="TextBox 18"/>
          <p:cNvSpPr txBox="1"/>
          <p:nvPr/>
        </p:nvSpPr>
        <p:spPr>
          <a:xfrm>
            <a:off x="640080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6951ms</a:t>
            </a:r>
          </a:p>
        </p:txBody>
      </p:sp>
      <p:sp>
        <p:nvSpPr>
          <p:cNvPr id="20" name="Rectangle 19"/>
          <p:cNvSpPr/>
          <p:nvPr/>
        </p:nvSpPr>
        <p:spPr>
          <a:xfrm>
            <a:off x="7772400" y="1719072"/>
            <a:ext cx="3024377"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193852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193852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2</a:t>
            </a:r>
          </a:p>
        </p:txBody>
      </p:sp>
      <p:sp>
        <p:nvSpPr>
          <p:cNvPr id="23" name="TextBox 22"/>
          <p:cNvSpPr txBox="1"/>
          <p:nvPr/>
        </p:nvSpPr>
        <p:spPr>
          <a:xfrm>
            <a:off x="914400" y="193852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late_fusion</a:t>
            </a:r>
          </a:p>
        </p:txBody>
      </p:sp>
      <p:sp>
        <p:nvSpPr>
          <p:cNvPr id="24" name="Rounded Rectangle 23"/>
          <p:cNvSpPr/>
          <p:nvPr/>
        </p:nvSpPr>
        <p:spPr>
          <a:xfrm>
            <a:off x="2926080" y="1965960"/>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25" name="TextBox 24"/>
          <p:cNvSpPr txBox="1"/>
          <p:nvPr/>
        </p:nvSpPr>
        <p:spPr>
          <a:xfrm>
            <a:off x="384048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0.568</a:t>
            </a:r>
          </a:p>
        </p:txBody>
      </p:sp>
      <p:sp>
        <p:nvSpPr>
          <p:cNvPr id="26" name="TextBox 25"/>
          <p:cNvSpPr txBox="1"/>
          <p:nvPr/>
        </p:nvSpPr>
        <p:spPr>
          <a:xfrm>
            <a:off x="5120640" y="1938528"/>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0.186</a:t>
            </a:r>
          </a:p>
        </p:txBody>
      </p:sp>
      <p:sp>
        <p:nvSpPr>
          <p:cNvPr id="27" name="TextBox 26"/>
          <p:cNvSpPr txBox="1"/>
          <p:nvPr/>
        </p:nvSpPr>
        <p:spPr>
          <a:xfrm>
            <a:off x="640080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2551ms</a:t>
            </a:r>
          </a:p>
        </p:txBody>
      </p:sp>
      <p:sp>
        <p:nvSpPr>
          <p:cNvPr id="28" name="Rectangle 27"/>
          <p:cNvSpPr/>
          <p:nvPr/>
        </p:nvSpPr>
        <p:spPr>
          <a:xfrm>
            <a:off x="7772400" y="2011680"/>
            <a:ext cx="2976372"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223113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23113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3</a:t>
            </a:r>
          </a:p>
        </p:txBody>
      </p:sp>
      <p:sp>
        <p:nvSpPr>
          <p:cNvPr id="31" name="TextBox 30"/>
          <p:cNvSpPr txBox="1"/>
          <p:nvPr/>
        </p:nvSpPr>
        <p:spPr>
          <a:xfrm>
            <a:off x="914400" y="223113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knn</a:t>
            </a:r>
          </a:p>
        </p:txBody>
      </p:sp>
      <p:sp>
        <p:nvSpPr>
          <p:cNvPr id="32" name="Rounded Rectangle 31"/>
          <p:cNvSpPr/>
          <p:nvPr/>
        </p:nvSpPr>
        <p:spPr>
          <a:xfrm>
            <a:off x="2926080" y="2258568"/>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33" name="TextBox 32"/>
          <p:cNvSpPr txBox="1"/>
          <p:nvPr/>
        </p:nvSpPr>
        <p:spPr>
          <a:xfrm>
            <a:off x="384048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0.518</a:t>
            </a:r>
          </a:p>
        </p:txBody>
      </p:sp>
      <p:sp>
        <p:nvSpPr>
          <p:cNvPr id="34" name="TextBox 33"/>
          <p:cNvSpPr txBox="1"/>
          <p:nvPr/>
        </p:nvSpPr>
        <p:spPr>
          <a:xfrm>
            <a:off x="512064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0.165</a:t>
            </a:r>
          </a:p>
        </p:txBody>
      </p:sp>
      <p:sp>
        <p:nvSpPr>
          <p:cNvPr id="35" name="TextBox 34"/>
          <p:cNvSpPr txBox="1"/>
          <p:nvPr/>
        </p:nvSpPr>
        <p:spPr>
          <a:xfrm>
            <a:off x="640080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344ms</a:t>
            </a:r>
          </a:p>
        </p:txBody>
      </p:sp>
      <p:sp>
        <p:nvSpPr>
          <p:cNvPr id="36" name="Rectangle 35"/>
          <p:cNvSpPr/>
          <p:nvPr/>
        </p:nvSpPr>
        <p:spPr>
          <a:xfrm>
            <a:off x="7772400" y="2304288"/>
            <a:ext cx="2640329"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252374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252374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4</a:t>
            </a:r>
          </a:p>
        </p:txBody>
      </p:sp>
      <p:sp>
        <p:nvSpPr>
          <p:cNvPr id="39" name="TextBox 38"/>
          <p:cNvSpPr txBox="1"/>
          <p:nvPr/>
        </p:nvSpPr>
        <p:spPr>
          <a:xfrm>
            <a:off x="914400" y="252374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decision_tree</a:t>
            </a:r>
          </a:p>
        </p:txBody>
      </p:sp>
      <p:sp>
        <p:nvSpPr>
          <p:cNvPr id="40" name="Rounded Rectangle 39"/>
          <p:cNvSpPr/>
          <p:nvPr/>
        </p:nvSpPr>
        <p:spPr>
          <a:xfrm>
            <a:off x="2926080" y="255117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1" name="TextBox 40"/>
          <p:cNvSpPr txBox="1"/>
          <p:nvPr/>
        </p:nvSpPr>
        <p:spPr>
          <a:xfrm>
            <a:off x="384048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0.490</a:t>
            </a:r>
          </a:p>
        </p:txBody>
      </p:sp>
      <p:sp>
        <p:nvSpPr>
          <p:cNvPr id="42" name="TextBox 41"/>
          <p:cNvSpPr txBox="1"/>
          <p:nvPr/>
        </p:nvSpPr>
        <p:spPr>
          <a:xfrm>
            <a:off x="512064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0.161</a:t>
            </a:r>
          </a:p>
        </p:txBody>
      </p:sp>
      <p:sp>
        <p:nvSpPr>
          <p:cNvPr id="43" name="TextBox 42"/>
          <p:cNvSpPr txBox="1"/>
          <p:nvPr/>
        </p:nvSpPr>
        <p:spPr>
          <a:xfrm>
            <a:off x="640080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2ms</a:t>
            </a:r>
          </a:p>
        </p:txBody>
      </p:sp>
      <p:sp>
        <p:nvSpPr>
          <p:cNvPr id="44" name="Rectangle 43"/>
          <p:cNvSpPr/>
          <p:nvPr/>
        </p:nvSpPr>
        <p:spPr>
          <a:xfrm>
            <a:off x="7772400" y="2596896"/>
            <a:ext cx="257632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2816352"/>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281635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5</a:t>
            </a:r>
          </a:p>
        </p:txBody>
      </p:sp>
      <p:sp>
        <p:nvSpPr>
          <p:cNvPr id="47" name="TextBox 46"/>
          <p:cNvSpPr txBox="1"/>
          <p:nvPr/>
        </p:nvSpPr>
        <p:spPr>
          <a:xfrm>
            <a:off x="914400" y="281635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random_forest</a:t>
            </a:r>
          </a:p>
        </p:txBody>
      </p:sp>
      <p:sp>
        <p:nvSpPr>
          <p:cNvPr id="48" name="Rounded Rectangle 47"/>
          <p:cNvSpPr/>
          <p:nvPr/>
        </p:nvSpPr>
        <p:spPr>
          <a:xfrm>
            <a:off x="2926080" y="2843784"/>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9" name="TextBox 48"/>
          <p:cNvSpPr txBox="1"/>
          <p:nvPr/>
        </p:nvSpPr>
        <p:spPr>
          <a:xfrm>
            <a:off x="384048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0.587</a:t>
            </a:r>
          </a:p>
        </p:txBody>
      </p:sp>
      <p:sp>
        <p:nvSpPr>
          <p:cNvPr id="50" name="TextBox 49"/>
          <p:cNvSpPr txBox="1"/>
          <p:nvPr/>
        </p:nvSpPr>
        <p:spPr>
          <a:xfrm>
            <a:off x="512064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0.160</a:t>
            </a:r>
          </a:p>
        </p:txBody>
      </p:sp>
      <p:sp>
        <p:nvSpPr>
          <p:cNvPr id="51" name="TextBox 50"/>
          <p:cNvSpPr txBox="1"/>
          <p:nvPr/>
        </p:nvSpPr>
        <p:spPr>
          <a:xfrm>
            <a:off x="640080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103ms</a:t>
            </a:r>
          </a:p>
        </p:txBody>
      </p:sp>
      <p:sp>
        <p:nvSpPr>
          <p:cNvPr id="52" name="Rectangle 51"/>
          <p:cNvSpPr/>
          <p:nvPr/>
        </p:nvSpPr>
        <p:spPr>
          <a:xfrm>
            <a:off x="7772400" y="2889504"/>
            <a:ext cx="256032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200" y="3108960"/>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10896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6</a:t>
            </a:r>
          </a:p>
        </p:txBody>
      </p:sp>
      <p:sp>
        <p:nvSpPr>
          <p:cNvPr id="55" name="TextBox 54"/>
          <p:cNvSpPr txBox="1"/>
          <p:nvPr/>
        </p:nvSpPr>
        <p:spPr>
          <a:xfrm>
            <a:off x="914400" y="310896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xgboost</a:t>
            </a:r>
          </a:p>
        </p:txBody>
      </p:sp>
      <p:sp>
        <p:nvSpPr>
          <p:cNvPr id="56" name="Rounded Rectangle 55"/>
          <p:cNvSpPr/>
          <p:nvPr/>
        </p:nvSpPr>
        <p:spPr>
          <a:xfrm>
            <a:off x="2926080" y="3136392"/>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57" name="TextBox 56"/>
          <p:cNvSpPr txBox="1"/>
          <p:nvPr/>
        </p:nvSpPr>
        <p:spPr>
          <a:xfrm>
            <a:off x="384048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0.593</a:t>
            </a:r>
          </a:p>
        </p:txBody>
      </p:sp>
      <p:sp>
        <p:nvSpPr>
          <p:cNvPr id="58" name="TextBox 57"/>
          <p:cNvSpPr txBox="1"/>
          <p:nvPr/>
        </p:nvSpPr>
        <p:spPr>
          <a:xfrm>
            <a:off x="512064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0.158</a:t>
            </a:r>
          </a:p>
        </p:txBody>
      </p:sp>
      <p:sp>
        <p:nvSpPr>
          <p:cNvPr id="59" name="TextBox 58"/>
          <p:cNvSpPr txBox="1"/>
          <p:nvPr/>
        </p:nvSpPr>
        <p:spPr>
          <a:xfrm>
            <a:off x="640080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59ms</a:t>
            </a:r>
          </a:p>
        </p:txBody>
      </p:sp>
      <p:sp>
        <p:nvSpPr>
          <p:cNvPr id="60" name="Rectangle 59"/>
          <p:cNvSpPr/>
          <p:nvPr/>
        </p:nvSpPr>
        <p:spPr>
          <a:xfrm>
            <a:off x="7772400" y="3182112"/>
            <a:ext cx="252831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3401568"/>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340156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7</a:t>
            </a:r>
          </a:p>
        </p:txBody>
      </p:sp>
      <p:sp>
        <p:nvSpPr>
          <p:cNvPr id="63" name="TextBox 62"/>
          <p:cNvSpPr txBox="1"/>
          <p:nvPr/>
        </p:nvSpPr>
        <p:spPr>
          <a:xfrm>
            <a:off x="914400" y="340156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naive_bayes</a:t>
            </a:r>
          </a:p>
        </p:txBody>
      </p:sp>
      <p:sp>
        <p:nvSpPr>
          <p:cNvPr id="64" name="Rounded Rectangle 63"/>
          <p:cNvSpPr/>
          <p:nvPr/>
        </p:nvSpPr>
        <p:spPr>
          <a:xfrm>
            <a:off x="2926080" y="342900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65" name="TextBox 64"/>
          <p:cNvSpPr txBox="1"/>
          <p:nvPr/>
        </p:nvSpPr>
        <p:spPr>
          <a:xfrm>
            <a:off x="384048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0.295</a:t>
            </a:r>
          </a:p>
        </p:txBody>
      </p:sp>
      <p:sp>
        <p:nvSpPr>
          <p:cNvPr id="66" name="TextBox 65"/>
          <p:cNvSpPr txBox="1"/>
          <p:nvPr/>
        </p:nvSpPr>
        <p:spPr>
          <a:xfrm>
            <a:off x="512064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0.152</a:t>
            </a:r>
          </a:p>
        </p:txBody>
      </p:sp>
      <p:sp>
        <p:nvSpPr>
          <p:cNvPr id="67" name="TextBox 66"/>
          <p:cNvSpPr txBox="1"/>
          <p:nvPr/>
        </p:nvSpPr>
        <p:spPr>
          <a:xfrm>
            <a:off x="640080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9ms</a:t>
            </a:r>
          </a:p>
        </p:txBody>
      </p:sp>
      <p:sp>
        <p:nvSpPr>
          <p:cNvPr id="68" name="Rectangle 67"/>
          <p:cNvSpPr/>
          <p:nvPr/>
        </p:nvSpPr>
        <p:spPr>
          <a:xfrm>
            <a:off x="7772400" y="3474720"/>
            <a:ext cx="243230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57200" y="3694176"/>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369417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8</a:t>
            </a:r>
          </a:p>
        </p:txBody>
      </p:sp>
      <p:sp>
        <p:nvSpPr>
          <p:cNvPr id="71" name="TextBox 70"/>
          <p:cNvSpPr txBox="1"/>
          <p:nvPr/>
        </p:nvSpPr>
        <p:spPr>
          <a:xfrm>
            <a:off x="914400" y="369417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mlp</a:t>
            </a:r>
          </a:p>
        </p:txBody>
      </p:sp>
      <p:sp>
        <p:nvSpPr>
          <p:cNvPr id="72" name="Rounded Rectangle 71"/>
          <p:cNvSpPr/>
          <p:nvPr/>
        </p:nvSpPr>
        <p:spPr>
          <a:xfrm>
            <a:off x="2926080" y="372160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73" name="TextBox 72"/>
          <p:cNvSpPr txBox="1"/>
          <p:nvPr/>
        </p:nvSpPr>
        <p:spPr>
          <a:xfrm>
            <a:off x="384048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0.570</a:t>
            </a:r>
          </a:p>
        </p:txBody>
      </p:sp>
      <p:sp>
        <p:nvSpPr>
          <p:cNvPr id="74" name="TextBox 73"/>
          <p:cNvSpPr txBox="1"/>
          <p:nvPr/>
        </p:nvSpPr>
        <p:spPr>
          <a:xfrm>
            <a:off x="512064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0.148</a:t>
            </a:r>
          </a:p>
        </p:txBody>
      </p:sp>
      <p:sp>
        <p:nvSpPr>
          <p:cNvPr id="75" name="TextBox 74"/>
          <p:cNvSpPr txBox="1"/>
          <p:nvPr/>
        </p:nvSpPr>
        <p:spPr>
          <a:xfrm>
            <a:off x="640080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12ms</a:t>
            </a:r>
          </a:p>
        </p:txBody>
      </p:sp>
      <p:sp>
        <p:nvSpPr>
          <p:cNvPr id="76" name="Rectangle 75"/>
          <p:cNvSpPr/>
          <p:nvPr/>
        </p:nvSpPr>
        <p:spPr>
          <a:xfrm>
            <a:off x="7772400" y="3767328"/>
            <a:ext cx="236829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3986784"/>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398678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9</a:t>
            </a:r>
          </a:p>
        </p:txBody>
      </p:sp>
      <p:sp>
        <p:nvSpPr>
          <p:cNvPr id="79" name="TextBox 78"/>
          <p:cNvSpPr txBox="1"/>
          <p:nvPr/>
        </p:nvSpPr>
        <p:spPr>
          <a:xfrm>
            <a:off x="914400" y="398678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svm</a:t>
            </a:r>
          </a:p>
        </p:txBody>
      </p:sp>
      <p:sp>
        <p:nvSpPr>
          <p:cNvPr id="80" name="Rounded Rectangle 79"/>
          <p:cNvSpPr/>
          <p:nvPr/>
        </p:nvSpPr>
        <p:spPr>
          <a:xfrm>
            <a:off x="2926080" y="401421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81" name="TextBox 80"/>
          <p:cNvSpPr txBox="1"/>
          <p:nvPr/>
        </p:nvSpPr>
        <p:spPr>
          <a:xfrm>
            <a:off x="384048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0.558</a:t>
            </a:r>
          </a:p>
        </p:txBody>
      </p:sp>
      <p:sp>
        <p:nvSpPr>
          <p:cNvPr id="82" name="TextBox 81"/>
          <p:cNvSpPr txBox="1"/>
          <p:nvPr/>
        </p:nvSpPr>
        <p:spPr>
          <a:xfrm>
            <a:off x="512064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0.146</a:t>
            </a:r>
          </a:p>
        </p:txBody>
      </p:sp>
      <p:sp>
        <p:nvSpPr>
          <p:cNvPr id="83" name="TextBox 82"/>
          <p:cNvSpPr txBox="1"/>
          <p:nvPr/>
        </p:nvSpPr>
        <p:spPr>
          <a:xfrm>
            <a:off x="640080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1392ms</a:t>
            </a:r>
          </a:p>
        </p:txBody>
      </p:sp>
      <p:sp>
        <p:nvSpPr>
          <p:cNvPr id="84" name="Rectangle 83"/>
          <p:cNvSpPr/>
          <p:nvPr/>
        </p:nvSpPr>
        <p:spPr>
          <a:xfrm>
            <a:off x="7772400" y="4059936"/>
            <a:ext cx="2336291"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57200" y="4279392"/>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8640" y="427939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10</a:t>
            </a:r>
          </a:p>
        </p:txBody>
      </p:sp>
      <p:sp>
        <p:nvSpPr>
          <p:cNvPr id="87" name="TextBox 86"/>
          <p:cNvSpPr txBox="1"/>
          <p:nvPr/>
        </p:nvSpPr>
        <p:spPr>
          <a:xfrm>
            <a:off x="914400" y="427939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transformer</a:t>
            </a:r>
          </a:p>
        </p:txBody>
      </p:sp>
      <p:sp>
        <p:nvSpPr>
          <p:cNvPr id="88" name="Rounded Rectangle 87"/>
          <p:cNvSpPr/>
          <p:nvPr/>
        </p:nvSpPr>
        <p:spPr>
          <a:xfrm>
            <a:off x="2926080" y="4306824"/>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89" name="TextBox 88"/>
          <p:cNvSpPr txBox="1"/>
          <p:nvPr/>
        </p:nvSpPr>
        <p:spPr>
          <a:xfrm>
            <a:off x="384048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0.560</a:t>
            </a:r>
          </a:p>
        </p:txBody>
      </p:sp>
      <p:sp>
        <p:nvSpPr>
          <p:cNvPr id="90" name="TextBox 89"/>
          <p:cNvSpPr txBox="1"/>
          <p:nvPr/>
        </p:nvSpPr>
        <p:spPr>
          <a:xfrm>
            <a:off x="512064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0.142</a:t>
            </a:r>
          </a:p>
        </p:txBody>
      </p:sp>
      <p:sp>
        <p:nvSpPr>
          <p:cNvPr id="91" name="TextBox 90"/>
          <p:cNvSpPr txBox="1"/>
          <p:nvPr/>
        </p:nvSpPr>
        <p:spPr>
          <a:xfrm>
            <a:off x="640080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18ms</a:t>
            </a:r>
          </a:p>
        </p:txBody>
      </p:sp>
      <p:sp>
        <p:nvSpPr>
          <p:cNvPr id="92" name="Rectangle 91"/>
          <p:cNvSpPr/>
          <p:nvPr/>
        </p:nvSpPr>
        <p:spPr>
          <a:xfrm>
            <a:off x="7772400" y="4352544"/>
            <a:ext cx="227228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57200" y="457200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8640" y="457200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11</a:t>
            </a:r>
          </a:p>
        </p:txBody>
      </p:sp>
      <p:sp>
        <p:nvSpPr>
          <p:cNvPr id="95" name="TextBox 94"/>
          <p:cNvSpPr txBox="1"/>
          <p:nvPr/>
        </p:nvSpPr>
        <p:spPr>
          <a:xfrm>
            <a:off x="914400" y="457200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lstm</a:t>
            </a:r>
          </a:p>
        </p:txBody>
      </p:sp>
      <p:sp>
        <p:nvSpPr>
          <p:cNvPr id="96" name="Rounded Rectangle 95"/>
          <p:cNvSpPr/>
          <p:nvPr/>
        </p:nvSpPr>
        <p:spPr>
          <a:xfrm>
            <a:off x="2926080" y="4599432"/>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97" name="TextBox 96"/>
          <p:cNvSpPr txBox="1"/>
          <p:nvPr/>
        </p:nvSpPr>
        <p:spPr>
          <a:xfrm>
            <a:off x="384048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0.535</a:t>
            </a:r>
          </a:p>
        </p:txBody>
      </p:sp>
      <p:sp>
        <p:nvSpPr>
          <p:cNvPr id="98" name="TextBox 97"/>
          <p:cNvSpPr txBox="1"/>
          <p:nvPr/>
        </p:nvSpPr>
        <p:spPr>
          <a:xfrm>
            <a:off x="512064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0.140</a:t>
            </a:r>
          </a:p>
        </p:txBody>
      </p:sp>
      <p:sp>
        <p:nvSpPr>
          <p:cNvPr id="99" name="TextBox 98"/>
          <p:cNvSpPr txBox="1"/>
          <p:nvPr/>
        </p:nvSpPr>
        <p:spPr>
          <a:xfrm>
            <a:off x="640080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15ms</a:t>
            </a:r>
          </a:p>
        </p:txBody>
      </p:sp>
      <p:sp>
        <p:nvSpPr>
          <p:cNvPr id="100" name="Rectangle 99"/>
          <p:cNvSpPr/>
          <p:nvPr/>
        </p:nvSpPr>
        <p:spPr>
          <a:xfrm>
            <a:off x="7772400" y="4645152"/>
            <a:ext cx="224028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57200" y="486460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486460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12</a:t>
            </a:r>
          </a:p>
        </p:txBody>
      </p:sp>
      <p:sp>
        <p:nvSpPr>
          <p:cNvPr id="103" name="TextBox 102"/>
          <p:cNvSpPr txBox="1"/>
          <p:nvPr/>
        </p:nvSpPr>
        <p:spPr>
          <a:xfrm>
            <a:off x="914400" y="486460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lightgbm</a:t>
            </a:r>
          </a:p>
        </p:txBody>
      </p:sp>
      <p:sp>
        <p:nvSpPr>
          <p:cNvPr id="104" name="Rounded Rectangle 103"/>
          <p:cNvSpPr/>
          <p:nvPr/>
        </p:nvSpPr>
        <p:spPr>
          <a:xfrm>
            <a:off x="2926080" y="489204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05" name="TextBox 104"/>
          <p:cNvSpPr txBox="1"/>
          <p:nvPr/>
        </p:nvSpPr>
        <p:spPr>
          <a:xfrm>
            <a:off x="384048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0.574</a:t>
            </a:r>
          </a:p>
        </p:txBody>
      </p:sp>
      <p:sp>
        <p:nvSpPr>
          <p:cNvPr id="106" name="TextBox 105"/>
          <p:cNvSpPr txBox="1"/>
          <p:nvPr/>
        </p:nvSpPr>
        <p:spPr>
          <a:xfrm>
            <a:off x="512064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0.137</a:t>
            </a:r>
          </a:p>
        </p:txBody>
      </p:sp>
      <p:sp>
        <p:nvSpPr>
          <p:cNvPr id="107" name="TextBox 106"/>
          <p:cNvSpPr txBox="1"/>
          <p:nvPr/>
        </p:nvSpPr>
        <p:spPr>
          <a:xfrm>
            <a:off x="640080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37ms</a:t>
            </a:r>
          </a:p>
        </p:txBody>
      </p:sp>
      <p:sp>
        <p:nvSpPr>
          <p:cNvPr id="108" name="Rectangle 107"/>
          <p:cNvSpPr/>
          <p:nvPr/>
        </p:nvSpPr>
        <p:spPr>
          <a:xfrm>
            <a:off x="7772400" y="4937760"/>
            <a:ext cx="2192274"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515721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8640" y="515721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13</a:t>
            </a:r>
          </a:p>
        </p:txBody>
      </p:sp>
      <p:sp>
        <p:nvSpPr>
          <p:cNvPr id="111" name="TextBox 110"/>
          <p:cNvSpPr txBox="1"/>
          <p:nvPr/>
        </p:nvSpPr>
        <p:spPr>
          <a:xfrm>
            <a:off x="914400" y="515721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cnn</a:t>
            </a:r>
          </a:p>
        </p:txBody>
      </p:sp>
      <p:sp>
        <p:nvSpPr>
          <p:cNvPr id="112" name="Rounded Rectangle 111"/>
          <p:cNvSpPr/>
          <p:nvPr/>
        </p:nvSpPr>
        <p:spPr>
          <a:xfrm>
            <a:off x="2926080" y="518464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113" name="TextBox 112"/>
          <p:cNvSpPr txBox="1"/>
          <p:nvPr/>
        </p:nvSpPr>
        <p:spPr>
          <a:xfrm>
            <a:off x="384048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0.530</a:t>
            </a:r>
          </a:p>
        </p:txBody>
      </p:sp>
      <p:sp>
        <p:nvSpPr>
          <p:cNvPr id="114" name="TextBox 113"/>
          <p:cNvSpPr txBox="1"/>
          <p:nvPr/>
        </p:nvSpPr>
        <p:spPr>
          <a:xfrm>
            <a:off x="512064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0.131</a:t>
            </a:r>
          </a:p>
        </p:txBody>
      </p:sp>
      <p:sp>
        <p:nvSpPr>
          <p:cNvPr id="115" name="TextBox 114"/>
          <p:cNvSpPr txBox="1"/>
          <p:nvPr/>
        </p:nvSpPr>
        <p:spPr>
          <a:xfrm>
            <a:off x="640080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10ms</a:t>
            </a:r>
          </a:p>
        </p:txBody>
      </p:sp>
      <p:sp>
        <p:nvSpPr>
          <p:cNvPr id="116" name="Rectangle 115"/>
          <p:cNvSpPr/>
          <p:nvPr/>
        </p:nvSpPr>
        <p:spPr>
          <a:xfrm>
            <a:off x="7772400" y="5230368"/>
            <a:ext cx="209626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57200" y="544982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48640" y="544982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14</a:t>
            </a:r>
          </a:p>
        </p:txBody>
      </p:sp>
      <p:sp>
        <p:nvSpPr>
          <p:cNvPr id="119" name="TextBox 118"/>
          <p:cNvSpPr txBox="1"/>
          <p:nvPr/>
        </p:nvSpPr>
        <p:spPr>
          <a:xfrm>
            <a:off x="914400" y="544982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logistic_reg</a:t>
            </a:r>
          </a:p>
        </p:txBody>
      </p:sp>
      <p:sp>
        <p:nvSpPr>
          <p:cNvPr id="120" name="Rounded Rectangle 119"/>
          <p:cNvSpPr/>
          <p:nvPr/>
        </p:nvSpPr>
        <p:spPr>
          <a:xfrm>
            <a:off x="2926080" y="547725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21" name="TextBox 120"/>
          <p:cNvSpPr txBox="1"/>
          <p:nvPr/>
        </p:nvSpPr>
        <p:spPr>
          <a:xfrm>
            <a:off x="384048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0.549</a:t>
            </a:r>
          </a:p>
        </p:txBody>
      </p:sp>
      <p:sp>
        <p:nvSpPr>
          <p:cNvPr id="122" name="TextBox 121"/>
          <p:cNvSpPr txBox="1"/>
          <p:nvPr/>
        </p:nvSpPr>
        <p:spPr>
          <a:xfrm>
            <a:off x="512064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0.128</a:t>
            </a:r>
          </a:p>
        </p:txBody>
      </p:sp>
      <p:sp>
        <p:nvSpPr>
          <p:cNvPr id="123" name="TextBox 122"/>
          <p:cNvSpPr txBox="1"/>
          <p:nvPr/>
        </p:nvSpPr>
        <p:spPr>
          <a:xfrm>
            <a:off x="640080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4ms</a:t>
            </a:r>
          </a:p>
        </p:txBody>
      </p:sp>
      <p:sp>
        <p:nvSpPr>
          <p:cNvPr id="124" name="Rectangle 123"/>
          <p:cNvSpPr/>
          <p:nvPr/>
        </p:nvSpPr>
        <p:spPr>
          <a:xfrm>
            <a:off x="7772400" y="5522976"/>
            <a:ext cx="2048256"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a:extLst>
              <a:ext uri="{FF2B5EF4-FFF2-40B4-BE49-F238E27FC236}">
                <a16:creationId xmlns:a16="http://schemas.microsoft.com/office/drawing/2014/main" id="{AD943139-0934-4691-4996-5AA446ADD1C8}"/>
              </a:ext>
            </a:extLst>
          </p:cNvPr>
          <p:cNvSpPr/>
          <p:nvPr/>
        </p:nvSpPr>
        <p:spPr>
          <a:xfrm>
            <a:off x="457200" y="5782491"/>
            <a:ext cx="109728" cy="182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5" name="TextBox 130">
            <a:extLst>
              <a:ext uri="{FF2B5EF4-FFF2-40B4-BE49-F238E27FC236}">
                <a16:creationId xmlns:a16="http://schemas.microsoft.com/office/drawing/2014/main" id="{A93D0354-92D9-9FAF-A015-17DA5D0FCE4D}"/>
              </a:ext>
            </a:extLst>
          </p:cNvPr>
          <p:cNvSpPr txBox="1"/>
          <p:nvPr/>
        </p:nvSpPr>
        <p:spPr>
          <a:xfrm>
            <a:off x="685800" y="576420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rPr dirty="0"/>
              <a:t>Ensembles achieve best F1 — combining models reduces errors</a:t>
            </a:r>
          </a:p>
        </p:txBody>
      </p:sp>
      <p:sp>
        <p:nvSpPr>
          <p:cNvPr id="139" name="Rectangle 138">
            <a:extLst>
              <a:ext uri="{FF2B5EF4-FFF2-40B4-BE49-F238E27FC236}">
                <a16:creationId xmlns:a16="http://schemas.microsoft.com/office/drawing/2014/main" id="{7AA3D117-6CDB-0408-C410-A98EBD83F548}"/>
              </a:ext>
            </a:extLst>
          </p:cNvPr>
          <p:cNvSpPr/>
          <p:nvPr/>
        </p:nvSpPr>
        <p:spPr>
          <a:xfrm>
            <a:off x="457200" y="6056811"/>
            <a:ext cx="109728" cy="18288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0" name="TextBox 132">
            <a:extLst>
              <a:ext uri="{FF2B5EF4-FFF2-40B4-BE49-F238E27FC236}">
                <a16:creationId xmlns:a16="http://schemas.microsoft.com/office/drawing/2014/main" id="{4DAA8A50-DEF3-9C68-0BD8-6BF9EA034586}"/>
              </a:ext>
            </a:extLst>
          </p:cNvPr>
          <p:cNvSpPr txBox="1"/>
          <p:nvPr/>
        </p:nvSpPr>
        <p:spPr>
          <a:xfrm>
            <a:off x="685800" y="603852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XGBoost has best raw accuracy but lower F1 (biased toward majority class)</a:t>
            </a:r>
          </a:p>
        </p:txBody>
      </p:sp>
      <p:sp>
        <p:nvSpPr>
          <p:cNvPr id="141" name="Rectangle 140">
            <a:extLst>
              <a:ext uri="{FF2B5EF4-FFF2-40B4-BE49-F238E27FC236}">
                <a16:creationId xmlns:a16="http://schemas.microsoft.com/office/drawing/2014/main" id="{E40B5C27-E308-3FA3-8B3A-7496BA609850}"/>
              </a:ext>
            </a:extLst>
          </p:cNvPr>
          <p:cNvSpPr/>
          <p:nvPr/>
        </p:nvSpPr>
        <p:spPr>
          <a:xfrm>
            <a:off x="457200" y="6331131"/>
            <a:ext cx="109728" cy="1828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2" name="TextBox 134">
            <a:extLst>
              <a:ext uri="{FF2B5EF4-FFF2-40B4-BE49-F238E27FC236}">
                <a16:creationId xmlns:a16="http://schemas.microsoft.com/office/drawing/2014/main" id="{3AF57015-DF15-E95A-9844-3DA3A7FCF738}"/>
              </a:ext>
            </a:extLst>
          </p:cNvPr>
          <p:cNvSpPr txBox="1"/>
          <p:nvPr/>
        </p:nvSpPr>
        <p:spPr>
          <a:xfrm>
            <a:off x="685800" y="631284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Decision Tree is fastest (2ms) — good for real-time</a:t>
            </a:r>
          </a:p>
        </p:txBody>
      </p:sp>
      <p:sp>
        <p:nvSpPr>
          <p:cNvPr id="143" name="Rectangle 142">
            <a:extLst>
              <a:ext uri="{FF2B5EF4-FFF2-40B4-BE49-F238E27FC236}">
                <a16:creationId xmlns:a16="http://schemas.microsoft.com/office/drawing/2014/main" id="{849C47C9-ADE5-0E65-38C6-559CECBA2E5D}"/>
              </a:ext>
            </a:extLst>
          </p:cNvPr>
          <p:cNvSpPr/>
          <p:nvPr/>
        </p:nvSpPr>
        <p:spPr>
          <a:xfrm>
            <a:off x="457200" y="6605451"/>
            <a:ext cx="109728" cy="182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4" name="TextBox 136">
            <a:extLst>
              <a:ext uri="{FF2B5EF4-FFF2-40B4-BE49-F238E27FC236}">
                <a16:creationId xmlns:a16="http://schemas.microsoft.com/office/drawing/2014/main" id="{8573D387-FEC9-3969-1E20-06C42E5249FD}"/>
              </a:ext>
            </a:extLst>
          </p:cNvPr>
          <p:cNvSpPr txBox="1"/>
          <p:nvPr/>
        </p:nvSpPr>
        <p:spPr>
          <a:xfrm>
            <a:off x="685800" y="658716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Deep learning didn't outperform classical ML with engineered features</a:t>
            </a:r>
          </a:p>
        </p:txBody>
      </p:sp>
    </p:spTree>
    <p:extLst>
      <p:ext uri="{BB962C8B-B14F-4D97-AF65-F5344CB8AC3E}">
        <p14:creationId xmlns:p14="http://schemas.microsoft.com/office/powerpoint/2010/main" val="149930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8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Trained Models → .pkl Files</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What gets saved after training completes</a:t>
            </a:r>
          </a:p>
        </p:txBody>
      </p:sp>
      <p:sp>
        <p:nvSpPr>
          <p:cNvPr id="5" name="TextBox 4"/>
          <p:cNvSpPr txBox="1"/>
          <p:nvPr/>
        </p:nvSpPr>
        <p:spPr>
          <a:xfrm>
            <a:off x="731520" y="1371600"/>
            <a:ext cx="5029200" cy="365760"/>
          </a:xfrm>
          <a:prstGeom prst="rect">
            <a:avLst/>
          </a:prstGeom>
          <a:noFill/>
        </p:spPr>
        <p:txBody>
          <a:bodyPr wrap="square" lIns="64008" tIns="32004" rIns="64008" bIns="32004">
            <a:normAutofit/>
          </a:bodyPr>
          <a:lstStyle/>
          <a:p>
            <a:pPr algn="l">
              <a:spcBef>
                <a:spcPts val="0"/>
              </a:spcBef>
              <a:spcAft>
                <a:spcPts val="400"/>
              </a:spcAft>
              <a:defRPr sz="1800" b="1">
                <a:solidFill>
                  <a:srgbClr val="2D2D2D"/>
                </a:solidFill>
                <a:latin typeface="Calibri"/>
              </a:defRPr>
            </a:pPr>
            <a:r>
              <a:rPr sz="1400" b="0">
                <a:solidFill>
                  <a:srgbClr val="273140"/>
                </a:solidFill>
                <a:latin typeface="Calibri"/>
              </a:rPr>
              <a:t>models/ directory</a:t>
            </a:r>
          </a:p>
        </p:txBody>
      </p:sp>
      <p:sp>
        <p:nvSpPr>
          <p:cNvPr id="6" name="Rectangle 5"/>
          <p:cNvSpPr/>
          <p:nvPr/>
        </p:nvSpPr>
        <p:spPr>
          <a:xfrm>
            <a:off x="731520" y="178308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822960" y="1783080"/>
            <a:ext cx="201168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File</a:t>
            </a:r>
          </a:p>
        </p:txBody>
      </p:sp>
      <p:sp>
        <p:nvSpPr>
          <p:cNvPr id="8" name="TextBox 7"/>
          <p:cNvSpPr txBox="1"/>
          <p:nvPr/>
        </p:nvSpPr>
        <p:spPr>
          <a:xfrm>
            <a:off x="2834640" y="178308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chemeClr val="bg1"/>
                </a:solidFill>
                <a:latin typeface="Calibri"/>
              </a:rPr>
              <a:t>Size</a:t>
            </a:r>
          </a:p>
        </p:txBody>
      </p:sp>
      <p:sp>
        <p:nvSpPr>
          <p:cNvPr id="9" name="TextBox 8"/>
          <p:cNvSpPr txBox="1"/>
          <p:nvPr/>
        </p:nvSpPr>
        <p:spPr>
          <a:xfrm>
            <a:off x="3840480" y="178308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Contents</a:t>
            </a:r>
          </a:p>
        </p:txBody>
      </p:sp>
      <p:sp>
        <p:nvSpPr>
          <p:cNvPr id="10" name="Rectangle 9"/>
          <p:cNvSpPr/>
          <p:nvPr/>
        </p:nvSpPr>
        <p:spPr>
          <a:xfrm>
            <a:off x="731520" y="210312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svm.pkl</a:t>
            </a:r>
          </a:p>
        </p:txBody>
      </p:sp>
      <p:sp>
        <p:nvSpPr>
          <p:cNvPr id="12" name="TextBox 11"/>
          <p:cNvSpPr txBox="1"/>
          <p:nvPr/>
        </p:nvSpPr>
        <p:spPr>
          <a:xfrm>
            <a:off x="2834640" y="210312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~2.1 MB</a:t>
            </a:r>
          </a:p>
        </p:txBody>
      </p:sp>
      <p:sp>
        <p:nvSpPr>
          <p:cNvPr id="13" name="TextBox 12"/>
          <p:cNvSpPr txBox="1"/>
          <p:nvPr/>
        </p:nvSpPr>
        <p:spPr>
          <a:xfrm>
            <a:off x="3840480" y="2103120"/>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Support vectors + kernel params</a:t>
            </a:r>
          </a:p>
        </p:txBody>
      </p:sp>
      <p:sp>
        <p:nvSpPr>
          <p:cNvPr id="14" name="Rectangle 13"/>
          <p:cNvSpPr/>
          <p:nvPr/>
        </p:nvSpPr>
        <p:spPr>
          <a:xfrm>
            <a:off x="731520" y="235915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naive_bayes.pkl</a:t>
            </a:r>
          </a:p>
        </p:txBody>
      </p:sp>
      <p:sp>
        <p:nvSpPr>
          <p:cNvPr id="16" name="TextBox 15"/>
          <p:cNvSpPr txBox="1"/>
          <p:nvPr/>
        </p:nvSpPr>
        <p:spPr>
          <a:xfrm>
            <a:off x="2834640" y="235915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KB</a:t>
            </a:r>
          </a:p>
        </p:txBody>
      </p:sp>
      <p:sp>
        <p:nvSpPr>
          <p:cNvPr id="17" name="TextBox 16"/>
          <p:cNvSpPr txBox="1"/>
          <p:nvPr/>
        </p:nvSpPr>
        <p:spPr>
          <a:xfrm>
            <a:off x="384048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Class priors + likelihoods</a:t>
            </a:r>
          </a:p>
        </p:txBody>
      </p:sp>
      <p:sp>
        <p:nvSpPr>
          <p:cNvPr id="18" name="Rectangle 17"/>
          <p:cNvSpPr/>
          <p:nvPr/>
        </p:nvSpPr>
        <p:spPr>
          <a:xfrm>
            <a:off x="731520" y="261518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61518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decision_tree.pkl</a:t>
            </a:r>
          </a:p>
        </p:txBody>
      </p:sp>
      <p:sp>
        <p:nvSpPr>
          <p:cNvPr id="20" name="TextBox 19"/>
          <p:cNvSpPr txBox="1"/>
          <p:nvPr/>
        </p:nvSpPr>
        <p:spPr>
          <a:xfrm>
            <a:off x="2834640" y="261518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~180 KB</a:t>
            </a:r>
          </a:p>
        </p:txBody>
      </p:sp>
      <p:sp>
        <p:nvSpPr>
          <p:cNvPr id="21" name="TextBox 20"/>
          <p:cNvSpPr txBox="1"/>
          <p:nvPr/>
        </p:nvSpPr>
        <p:spPr>
          <a:xfrm>
            <a:off x="3840480" y="2615184"/>
            <a:ext cx="1828800" cy="256032"/>
          </a:xfrm>
          <a:prstGeom prst="rect">
            <a:avLst/>
          </a:prstGeom>
          <a:noFill/>
        </p:spPr>
        <p:txBody>
          <a:bodyPr wrap="square" lIns="64008" tIns="32004" rIns="64008" bIns="32004">
            <a:normAutofit fontScale="850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Tree structure + thresholds</a:t>
            </a:r>
          </a:p>
        </p:txBody>
      </p:sp>
      <p:sp>
        <p:nvSpPr>
          <p:cNvPr id="22" name="Rectangle 21"/>
          <p:cNvSpPr/>
          <p:nvPr/>
        </p:nvSpPr>
        <p:spPr>
          <a:xfrm>
            <a:off x="731520" y="287121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random_forest.pkl</a:t>
            </a:r>
          </a:p>
        </p:txBody>
      </p:sp>
      <p:sp>
        <p:nvSpPr>
          <p:cNvPr id="24" name="TextBox 23"/>
          <p:cNvSpPr txBox="1"/>
          <p:nvPr/>
        </p:nvSpPr>
        <p:spPr>
          <a:xfrm>
            <a:off x="2834640" y="287121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25" name="TextBox 24"/>
          <p:cNvSpPr txBox="1"/>
          <p:nvPr/>
        </p:nvSpPr>
        <p:spPr>
          <a:xfrm>
            <a:off x="384048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tree structures</a:t>
            </a:r>
          </a:p>
        </p:txBody>
      </p:sp>
      <p:sp>
        <p:nvSpPr>
          <p:cNvPr id="26" name="Rectangle 25"/>
          <p:cNvSpPr/>
          <p:nvPr/>
        </p:nvSpPr>
        <p:spPr>
          <a:xfrm>
            <a:off x="731520" y="3127248"/>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312724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knn.pkl</a:t>
            </a:r>
          </a:p>
        </p:txBody>
      </p:sp>
      <p:sp>
        <p:nvSpPr>
          <p:cNvPr id="28" name="TextBox 27"/>
          <p:cNvSpPr txBox="1"/>
          <p:nvPr/>
        </p:nvSpPr>
        <p:spPr>
          <a:xfrm>
            <a:off x="2834640" y="312724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~8.5 MB</a:t>
            </a:r>
          </a:p>
        </p:txBody>
      </p:sp>
      <p:sp>
        <p:nvSpPr>
          <p:cNvPr id="29" name="TextBox 28"/>
          <p:cNvSpPr txBox="1"/>
          <p:nvPr/>
        </p:nvSpPr>
        <p:spPr>
          <a:xfrm>
            <a:off x="3840480" y="3127248"/>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Full training data (lazy learner)</a:t>
            </a:r>
          </a:p>
        </p:txBody>
      </p:sp>
      <p:sp>
        <p:nvSpPr>
          <p:cNvPr id="30" name="Rectangle 29"/>
          <p:cNvSpPr/>
          <p:nvPr/>
        </p:nvSpPr>
        <p:spPr>
          <a:xfrm>
            <a:off x="731520" y="3383280"/>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xgboost.pkl</a:t>
            </a:r>
          </a:p>
        </p:txBody>
      </p:sp>
      <p:sp>
        <p:nvSpPr>
          <p:cNvPr id="32" name="TextBox 31"/>
          <p:cNvSpPr txBox="1"/>
          <p:nvPr/>
        </p:nvSpPr>
        <p:spPr>
          <a:xfrm>
            <a:off x="2834640" y="338328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33" name="TextBox 32"/>
          <p:cNvSpPr txBox="1"/>
          <p:nvPr/>
        </p:nvSpPr>
        <p:spPr>
          <a:xfrm>
            <a:off x="384048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boosted trees</a:t>
            </a:r>
          </a:p>
        </p:txBody>
      </p:sp>
      <p:sp>
        <p:nvSpPr>
          <p:cNvPr id="34" name="Rectangle 33"/>
          <p:cNvSpPr/>
          <p:nvPr/>
        </p:nvSpPr>
        <p:spPr>
          <a:xfrm>
            <a:off x="731520" y="3639312"/>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lightgbm.pkl</a:t>
            </a:r>
          </a:p>
        </p:txBody>
      </p:sp>
      <p:sp>
        <p:nvSpPr>
          <p:cNvPr id="36" name="TextBox 35"/>
          <p:cNvSpPr txBox="1"/>
          <p:nvPr/>
        </p:nvSpPr>
        <p:spPr>
          <a:xfrm>
            <a:off x="2834640" y="363931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~900 KB</a:t>
            </a:r>
          </a:p>
        </p:txBody>
      </p:sp>
      <p:sp>
        <p:nvSpPr>
          <p:cNvPr id="37" name="TextBox 36"/>
          <p:cNvSpPr txBox="1"/>
          <p:nvPr/>
        </p:nvSpPr>
        <p:spPr>
          <a:xfrm>
            <a:off x="384048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Gradient boosted trees</a:t>
            </a:r>
          </a:p>
        </p:txBody>
      </p:sp>
      <p:sp>
        <p:nvSpPr>
          <p:cNvPr id="38" name="Rectangle 37"/>
          <p:cNvSpPr/>
          <p:nvPr/>
        </p:nvSpPr>
        <p:spPr>
          <a:xfrm>
            <a:off x="731520" y="3895344"/>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logistic_reg.pkl</a:t>
            </a:r>
          </a:p>
        </p:txBody>
      </p:sp>
      <p:sp>
        <p:nvSpPr>
          <p:cNvPr id="40" name="TextBox 39"/>
          <p:cNvSpPr txBox="1"/>
          <p:nvPr/>
        </p:nvSpPr>
        <p:spPr>
          <a:xfrm>
            <a:off x="2834640" y="389534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KB</a:t>
            </a:r>
          </a:p>
        </p:txBody>
      </p:sp>
      <p:sp>
        <p:nvSpPr>
          <p:cNvPr id="41" name="TextBox 40"/>
          <p:cNvSpPr txBox="1"/>
          <p:nvPr/>
        </p:nvSpPr>
        <p:spPr>
          <a:xfrm>
            <a:off x="384048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Weight matrix (150 x 9)</a:t>
            </a:r>
          </a:p>
        </p:txBody>
      </p:sp>
      <p:sp>
        <p:nvSpPr>
          <p:cNvPr id="42" name="Rectangle 41"/>
          <p:cNvSpPr/>
          <p:nvPr/>
        </p:nvSpPr>
        <p:spPr>
          <a:xfrm>
            <a:off x="731520" y="4151376"/>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mlp.pkl</a:t>
            </a:r>
          </a:p>
        </p:txBody>
      </p:sp>
      <p:sp>
        <p:nvSpPr>
          <p:cNvPr id="44" name="TextBox 43"/>
          <p:cNvSpPr txBox="1"/>
          <p:nvPr/>
        </p:nvSpPr>
        <p:spPr>
          <a:xfrm>
            <a:off x="2834640" y="415137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~350 KB</a:t>
            </a:r>
          </a:p>
        </p:txBody>
      </p:sp>
      <p:sp>
        <p:nvSpPr>
          <p:cNvPr id="45" name="TextBox 44"/>
          <p:cNvSpPr txBox="1"/>
          <p:nvPr/>
        </p:nvSpPr>
        <p:spPr>
          <a:xfrm>
            <a:off x="384048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72,448 learned weights</a:t>
            </a:r>
          </a:p>
        </p:txBody>
      </p:sp>
      <p:sp>
        <p:nvSpPr>
          <p:cNvPr id="46" name="Rectangle 45"/>
          <p:cNvSpPr/>
          <p:nvPr/>
        </p:nvSpPr>
        <p:spPr>
          <a:xfrm>
            <a:off x="731520" y="4407408"/>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lstm.pkl</a:t>
            </a:r>
          </a:p>
        </p:txBody>
      </p:sp>
      <p:sp>
        <p:nvSpPr>
          <p:cNvPr id="48" name="TextBox 47"/>
          <p:cNvSpPr txBox="1"/>
          <p:nvPr/>
        </p:nvSpPr>
        <p:spPr>
          <a:xfrm>
            <a:off x="2834640" y="440740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~500 KB</a:t>
            </a:r>
          </a:p>
        </p:txBody>
      </p:sp>
      <p:sp>
        <p:nvSpPr>
          <p:cNvPr id="49" name="TextBox 48"/>
          <p:cNvSpPr txBox="1"/>
          <p:nvPr/>
        </p:nvSpPr>
        <p:spPr>
          <a:xfrm>
            <a:off x="384048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Gate weights + cell states</a:t>
            </a:r>
          </a:p>
        </p:txBody>
      </p:sp>
      <p:sp>
        <p:nvSpPr>
          <p:cNvPr id="50" name="Rectangle 49"/>
          <p:cNvSpPr/>
          <p:nvPr/>
        </p:nvSpPr>
        <p:spPr>
          <a:xfrm>
            <a:off x="731520" y="466344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cnn.pkl</a:t>
            </a:r>
          </a:p>
        </p:txBody>
      </p:sp>
      <p:sp>
        <p:nvSpPr>
          <p:cNvPr id="52" name="TextBox 51"/>
          <p:cNvSpPr txBox="1"/>
          <p:nvPr/>
        </p:nvSpPr>
        <p:spPr>
          <a:xfrm>
            <a:off x="2834640" y="466344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~280 KB</a:t>
            </a:r>
          </a:p>
        </p:txBody>
      </p:sp>
      <p:sp>
        <p:nvSpPr>
          <p:cNvPr id="53" name="TextBox 52"/>
          <p:cNvSpPr txBox="1"/>
          <p:nvPr/>
        </p:nvSpPr>
        <p:spPr>
          <a:xfrm>
            <a:off x="384048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Conv filters + FC weights</a:t>
            </a:r>
          </a:p>
        </p:txBody>
      </p:sp>
      <p:sp>
        <p:nvSpPr>
          <p:cNvPr id="54" name="Rectangle 53"/>
          <p:cNvSpPr/>
          <p:nvPr/>
        </p:nvSpPr>
        <p:spPr>
          <a:xfrm>
            <a:off x="731520" y="491947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transformer.pkl</a:t>
            </a:r>
          </a:p>
        </p:txBody>
      </p:sp>
      <p:sp>
        <p:nvSpPr>
          <p:cNvPr id="56" name="TextBox 55"/>
          <p:cNvSpPr txBox="1"/>
          <p:nvPr/>
        </p:nvSpPr>
        <p:spPr>
          <a:xfrm>
            <a:off x="2834640" y="491947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~600 KB</a:t>
            </a:r>
          </a:p>
        </p:txBody>
      </p:sp>
      <p:sp>
        <p:nvSpPr>
          <p:cNvPr id="57" name="TextBox 56"/>
          <p:cNvSpPr txBox="1"/>
          <p:nvPr/>
        </p:nvSpPr>
        <p:spPr>
          <a:xfrm>
            <a:off x="384048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Attention weights + FFN</a:t>
            </a:r>
          </a:p>
        </p:txBody>
      </p:sp>
      <p:sp>
        <p:nvSpPr>
          <p:cNvPr id="58" name="Rectangle 57"/>
          <p:cNvSpPr/>
          <p:nvPr/>
        </p:nvSpPr>
        <p:spPr>
          <a:xfrm>
            <a:off x="731520" y="517550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22960" y="517550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stacking.pkl</a:t>
            </a:r>
          </a:p>
        </p:txBody>
      </p:sp>
      <p:sp>
        <p:nvSpPr>
          <p:cNvPr id="60" name="TextBox 59"/>
          <p:cNvSpPr txBox="1"/>
          <p:nvPr/>
        </p:nvSpPr>
        <p:spPr>
          <a:xfrm>
            <a:off x="2834640" y="517550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MB</a:t>
            </a:r>
          </a:p>
        </p:txBody>
      </p:sp>
      <p:sp>
        <p:nvSpPr>
          <p:cNvPr id="61" name="TextBox 60"/>
          <p:cNvSpPr txBox="1"/>
          <p:nvPr/>
        </p:nvSpPr>
        <p:spPr>
          <a:xfrm>
            <a:off x="3840480" y="5175504"/>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meta-learner</a:t>
            </a:r>
          </a:p>
        </p:txBody>
      </p:sp>
      <p:sp>
        <p:nvSpPr>
          <p:cNvPr id="62" name="Rectangle 61"/>
          <p:cNvSpPr/>
          <p:nvPr/>
        </p:nvSpPr>
        <p:spPr>
          <a:xfrm>
            <a:off x="731520" y="543153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 y="543153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late_fusion.pkl</a:t>
            </a:r>
          </a:p>
        </p:txBody>
      </p:sp>
      <p:sp>
        <p:nvSpPr>
          <p:cNvPr id="64" name="TextBox 63"/>
          <p:cNvSpPr txBox="1"/>
          <p:nvPr/>
        </p:nvSpPr>
        <p:spPr>
          <a:xfrm>
            <a:off x="2834640" y="543153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~10 MB</a:t>
            </a:r>
          </a:p>
        </p:txBody>
      </p:sp>
      <p:sp>
        <p:nvSpPr>
          <p:cNvPr id="65" name="TextBox 64"/>
          <p:cNvSpPr txBox="1"/>
          <p:nvPr/>
        </p:nvSpPr>
        <p:spPr>
          <a:xfrm>
            <a:off x="3840480" y="5431536"/>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fusion weights</a:t>
            </a:r>
          </a:p>
        </p:txBody>
      </p:sp>
      <p:sp>
        <p:nvSpPr>
          <p:cNvPr id="66" name="Rounded Rectangle 65"/>
          <p:cNvSpPr/>
          <p:nvPr/>
        </p:nvSpPr>
        <p:spPr>
          <a:xfrm>
            <a:off x="6400800" y="1371600"/>
            <a:ext cx="5029200" cy="109728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83680" y="1463040"/>
            <a:ext cx="4663440" cy="320040"/>
          </a:xfrm>
          <a:prstGeom prst="rect">
            <a:avLst/>
          </a:prstGeom>
          <a:noFill/>
        </p:spPr>
        <p:txBody>
          <a:bodyPr wrap="square" lIns="64008" tIns="32004" rIns="64008" bIns="32004">
            <a:normAutofit/>
          </a:bodyPr>
          <a:lstStyle/>
          <a:p>
            <a:pPr algn="l">
              <a:spcBef>
                <a:spcPts val="0"/>
              </a:spcBef>
              <a:spcAft>
                <a:spcPts val="400"/>
              </a:spcAft>
              <a:defRPr sz="1400" b="1">
                <a:solidFill>
                  <a:srgbClr val="003D7C"/>
                </a:solidFill>
                <a:latin typeface="Calibri"/>
              </a:defRPr>
            </a:pPr>
            <a:r>
              <a:rPr sz="1400" b="0">
                <a:solidFill>
                  <a:srgbClr val="5B677A"/>
                </a:solidFill>
                <a:latin typeface="Calibri"/>
              </a:rPr>
              <a:t>Each .pkl contains the learned weights/parameters</a:t>
            </a:r>
          </a:p>
        </p:txBody>
      </p:sp>
      <p:sp>
        <p:nvSpPr>
          <p:cNvPr id="68" name="TextBox 67"/>
          <p:cNvSpPr txBox="1"/>
          <p:nvPr/>
        </p:nvSpPr>
        <p:spPr>
          <a:xfrm>
            <a:off x="6583680" y="1828800"/>
            <a:ext cx="4663440" cy="457200"/>
          </a:xfrm>
          <a:prstGeom prst="rect">
            <a:avLst/>
          </a:prstGeom>
          <a:noFill/>
        </p:spPr>
        <p:txBody>
          <a:bodyPr wrap="square" lIns="64008" tIns="32004" rIns="64008" bIns="32004">
            <a:normAutofit lnSpcReduction="10000"/>
          </a:bodyPr>
          <a:lstStyle/>
          <a:p>
            <a:pPr algn="l">
              <a:spcBef>
                <a:spcPts val="0"/>
              </a:spcBef>
              <a:spcAft>
                <a:spcPts val="400"/>
              </a:spcAft>
              <a:defRPr sz="1200" b="0">
                <a:solidFill>
                  <a:srgbClr val="2D2D2D"/>
                </a:solidFill>
                <a:latin typeface="Calibri"/>
              </a:defRPr>
            </a:pPr>
            <a:r>
              <a:rPr sz="1400" b="0">
                <a:solidFill>
                  <a:srgbClr val="273140"/>
                </a:solidFill>
                <a:latin typeface="Calibri"/>
              </a:rPr>
              <a:t>Backend loads these on startup — no retraining needed. Inference uses the saved model directly.</a:t>
            </a:r>
          </a:p>
        </p:txBody>
      </p:sp>
      <p:sp>
        <p:nvSpPr>
          <p:cNvPr id="69" name="TextBox 68"/>
          <p:cNvSpPr txBox="1"/>
          <p:nvPr/>
        </p:nvSpPr>
        <p:spPr>
          <a:xfrm>
            <a:off x="6400800" y="2926080"/>
            <a:ext cx="50292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End-to-End Flow</a:t>
            </a:r>
          </a:p>
        </p:txBody>
      </p:sp>
      <p:sp>
        <p:nvSpPr>
          <p:cNvPr id="70" name="Rounded Rectangle 69"/>
          <p:cNvSpPr/>
          <p:nvPr/>
        </p:nvSpPr>
        <p:spPr>
          <a:xfrm>
            <a:off x="6400800" y="3383280"/>
            <a:ext cx="1097280" cy="64008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train.py</a:t>
            </a:r>
          </a:p>
        </p:txBody>
      </p:sp>
      <p:sp>
        <p:nvSpPr>
          <p:cNvPr id="71" name="TextBox 70"/>
          <p:cNvSpPr txBox="1"/>
          <p:nvPr/>
        </p:nvSpPr>
        <p:spPr>
          <a:xfrm>
            <a:off x="749808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a:t>
            </a:r>
          </a:p>
        </p:txBody>
      </p:sp>
      <p:sp>
        <p:nvSpPr>
          <p:cNvPr id="72" name="Rounded Rectangle 71"/>
          <p:cNvSpPr/>
          <p:nvPr/>
        </p:nvSpPr>
        <p:spPr>
          <a:xfrm>
            <a:off x="7680960" y="3383280"/>
            <a:ext cx="1097280" cy="6400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200" b="0" dirty="0">
                <a:solidFill>
                  <a:srgbClr val="FFFFFF"/>
                </a:solidFill>
                <a:latin typeface="Calibri"/>
              </a:rPr>
              <a:t>models/*.</a:t>
            </a:r>
            <a:r>
              <a:rPr sz="1200" b="0" dirty="0" err="1">
                <a:solidFill>
                  <a:srgbClr val="FFFFFF"/>
                </a:solidFill>
                <a:latin typeface="Calibri"/>
              </a:rPr>
              <a:t>pkl</a:t>
            </a:r>
            <a:endParaRPr sz="1200" b="0" dirty="0">
              <a:solidFill>
                <a:srgbClr val="FFFFFF"/>
              </a:solidFill>
              <a:latin typeface="Calibri"/>
            </a:endParaRPr>
          </a:p>
        </p:txBody>
      </p:sp>
      <p:sp>
        <p:nvSpPr>
          <p:cNvPr id="73" name="TextBox 72"/>
          <p:cNvSpPr txBox="1"/>
          <p:nvPr/>
        </p:nvSpPr>
        <p:spPr>
          <a:xfrm>
            <a:off x="877824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a:t>
            </a:r>
          </a:p>
        </p:txBody>
      </p:sp>
      <p:sp>
        <p:nvSpPr>
          <p:cNvPr id="74" name="Rounded Rectangle 73"/>
          <p:cNvSpPr/>
          <p:nvPr/>
        </p:nvSpPr>
        <p:spPr>
          <a:xfrm>
            <a:off x="8961120" y="3383280"/>
            <a:ext cx="1097280" cy="6400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dirty="0" err="1">
                <a:solidFill>
                  <a:srgbClr val="273140"/>
                </a:solidFill>
                <a:latin typeface="Calibri"/>
              </a:rPr>
              <a:t>ml_service</a:t>
            </a:r>
            <a:r>
              <a:rPr sz="1400" b="0" dirty="0">
                <a:solidFill>
                  <a:srgbClr val="273140"/>
                </a:solidFill>
                <a:latin typeface="Calibri"/>
              </a:rPr>
              <a:t> loads</a:t>
            </a:r>
          </a:p>
        </p:txBody>
      </p:sp>
      <p:sp>
        <p:nvSpPr>
          <p:cNvPr id="75" name="TextBox 74"/>
          <p:cNvSpPr txBox="1"/>
          <p:nvPr/>
        </p:nvSpPr>
        <p:spPr>
          <a:xfrm>
            <a:off x="1005840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a:t>
            </a:r>
          </a:p>
        </p:txBody>
      </p:sp>
      <p:sp>
        <p:nvSpPr>
          <p:cNvPr id="76" name="Rounded Rectangle 75"/>
          <p:cNvSpPr/>
          <p:nvPr/>
        </p:nvSpPr>
        <p:spPr>
          <a:xfrm>
            <a:off x="10241280" y="3383280"/>
            <a:ext cx="1097280" cy="64008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Ready for</a:t>
            </a:r>
            <a:br/>
            <a:r>
              <a:rPr sz="1400" b="0">
                <a:solidFill>
                  <a:srgbClr val="FFFFFF"/>
                </a:solidFill>
                <a:latin typeface="Calibri"/>
              </a:rPr>
              <a:t>Inference</a:t>
            </a:r>
          </a:p>
        </p:txBody>
      </p:sp>
      <p:sp>
        <p:nvSpPr>
          <p:cNvPr id="77" name="Rounded Rectangle 76"/>
          <p:cNvSpPr/>
          <p:nvPr/>
        </p:nvSpPr>
        <p:spPr>
          <a:xfrm>
            <a:off x="6400800" y="4297680"/>
            <a:ext cx="502920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583680" y="4389120"/>
            <a:ext cx="466344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2D2D2D"/>
                </a:solidFill>
                <a:latin typeface="Calibri"/>
              </a:defRPr>
            </a:pPr>
            <a:r>
              <a:rPr sz="1400" b="0">
                <a:solidFill>
                  <a:srgbClr val="273140"/>
                </a:solidFill>
                <a:latin typeface="Calibri"/>
              </a:rPr>
              <a:t>What's Inside a .pkl?</a:t>
            </a:r>
          </a:p>
        </p:txBody>
      </p:sp>
      <p:sp>
        <p:nvSpPr>
          <p:cNvPr id="79" name="TextBox 78"/>
          <p:cNvSpPr txBox="1"/>
          <p:nvPr/>
        </p:nvSpPr>
        <p:spPr>
          <a:xfrm>
            <a:off x="6583680" y="4754880"/>
            <a:ext cx="4663440" cy="1508105"/>
          </a:xfrm>
          <a:prstGeom prst="rect">
            <a:avLst/>
          </a:prstGeom>
          <a:noFill/>
        </p:spPr>
        <p:txBody>
          <a:bodyPr wrap="square" lIns="64008" tIns="32004" rIns="64008" bIns="32004">
            <a:normAutofit fontScale="92500" lnSpcReduction="20000"/>
          </a:bodyPr>
          <a:lstStyle/>
          <a:p>
            <a:pPr>
              <a:spcBef>
                <a:spcPts val="0"/>
              </a:spcBef>
              <a:spcAft>
                <a:spcPts val="400"/>
              </a:spcAft>
              <a:defRPr sz="1100">
                <a:solidFill>
                  <a:srgbClr val="2D2D2D"/>
                </a:solidFill>
                <a:latin typeface="Courier New"/>
              </a:defRPr>
            </a:pPr>
            <a:r>
              <a:rPr sz="1400" b="0">
                <a:solidFill>
                  <a:srgbClr val="273140"/>
                </a:solidFill>
                <a:latin typeface="Calibri"/>
              </a:rPr>
              <a:t>Serialized with Python's pickle / </a:t>
            </a:r>
            <a:r>
              <a:rPr sz="1400" b="0" err="1">
                <a:solidFill>
                  <a:srgbClr val="273140"/>
                </a:solidFill>
                <a:latin typeface="Calibri"/>
              </a:rPr>
              <a:t>joblib</a:t>
            </a:r>
            <a:endParaRPr/>
          </a:p>
          <a:p>
            <a:pPr>
              <a:spcBef>
                <a:spcPts val="0"/>
              </a:spcBef>
              <a:spcAft>
                <a:spcPts val="400"/>
              </a:spcAft>
              <a:defRPr sz="1100">
                <a:solidFill>
                  <a:srgbClr val="2D2D2D"/>
                </a:solidFill>
                <a:latin typeface="Courier New"/>
              </a:defRPr>
            </a:pPr>
            <a:r>
              <a:rPr sz="1400" b="0">
                <a:solidFill>
                  <a:srgbClr val="273140"/>
                </a:solidFill>
                <a:latin typeface="Calibri"/>
              </a:rPr>
              <a:t>Contains:</a:t>
            </a:r>
          </a:p>
          <a:p>
            <a:pPr>
              <a:spcBef>
                <a:spcPts val="0"/>
              </a:spcBef>
              <a:spcAft>
                <a:spcPts val="400"/>
              </a:spcAft>
              <a:defRPr sz="1100">
                <a:solidFill>
                  <a:srgbClr val="2D2D2D"/>
                </a:solidFill>
                <a:latin typeface="Courier New"/>
              </a:defRPr>
            </a:pPr>
            <a:r>
              <a:rPr sz="1400" b="0">
                <a:solidFill>
                  <a:srgbClr val="273140"/>
                </a:solidFill>
                <a:latin typeface="Calibri"/>
              </a:rPr>
              <a:t>  - Model architecture &amp; hyperparameters</a:t>
            </a:r>
          </a:p>
          <a:p>
            <a:pPr>
              <a:spcBef>
                <a:spcPts val="0"/>
              </a:spcBef>
              <a:spcAft>
                <a:spcPts val="400"/>
              </a:spcAft>
              <a:defRPr sz="1100">
                <a:solidFill>
                  <a:srgbClr val="2D2D2D"/>
                </a:solidFill>
                <a:latin typeface="Courier New"/>
              </a:defRPr>
            </a:pPr>
            <a:r>
              <a:rPr sz="1400" b="0">
                <a:solidFill>
                  <a:srgbClr val="273140"/>
                </a:solidFill>
                <a:latin typeface="Calibri"/>
              </a:rPr>
              <a:t>  - Trained weights / learned parameters</a:t>
            </a:r>
          </a:p>
          <a:p>
            <a:pPr>
              <a:spcBef>
                <a:spcPts val="0"/>
              </a:spcBef>
              <a:spcAft>
                <a:spcPts val="400"/>
              </a:spcAft>
              <a:defRPr sz="1100">
                <a:solidFill>
                  <a:srgbClr val="2D2D2D"/>
                </a:solidFill>
                <a:latin typeface="Courier New"/>
              </a:defRPr>
            </a:pPr>
            <a:r>
              <a:rPr sz="1400" b="0">
                <a:solidFill>
                  <a:srgbClr val="273140"/>
                </a:solidFill>
                <a:latin typeface="Calibri"/>
              </a:rPr>
              <a:t>  - Feature scaler (if applicable)</a:t>
            </a:r>
          </a:p>
          <a:p>
            <a:pPr>
              <a:spcBef>
                <a:spcPts val="0"/>
              </a:spcBef>
              <a:spcAft>
                <a:spcPts val="400"/>
              </a:spcAft>
              <a:defRPr sz="1100">
                <a:solidFill>
                  <a:srgbClr val="2D2D2D"/>
                </a:solidFill>
                <a:latin typeface="Courier New"/>
              </a:defRPr>
            </a:pPr>
            <a:r>
              <a:rPr sz="1400" b="0">
                <a:solidFill>
                  <a:srgbClr val="273140"/>
                </a:solidFill>
                <a:latin typeface="Calibri"/>
              </a:rPr>
              <a:t>  - Label encoder mapping</a:t>
            </a:r>
          </a:p>
          <a:p>
            <a:pPr>
              <a:spcBef>
                <a:spcPts val="0"/>
              </a:spcBef>
              <a:spcAft>
                <a:spcPts val="400"/>
              </a:spcAft>
              <a:defRPr sz="1100">
                <a:solidFill>
                  <a:srgbClr val="2D2D2D"/>
                </a:solidFill>
                <a:latin typeface="Courier New"/>
              </a:defRPr>
            </a:pPr>
            <a:r>
              <a:rPr sz="1400" b="0">
                <a:solidFill>
                  <a:srgbClr val="273140"/>
                </a:solidFill>
                <a:latin typeface="Calibri"/>
              </a:rPr>
              <a:t>Load: model = </a:t>
            </a:r>
            <a:r>
              <a:rPr sz="1400" b="0" err="1">
                <a:solidFill>
                  <a:srgbClr val="273140"/>
                </a:solidFill>
                <a:latin typeface="Calibri"/>
              </a:rPr>
              <a:t>joblib.load</a:t>
            </a:r>
            <a:r>
              <a:rPr sz="1400" b="0">
                <a:solidFill>
                  <a:srgbClr val="273140"/>
                </a:solidFill>
                <a:latin typeface="Calibri"/>
              </a:rPr>
              <a:t>('models/</a:t>
            </a:r>
            <a:r>
              <a:rPr sz="1400" b="0" err="1">
                <a:solidFill>
                  <a:srgbClr val="273140"/>
                </a:solidFill>
                <a:latin typeface="Calibri"/>
              </a:rPr>
              <a:t>svm.pkl</a:t>
            </a:r>
            <a:r>
              <a:rPr sz="1400" b="0">
                <a:solidFill>
                  <a:srgbClr val="273140"/>
                </a:solidFill>
                <a:latin typeface="Calibri"/>
              </a:rPr>
              <a:t>')</a:t>
            </a:r>
          </a:p>
        </p:txBody>
      </p:sp>
    </p:spTree>
    <p:extLst>
      <p:ext uri="{BB962C8B-B14F-4D97-AF65-F5344CB8AC3E}">
        <p14:creationId xmlns:p14="http://schemas.microsoft.com/office/powerpoint/2010/main" val="427574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a:extLst>
            <a:ext uri="{FF2B5EF4-FFF2-40B4-BE49-F238E27FC236}">
              <a16:creationId xmlns:a16="http://schemas.microsoft.com/office/drawing/2014/main" id="{1C31F81B-57F8-C85F-703C-D3C82288993F}"/>
            </a:ext>
          </a:extLst>
        </p:cNvPr>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571C8881-AD29-9356-76F7-58411598944D}"/>
              </a:ext>
            </a:extLst>
          </p:cNvPr>
          <p:cNvSpPr txBox="1"/>
          <p:nvPr/>
        </p:nvSpPr>
        <p:spPr>
          <a:xfrm>
            <a:off x="2862043" y="2728221"/>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err="1">
                <a:solidFill>
                  <a:srgbClr val="FFFFFF"/>
                </a:solidFill>
                <a:latin typeface="Calibri"/>
              </a:rPr>
              <a:t>DataSet</a:t>
            </a:r>
            <a:r>
              <a:rPr lang="en-US" sz="4000" b="1">
                <a:solidFill>
                  <a:srgbClr val="FFFFFF"/>
                </a:solidFill>
                <a:latin typeface="Calibri"/>
              </a:rPr>
              <a:t> And Evaluation</a:t>
            </a:r>
            <a:endParaRPr lang="en-SG" sz="4000" b="1"/>
          </a:p>
        </p:txBody>
      </p:sp>
    </p:spTree>
    <p:extLst>
      <p:ext uri="{BB962C8B-B14F-4D97-AF65-F5344CB8AC3E}">
        <p14:creationId xmlns:p14="http://schemas.microsoft.com/office/powerpoint/2010/main" val="303781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CUA-Suite (VideoCUA)</a:t>
            </a:r>
          </a:p>
        </p:txBody>
      </p:sp>
      <p:sp>
        <p:nvSpPr>
          <p:cNvPr id="3" name="Rounded Rectangle 2"/>
          <p:cNvSpPr/>
          <p:nvPr/>
        </p:nvSpPr>
        <p:spPr>
          <a:xfrm>
            <a:off x="548640"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7,021</a:t>
            </a:r>
          </a:p>
          <a:p>
            <a:pPr algn="ctr">
              <a:spcBef>
                <a:spcPts val="0"/>
              </a:spcBef>
              <a:spcAft>
                <a:spcPts val="400"/>
              </a:spcAft>
            </a:pPr>
            <a:r>
              <a:rPr sz="1900" b="1" i="0">
                <a:solidFill>
                  <a:srgbClr val="002A57"/>
                </a:solidFill>
                <a:latin typeface="Calibri"/>
              </a:rPr>
              <a:t>Tasks</a:t>
            </a:r>
          </a:p>
        </p:txBody>
      </p:sp>
      <p:sp>
        <p:nvSpPr>
          <p:cNvPr id="4" name="Rounded Rectangle 3"/>
          <p:cNvSpPr/>
          <p:nvPr/>
        </p:nvSpPr>
        <p:spPr>
          <a:xfrm>
            <a:off x="3362858"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6,991</a:t>
            </a:r>
          </a:p>
          <a:p>
            <a:pPr algn="ctr">
              <a:spcBef>
                <a:spcPts val="0"/>
              </a:spcBef>
              <a:spcAft>
                <a:spcPts val="400"/>
              </a:spcAft>
            </a:pPr>
            <a:r>
              <a:rPr sz="1900" b="1" i="0">
                <a:solidFill>
                  <a:srgbClr val="002A57"/>
                </a:solidFill>
                <a:latin typeface="Calibri"/>
              </a:rPr>
              <a:t>Videos</a:t>
            </a:r>
          </a:p>
        </p:txBody>
      </p:sp>
      <p:sp>
        <p:nvSpPr>
          <p:cNvPr id="5" name="Rounded Rectangle 4"/>
          <p:cNvSpPr/>
          <p:nvPr/>
        </p:nvSpPr>
        <p:spPr>
          <a:xfrm>
            <a:off x="6177076"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~48 GB</a:t>
            </a:r>
          </a:p>
          <a:p>
            <a:pPr algn="ctr">
              <a:spcBef>
                <a:spcPts val="0"/>
              </a:spcBef>
              <a:spcAft>
                <a:spcPts val="400"/>
              </a:spcAft>
            </a:pPr>
            <a:r>
              <a:rPr sz="1900" b="1" i="0">
                <a:solidFill>
                  <a:srgbClr val="002A57"/>
                </a:solidFill>
                <a:latin typeface="Calibri"/>
              </a:rPr>
              <a:t>Total Size</a:t>
            </a:r>
          </a:p>
        </p:txBody>
      </p:sp>
      <p:sp>
        <p:nvSpPr>
          <p:cNvPr id="6" name="Rounded Rectangle 5"/>
          <p:cNvSpPr/>
          <p:nvPr/>
        </p:nvSpPr>
        <p:spPr>
          <a:xfrm>
            <a:off x="8991295"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MIT</a:t>
            </a:r>
          </a:p>
          <a:p>
            <a:pPr algn="ctr">
              <a:spcBef>
                <a:spcPts val="0"/>
              </a:spcBef>
              <a:spcAft>
                <a:spcPts val="400"/>
              </a:spcAft>
            </a:pPr>
            <a:r>
              <a:rPr sz="1900" b="1" i="0">
                <a:solidFill>
                  <a:srgbClr val="002A57"/>
                </a:solidFill>
                <a:latin typeface="Calibri"/>
              </a:rPr>
              <a:t>License</a:t>
            </a:r>
          </a:p>
        </p:txBody>
      </p:sp>
      <p:sp>
        <p:nvSpPr>
          <p:cNvPr id="7" name="TextBox 6"/>
          <p:cNvSpPr txBox="1"/>
          <p:nvPr/>
        </p:nvSpPr>
        <p:spPr>
          <a:xfrm>
            <a:off x="548640" y="2697480"/>
            <a:ext cx="11094415" cy="365760"/>
          </a:xfrm>
          <a:prstGeom prst="rect">
            <a:avLst/>
          </a:prstGeom>
          <a:noFill/>
        </p:spPr>
        <p:txBody>
          <a:bodyPr wrap="square" lIns="64008" tIns="32004" rIns="64008" bIns="32004" anchor="t">
            <a:normAutofit lnSpcReduction="10000"/>
          </a:bodyPr>
          <a:lstStyle/>
          <a:p>
            <a:pPr algn="l">
              <a:spcBef>
                <a:spcPts val="0"/>
              </a:spcBef>
              <a:spcAft>
                <a:spcPts val="400"/>
              </a:spcAft>
            </a:pPr>
            <a:r>
              <a:rPr sz="1900" b="1" i="0">
                <a:solidFill>
                  <a:srgbClr val="002A57"/>
                </a:solidFill>
                <a:latin typeface="Calibri"/>
              </a:rPr>
              <a:t>Source: </a:t>
            </a:r>
            <a:r>
              <a:rPr lang="en-US" sz="2000">
                <a:hlinkClick r:id="rId2"/>
              </a:rPr>
              <a:t>ServiceNow/</a:t>
            </a:r>
            <a:r>
              <a:rPr lang="en-US" sz="2000" err="1">
                <a:hlinkClick r:id="rId2"/>
              </a:rPr>
              <a:t>VideoCUA</a:t>
            </a:r>
            <a:r>
              <a:rPr lang="en-US" sz="2000">
                <a:hlinkClick r:id="rId2"/>
              </a:rPr>
              <a:t> · Datasets at Hugging Face</a:t>
            </a:r>
            <a:endParaRPr sz="1900" b="1" i="0">
              <a:solidFill>
                <a:srgbClr val="002A57"/>
              </a:solidFill>
              <a:latin typeface="Calibri"/>
            </a:endParaRPr>
          </a:p>
        </p:txBody>
      </p:sp>
      <p:sp>
        <p:nvSpPr>
          <p:cNvPr id="8" name="TextBox 7"/>
          <p:cNvSpPr txBox="1"/>
          <p:nvPr/>
        </p:nvSpPr>
        <p:spPr>
          <a:xfrm>
            <a:off x="548640" y="3200400"/>
            <a:ext cx="11094415" cy="457200"/>
          </a:xfrm>
          <a:prstGeom prst="rect">
            <a:avLst/>
          </a:prstGeom>
          <a:noFill/>
        </p:spPr>
        <p:txBody>
          <a:bodyPr wrap="square" lIns="64008" tIns="32004" rIns="64008" bIns="32004" anchor="t">
            <a:normAutofit/>
          </a:bodyPr>
          <a:lstStyle/>
          <a:p>
            <a:pPr algn="l">
              <a:spcBef>
                <a:spcPts val="0"/>
              </a:spcBef>
              <a:spcAft>
                <a:spcPts val="400"/>
              </a:spcAft>
            </a:pPr>
            <a:r>
              <a:rPr lang="en-US" sz="1900" b="1" i="0">
                <a:solidFill>
                  <a:srgbClr val="002A57"/>
                </a:solidFill>
                <a:latin typeface="Calibri"/>
              </a:rPr>
              <a:t>9</a:t>
            </a:r>
            <a:r>
              <a:rPr sz="1900" b="1" i="0">
                <a:solidFill>
                  <a:srgbClr val="002A57"/>
                </a:solidFill>
                <a:latin typeface="Calibri"/>
              </a:rPr>
              <a:t> Activity Labels</a:t>
            </a:r>
          </a:p>
        </p:txBody>
      </p:sp>
      <p:sp>
        <p:nvSpPr>
          <p:cNvPr id="9" name="Rounded Rectangle 8"/>
          <p:cNvSpPr/>
          <p:nvPr/>
        </p:nvSpPr>
        <p:spPr>
          <a:xfrm>
            <a:off x="54864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git_operations</a:t>
            </a:r>
          </a:p>
        </p:txBody>
      </p:sp>
      <p:sp>
        <p:nvSpPr>
          <p:cNvPr id="10" name="Rounded Rectangle 9"/>
          <p:cNvSpPr/>
          <p:nvPr/>
        </p:nvSpPr>
        <p:spPr>
          <a:xfrm>
            <a:off x="2794955"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docker_workflow</a:t>
            </a:r>
          </a:p>
        </p:txBody>
      </p:sp>
      <p:sp>
        <p:nvSpPr>
          <p:cNvPr id="11" name="Rounded Rectangle 10"/>
          <p:cNvSpPr/>
          <p:nvPr/>
        </p:nvSpPr>
        <p:spPr>
          <a:xfrm>
            <a:off x="504127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kubernetes_ops</a:t>
            </a:r>
          </a:p>
        </p:txBody>
      </p:sp>
      <p:sp>
        <p:nvSpPr>
          <p:cNvPr id="13" name="Rounded Rectangle 12"/>
          <p:cNvSpPr/>
          <p:nvPr/>
        </p:nvSpPr>
        <p:spPr>
          <a:xfrm>
            <a:off x="953390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aws_console</a:t>
            </a:r>
          </a:p>
        </p:txBody>
      </p:sp>
      <p:sp>
        <p:nvSpPr>
          <p:cNvPr id="14" name="Rounded Rectangle 13"/>
          <p:cNvSpPr/>
          <p:nvPr/>
        </p:nvSpPr>
        <p:spPr>
          <a:xfrm>
            <a:off x="54864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jenkins_ci_cd</a:t>
            </a:r>
          </a:p>
        </p:txBody>
      </p:sp>
      <p:sp>
        <p:nvSpPr>
          <p:cNvPr id="15" name="Rounded Rectangle 14"/>
          <p:cNvSpPr/>
          <p:nvPr/>
        </p:nvSpPr>
        <p:spPr>
          <a:xfrm>
            <a:off x="279495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coding_editing</a:t>
            </a:r>
          </a:p>
        </p:txBody>
      </p:sp>
      <p:sp>
        <p:nvSpPr>
          <p:cNvPr id="16" name="Rounded Rectangle 15"/>
          <p:cNvSpPr/>
          <p:nvPr/>
        </p:nvSpPr>
        <p:spPr>
          <a:xfrm>
            <a:off x="504127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debugging</a:t>
            </a:r>
          </a:p>
        </p:txBody>
      </p:sp>
      <p:sp>
        <p:nvSpPr>
          <p:cNvPr id="17" name="Rounded Rectangle 16"/>
          <p:cNvSpPr/>
          <p:nvPr/>
        </p:nvSpPr>
        <p:spPr>
          <a:xfrm>
            <a:off x="7287890" y="3743515"/>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documentation</a:t>
            </a:r>
          </a:p>
        </p:txBody>
      </p:sp>
      <p:sp>
        <p:nvSpPr>
          <p:cNvPr id="18" name="Rounded Rectangle 17"/>
          <p:cNvSpPr/>
          <p:nvPr/>
        </p:nvSpPr>
        <p:spPr>
          <a:xfrm>
            <a:off x="728758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other</a:t>
            </a:r>
          </a:p>
        </p:txBody>
      </p:sp>
      <p:sp>
        <p:nvSpPr>
          <p:cNvPr id="19" name="TextBox 18"/>
          <p:cNvSpPr txBox="1"/>
          <p:nvPr/>
        </p:nvSpPr>
        <p:spPr>
          <a:xfrm>
            <a:off x="548640" y="539496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1">
                <a:solidFill>
                  <a:srgbClr val="002A57"/>
                </a:solidFill>
                <a:latin typeface="Calibri"/>
              </a:rPr>
              <a:t>Labels derived from task instructions via keyword matching in dataset_loader.py</a:t>
            </a:r>
          </a:p>
        </p:txBody>
      </p:sp>
    </p:spTree>
    <p:extLst>
      <p:ext uri="{BB962C8B-B14F-4D97-AF65-F5344CB8AC3E}">
        <p14:creationId xmlns:p14="http://schemas.microsoft.com/office/powerpoint/2010/main" val="221696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Video Properties</a:t>
            </a:r>
          </a:p>
        </p:txBody>
      </p:sp>
      <p:sp>
        <p:nvSpPr>
          <p:cNvPr id="3" name="Rounded Rectangle 2"/>
          <p:cNvSpPr/>
          <p:nvPr/>
        </p:nvSpPr>
        <p:spPr>
          <a:xfrm>
            <a:off x="548640"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54479"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2"/>
          <a:stretch>
            <a:fillRect/>
          </a:stretch>
        </p:blipFill>
        <p:spPr>
          <a:xfrm>
            <a:off x="1714499" y="1623060"/>
            <a:ext cx="320040" cy="320040"/>
          </a:xfrm>
          <a:prstGeom prst="rect">
            <a:avLst/>
          </a:prstGeom>
        </p:spPr>
      </p:pic>
      <p:sp>
        <p:nvSpPr>
          <p:cNvPr id="6" name="TextBox 5"/>
          <p:cNvSpPr txBox="1"/>
          <p:nvPr/>
        </p:nvSpPr>
        <p:spPr>
          <a:xfrm>
            <a:off x="640080"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8–30 s</a:t>
            </a:r>
          </a:p>
        </p:txBody>
      </p:sp>
      <p:sp>
        <p:nvSpPr>
          <p:cNvPr id="7" name="TextBox 6"/>
          <p:cNvSpPr txBox="1"/>
          <p:nvPr/>
        </p:nvSpPr>
        <p:spPr>
          <a:xfrm>
            <a:off x="685800"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Video duration (approx., per video)</a:t>
            </a:r>
          </a:p>
        </p:txBody>
      </p:sp>
      <p:sp>
        <p:nvSpPr>
          <p:cNvPr id="8" name="Rounded Rectangle 7"/>
          <p:cNvSpPr/>
          <p:nvPr/>
        </p:nvSpPr>
        <p:spPr>
          <a:xfrm>
            <a:off x="3362858"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68698"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m.png"/>
          <p:cNvPicPr>
            <a:picLocks noChangeAspect="1"/>
          </p:cNvPicPr>
          <p:nvPr/>
        </p:nvPicPr>
        <p:blipFill>
          <a:blip r:embed="rId3"/>
          <a:stretch>
            <a:fillRect/>
          </a:stretch>
        </p:blipFill>
        <p:spPr>
          <a:xfrm>
            <a:off x="4528718" y="1623060"/>
            <a:ext cx="320040" cy="320040"/>
          </a:xfrm>
          <a:prstGeom prst="rect">
            <a:avLst/>
          </a:prstGeom>
        </p:spPr>
      </p:pic>
      <p:sp>
        <p:nvSpPr>
          <p:cNvPr id="11" name="TextBox 10"/>
          <p:cNvSpPr txBox="1"/>
          <p:nvPr/>
        </p:nvSpPr>
        <p:spPr>
          <a:xfrm>
            <a:off x="3454298"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30 FPS</a:t>
            </a:r>
          </a:p>
        </p:txBody>
      </p:sp>
      <p:sp>
        <p:nvSpPr>
          <p:cNvPr id="12" name="TextBox 11"/>
          <p:cNvSpPr txBox="1"/>
          <p:nvPr/>
        </p:nvSpPr>
        <p:spPr>
          <a:xfrm>
            <a:off x="3500018"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rate</a:t>
            </a:r>
          </a:p>
        </p:txBody>
      </p:sp>
      <p:sp>
        <p:nvSpPr>
          <p:cNvPr id="13" name="Rounded Rectangle 12"/>
          <p:cNvSpPr/>
          <p:nvPr/>
        </p:nvSpPr>
        <p:spPr>
          <a:xfrm>
            <a:off x="6177076"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82916"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pand.png"/>
          <p:cNvPicPr>
            <a:picLocks noChangeAspect="1"/>
          </p:cNvPicPr>
          <p:nvPr/>
        </p:nvPicPr>
        <p:blipFill>
          <a:blip r:embed="rId4"/>
          <a:stretch>
            <a:fillRect/>
          </a:stretch>
        </p:blipFill>
        <p:spPr>
          <a:xfrm>
            <a:off x="7342936" y="1623060"/>
            <a:ext cx="320040" cy="320040"/>
          </a:xfrm>
          <a:prstGeom prst="rect">
            <a:avLst/>
          </a:prstGeom>
        </p:spPr>
      </p:pic>
      <p:sp>
        <p:nvSpPr>
          <p:cNvPr id="16" name="TextBox 15"/>
          <p:cNvSpPr txBox="1"/>
          <p:nvPr/>
        </p:nvSpPr>
        <p:spPr>
          <a:xfrm>
            <a:off x="6268516"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1920 × 1008</a:t>
            </a:r>
          </a:p>
        </p:txBody>
      </p:sp>
      <p:sp>
        <p:nvSpPr>
          <p:cNvPr id="17" name="TextBox 16"/>
          <p:cNvSpPr txBox="1"/>
          <p:nvPr/>
        </p:nvSpPr>
        <p:spPr>
          <a:xfrm>
            <a:off x="6314236"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resolution (pixels)</a:t>
            </a:r>
          </a:p>
        </p:txBody>
      </p:sp>
      <p:sp>
        <p:nvSpPr>
          <p:cNvPr id="18" name="Rounded Rectangle 17"/>
          <p:cNvSpPr/>
          <p:nvPr/>
        </p:nvSpPr>
        <p:spPr>
          <a:xfrm>
            <a:off x="8991295"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997135"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uge.png"/>
          <p:cNvPicPr>
            <a:picLocks noChangeAspect="1"/>
          </p:cNvPicPr>
          <p:nvPr/>
        </p:nvPicPr>
        <p:blipFill>
          <a:blip r:embed="rId5"/>
          <a:stretch>
            <a:fillRect/>
          </a:stretch>
        </p:blipFill>
        <p:spPr>
          <a:xfrm>
            <a:off x="10157155" y="1623060"/>
            <a:ext cx="320040" cy="320040"/>
          </a:xfrm>
          <a:prstGeom prst="rect">
            <a:avLst/>
          </a:prstGeom>
        </p:spPr>
      </p:pic>
      <p:sp>
        <p:nvSpPr>
          <p:cNvPr id="21" name="TextBox 20"/>
          <p:cNvSpPr txBox="1"/>
          <p:nvPr/>
        </p:nvSpPr>
        <p:spPr>
          <a:xfrm>
            <a:off x="9082735"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7,890</a:t>
            </a:r>
          </a:p>
        </p:txBody>
      </p:sp>
      <p:sp>
        <p:nvSpPr>
          <p:cNvPr id="22" name="TextBox 21"/>
          <p:cNvSpPr txBox="1"/>
          <p:nvPr/>
        </p:nvSpPr>
        <p:spPr>
          <a:xfrm>
            <a:off x="9128455" y="2743200"/>
            <a:ext cx="2377440" cy="731520"/>
          </a:xfrm>
          <a:prstGeom prst="rect">
            <a:avLst/>
          </a:prstGeom>
          <a:noFill/>
        </p:spPr>
        <p:txBody>
          <a:bodyPr wrap="square" lIns="64008" tIns="32004" rIns="64008" bIns="32004" anchor="t">
            <a:normAutofit fontScale="92500"/>
          </a:bodyPr>
          <a:lstStyle/>
          <a:p>
            <a:pPr algn="ctr">
              <a:spcBef>
                <a:spcPts val="0"/>
              </a:spcBef>
              <a:spcAft>
                <a:spcPts val="400"/>
              </a:spcAft>
            </a:pPr>
            <a:r>
              <a:rPr sz="1900" b="1" i="0">
                <a:solidFill>
                  <a:srgbClr val="002A57"/>
                </a:solidFill>
                <a:latin typeface="Calibri"/>
              </a:rPr>
              <a:t>Data rate (as provided in the video metadata)</a:t>
            </a:r>
          </a:p>
        </p:txBody>
      </p:sp>
      <p:sp>
        <p:nvSpPr>
          <p:cNvPr id="23" name="Oval 22"/>
          <p:cNvSpPr/>
          <p:nvPr/>
        </p:nvSpPr>
        <p:spPr>
          <a:xfrm>
            <a:off x="548640" y="3931920"/>
            <a:ext cx="731520" cy="731520"/>
          </a:xfrm>
          <a:prstGeom prst="ellipse">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esktop.png"/>
          <p:cNvPicPr>
            <a:picLocks noChangeAspect="1"/>
          </p:cNvPicPr>
          <p:nvPr/>
        </p:nvPicPr>
        <p:blipFill>
          <a:blip r:embed="rId6"/>
          <a:stretch>
            <a:fillRect/>
          </a:stretch>
        </p:blipFill>
        <p:spPr>
          <a:xfrm>
            <a:off x="731520" y="4114800"/>
            <a:ext cx="365760" cy="365760"/>
          </a:xfrm>
          <a:prstGeom prst="rect">
            <a:avLst/>
          </a:prstGeom>
        </p:spPr>
      </p:pic>
      <p:sp>
        <p:nvSpPr>
          <p:cNvPr id="25" name="TextBox 24"/>
          <p:cNvSpPr txBox="1"/>
          <p:nvPr/>
        </p:nvSpPr>
        <p:spPr>
          <a:xfrm>
            <a:off x="1508760" y="391363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273140"/>
                </a:solidFill>
                <a:latin typeface="Calibri"/>
              </a:rPr>
              <a:t>Application</a:t>
            </a:r>
          </a:p>
          <a:p>
            <a:pPr algn="l">
              <a:spcBef>
                <a:spcPts val="0"/>
              </a:spcBef>
              <a:spcAft>
                <a:spcPts val="400"/>
              </a:spcAft>
            </a:pPr>
            <a:r>
              <a:rPr sz="1600" b="0" i="0">
                <a:solidFill>
                  <a:srgbClr val="273140"/>
                </a:solidFill>
                <a:latin typeface="Calibri"/>
              </a:rPr>
              <a:t>Videos contain different activities performed within the same software environment.</a:t>
            </a:r>
          </a:p>
        </p:txBody>
      </p:sp>
      <p:sp>
        <p:nvSpPr>
          <p:cNvPr id="26" name="Oval 25"/>
          <p:cNvSpPr/>
          <p:nvPr/>
        </p:nvSpPr>
        <p:spPr>
          <a:xfrm>
            <a:off x="548640" y="5120640"/>
            <a:ext cx="731520" cy="731520"/>
          </a:xfrm>
          <a:prstGeom prst="ellipse">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orkflow.png"/>
          <p:cNvPicPr>
            <a:picLocks noChangeAspect="1"/>
          </p:cNvPicPr>
          <p:nvPr/>
        </p:nvPicPr>
        <p:blipFill>
          <a:blip r:embed="rId7"/>
          <a:stretch>
            <a:fillRect/>
          </a:stretch>
        </p:blipFill>
        <p:spPr>
          <a:xfrm>
            <a:off x="731520" y="5303520"/>
            <a:ext cx="365760" cy="365760"/>
          </a:xfrm>
          <a:prstGeom prst="rect">
            <a:avLst/>
          </a:prstGeom>
        </p:spPr>
      </p:pic>
      <p:sp>
        <p:nvSpPr>
          <p:cNvPr id="28" name="TextBox 27"/>
          <p:cNvSpPr txBox="1"/>
          <p:nvPr/>
        </p:nvSpPr>
        <p:spPr>
          <a:xfrm>
            <a:off x="1508760" y="510235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Activity</a:t>
            </a:r>
          </a:p>
          <a:p>
            <a:pPr algn="l">
              <a:spcBef>
                <a:spcPts val="0"/>
              </a:spcBef>
              <a:spcAft>
                <a:spcPts val="400"/>
              </a:spcAft>
            </a:pPr>
            <a:r>
              <a:rPr sz="1900" b="1" i="0">
                <a:solidFill>
                  <a:srgbClr val="002A57"/>
                </a:solidFill>
                <a:latin typeface="Calibri"/>
              </a:rPr>
              <a:t>Each video represents a different workflow or sequence of user interactions.</a:t>
            </a:r>
          </a:p>
        </p:txBody>
      </p:sp>
    </p:spTree>
    <p:extLst>
      <p:ext uri="{BB962C8B-B14F-4D97-AF65-F5344CB8AC3E}">
        <p14:creationId xmlns:p14="http://schemas.microsoft.com/office/powerpoint/2010/main" val="26587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Annotation Files</a:t>
            </a:r>
          </a:p>
        </p:txBody>
      </p:sp>
      <p:sp>
        <p:nvSpPr>
          <p:cNvPr id="3" name="TextBox 2"/>
          <p:cNvSpPr txBox="1"/>
          <p:nvPr/>
        </p:nvSpPr>
        <p:spPr>
          <a:xfrm>
            <a:off x="548640" y="109728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The dataset contains three main types of annotation/metadata files:</a:t>
            </a:r>
          </a:p>
        </p:txBody>
      </p:sp>
      <p:sp>
        <p:nvSpPr>
          <p:cNvPr id="4" name="Rounded Rectangle 3"/>
          <p:cNvSpPr/>
          <p:nvPr/>
        </p:nvSpPr>
        <p:spPr>
          <a:xfrm>
            <a:off x="548640"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515258"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video_metadata.json</a:t>
            </a:r>
          </a:p>
        </p:txBody>
      </p:sp>
      <p:pic>
        <p:nvPicPr>
          <p:cNvPr id="6" name="Picture 5" descr="filecode.png"/>
          <p:cNvPicPr>
            <a:picLocks noChangeAspect="1"/>
          </p:cNvPicPr>
          <p:nvPr/>
        </p:nvPicPr>
        <p:blipFill>
          <a:blip r:embed="rId3"/>
          <a:stretch>
            <a:fillRect/>
          </a:stretch>
        </p:blipFill>
        <p:spPr>
          <a:xfrm>
            <a:off x="3630168" y="1728216"/>
            <a:ext cx="329184" cy="329184"/>
          </a:xfrm>
          <a:prstGeom prst="rect">
            <a:avLst/>
          </a:prstGeom>
        </p:spPr>
      </p:pic>
      <p:sp>
        <p:nvSpPr>
          <p:cNvPr id="7" name="TextBox 6"/>
          <p:cNvSpPr txBox="1"/>
          <p:nvPr/>
        </p:nvSpPr>
        <p:spPr>
          <a:xfrm>
            <a:off x="777240"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Technical information about each video:</a:t>
            </a:r>
          </a:p>
          <a:p>
            <a:pPr marL="274320" indent="-274320" algn="l">
              <a:spcBef>
                <a:spcPts val="0"/>
              </a:spcBef>
              <a:spcAft>
                <a:spcPts val="400"/>
              </a:spcAft>
              <a:buClr>
                <a:srgbClr val="003D7C"/>
              </a:buClr>
              <a:buChar char="•"/>
            </a:pPr>
            <a:r>
              <a:rPr sz="1600" b="0" i="0">
                <a:solidFill>
                  <a:srgbClr val="273140"/>
                </a:solidFill>
                <a:latin typeface="Calibri"/>
              </a:rPr>
              <a:t>Duration / length</a:t>
            </a:r>
          </a:p>
          <a:p>
            <a:pPr marL="274320" indent="-274320" algn="l">
              <a:spcBef>
                <a:spcPts val="0"/>
              </a:spcBef>
              <a:spcAft>
                <a:spcPts val="400"/>
              </a:spcAft>
              <a:buClr>
                <a:srgbClr val="003D7C"/>
              </a:buClr>
              <a:buChar char="•"/>
            </a:pPr>
            <a:r>
              <a:rPr sz="1600" b="0" i="0">
                <a:solidFill>
                  <a:srgbClr val="273140"/>
                </a:solidFill>
                <a:latin typeface="Calibri"/>
              </a:rPr>
              <a:t>File size</a:t>
            </a:r>
          </a:p>
          <a:p>
            <a:pPr marL="274320" indent="-274320" algn="l">
              <a:spcBef>
                <a:spcPts val="0"/>
              </a:spcBef>
              <a:spcAft>
                <a:spcPts val="400"/>
              </a:spcAft>
              <a:buClr>
                <a:srgbClr val="003D7C"/>
              </a:buClr>
              <a:buChar char="•"/>
            </a:pPr>
            <a:r>
              <a:rPr sz="1600" b="0" i="0">
                <a:solidFill>
                  <a:srgbClr val="273140"/>
                </a:solidFill>
                <a:latin typeface="Calibri"/>
              </a:rPr>
              <a:t>Bitrate</a:t>
            </a:r>
          </a:p>
          <a:p>
            <a:pPr marL="274320" indent="-274320" algn="l">
              <a:spcBef>
                <a:spcPts val="0"/>
              </a:spcBef>
              <a:spcAft>
                <a:spcPts val="400"/>
              </a:spcAft>
              <a:buClr>
                <a:srgbClr val="003D7C"/>
              </a:buClr>
              <a:buChar char="•"/>
            </a:pPr>
            <a:r>
              <a:rPr sz="1600" b="0" i="0">
                <a:solidFill>
                  <a:srgbClr val="273140"/>
                </a:solidFill>
                <a:latin typeface="Calibri"/>
              </a:rPr>
              <a:t>Frame rate</a:t>
            </a:r>
          </a:p>
          <a:p>
            <a:pPr marL="274320" indent="-274320" algn="l">
              <a:spcBef>
                <a:spcPts val="0"/>
              </a:spcBef>
              <a:spcAft>
                <a:spcPts val="400"/>
              </a:spcAft>
              <a:buClr>
                <a:srgbClr val="003D7C"/>
              </a:buClr>
              <a:buChar char="•"/>
            </a:pPr>
            <a:r>
              <a:rPr sz="1600" b="0" i="0">
                <a:solidFill>
                  <a:srgbClr val="273140"/>
                </a:solidFill>
                <a:latin typeface="Calibri"/>
              </a:rPr>
              <a:t>Frame width and height</a:t>
            </a:r>
          </a:p>
        </p:txBody>
      </p:sp>
      <p:sp>
        <p:nvSpPr>
          <p:cNvPr id="8" name="Rounded Rectangle 7"/>
          <p:cNvSpPr/>
          <p:nvPr/>
        </p:nvSpPr>
        <p:spPr>
          <a:xfrm>
            <a:off x="4338218"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8218" y="1645920"/>
            <a:ext cx="3515258"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002A57"/>
                </a:solidFill>
                <a:latin typeface="Calibri"/>
              </a:rPr>
              <a:t>action.json</a:t>
            </a:r>
          </a:p>
        </p:txBody>
      </p:sp>
      <p:pic>
        <p:nvPicPr>
          <p:cNvPr id="10" name="Picture 9" descr="mouse.png"/>
          <p:cNvPicPr>
            <a:picLocks noChangeAspect="1"/>
          </p:cNvPicPr>
          <p:nvPr/>
        </p:nvPicPr>
        <p:blipFill>
          <a:blip r:embed="rId4"/>
          <a:stretch>
            <a:fillRect/>
          </a:stretch>
        </p:blipFill>
        <p:spPr>
          <a:xfrm>
            <a:off x="7462875" y="1722556"/>
            <a:ext cx="329184" cy="329184"/>
          </a:xfrm>
          <a:prstGeom prst="rect">
            <a:avLst/>
          </a:prstGeom>
        </p:spPr>
      </p:pic>
      <p:sp>
        <p:nvSpPr>
          <p:cNvPr id="11" name="TextBox 10"/>
          <p:cNvSpPr txBox="1"/>
          <p:nvPr/>
        </p:nvSpPr>
        <p:spPr>
          <a:xfrm>
            <a:off x="4566818"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Ground-truth timestamps for individual user actions, e.g.:</a:t>
            </a:r>
          </a:p>
          <a:p>
            <a:pPr marL="274320" indent="-274320" algn="l">
              <a:spcBef>
                <a:spcPts val="0"/>
              </a:spcBef>
              <a:spcAft>
                <a:spcPts val="400"/>
              </a:spcAft>
              <a:buClr>
                <a:srgbClr val="EF7C00"/>
              </a:buClr>
              <a:buChar char="•"/>
            </a:pPr>
            <a:r>
              <a:rPr sz="1600" b="0" i="0">
                <a:solidFill>
                  <a:srgbClr val="273140"/>
                </a:solidFill>
                <a:latin typeface="Calibri"/>
              </a:rPr>
              <a:t>Mouse clicks</a:t>
            </a:r>
          </a:p>
          <a:p>
            <a:pPr marL="274320" indent="-274320" algn="l">
              <a:spcBef>
                <a:spcPts val="0"/>
              </a:spcBef>
              <a:spcAft>
                <a:spcPts val="400"/>
              </a:spcAft>
              <a:buClr>
                <a:srgbClr val="EF7C00"/>
              </a:buClr>
              <a:buChar char="•"/>
            </a:pPr>
            <a:r>
              <a:rPr sz="1600" b="0" i="0">
                <a:solidFill>
                  <a:srgbClr val="273140"/>
                </a:solidFill>
                <a:latin typeface="Calibri"/>
              </a:rPr>
              <a:t>Mouse movements</a:t>
            </a:r>
          </a:p>
          <a:p>
            <a:pPr marL="274320" indent="-274320" algn="l">
              <a:spcBef>
                <a:spcPts val="0"/>
              </a:spcBef>
              <a:spcAft>
                <a:spcPts val="400"/>
              </a:spcAft>
              <a:buClr>
                <a:srgbClr val="EF7C00"/>
              </a:buClr>
              <a:buChar char="•"/>
            </a:pPr>
            <a:r>
              <a:rPr sz="1600" b="0" i="0">
                <a:solidFill>
                  <a:srgbClr val="273140"/>
                </a:solidFill>
                <a:latin typeface="Calibri"/>
              </a:rPr>
              <a:t>Pressing Enter</a:t>
            </a:r>
          </a:p>
          <a:p>
            <a:pPr marL="274320" indent="-274320" algn="l">
              <a:spcBef>
                <a:spcPts val="0"/>
              </a:spcBef>
              <a:spcAft>
                <a:spcPts val="400"/>
              </a:spcAft>
              <a:buClr>
                <a:srgbClr val="EF7C00"/>
              </a:buClr>
              <a:buChar char="•"/>
            </a:pPr>
            <a:r>
              <a:rPr sz="1600" b="0" i="0">
                <a:solidFill>
                  <a:srgbClr val="273140"/>
                </a:solidFill>
                <a:latin typeface="Calibri"/>
              </a:rPr>
              <a:t>Text typing</a:t>
            </a:r>
          </a:p>
          <a:p>
            <a:pPr marL="274320" indent="-274320" algn="l">
              <a:spcBef>
                <a:spcPts val="0"/>
              </a:spcBef>
              <a:spcAft>
                <a:spcPts val="400"/>
              </a:spcAft>
              <a:buClr>
                <a:srgbClr val="EF7C00"/>
              </a:buClr>
              <a:buChar char="•"/>
            </a:pPr>
            <a:r>
              <a:rPr sz="1600" b="0" i="0">
                <a:solidFill>
                  <a:srgbClr val="273140"/>
                </a:solidFill>
                <a:latin typeface="Calibri"/>
              </a:rPr>
              <a:t>Other interaction events</a:t>
            </a:r>
          </a:p>
        </p:txBody>
      </p:sp>
      <p:sp>
        <p:nvSpPr>
          <p:cNvPr id="12" name="Rounded Rectangle 11"/>
          <p:cNvSpPr/>
          <p:nvPr/>
        </p:nvSpPr>
        <p:spPr>
          <a:xfrm>
            <a:off x="8127796"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7796" y="1645920"/>
            <a:ext cx="3515258"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label.json</a:t>
            </a:r>
          </a:p>
        </p:txBody>
      </p:sp>
      <p:pic>
        <p:nvPicPr>
          <p:cNvPr id="14" name="Picture 13" descr="tag.png"/>
          <p:cNvPicPr>
            <a:picLocks noChangeAspect="1"/>
          </p:cNvPicPr>
          <p:nvPr/>
        </p:nvPicPr>
        <p:blipFill>
          <a:blip r:embed="rId5"/>
          <a:stretch>
            <a:fillRect/>
          </a:stretch>
        </p:blipFill>
        <p:spPr>
          <a:xfrm>
            <a:off x="11130990" y="1737360"/>
            <a:ext cx="329184" cy="329184"/>
          </a:xfrm>
          <a:prstGeom prst="rect">
            <a:avLst/>
          </a:prstGeom>
        </p:spPr>
      </p:pic>
      <p:sp>
        <p:nvSpPr>
          <p:cNvPr id="15" name="TextBox 14"/>
          <p:cNvSpPr txBox="1"/>
          <p:nvPr/>
        </p:nvSpPr>
        <p:spPr>
          <a:xfrm>
            <a:off x="8356396"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The actual workflow-level label for the activity in the video.</a:t>
            </a:r>
          </a:p>
          <a:p>
            <a:pPr marL="274320" indent="-274320" algn="l">
              <a:spcBef>
                <a:spcPts val="0"/>
              </a:spcBef>
              <a:spcAft>
                <a:spcPts val="400"/>
              </a:spcAft>
              <a:buClr>
                <a:srgbClr val="0E9384"/>
              </a:buClr>
              <a:buChar char="•"/>
            </a:pPr>
            <a:r>
              <a:rPr sz="1600" b="0" i="0">
                <a:solidFill>
                  <a:srgbClr val="273140"/>
                </a:solidFill>
                <a:latin typeface="Calibri"/>
              </a:rPr>
              <a:t>The intended workflow / event that the sequence of user actions accomplishes</a:t>
            </a:r>
          </a:p>
        </p:txBody>
      </p:sp>
      <p:sp>
        <p:nvSpPr>
          <p:cNvPr id="16" name="Rounded Rectangle 15"/>
          <p:cNvSpPr/>
          <p:nvPr/>
        </p:nvSpPr>
        <p:spPr>
          <a:xfrm>
            <a:off x="548640" y="5120640"/>
            <a:ext cx="3246120"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Video frames</a:t>
            </a:r>
          </a:p>
        </p:txBody>
      </p:sp>
      <p:cxnSp>
        <p:nvCxnSpPr>
          <p:cNvPr id="17" name="Connector 16"/>
          <p:cNvCxnSpPr/>
          <p:nvPr/>
        </p:nvCxnSpPr>
        <p:spPr>
          <a:xfrm>
            <a:off x="3867911"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787" y="5120640"/>
            <a:ext cx="3246120"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2A57"/>
                </a:solidFill>
                <a:latin typeface="Calibri"/>
              </a:rPr>
              <a:t>Low-level user actions</a:t>
            </a:r>
          </a:p>
        </p:txBody>
      </p:sp>
      <p:cxnSp>
        <p:nvCxnSpPr>
          <p:cNvPr id="19" name="Connector 18"/>
          <p:cNvCxnSpPr/>
          <p:nvPr/>
        </p:nvCxnSpPr>
        <p:spPr>
          <a:xfrm>
            <a:off x="7792059"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96935" y="5120640"/>
            <a:ext cx="3246120"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High-level workflow labels</a:t>
            </a:r>
          </a:p>
        </p:txBody>
      </p:sp>
      <p:sp>
        <p:nvSpPr>
          <p:cNvPr id="21" name="TextBox 20"/>
          <p:cNvSpPr txBox="1"/>
          <p:nvPr/>
        </p:nvSpPr>
        <p:spPr>
          <a:xfrm>
            <a:off x="548640" y="5897880"/>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600" b="0" i="1">
                <a:solidFill>
                  <a:srgbClr val="273140"/>
                </a:solidFill>
                <a:latin typeface="Calibri"/>
              </a:rPr>
              <a:t>Suitable for screen activity recognition, user-action detection, and workflow understanding.</a:t>
            </a:r>
          </a:p>
        </p:txBody>
      </p:sp>
    </p:spTree>
    <p:extLst>
      <p:ext uri="{BB962C8B-B14F-4D97-AF65-F5344CB8AC3E}">
        <p14:creationId xmlns:p14="http://schemas.microsoft.com/office/powerpoint/2010/main" val="30663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Rectangle 5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Dataset Structure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Three levels on disk — 70 applications, 6,991 recordings, a video and its logs.</a:t>
            </a:r>
          </a:p>
        </p:txBody>
      </p:sp>
      <p:sp>
        <p:nvSpPr>
          <p:cNvPr id="5" name="Rounded Rectangle 4"/>
          <p:cNvSpPr/>
          <p:nvPr/>
        </p:nvSpPr>
        <p:spPr>
          <a:xfrm>
            <a:off x="548640" y="1371600"/>
            <a:ext cx="3200400"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6" name="Rounded Rectangle 5"/>
          <p:cNvSpPr/>
          <p:nvPr/>
        </p:nvSpPr>
        <p:spPr>
          <a:xfrm>
            <a:off x="548640" y="1371600"/>
            <a:ext cx="3200400"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a:t>
            </a:r>
          </a:p>
        </p:txBody>
      </p:sp>
      <p:sp>
        <p:nvSpPr>
          <p:cNvPr id="7" name="Rounded Rectangle 6"/>
          <p:cNvSpPr/>
          <p:nvPr/>
        </p:nvSpPr>
        <p:spPr>
          <a:xfrm>
            <a:off x="69494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932688" y="1828800"/>
            <a:ext cx="2724912" cy="329184"/>
          </a:xfrm>
          <a:prstGeom prst="rect">
            <a:avLst/>
          </a:prstGeom>
          <a:noFill/>
        </p:spPr>
        <p:txBody>
          <a:bodyPr wrap="square" lIns="0" tIns="0" rIns="0" bIns="0" anchor="ctr">
            <a:spAutoFit/>
          </a:bodyPr>
          <a:lstStyle/>
          <a:p>
            <a:pPr algn="l"/>
            <a:r>
              <a:rPr sz="1900" b="0">
                <a:solidFill>
                  <a:srgbClr val="1F2937"/>
                </a:solidFill>
                <a:latin typeface="Consolas"/>
              </a:rPr>
              <a:t>Blender</a:t>
            </a:r>
          </a:p>
        </p:txBody>
      </p:sp>
      <p:sp>
        <p:nvSpPr>
          <p:cNvPr id="9" name="Rounded Rectangle 8"/>
          <p:cNvSpPr/>
          <p:nvPr/>
        </p:nvSpPr>
        <p:spPr>
          <a:xfrm>
            <a:off x="69494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0" name="TextBox 9"/>
          <p:cNvSpPr txBox="1"/>
          <p:nvPr/>
        </p:nvSpPr>
        <p:spPr>
          <a:xfrm>
            <a:off x="932688" y="2157984"/>
            <a:ext cx="2724912" cy="329184"/>
          </a:xfrm>
          <a:prstGeom prst="rect">
            <a:avLst/>
          </a:prstGeom>
          <a:noFill/>
        </p:spPr>
        <p:txBody>
          <a:bodyPr wrap="square" lIns="0" tIns="0" rIns="0" bIns="0" anchor="ctr">
            <a:spAutoFit/>
          </a:bodyPr>
          <a:lstStyle/>
          <a:p>
            <a:pPr algn="l"/>
            <a:r>
              <a:rPr sz="1900" b="0">
                <a:solidFill>
                  <a:srgbClr val="1F2937"/>
                </a:solidFill>
                <a:latin typeface="Consolas"/>
              </a:rPr>
              <a:t>GIMP</a:t>
            </a:r>
          </a:p>
        </p:txBody>
      </p:sp>
      <p:sp>
        <p:nvSpPr>
          <p:cNvPr id="11" name="Rounded Rectangle 10"/>
          <p:cNvSpPr/>
          <p:nvPr/>
        </p:nvSpPr>
        <p:spPr>
          <a:xfrm>
            <a:off x="69494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932688" y="2487168"/>
            <a:ext cx="2724912" cy="329184"/>
          </a:xfrm>
          <a:prstGeom prst="rect">
            <a:avLst/>
          </a:prstGeom>
          <a:noFill/>
        </p:spPr>
        <p:txBody>
          <a:bodyPr wrap="square" lIns="0" tIns="0" rIns="0" bIns="0" anchor="ctr">
            <a:spAutoFit/>
          </a:bodyPr>
          <a:lstStyle/>
          <a:p>
            <a:pPr algn="l"/>
            <a:r>
              <a:rPr sz="1900" b="0">
                <a:solidFill>
                  <a:srgbClr val="1F2937"/>
                </a:solidFill>
                <a:latin typeface="Consolas"/>
              </a:rPr>
              <a:t>LibreOffice Writer</a:t>
            </a:r>
          </a:p>
        </p:txBody>
      </p:sp>
      <p:sp>
        <p:nvSpPr>
          <p:cNvPr id="13" name="Rounded Rectangle 12"/>
          <p:cNvSpPr/>
          <p:nvPr/>
        </p:nvSpPr>
        <p:spPr>
          <a:xfrm>
            <a:off x="621792" y="2816352"/>
            <a:ext cx="3054096"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Rounded Rectangle 13"/>
          <p:cNvSpPr/>
          <p:nvPr/>
        </p:nvSpPr>
        <p:spPr>
          <a:xfrm>
            <a:off x="69494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932688" y="2816352"/>
            <a:ext cx="2724912" cy="329184"/>
          </a:xfrm>
          <a:prstGeom prst="rect">
            <a:avLst/>
          </a:prstGeom>
          <a:noFill/>
        </p:spPr>
        <p:txBody>
          <a:bodyPr wrap="square" lIns="0" tIns="0" rIns="0" bIns="0" anchor="ctr">
            <a:spAutoFit/>
          </a:bodyPr>
          <a:lstStyle/>
          <a:p>
            <a:pPr algn="l"/>
            <a:r>
              <a:rPr sz="1900" b="1">
                <a:solidFill>
                  <a:srgbClr val="003D7C"/>
                </a:solidFill>
                <a:latin typeface="Consolas"/>
              </a:rPr>
              <a:t>VSCode</a:t>
            </a:r>
          </a:p>
        </p:txBody>
      </p:sp>
      <p:sp>
        <p:nvSpPr>
          <p:cNvPr id="16" name="TextBox 15"/>
          <p:cNvSpPr txBox="1"/>
          <p:nvPr/>
        </p:nvSpPr>
        <p:spPr>
          <a:xfrm>
            <a:off x="694944" y="3145536"/>
            <a:ext cx="2926080" cy="329184"/>
          </a:xfrm>
          <a:prstGeom prst="rect">
            <a:avLst/>
          </a:prstGeom>
          <a:noFill/>
        </p:spPr>
        <p:txBody>
          <a:bodyPr wrap="square" lIns="0" tIns="0" rIns="0" bIns="0" anchor="ctr">
            <a:spAutoFit/>
          </a:bodyPr>
          <a:lstStyle/>
          <a:p>
            <a:pPr algn="l"/>
            <a:r>
              <a:rPr sz="1900" b="0">
                <a:solidFill>
                  <a:srgbClr val="5B6475"/>
                </a:solidFill>
                <a:latin typeface="Calibri"/>
              </a:rPr>
              <a:t>… 70 applications</a:t>
            </a:r>
          </a:p>
        </p:txBody>
      </p:sp>
      <p:sp>
        <p:nvSpPr>
          <p:cNvPr id="17" name="TextBox 16"/>
          <p:cNvSpPr txBox="1"/>
          <p:nvPr/>
        </p:nvSpPr>
        <p:spPr>
          <a:xfrm>
            <a:off x="694944" y="3493008"/>
            <a:ext cx="2926080" cy="329184"/>
          </a:xfrm>
          <a:prstGeom prst="rect">
            <a:avLst/>
          </a:prstGeom>
          <a:noFill/>
        </p:spPr>
        <p:txBody>
          <a:bodyPr wrap="square" lIns="0" tIns="0" rIns="0" bIns="0" anchor="ctr">
            <a:spAutoFit/>
          </a:bodyPr>
          <a:lstStyle/>
          <a:p>
            <a:pPr algn="l"/>
            <a:r>
              <a:rPr sz="1900" b="0">
                <a:solidFill>
                  <a:srgbClr val="5B6475"/>
                </a:solidFill>
                <a:latin typeface="Calibri"/>
              </a:rPr>
              <a:t>one folder per app</a:t>
            </a:r>
          </a:p>
        </p:txBody>
      </p:sp>
      <p:sp>
        <p:nvSpPr>
          <p:cNvPr id="18" name="Rounded Rectangle 17"/>
          <p:cNvSpPr/>
          <p:nvPr/>
        </p:nvSpPr>
        <p:spPr>
          <a:xfrm>
            <a:off x="3886200" y="1371600"/>
            <a:ext cx="3749039"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9" name="Rounded Rectangle 18"/>
          <p:cNvSpPr/>
          <p:nvPr/>
        </p:nvSpPr>
        <p:spPr>
          <a:xfrm>
            <a:off x="3886200" y="1371600"/>
            <a:ext cx="3749039"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VideoCUA/VSCode/</a:t>
            </a:r>
          </a:p>
        </p:txBody>
      </p:sp>
      <p:sp>
        <p:nvSpPr>
          <p:cNvPr id="20" name="Rounded Rectangle 19"/>
          <p:cNvSpPr/>
          <p:nvPr/>
        </p:nvSpPr>
        <p:spPr>
          <a:xfrm>
            <a:off x="3959352" y="1828800"/>
            <a:ext cx="3602735"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Rounded Rectangle 20"/>
          <p:cNvSpPr/>
          <p:nvPr/>
        </p:nvSpPr>
        <p:spPr>
          <a:xfrm>
            <a:off x="403250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2" name="TextBox 21"/>
          <p:cNvSpPr txBox="1"/>
          <p:nvPr/>
        </p:nvSpPr>
        <p:spPr>
          <a:xfrm>
            <a:off x="4270248" y="1828800"/>
            <a:ext cx="3273551" cy="329184"/>
          </a:xfrm>
          <a:prstGeom prst="rect">
            <a:avLst/>
          </a:prstGeom>
          <a:noFill/>
        </p:spPr>
        <p:txBody>
          <a:bodyPr wrap="square" lIns="0" tIns="0" rIns="0" bIns="0" anchor="ctr">
            <a:spAutoFit/>
          </a:bodyPr>
          <a:lstStyle/>
          <a:p>
            <a:pPr algn="l"/>
            <a:r>
              <a:rPr sz="1900" b="1">
                <a:solidFill>
                  <a:srgbClr val="003D7C"/>
                </a:solidFill>
                <a:latin typeface="Consolas"/>
              </a:rPr>
              <a:t>71881</a:t>
            </a:r>
          </a:p>
        </p:txBody>
      </p:sp>
      <p:sp>
        <p:nvSpPr>
          <p:cNvPr id="24" name="Rounded Rectangle 23"/>
          <p:cNvSpPr/>
          <p:nvPr/>
        </p:nvSpPr>
        <p:spPr>
          <a:xfrm>
            <a:off x="40325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5" name="TextBox 24"/>
          <p:cNvSpPr txBox="1"/>
          <p:nvPr/>
        </p:nvSpPr>
        <p:spPr>
          <a:xfrm>
            <a:off x="4270248" y="2157984"/>
            <a:ext cx="3273551" cy="329184"/>
          </a:xfrm>
          <a:prstGeom prst="rect">
            <a:avLst/>
          </a:prstGeom>
          <a:noFill/>
        </p:spPr>
        <p:txBody>
          <a:bodyPr wrap="square" lIns="0" tIns="0" rIns="0" bIns="0" anchor="ctr">
            <a:spAutoFit/>
          </a:bodyPr>
          <a:lstStyle/>
          <a:p>
            <a:pPr algn="l"/>
            <a:r>
              <a:rPr sz="1900" b="0">
                <a:solidFill>
                  <a:srgbClr val="1F2937"/>
                </a:solidFill>
                <a:latin typeface="Consolas"/>
              </a:rPr>
              <a:t>71884</a:t>
            </a:r>
          </a:p>
        </p:txBody>
      </p:sp>
      <p:sp>
        <p:nvSpPr>
          <p:cNvPr id="27" name="Rounded Rectangle 26"/>
          <p:cNvSpPr/>
          <p:nvPr/>
        </p:nvSpPr>
        <p:spPr>
          <a:xfrm>
            <a:off x="403250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8" name="TextBox 27"/>
          <p:cNvSpPr txBox="1"/>
          <p:nvPr/>
        </p:nvSpPr>
        <p:spPr>
          <a:xfrm>
            <a:off x="4270248" y="2487168"/>
            <a:ext cx="3273551" cy="329184"/>
          </a:xfrm>
          <a:prstGeom prst="rect">
            <a:avLst/>
          </a:prstGeom>
          <a:noFill/>
        </p:spPr>
        <p:txBody>
          <a:bodyPr wrap="square" lIns="0" tIns="0" rIns="0" bIns="0" anchor="ctr">
            <a:spAutoFit/>
          </a:bodyPr>
          <a:lstStyle/>
          <a:p>
            <a:pPr algn="l"/>
            <a:r>
              <a:rPr sz="1900" b="0">
                <a:solidFill>
                  <a:srgbClr val="1F2937"/>
                </a:solidFill>
                <a:latin typeface="Consolas"/>
              </a:rPr>
              <a:t>71891</a:t>
            </a:r>
          </a:p>
        </p:txBody>
      </p:sp>
      <p:sp>
        <p:nvSpPr>
          <p:cNvPr id="30" name="Rounded Rectangle 29"/>
          <p:cNvSpPr/>
          <p:nvPr/>
        </p:nvSpPr>
        <p:spPr>
          <a:xfrm>
            <a:off x="403250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1" name="TextBox 30"/>
          <p:cNvSpPr txBox="1"/>
          <p:nvPr/>
        </p:nvSpPr>
        <p:spPr>
          <a:xfrm>
            <a:off x="4270248" y="2816352"/>
            <a:ext cx="3273551" cy="329184"/>
          </a:xfrm>
          <a:prstGeom prst="rect">
            <a:avLst/>
          </a:prstGeom>
          <a:noFill/>
        </p:spPr>
        <p:txBody>
          <a:bodyPr wrap="square" lIns="0" tIns="0" rIns="0" bIns="0" anchor="ctr">
            <a:spAutoFit/>
          </a:bodyPr>
          <a:lstStyle/>
          <a:p>
            <a:pPr algn="l"/>
            <a:r>
              <a:rPr sz="1900" b="0">
                <a:solidFill>
                  <a:srgbClr val="1F2937"/>
                </a:solidFill>
                <a:latin typeface="Consolas"/>
              </a:rPr>
              <a:t>71894</a:t>
            </a:r>
          </a:p>
        </p:txBody>
      </p:sp>
      <p:sp>
        <p:nvSpPr>
          <p:cNvPr id="33" name="TextBox 32"/>
          <p:cNvSpPr txBox="1"/>
          <p:nvPr/>
        </p:nvSpPr>
        <p:spPr>
          <a:xfrm>
            <a:off x="4032504" y="3145536"/>
            <a:ext cx="3474720" cy="329184"/>
          </a:xfrm>
          <a:prstGeom prst="rect">
            <a:avLst/>
          </a:prstGeom>
          <a:noFill/>
        </p:spPr>
        <p:txBody>
          <a:bodyPr wrap="square" lIns="0" tIns="0" rIns="0" bIns="0" anchor="ctr">
            <a:spAutoFit/>
          </a:bodyPr>
          <a:lstStyle/>
          <a:p>
            <a:pPr algn="l"/>
            <a:r>
              <a:rPr sz="1900" b="0">
                <a:solidFill>
                  <a:srgbClr val="5B6475"/>
                </a:solidFill>
                <a:latin typeface="Calibri"/>
              </a:rPr>
              <a:t>… 106 in VSCode</a:t>
            </a:r>
          </a:p>
        </p:txBody>
      </p:sp>
      <p:sp>
        <p:nvSpPr>
          <p:cNvPr id="34" name="TextBox 33"/>
          <p:cNvSpPr txBox="1"/>
          <p:nvPr/>
        </p:nvSpPr>
        <p:spPr>
          <a:xfrm>
            <a:off x="4032504" y="3493008"/>
            <a:ext cx="3474720" cy="329184"/>
          </a:xfrm>
          <a:prstGeom prst="rect">
            <a:avLst/>
          </a:prstGeom>
          <a:noFill/>
        </p:spPr>
        <p:txBody>
          <a:bodyPr wrap="square" lIns="0" tIns="0" rIns="0" bIns="0" anchor="ctr">
            <a:spAutoFit/>
          </a:bodyPr>
          <a:lstStyle/>
          <a:p>
            <a:pPr algn="l"/>
            <a:r>
              <a:rPr sz="1900" b="0">
                <a:solidFill>
                  <a:srgbClr val="5B6475"/>
                </a:solidFill>
                <a:latin typeface="Calibri"/>
              </a:rPr>
              <a:t>one folder per recording</a:t>
            </a:r>
          </a:p>
        </p:txBody>
      </p:sp>
      <p:sp>
        <p:nvSpPr>
          <p:cNvPr id="35" name="Rounded Rectangle 34"/>
          <p:cNvSpPr/>
          <p:nvPr/>
        </p:nvSpPr>
        <p:spPr>
          <a:xfrm>
            <a:off x="7772400" y="1371600"/>
            <a:ext cx="3867912"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Rounded Rectangle 35"/>
          <p:cNvSpPr/>
          <p:nvPr/>
        </p:nvSpPr>
        <p:spPr>
          <a:xfrm>
            <a:off x="7772400" y="1371600"/>
            <a:ext cx="3867912"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VSCode/71881/</a:t>
            </a:r>
          </a:p>
        </p:txBody>
      </p:sp>
      <p:sp>
        <p:nvSpPr>
          <p:cNvPr id="37" name="Rounded Rectangle 36"/>
          <p:cNvSpPr/>
          <p:nvPr/>
        </p:nvSpPr>
        <p:spPr>
          <a:xfrm>
            <a:off x="7918704" y="1911095"/>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8" name="TextBox 37"/>
          <p:cNvSpPr txBox="1"/>
          <p:nvPr/>
        </p:nvSpPr>
        <p:spPr>
          <a:xfrm>
            <a:off x="8156448" y="1828800"/>
            <a:ext cx="3392424" cy="329184"/>
          </a:xfrm>
          <a:prstGeom prst="rect">
            <a:avLst/>
          </a:prstGeom>
          <a:noFill/>
        </p:spPr>
        <p:txBody>
          <a:bodyPr wrap="square" lIns="0" tIns="0" rIns="0" bIns="0" anchor="ctr">
            <a:spAutoFit/>
          </a:bodyPr>
          <a:lstStyle/>
          <a:p>
            <a:pPr algn="l"/>
            <a:r>
              <a:rPr sz="1900" b="0">
                <a:solidFill>
                  <a:srgbClr val="2D3748"/>
                </a:solidFill>
                <a:latin typeface="Consolas"/>
              </a:rPr>
              <a:t>action_log.json</a:t>
            </a:r>
          </a:p>
        </p:txBody>
      </p:sp>
      <p:sp>
        <p:nvSpPr>
          <p:cNvPr id="39" name="Rounded Rectangle 38"/>
          <p:cNvSpPr/>
          <p:nvPr/>
        </p:nvSpPr>
        <p:spPr>
          <a:xfrm>
            <a:off x="79187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0" name="TextBox 39"/>
          <p:cNvSpPr txBox="1"/>
          <p:nvPr/>
        </p:nvSpPr>
        <p:spPr>
          <a:xfrm>
            <a:off x="8156448" y="2157984"/>
            <a:ext cx="3392424" cy="329184"/>
          </a:xfrm>
          <a:prstGeom prst="rect">
            <a:avLst/>
          </a:prstGeom>
          <a:noFill/>
        </p:spPr>
        <p:txBody>
          <a:bodyPr wrap="square" lIns="0" tIns="0" rIns="0" bIns="0" anchor="ctr">
            <a:spAutoFit/>
          </a:bodyPr>
          <a:lstStyle/>
          <a:p>
            <a:pPr algn="l"/>
            <a:r>
              <a:rPr sz="1900" b="0">
                <a:solidFill>
                  <a:srgbClr val="1F2937"/>
                </a:solidFill>
                <a:latin typeface="Consolas"/>
              </a:rPr>
              <a:t>video/</a:t>
            </a:r>
          </a:p>
        </p:txBody>
      </p:sp>
      <p:sp>
        <p:nvSpPr>
          <p:cNvPr id="41" name="Rounded Rectangle 40"/>
          <p:cNvSpPr/>
          <p:nvPr/>
        </p:nvSpPr>
        <p:spPr>
          <a:xfrm>
            <a:off x="8156448" y="2569463"/>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2" name="TextBox 41"/>
          <p:cNvSpPr txBox="1"/>
          <p:nvPr/>
        </p:nvSpPr>
        <p:spPr>
          <a:xfrm>
            <a:off x="8394192" y="2487168"/>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video.mp4</a:t>
            </a:r>
          </a:p>
        </p:txBody>
      </p:sp>
      <p:sp>
        <p:nvSpPr>
          <p:cNvPr id="43" name="Rounded Rectangle 42"/>
          <p:cNvSpPr/>
          <p:nvPr/>
        </p:nvSpPr>
        <p:spPr>
          <a:xfrm>
            <a:off x="8156448" y="2898648"/>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4" name="TextBox 43"/>
          <p:cNvSpPr txBox="1"/>
          <p:nvPr/>
        </p:nvSpPr>
        <p:spPr>
          <a:xfrm>
            <a:off x="8394192" y="2816352"/>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video_metadata.json</a:t>
            </a:r>
          </a:p>
        </p:txBody>
      </p:sp>
      <p:sp>
        <p:nvSpPr>
          <p:cNvPr id="45" name="TextBox 44"/>
          <p:cNvSpPr txBox="1"/>
          <p:nvPr/>
        </p:nvSpPr>
        <p:spPr>
          <a:xfrm>
            <a:off x="7918704" y="3493008"/>
            <a:ext cx="3593592" cy="329184"/>
          </a:xfrm>
          <a:prstGeom prst="rect">
            <a:avLst/>
          </a:prstGeom>
          <a:noFill/>
        </p:spPr>
        <p:txBody>
          <a:bodyPr wrap="square" lIns="0" tIns="0" rIns="0" bIns="0" anchor="ctr">
            <a:spAutoFit/>
          </a:bodyPr>
          <a:lstStyle/>
          <a:p>
            <a:pPr algn="l"/>
            <a:r>
              <a:rPr sz="1900" b="0">
                <a:solidFill>
                  <a:srgbClr val="5B6475"/>
                </a:solidFill>
                <a:latin typeface="Calibri"/>
              </a:rPr>
              <a:t>what one recording holds</a:t>
            </a:r>
          </a:p>
        </p:txBody>
      </p:sp>
      <p:sp>
        <p:nvSpPr>
          <p:cNvPr id="46" name="Right Arrow 45"/>
          <p:cNvSpPr/>
          <p:nvPr/>
        </p:nvSpPr>
        <p:spPr>
          <a:xfrm>
            <a:off x="37581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7" name="Right Arrow 46"/>
          <p:cNvSpPr/>
          <p:nvPr/>
        </p:nvSpPr>
        <p:spPr>
          <a:xfrm>
            <a:off x="76443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8" name="TextBox 47"/>
          <p:cNvSpPr txBox="1"/>
          <p:nvPr/>
        </p:nvSpPr>
        <p:spPr>
          <a:xfrm>
            <a:off x="548640" y="3906047"/>
            <a:ext cx="4572000" cy="307777"/>
          </a:xfrm>
          <a:prstGeom prst="rect">
            <a:avLst/>
          </a:prstGeom>
          <a:noFill/>
        </p:spPr>
        <p:txBody>
          <a:bodyPr wrap="square" lIns="0" tIns="0" rIns="0" bIns="0" anchor="ctr">
            <a:spAutoFit/>
          </a:bodyPr>
          <a:lstStyle/>
          <a:p>
            <a:pPr algn="ctr"/>
            <a:r>
              <a:rPr sz="2000" b="1" err="1">
                <a:solidFill>
                  <a:srgbClr val="1F2937"/>
                </a:solidFill>
                <a:latin typeface="Calibri"/>
              </a:rPr>
              <a:t>action_log.json</a:t>
            </a:r>
            <a:endParaRPr sz="2000" b="1">
              <a:solidFill>
                <a:srgbClr val="1F2937"/>
              </a:solidFill>
              <a:latin typeface="Calibri"/>
            </a:endParaRPr>
          </a:p>
        </p:txBody>
      </p:sp>
      <p:sp>
        <p:nvSpPr>
          <p:cNvPr id="49" name="TextBox 48"/>
          <p:cNvSpPr txBox="1"/>
          <p:nvPr/>
        </p:nvSpPr>
        <p:spPr>
          <a:xfrm>
            <a:off x="8065008" y="3914528"/>
            <a:ext cx="3575304" cy="307777"/>
          </a:xfrm>
          <a:prstGeom prst="rect">
            <a:avLst/>
          </a:prstGeom>
          <a:noFill/>
        </p:spPr>
        <p:txBody>
          <a:bodyPr wrap="square" lIns="0" tIns="0" rIns="0" bIns="0" anchor="ctr">
            <a:spAutoFit/>
          </a:bodyPr>
          <a:lstStyle/>
          <a:p>
            <a:pPr algn="ctr"/>
            <a:r>
              <a:rPr sz="2000" b="1">
                <a:solidFill>
                  <a:srgbClr val="1F2937"/>
                </a:solidFill>
                <a:latin typeface="Calibri"/>
              </a:rPr>
              <a:t>video/video.mp</a:t>
            </a:r>
            <a:r>
              <a:rPr lang="en-US" sz="2000" b="1">
                <a:solidFill>
                  <a:srgbClr val="1F2937"/>
                </a:solidFill>
                <a:latin typeface="Calibri"/>
              </a:rPr>
              <a:t>4</a:t>
            </a:r>
            <a:endParaRPr sz="2000" b="1">
              <a:solidFill>
                <a:srgbClr val="1F2937"/>
              </a:solidFill>
              <a:latin typeface="Calibri"/>
            </a:endParaRPr>
          </a:p>
        </p:txBody>
      </p:sp>
      <p:sp>
        <p:nvSpPr>
          <p:cNvPr id="50" name="Rounded Rectangle 49"/>
          <p:cNvSpPr/>
          <p:nvPr/>
        </p:nvSpPr>
        <p:spPr>
          <a:xfrm>
            <a:off x="548640" y="4261104"/>
            <a:ext cx="7242048" cy="2011680"/>
          </a:xfrm>
          <a:prstGeom prst="roundRect">
            <a:avLst>
              <a:gd name="adj" fmla="val 6000"/>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lstStyle/>
          <a:p>
            <a:pPr algn="ctr"/>
            <a:endParaRPr/>
          </a:p>
        </p:txBody>
      </p:sp>
      <p:sp>
        <p:nvSpPr>
          <p:cNvPr id="51" name="TextBox 50"/>
          <p:cNvSpPr txBox="1"/>
          <p:nvPr/>
        </p:nvSpPr>
        <p:spPr>
          <a:xfrm>
            <a:off x="694944" y="4352544"/>
            <a:ext cx="6949440" cy="1828800"/>
          </a:xfrm>
          <a:prstGeom prst="rect">
            <a:avLst/>
          </a:prstGeom>
          <a:noFill/>
        </p:spPr>
        <p:txBody>
          <a:bodyPr wrap="square" lIns="0" tIns="0" rIns="0" bIns="0" anchor="ctr">
            <a:spAutoFit/>
          </a:bodyPr>
          <a:lstStyle/>
          <a:p>
            <a:pPr algn="l">
              <a:spcAft>
                <a:spcPts val="200"/>
              </a:spcAft>
            </a:pPr>
            <a:r>
              <a:rPr sz="1900" b="0">
                <a:solidFill>
                  <a:srgbClr val="8DB0D6"/>
                </a:solidFill>
                <a:latin typeface="Consolas"/>
              </a:rPr>
              <a:t>task_instruction</a:t>
            </a:r>
          </a:p>
          <a:p>
            <a:pPr algn="l">
              <a:spcAft>
                <a:spcPts val="200"/>
              </a:spcAft>
            </a:pPr>
            <a:r>
              <a:rPr sz="1900" b="0">
                <a:solidFill>
                  <a:srgbClr val="CE9178"/>
                </a:solidFill>
                <a:latin typeface="Consolas"/>
              </a:rPr>
              <a:t>"Delete the index.html file"</a:t>
            </a:r>
          </a:p>
          <a:p>
            <a:pPr algn="l">
              <a:spcAft>
                <a:spcPts val="200"/>
              </a:spcAft>
            </a:pPr>
            <a:r>
              <a:rPr sz="1900" b="0">
                <a:solidFill>
                  <a:srgbClr val="8DB0D6"/>
                </a:solidFill>
                <a:latin typeface="Consolas"/>
              </a:rPr>
              <a:t>action_log</a:t>
            </a:r>
          </a:p>
          <a:p>
            <a:pPr algn="l">
              <a:spcAft>
                <a:spcPts val="200"/>
              </a:spcAft>
            </a:pPr>
            <a:r>
              <a:rPr sz="1900" b="0">
                <a:solidFill>
                  <a:srgbClr val="D4D4D4"/>
                </a:solidFill>
                <a:latin typeface="Consolas"/>
              </a:rPr>
              <a:t>    1.0s  MOVE_TO   (327, 265)</a:t>
            </a:r>
          </a:p>
          <a:p>
            <a:pPr algn="l">
              <a:spcAft>
                <a:spcPts val="200"/>
              </a:spcAft>
            </a:pPr>
            <a:r>
              <a:rPr sz="1900" b="0">
                <a:solidFill>
                  <a:srgbClr val="D4D4D4"/>
                </a:solidFill>
                <a:latin typeface="Consolas"/>
              </a:rPr>
              <a:t>    1.0s  CLICK     right</a:t>
            </a:r>
          </a:p>
          <a:p>
            <a:pPr algn="l">
              <a:spcAft>
                <a:spcPts val="200"/>
              </a:spcAft>
            </a:pPr>
            <a:r>
              <a:rPr sz="1900" b="0">
                <a:solidFill>
                  <a:srgbClr val="8A8A8A"/>
                </a:solidFill>
                <a:latin typeface="Consolas"/>
              </a:rPr>
              <a:t>  … 6 actions in all</a:t>
            </a:r>
          </a:p>
        </p:txBody>
      </p:sp>
      <p:pic>
        <p:nvPicPr>
          <p:cNvPr id="52" name="Picture 51" descr="frame_vscode_71881_v1.png"/>
          <p:cNvPicPr>
            <a:picLocks noChangeAspect="1"/>
          </p:cNvPicPr>
          <p:nvPr/>
        </p:nvPicPr>
        <p:blipFill>
          <a:blip r:embed="rId2"/>
          <a:stretch>
            <a:fillRect/>
          </a:stretch>
        </p:blipFill>
        <p:spPr>
          <a:xfrm>
            <a:off x="8065008" y="4261104"/>
            <a:ext cx="3575304" cy="2011680"/>
          </a:xfrm>
          <a:prstGeom prst="rect">
            <a:avLst/>
          </a:prstGeom>
        </p:spPr>
      </p:pic>
      <p:sp>
        <p:nvSpPr>
          <p:cNvPr id="53" name="TextBox 52"/>
          <p:cNvSpPr txBox="1"/>
          <p:nvPr/>
        </p:nvSpPr>
        <p:spPr>
          <a:xfrm>
            <a:off x="548640" y="6345936"/>
            <a:ext cx="11091672" cy="347472"/>
          </a:xfrm>
          <a:prstGeom prst="rect">
            <a:avLst/>
          </a:prstGeom>
          <a:noFill/>
        </p:spPr>
        <p:txBody>
          <a:bodyPr wrap="square" lIns="0" tIns="0" rIns="0" bIns="0" anchor="ctr">
            <a:spAutoFit/>
          </a:bodyPr>
          <a:lstStyle/>
          <a:p>
            <a:pPr algn="l"/>
            <a:r>
              <a:rPr sz="2000" b="0">
                <a:solidFill>
                  <a:srgbClr val="5B6475"/>
                </a:solidFill>
                <a:latin typeface="Calibri"/>
              </a:rPr>
              <a:t>Labels are derived from the task instruction by keyword matching — the same 10 classes.</a:t>
            </a:r>
          </a:p>
        </p:txBody>
      </p:sp>
      <p:cxnSp>
        <p:nvCxnSpPr>
          <p:cNvPr id="26" name="Straight Arrow Connector 25">
            <a:extLst>
              <a:ext uri="{FF2B5EF4-FFF2-40B4-BE49-F238E27FC236}">
                <a16:creationId xmlns:a16="http://schemas.microsoft.com/office/drawing/2014/main" id="{82335D25-C376-E0A0-E8B4-A990E02BEE8C}"/>
              </a:ext>
            </a:extLst>
          </p:cNvPr>
          <p:cNvCxnSpPr>
            <a:cxnSpLocks/>
          </p:cNvCxnSpPr>
          <p:nvPr/>
        </p:nvCxnSpPr>
        <p:spPr>
          <a:xfrm flipH="1">
            <a:off x="3675888" y="3840480"/>
            <a:ext cx="4242816" cy="227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7E17D67-1E87-6618-97B9-2C75861D36CF}"/>
              </a:ext>
            </a:extLst>
          </p:cNvPr>
          <p:cNvCxnSpPr>
            <a:cxnSpLocks/>
          </p:cNvCxnSpPr>
          <p:nvPr/>
        </p:nvCxnSpPr>
        <p:spPr>
          <a:xfrm>
            <a:off x="7927849" y="3840480"/>
            <a:ext cx="1070377" cy="26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Evaluation Pipeline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Five-fold cross-validation over all 6,991 recordings.</a:t>
            </a:r>
          </a:p>
        </p:txBody>
      </p:sp>
      <p:sp>
        <p:nvSpPr>
          <p:cNvPr id="5" name="Oval 4"/>
          <p:cNvSpPr/>
          <p:nvPr/>
        </p:nvSpPr>
        <p:spPr>
          <a:xfrm>
            <a:off x="548640" y="1426464"/>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1</a:t>
            </a:r>
          </a:p>
        </p:txBody>
      </p:sp>
      <p:sp>
        <p:nvSpPr>
          <p:cNvPr id="6" name="TextBox 5"/>
          <p:cNvSpPr txBox="1"/>
          <p:nvPr/>
        </p:nvSpPr>
        <p:spPr>
          <a:xfrm>
            <a:off x="1024128" y="1408176"/>
            <a:ext cx="9582912" cy="384048"/>
          </a:xfrm>
          <a:prstGeom prst="rect">
            <a:avLst/>
          </a:prstGeom>
          <a:noFill/>
        </p:spPr>
        <p:txBody>
          <a:bodyPr wrap="square" lIns="0" tIns="0" rIns="0" bIns="0" anchor="ctr">
            <a:spAutoFit/>
          </a:bodyPr>
          <a:lstStyle/>
          <a:p>
            <a:pPr algn="l"/>
            <a:r>
              <a:rPr sz="2200" b="1">
                <a:solidFill>
                  <a:srgbClr val="1F2937"/>
                </a:solidFill>
                <a:latin typeface="Calibri"/>
              </a:rPr>
              <a:t>Split into 5 folds</a:t>
            </a:r>
          </a:p>
        </p:txBody>
      </p:sp>
      <p:sp>
        <p:nvSpPr>
          <p:cNvPr id="7" name="TextBox 6"/>
          <p:cNvSpPr txBox="1"/>
          <p:nvPr/>
        </p:nvSpPr>
        <p:spPr>
          <a:xfrm>
            <a:off x="548640" y="1828800"/>
            <a:ext cx="11091672" cy="347472"/>
          </a:xfrm>
          <a:prstGeom prst="rect">
            <a:avLst/>
          </a:prstGeom>
          <a:noFill/>
        </p:spPr>
        <p:txBody>
          <a:bodyPr wrap="square" lIns="0" tIns="0" rIns="0" bIns="0" anchor="ctr">
            <a:spAutoFit/>
          </a:bodyPr>
          <a:lstStyle/>
          <a:p>
            <a:pPr algn="l"/>
            <a:r>
              <a:rPr sz="2000" b="0">
                <a:solidFill>
                  <a:srgbClr val="2D3748"/>
                </a:solidFill>
                <a:latin typeface="Calibri"/>
              </a:rPr>
              <a:t>The 6,991 rows go into 5 folds, grouped so a recording is never split in two.</a:t>
            </a:r>
          </a:p>
        </p:txBody>
      </p:sp>
      <p:sp>
        <p:nvSpPr>
          <p:cNvPr id="8" name="Oval 7"/>
          <p:cNvSpPr/>
          <p:nvPr/>
        </p:nvSpPr>
        <p:spPr>
          <a:xfrm>
            <a:off x="548640" y="2286000"/>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2</a:t>
            </a:r>
          </a:p>
        </p:txBody>
      </p:sp>
      <p:sp>
        <p:nvSpPr>
          <p:cNvPr id="9" name="TextBox 8"/>
          <p:cNvSpPr txBox="1"/>
          <p:nvPr/>
        </p:nvSpPr>
        <p:spPr>
          <a:xfrm>
            <a:off x="1024128" y="2267712"/>
            <a:ext cx="9582912" cy="384048"/>
          </a:xfrm>
          <a:prstGeom prst="rect">
            <a:avLst/>
          </a:prstGeom>
          <a:noFill/>
        </p:spPr>
        <p:txBody>
          <a:bodyPr wrap="square" lIns="0" tIns="0" rIns="0" bIns="0" anchor="ctr">
            <a:spAutoFit/>
          </a:bodyPr>
          <a:lstStyle/>
          <a:p>
            <a:pPr algn="l"/>
            <a:r>
              <a:rPr sz="2200" b="1">
                <a:solidFill>
                  <a:srgbClr val="1F2937"/>
                </a:solidFill>
                <a:latin typeface="Calibri"/>
              </a:rPr>
              <a:t>Run 5 rounds — every fold is the test set exactly once</a:t>
            </a:r>
          </a:p>
        </p:txBody>
      </p:sp>
      <p:sp>
        <p:nvSpPr>
          <p:cNvPr id="10" name="TextBox 9"/>
          <p:cNvSpPr txBox="1"/>
          <p:nvPr/>
        </p:nvSpPr>
        <p:spPr>
          <a:xfrm>
            <a:off x="548640" y="2743200"/>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1</a:t>
            </a:r>
          </a:p>
        </p:txBody>
      </p:sp>
      <p:sp>
        <p:nvSpPr>
          <p:cNvPr id="11" name="Rounded Rectangle 10"/>
          <p:cNvSpPr/>
          <p:nvPr/>
        </p:nvSpPr>
        <p:spPr>
          <a:xfrm>
            <a:off x="1691640" y="2743200"/>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2" name="Rounded Rectangle 11"/>
          <p:cNvSpPr/>
          <p:nvPr/>
        </p:nvSpPr>
        <p:spPr>
          <a:xfrm>
            <a:off x="2710281"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3" name="Rounded Rectangle 12"/>
          <p:cNvSpPr/>
          <p:nvPr/>
        </p:nvSpPr>
        <p:spPr>
          <a:xfrm>
            <a:off x="3728923"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4" name="Rounded Rectangle 13"/>
          <p:cNvSpPr/>
          <p:nvPr/>
        </p:nvSpPr>
        <p:spPr>
          <a:xfrm>
            <a:off x="4747564"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5" name="Rounded Rectangle 14"/>
          <p:cNvSpPr/>
          <p:nvPr/>
        </p:nvSpPr>
        <p:spPr>
          <a:xfrm>
            <a:off x="5766206"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6" name="TextBox 15"/>
          <p:cNvSpPr txBox="1"/>
          <p:nvPr/>
        </p:nvSpPr>
        <p:spPr>
          <a:xfrm>
            <a:off x="548640" y="3209544"/>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2</a:t>
            </a:r>
          </a:p>
        </p:txBody>
      </p:sp>
      <p:sp>
        <p:nvSpPr>
          <p:cNvPr id="17" name="Rounded Rectangle 16"/>
          <p:cNvSpPr/>
          <p:nvPr/>
        </p:nvSpPr>
        <p:spPr>
          <a:xfrm>
            <a:off x="1691640"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8" name="Rounded Rectangle 17"/>
          <p:cNvSpPr/>
          <p:nvPr/>
        </p:nvSpPr>
        <p:spPr>
          <a:xfrm>
            <a:off x="2710281" y="3209544"/>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9" name="Rounded Rectangle 18"/>
          <p:cNvSpPr/>
          <p:nvPr/>
        </p:nvSpPr>
        <p:spPr>
          <a:xfrm>
            <a:off x="3728923"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0" name="Rounded Rectangle 19"/>
          <p:cNvSpPr/>
          <p:nvPr/>
        </p:nvSpPr>
        <p:spPr>
          <a:xfrm>
            <a:off x="4747564"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1" name="Rounded Rectangle 20"/>
          <p:cNvSpPr/>
          <p:nvPr/>
        </p:nvSpPr>
        <p:spPr>
          <a:xfrm>
            <a:off x="5766206"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2" name="TextBox 21"/>
          <p:cNvSpPr txBox="1"/>
          <p:nvPr/>
        </p:nvSpPr>
        <p:spPr>
          <a:xfrm>
            <a:off x="548640" y="3675887"/>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3</a:t>
            </a:r>
          </a:p>
        </p:txBody>
      </p:sp>
      <p:sp>
        <p:nvSpPr>
          <p:cNvPr id="23" name="Rounded Rectangle 22"/>
          <p:cNvSpPr/>
          <p:nvPr/>
        </p:nvSpPr>
        <p:spPr>
          <a:xfrm>
            <a:off x="1691640"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4" name="Rounded Rectangle 23"/>
          <p:cNvSpPr/>
          <p:nvPr/>
        </p:nvSpPr>
        <p:spPr>
          <a:xfrm>
            <a:off x="2710281"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5" name="Rounded Rectangle 24"/>
          <p:cNvSpPr/>
          <p:nvPr/>
        </p:nvSpPr>
        <p:spPr>
          <a:xfrm>
            <a:off x="3728923" y="3675887"/>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26" name="Rounded Rectangle 25"/>
          <p:cNvSpPr/>
          <p:nvPr/>
        </p:nvSpPr>
        <p:spPr>
          <a:xfrm>
            <a:off x="4747564"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7" name="Rounded Rectangle 26"/>
          <p:cNvSpPr/>
          <p:nvPr/>
        </p:nvSpPr>
        <p:spPr>
          <a:xfrm>
            <a:off x="5766206"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8" name="TextBox 27"/>
          <p:cNvSpPr txBox="1"/>
          <p:nvPr/>
        </p:nvSpPr>
        <p:spPr>
          <a:xfrm>
            <a:off x="548640" y="4142232"/>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4</a:t>
            </a:r>
          </a:p>
        </p:txBody>
      </p:sp>
      <p:sp>
        <p:nvSpPr>
          <p:cNvPr id="29" name="Rounded Rectangle 28"/>
          <p:cNvSpPr/>
          <p:nvPr/>
        </p:nvSpPr>
        <p:spPr>
          <a:xfrm>
            <a:off x="1691640"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0" name="Rounded Rectangle 29"/>
          <p:cNvSpPr/>
          <p:nvPr/>
        </p:nvSpPr>
        <p:spPr>
          <a:xfrm>
            <a:off x="2710281"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1" name="Rounded Rectangle 30"/>
          <p:cNvSpPr/>
          <p:nvPr/>
        </p:nvSpPr>
        <p:spPr>
          <a:xfrm>
            <a:off x="3728923"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2" name="Rounded Rectangle 31"/>
          <p:cNvSpPr/>
          <p:nvPr/>
        </p:nvSpPr>
        <p:spPr>
          <a:xfrm>
            <a:off x="4747564" y="4142232"/>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33" name="Rounded Rectangle 32"/>
          <p:cNvSpPr/>
          <p:nvPr/>
        </p:nvSpPr>
        <p:spPr>
          <a:xfrm>
            <a:off x="5766206"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4" name="TextBox 33"/>
          <p:cNvSpPr txBox="1"/>
          <p:nvPr/>
        </p:nvSpPr>
        <p:spPr>
          <a:xfrm>
            <a:off x="548640" y="4608576"/>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5</a:t>
            </a:r>
          </a:p>
        </p:txBody>
      </p:sp>
      <p:sp>
        <p:nvSpPr>
          <p:cNvPr id="35" name="Rounded Rectangle 34"/>
          <p:cNvSpPr/>
          <p:nvPr/>
        </p:nvSpPr>
        <p:spPr>
          <a:xfrm>
            <a:off x="1691640"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6" name="Rounded Rectangle 35"/>
          <p:cNvSpPr/>
          <p:nvPr/>
        </p:nvSpPr>
        <p:spPr>
          <a:xfrm>
            <a:off x="2710281"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7" name="Rounded Rectangle 36"/>
          <p:cNvSpPr/>
          <p:nvPr/>
        </p:nvSpPr>
        <p:spPr>
          <a:xfrm>
            <a:off x="3728923"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8" name="Rounded Rectangle 37"/>
          <p:cNvSpPr/>
          <p:nvPr/>
        </p:nvSpPr>
        <p:spPr>
          <a:xfrm>
            <a:off x="4747564"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9" name="Rounded Rectangle 38"/>
          <p:cNvSpPr/>
          <p:nvPr/>
        </p:nvSpPr>
        <p:spPr>
          <a:xfrm>
            <a:off x="5766206" y="4608576"/>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40" name="TextBox 39"/>
          <p:cNvSpPr txBox="1"/>
          <p:nvPr/>
        </p:nvSpPr>
        <p:spPr>
          <a:xfrm>
            <a:off x="7458324" y="2286000"/>
            <a:ext cx="4599432" cy="384048"/>
          </a:xfrm>
          <a:prstGeom prst="rect">
            <a:avLst/>
          </a:prstGeom>
          <a:noFill/>
        </p:spPr>
        <p:txBody>
          <a:bodyPr wrap="square" lIns="0" tIns="0" rIns="0" bIns="0" anchor="ctr">
            <a:spAutoFit/>
          </a:bodyPr>
          <a:lstStyle/>
          <a:p>
            <a:pPr algn="l"/>
            <a:r>
              <a:rPr sz="2200" b="1">
                <a:solidFill>
                  <a:srgbClr val="1F2937"/>
                </a:solidFill>
                <a:latin typeface="Calibri"/>
              </a:rPr>
              <a:t>Inside every round</a:t>
            </a:r>
          </a:p>
        </p:txBody>
      </p:sp>
      <p:sp>
        <p:nvSpPr>
          <p:cNvPr id="41" name="Rounded Rectangle 40"/>
          <p:cNvSpPr/>
          <p:nvPr/>
        </p:nvSpPr>
        <p:spPr>
          <a:xfrm>
            <a:off x="7458324" y="2779776"/>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fit</a:t>
            </a:r>
          </a:p>
        </p:txBody>
      </p:sp>
      <p:sp>
        <p:nvSpPr>
          <p:cNvPr id="42" name="TextBox 41"/>
          <p:cNvSpPr txBox="1"/>
          <p:nvPr/>
        </p:nvSpPr>
        <p:spPr>
          <a:xfrm>
            <a:off x="8948796" y="2779776"/>
            <a:ext cx="3108960" cy="603504"/>
          </a:xfrm>
          <a:prstGeom prst="rect">
            <a:avLst/>
          </a:prstGeom>
          <a:noFill/>
        </p:spPr>
        <p:txBody>
          <a:bodyPr wrap="square" lIns="0" tIns="0" rIns="0" bIns="0" anchor="ctr">
            <a:spAutoFit/>
          </a:bodyPr>
          <a:lstStyle/>
          <a:p>
            <a:pPr algn="l"/>
            <a:r>
              <a:rPr sz="2000" b="0">
                <a:solidFill>
                  <a:srgbClr val="2D3748"/>
                </a:solidFill>
                <a:latin typeface="Calibri"/>
              </a:rPr>
              <a:t>vocabulary and scaler,</a:t>
            </a:r>
          </a:p>
          <a:p>
            <a:pPr algn="l"/>
            <a:r>
              <a:rPr sz="2000" b="0">
                <a:solidFill>
                  <a:srgbClr val="2D3748"/>
                </a:solidFill>
                <a:latin typeface="Calibri"/>
              </a:rPr>
              <a:t>from 4 training folds</a:t>
            </a:r>
          </a:p>
        </p:txBody>
      </p:sp>
      <p:sp>
        <p:nvSpPr>
          <p:cNvPr id="43" name="Rounded Rectangle 42"/>
          <p:cNvSpPr/>
          <p:nvPr/>
        </p:nvSpPr>
        <p:spPr>
          <a:xfrm>
            <a:off x="7458324" y="3456432"/>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train</a:t>
            </a:r>
          </a:p>
        </p:txBody>
      </p:sp>
      <p:sp>
        <p:nvSpPr>
          <p:cNvPr id="44" name="TextBox 43"/>
          <p:cNvSpPr txBox="1"/>
          <p:nvPr/>
        </p:nvSpPr>
        <p:spPr>
          <a:xfrm>
            <a:off x="8948796" y="3456432"/>
            <a:ext cx="3108960" cy="603504"/>
          </a:xfrm>
          <a:prstGeom prst="rect">
            <a:avLst/>
          </a:prstGeom>
          <a:noFill/>
        </p:spPr>
        <p:txBody>
          <a:bodyPr wrap="square" lIns="0" tIns="0" rIns="0" bIns="0" anchor="ctr">
            <a:spAutoFit/>
          </a:bodyPr>
          <a:lstStyle/>
          <a:p>
            <a:pPr algn="l"/>
            <a:r>
              <a:rPr sz="2000" b="0">
                <a:solidFill>
                  <a:srgbClr val="2D3748"/>
                </a:solidFill>
                <a:latin typeface="Calibri"/>
              </a:rPr>
              <a:t>the classifier on</a:t>
            </a:r>
          </a:p>
          <a:p>
            <a:pPr algn="l"/>
            <a:r>
              <a:rPr sz="2000" b="0">
                <a:solidFill>
                  <a:srgbClr val="2D3748"/>
                </a:solidFill>
                <a:latin typeface="Calibri"/>
              </a:rPr>
              <a:t>those rows</a:t>
            </a:r>
          </a:p>
        </p:txBody>
      </p:sp>
      <p:sp>
        <p:nvSpPr>
          <p:cNvPr id="45" name="Rounded Rectangle 44"/>
          <p:cNvSpPr/>
          <p:nvPr/>
        </p:nvSpPr>
        <p:spPr>
          <a:xfrm>
            <a:off x="7458324" y="4133088"/>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transform</a:t>
            </a:r>
          </a:p>
        </p:txBody>
      </p:sp>
      <p:sp>
        <p:nvSpPr>
          <p:cNvPr id="46" name="TextBox 45"/>
          <p:cNvSpPr txBox="1"/>
          <p:nvPr/>
        </p:nvSpPr>
        <p:spPr>
          <a:xfrm>
            <a:off x="8948796" y="4133088"/>
            <a:ext cx="3108960" cy="603504"/>
          </a:xfrm>
          <a:prstGeom prst="rect">
            <a:avLst/>
          </a:prstGeom>
          <a:noFill/>
        </p:spPr>
        <p:txBody>
          <a:bodyPr wrap="square" lIns="0" tIns="0" rIns="0" bIns="0" anchor="ctr">
            <a:spAutoFit/>
          </a:bodyPr>
          <a:lstStyle/>
          <a:p>
            <a:pPr algn="l"/>
            <a:r>
              <a:rPr sz="2000" b="0">
                <a:solidFill>
                  <a:srgbClr val="2D3748"/>
                </a:solidFill>
                <a:latin typeface="Calibri"/>
              </a:rPr>
              <a:t>the held-out fold</a:t>
            </a:r>
          </a:p>
          <a:p>
            <a:pPr algn="l"/>
            <a:r>
              <a:rPr sz="2000" b="0">
                <a:solidFill>
                  <a:srgbClr val="2D3748"/>
                </a:solidFill>
                <a:latin typeface="Calibri"/>
              </a:rPr>
              <a:t>through the same ones</a:t>
            </a:r>
          </a:p>
        </p:txBody>
      </p:sp>
      <p:sp>
        <p:nvSpPr>
          <p:cNvPr id="47" name="Rounded Rectangle 46"/>
          <p:cNvSpPr/>
          <p:nvPr/>
        </p:nvSpPr>
        <p:spPr>
          <a:xfrm>
            <a:off x="7458324" y="4809744"/>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predict</a:t>
            </a:r>
          </a:p>
        </p:txBody>
      </p:sp>
      <p:sp>
        <p:nvSpPr>
          <p:cNvPr id="48" name="TextBox 47"/>
          <p:cNvSpPr txBox="1"/>
          <p:nvPr/>
        </p:nvSpPr>
        <p:spPr>
          <a:xfrm>
            <a:off x="8948796" y="4809744"/>
            <a:ext cx="3108960" cy="603504"/>
          </a:xfrm>
          <a:prstGeom prst="rect">
            <a:avLst/>
          </a:prstGeom>
          <a:noFill/>
        </p:spPr>
        <p:txBody>
          <a:bodyPr wrap="square" lIns="0" tIns="0" rIns="0" bIns="0" anchor="ctr">
            <a:spAutoFit/>
          </a:bodyPr>
          <a:lstStyle/>
          <a:p>
            <a:pPr algn="l"/>
            <a:r>
              <a:rPr sz="2000" b="0">
                <a:solidFill>
                  <a:srgbClr val="2D3748"/>
                </a:solidFill>
                <a:latin typeface="Calibri"/>
              </a:rPr>
              <a:t>1,398 recordings it</a:t>
            </a:r>
          </a:p>
          <a:p>
            <a:pPr algn="l"/>
            <a:r>
              <a:rPr sz="2000" b="0">
                <a:solidFill>
                  <a:srgbClr val="2D3748"/>
                </a:solidFill>
                <a:latin typeface="Calibri"/>
              </a:rPr>
              <a:t>has never seen</a:t>
            </a:r>
          </a:p>
        </p:txBody>
      </p:sp>
      <p:sp>
        <p:nvSpPr>
          <p:cNvPr id="49" name="Rounded Rectangle 48"/>
          <p:cNvSpPr/>
          <p:nvPr/>
        </p:nvSpPr>
        <p:spPr>
          <a:xfrm>
            <a:off x="548640" y="6144768"/>
            <a:ext cx="11091672" cy="566928"/>
          </a:xfrm>
          <a:prstGeom prst="roundRect">
            <a:avLst>
              <a:gd name="adj" fmla="val 14000"/>
            </a:avLst>
          </a:prstGeom>
          <a:solidFill>
            <a:srgbClr val="E1F2EF"/>
          </a:solidFill>
          <a:ln w="12700">
            <a:solidFill>
              <a:srgbClr val="9AD1C9"/>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0" name="Oval 49"/>
          <p:cNvSpPr/>
          <p:nvPr/>
        </p:nvSpPr>
        <p:spPr>
          <a:xfrm>
            <a:off x="713232" y="6245352"/>
            <a:ext cx="365760" cy="365760"/>
          </a:xfrm>
          <a:prstGeom prst="ellipse">
            <a:avLst/>
          </a:prstGeom>
          <a:solidFill>
            <a:srgbClr val="0B6B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3</a:t>
            </a:r>
          </a:p>
        </p:txBody>
      </p:sp>
      <p:sp>
        <p:nvSpPr>
          <p:cNvPr id="51" name="TextBox 50"/>
          <p:cNvSpPr txBox="1"/>
          <p:nvPr/>
        </p:nvSpPr>
        <p:spPr>
          <a:xfrm>
            <a:off x="1207008" y="6144768"/>
            <a:ext cx="10332720" cy="566928"/>
          </a:xfrm>
          <a:prstGeom prst="rect">
            <a:avLst/>
          </a:prstGeom>
          <a:noFill/>
        </p:spPr>
        <p:txBody>
          <a:bodyPr wrap="square" lIns="0" tIns="0" rIns="0" bIns="0" anchor="ctr">
            <a:spAutoFit/>
          </a:bodyPr>
          <a:lstStyle/>
          <a:p>
            <a:pPr algn="l"/>
            <a:r>
              <a:rPr sz="2000" b="1">
                <a:solidFill>
                  <a:srgbClr val="0B6B5F"/>
                </a:solidFill>
                <a:latin typeface="Calibri"/>
              </a:rPr>
              <a:t>All 6,991 recordings predicted exactly once — scored together as one macro-F1.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29184"/>
            <a:ext cx="11091672" cy="731520"/>
          </a:xfrm>
          <a:prstGeom prst="rect">
            <a:avLst/>
          </a:prstGeom>
          <a:noFill/>
        </p:spPr>
        <p:txBody>
          <a:bodyPr wrap="square" lIns="0" tIns="0" rIns="0" bIns="0" anchor="t">
            <a:spAutoFit/>
          </a:bodyPr>
          <a:lstStyle/>
          <a:p>
            <a:pPr algn="l"/>
            <a:r>
              <a:rPr sz="3600" b="1">
                <a:solidFill>
                  <a:srgbClr val="003D7C"/>
                </a:solidFill>
                <a:latin typeface="Calibri"/>
              </a:rPr>
              <a:t>Evaluation — Full Dataset</a:t>
            </a:r>
          </a:p>
        </p:txBody>
      </p:sp>
      <p:sp>
        <p:nvSpPr>
          <p:cNvPr id="3" name="Rounded Rectangle 2"/>
          <p:cNvSpPr/>
          <p:nvPr/>
        </p:nvSpPr>
        <p:spPr>
          <a:xfrm>
            <a:off x="548640" y="1042415"/>
            <a:ext cx="1645920" cy="64008"/>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33856"/>
            <a:ext cx="11091672" cy="420624"/>
          </a:xfrm>
          <a:prstGeom prst="rect">
            <a:avLst/>
          </a:prstGeom>
          <a:noFill/>
        </p:spPr>
        <p:txBody>
          <a:bodyPr wrap="square" lIns="0" tIns="0" rIns="0" bIns="0" anchor="t">
            <a:spAutoFit/>
          </a:bodyPr>
          <a:lstStyle/>
          <a:p>
            <a:pPr algn="l"/>
            <a:r>
              <a:rPr sz="2000" b="0">
                <a:solidFill>
                  <a:srgbClr val="5B6475"/>
                </a:solidFill>
                <a:latin typeface="Calibri"/>
              </a:rPr>
              <a:t>9 activity classes · 6,991 recordings · 5-fold cross-validation</a:t>
            </a:r>
          </a:p>
        </p:txBody>
      </p:sp>
      <p:sp>
        <p:nvSpPr>
          <p:cNvPr id="5" name="Rounded Rectangle 4"/>
          <p:cNvSpPr/>
          <p:nvPr/>
        </p:nvSpPr>
        <p:spPr>
          <a:xfrm>
            <a:off x="548640" y="1645920"/>
            <a:ext cx="3511296" cy="1225296"/>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55648"/>
            <a:ext cx="3017520" cy="603504"/>
          </a:xfrm>
          <a:prstGeom prst="rect">
            <a:avLst/>
          </a:prstGeom>
          <a:noFill/>
        </p:spPr>
        <p:txBody>
          <a:bodyPr wrap="square" lIns="0" tIns="0" rIns="0" bIns="0" anchor="t">
            <a:spAutoFit/>
          </a:bodyPr>
          <a:lstStyle/>
          <a:p>
            <a:pPr algn="l"/>
            <a:r>
              <a:rPr sz="4000" b="1">
                <a:solidFill>
                  <a:srgbClr val="003D7C"/>
                </a:solidFill>
                <a:latin typeface="Calibri"/>
              </a:rPr>
              <a:t>0.2629</a:t>
            </a:r>
          </a:p>
        </p:txBody>
      </p:sp>
      <p:sp>
        <p:nvSpPr>
          <p:cNvPr id="7" name="TextBox 6"/>
          <p:cNvSpPr txBox="1"/>
          <p:nvPr/>
        </p:nvSpPr>
        <p:spPr>
          <a:xfrm>
            <a:off x="822959"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macro-F1, Stacking</a:t>
            </a:r>
          </a:p>
        </p:txBody>
      </p:sp>
      <p:sp>
        <p:nvSpPr>
          <p:cNvPr id="8" name="Rounded Rectangle 7"/>
          <p:cNvSpPr/>
          <p:nvPr/>
        </p:nvSpPr>
        <p:spPr>
          <a:xfrm>
            <a:off x="4334256" y="1645920"/>
            <a:ext cx="3511296" cy="1225296"/>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55648"/>
            <a:ext cx="3017520" cy="603504"/>
          </a:xfrm>
          <a:prstGeom prst="rect">
            <a:avLst/>
          </a:prstGeom>
          <a:noFill/>
        </p:spPr>
        <p:txBody>
          <a:bodyPr wrap="square" lIns="0" tIns="0" rIns="0" bIns="0" anchor="t">
            <a:spAutoFit/>
          </a:bodyPr>
          <a:lstStyle/>
          <a:p>
            <a:pPr algn="l"/>
            <a:r>
              <a:rPr sz="4000" b="1">
                <a:solidFill>
                  <a:srgbClr val="5B4B9A"/>
                </a:solidFill>
                <a:latin typeface="Calibri"/>
              </a:rPr>
              <a:t>3.3×</a:t>
            </a:r>
          </a:p>
        </p:txBody>
      </p:sp>
      <p:sp>
        <p:nvSpPr>
          <p:cNvPr id="10" name="TextBox 9"/>
          <p:cNvSpPr txBox="1"/>
          <p:nvPr/>
        </p:nvSpPr>
        <p:spPr>
          <a:xfrm>
            <a:off x="4608576" y="2377440"/>
            <a:ext cx="3017520" cy="674624"/>
          </a:xfrm>
          <a:prstGeom prst="rect">
            <a:avLst/>
          </a:prstGeom>
          <a:noFill/>
        </p:spPr>
        <p:txBody>
          <a:bodyPr wrap="square" lIns="0" tIns="0" rIns="0" bIns="0" anchor="t">
            <a:spAutoFit/>
          </a:bodyPr>
          <a:lstStyle/>
          <a:p>
            <a:pPr algn="l"/>
            <a:r>
              <a:rPr sz="2000" b="0">
                <a:solidFill>
                  <a:srgbClr val="5B6475"/>
                </a:solidFill>
                <a:latin typeface="Calibri"/>
              </a:rPr>
              <a:t>over the majority baseline</a:t>
            </a:r>
          </a:p>
        </p:txBody>
      </p:sp>
      <p:sp>
        <p:nvSpPr>
          <p:cNvPr id="11" name="Rounded Rectangle 10"/>
          <p:cNvSpPr/>
          <p:nvPr/>
        </p:nvSpPr>
        <p:spPr>
          <a:xfrm>
            <a:off x="8129016" y="1645920"/>
            <a:ext cx="3511296" cy="1225296"/>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755648"/>
            <a:ext cx="3017520" cy="603504"/>
          </a:xfrm>
          <a:prstGeom prst="rect">
            <a:avLst/>
          </a:prstGeom>
          <a:noFill/>
        </p:spPr>
        <p:txBody>
          <a:bodyPr wrap="square" lIns="0" tIns="0" rIns="0" bIns="0" anchor="t">
            <a:spAutoFit/>
          </a:bodyPr>
          <a:lstStyle/>
          <a:p>
            <a:pPr algn="l"/>
            <a:r>
              <a:rPr sz="4000" b="1">
                <a:solidFill>
                  <a:srgbClr val="0E9384"/>
                </a:solidFill>
                <a:latin typeface="Calibri"/>
              </a:rPr>
              <a:t>6,991</a:t>
            </a:r>
          </a:p>
        </p:txBody>
      </p:sp>
      <p:sp>
        <p:nvSpPr>
          <p:cNvPr id="13" name="TextBox 12"/>
          <p:cNvSpPr txBox="1"/>
          <p:nvPr/>
        </p:nvSpPr>
        <p:spPr>
          <a:xfrm>
            <a:off x="8403336"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recordings, 70 apps</a:t>
            </a:r>
          </a:p>
        </p:txBody>
      </p:sp>
      <p:sp>
        <p:nvSpPr>
          <p:cNvPr id="14" name="TextBox 13"/>
          <p:cNvSpPr txBox="1"/>
          <p:nvPr/>
        </p:nvSpPr>
        <p:spPr>
          <a:xfrm>
            <a:off x="548640" y="3017520"/>
            <a:ext cx="5989320" cy="329184"/>
          </a:xfrm>
          <a:prstGeom prst="rect">
            <a:avLst/>
          </a:prstGeom>
          <a:noFill/>
        </p:spPr>
        <p:txBody>
          <a:bodyPr wrap="square" lIns="0" tIns="0" rIns="0" bIns="0" anchor="t">
            <a:spAutoFit/>
          </a:bodyPr>
          <a:lstStyle/>
          <a:p>
            <a:pPr algn="l"/>
            <a:r>
              <a:rPr sz="2000" b="1">
                <a:solidFill>
                  <a:srgbClr val="5B6475"/>
                </a:solidFill>
                <a:latin typeface="Calibri"/>
              </a:rPr>
              <a:t>Top 4 — full table on the next slide</a:t>
            </a:r>
          </a:p>
        </p:txBody>
      </p:sp>
      <p:graphicFrame>
        <p:nvGraphicFramePr>
          <p:cNvPr id="15" name="Table 14"/>
          <p:cNvGraphicFramePr>
            <a:graphicFrameLocks noGrp="1"/>
          </p:cNvGraphicFramePr>
          <p:nvPr/>
        </p:nvGraphicFramePr>
        <p:xfrm>
          <a:off x="548640" y="3401568"/>
          <a:ext cx="5989320" cy="2816352"/>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69392">
                <a:tc>
                  <a:txBody>
                    <a:bodyPr/>
                    <a:lstStyle/>
                    <a:p>
                      <a:pPr algn="l"/>
                      <a:r>
                        <a:rPr sz="2000" b="1">
                          <a:solidFill>
                            <a:srgbClr val="FFFFFF"/>
                          </a:solidFill>
                          <a:latin typeface="Calibri"/>
                        </a:rPr>
                        <a:t>Model</a:t>
                      </a:r>
                    </a:p>
                  </a:txBody>
                  <a:tcPr>
                    <a:solidFill>
                      <a:srgbClr val="003D7C"/>
                    </a:solidFill>
                  </a:tcPr>
                </a:tc>
                <a:tc>
                  <a:txBody>
                    <a:bodyPr/>
                    <a:lstStyle/>
                    <a:p>
                      <a:pPr algn="ctr"/>
                      <a:r>
                        <a:rPr sz="2000" b="1">
                          <a:solidFill>
                            <a:srgbClr val="FFFFFF"/>
                          </a:solidFill>
                          <a:latin typeface="Calibri"/>
                        </a:rPr>
                        <a:t>Tier</a:t>
                      </a:r>
                    </a:p>
                  </a:txBody>
                  <a:tcPr>
                    <a:solidFill>
                      <a:srgbClr val="003D7C"/>
                    </a:solidFill>
                  </a:tcPr>
                </a:tc>
                <a:tc>
                  <a:txBody>
                    <a:bodyPr/>
                    <a:lstStyle/>
                    <a:p>
                      <a:pPr algn="ctr"/>
                      <a:r>
                        <a:rPr sz="2000" b="1">
                          <a:solidFill>
                            <a:srgbClr val="FFFFFF"/>
                          </a:solidFill>
                          <a:latin typeface="Calibri"/>
                        </a:rPr>
                        <a:t>macro-F1</a:t>
                      </a:r>
                    </a:p>
                  </a:txBody>
                  <a:tcPr>
                    <a:solidFill>
                      <a:srgbClr val="003D7C"/>
                    </a:solidFill>
                  </a:tcPr>
                </a:tc>
                <a:tc>
                  <a:txBody>
                    <a:bodyPr/>
                    <a:lstStyle/>
                    <a:p>
                      <a:pPr algn="ctr"/>
                      <a:r>
                        <a:rPr sz="2000" b="1">
                          <a:solidFill>
                            <a:srgbClr val="FFFFFF"/>
                          </a:solidFill>
                          <a:latin typeface="Calibri"/>
                        </a:rPr>
                        <a:t>Accuracy</a:t>
                      </a:r>
                    </a:p>
                  </a:txBody>
                  <a:tcPr>
                    <a:solidFill>
                      <a:srgbClr val="003D7C"/>
                    </a:solidFill>
                  </a:tcPr>
                </a:tc>
                <a:extLst>
                  <a:ext uri="{0D108BD9-81ED-4DB2-BD59-A6C34878D82A}">
                    <a16:rowId xmlns:a16="http://schemas.microsoft.com/office/drawing/2014/main" val="10000"/>
                  </a:ext>
                </a:extLst>
              </a:tr>
              <a:tr h="469392">
                <a:tc>
                  <a:txBody>
                    <a:bodyPr/>
                    <a:lstStyle/>
                    <a:p>
                      <a:pPr algn="l"/>
                      <a:r>
                        <a:rPr sz="2000" b="1">
                          <a:solidFill>
                            <a:srgbClr val="2D3748"/>
                          </a:solidFill>
                          <a:latin typeface="Calibri"/>
                        </a:rPr>
                        <a:t>Stacking</a:t>
                      </a:r>
                    </a:p>
                  </a:txBody>
                  <a:tcPr>
                    <a:solidFill>
                      <a:srgbClr val="FFFFFF"/>
                    </a:solidFill>
                  </a:tcPr>
                </a:tc>
                <a:tc>
                  <a:txBody>
                    <a:bodyPr/>
                    <a:lstStyle/>
                    <a:p>
                      <a:pPr algn="ctr"/>
                      <a:r>
                        <a:rPr sz="2000" b="1">
                          <a:solidFill>
                            <a:srgbClr val="2D3748"/>
                          </a:solidFill>
                          <a:latin typeface="Calibri"/>
                        </a:rPr>
                        <a:t>3</a:t>
                      </a:r>
                    </a:p>
                  </a:txBody>
                  <a:tcPr>
                    <a:solidFill>
                      <a:srgbClr val="FFFFFF"/>
                    </a:solidFill>
                  </a:tcPr>
                </a:tc>
                <a:tc>
                  <a:txBody>
                    <a:bodyPr/>
                    <a:lstStyle/>
                    <a:p>
                      <a:pPr algn="ctr"/>
                      <a:r>
                        <a:rPr sz="2000" b="1">
                          <a:solidFill>
                            <a:srgbClr val="2D3748"/>
                          </a:solidFill>
                          <a:latin typeface="Calibri"/>
                        </a:rPr>
                        <a:t>0.2629</a:t>
                      </a:r>
                    </a:p>
                  </a:txBody>
                  <a:tcPr>
                    <a:solidFill>
                      <a:srgbClr val="FFFFFF"/>
                    </a:solidFill>
                  </a:tcPr>
                </a:tc>
                <a:tc>
                  <a:txBody>
                    <a:bodyPr/>
                    <a:lstStyle/>
                    <a:p>
                      <a:pPr algn="ctr"/>
                      <a:r>
                        <a:rPr sz="2000" b="1">
                          <a:solidFill>
                            <a:srgbClr val="2D3748"/>
                          </a:solidFill>
                          <a:latin typeface="Calibri"/>
                        </a:rPr>
                        <a:t>0.7400</a:t>
                      </a:r>
                    </a:p>
                  </a:txBody>
                  <a:tcPr>
                    <a:solidFill>
                      <a:srgbClr val="FFFFFF"/>
                    </a:solidFill>
                  </a:tcPr>
                </a:tc>
                <a:extLst>
                  <a:ext uri="{0D108BD9-81ED-4DB2-BD59-A6C34878D82A}">
                    <a16:rowId xmlns:a16="http://schemas.microsoft.com/office/drawing/2014/main" val="10001"/>
                  </a:ext>
                </a:extLst>
              </a:tr>
              <a:tr h="469392">
                <a:tc>
                  <a:txBody>
                    <a:bodyPr/>
                    <a:lstStyle/>
                    <a:p>
                      <a:pPr algn="l"/>
                      <a:r>
                        <a:rPr sz="2000" b="0">
                          <a:solidFill>
                            <a:srgbClr val="2D3748"/>
                          </a:solidFill>
                          <a:latin typeface="Calibri"/>
                        </a:rPr>
                        <a:t>XGBoost</a:t>
                      </a:r>
                    </a:p>
                  </a:txBody>
                  <a:tcPr>
                    <a:solidFill>
                      <a:srgbClr val="F5F7FA"/>
                    </a:solidFill>
                  </a:tcPr>
                </a:tc>
                <a:tc>
                  <a:txBody>
                    <a:bodyPr/>
                    <a:lstStyle/>
                    <a:p>
                      <a:pPr algn="ctr"/>
                      <a:r>
                        <a:rPr sz="2000" b="0">
                          <a:solidFill>
                            <a:srgbClr val="2D3748"/>
                          </a:solidFill>
                          <a:latin typeface="Calibri"/>
                        </a:rPr>
                        <a:t>1</a:t>
                      </a:r>
                    </a:p>
                  </a:txBody>
                  <a:tcPr>
                    <a:solidFill>
                      <a:srgbClr val="F5F7FA"/>
                    </a:solidFill>
                  </a:tcPr>
                </a:tc>
                <a:tc>
                  <a:txBody>
                    <a:bodyPr/>
                    <a:lstStyle/>
                    <a:p>
                      <a:pPr algn="ctr"/>
                      <a:r>
                        <a:rPr sz="2000" b="0">
                          <a:solidFill>
                            <a:srgbClr val="2D3748"/>
                          </a:solidFill>
                          <a:latin typeface="Calibri"/>
                        </a:rPr>
                        <a:t>0.2498</a:t>
                      </a:r>
                    </a:p>
                  </a:txBody>
                  <a:tcPr>
                    <a:solidFill>
                      <a:srgbClr val="F5F7FA"/>
                    </a:solidFill>
                  </a:tcPr>
                </a:tc>
                <a:tc>
                  <a:txBody>
                    <a:bodyPr/>
                    <a:lstStyle/>
                    <a:p>
                      <a:pPr algn="ctr"/>
                      <a:r>
                        <a:rPr sz="2000" b="0">
                          <a:solidFill>
                            <a:srgbClr val="2D3748"/>
                          </a:solidFill>
                          <a:latin typeface="Calibri"/>
                        </a:rPr>
                        <a:t>0.7452</a:t>
                      </a:r>
                    </a:p>
                  </a:txBody>
                  <a:tcPr>
                    <a:solidFill>
                      <a:srgbClr val="F5F7FA"/>
                    </a:solidFill>
                  </a:tcPr>
                </a:tc>
                <a:extLst>
                  <a:ext uri="{0D108BD9-81ED-4DB2-BD59-A6C34878D82A}">
                    <a16:rowId xmlns:a16="http://schemas.microsoft.com/office/drawing/2014/main" val="10002"/>
                  </a:ext>
                </a:extLst>
              </a:tr>
              <a:tr h="469392">
                <a:tc>
                  <a:txBody>
                    <a:bodyPr/>
                    <a:lstStyle/>
                    <a:p>
                      <a:pPr algn="l"/>
                      <a:r>
                        <a:rPr sz="2000" b="0">
                          <a:solidFill>
                            <a:srgbClr val="2D3748"/>
                          </a:solidFill>
                          <a:latin typeface="Calibri"/>
                        </a:rPr>
                        <a:t>LightGBM</a:t>
                      </a:r>
                    </a:p>
                  </a:txBody>
                  <a:tcPr>
                    <a:solidFill>
                      <a:srgbClr val="FFFFFF"/>
                    </a:solidFill>
                  </a:tcPr>
                </a:tc>
                <a:tc>
                  <a:txBody>
                    <a:bodyPr/>
                    <a:lstStyle/>
                    <a:p>
                      <a:pPr algn="ctr"/>
                      <a:r>
                        <a:rPr sz="2000" b="0">
                          <a:solidFill>
                            <a:srgbClr val="2D3748"/>
                          </a:solidFill>
                          <a:latin typeface="Calibri"/>
                        </a:rPr>
                        <a:t>1</a:t>
                      </a:r>
                    </a:p>
                  </a:txBody>
                  <a:tcPr>
                    <a:solidFill>
                      <a:srgbClr val="FFFFFF"/>
                    </a:solidFill>
                  </a:tcPr>
                </a:tc>
                <a:tc>
                  <a:txBody>
                    <a:bodyPr/>
                    <a:lstStyle/>
                    <a:p>
                      <a:pPr algn="ctr"/>
                      <a:r>
                        <a:rPr sz="2000" b="0">
                          <a:solidFill>
                            <a:srgbClr val="2D3748"/>
                          </a:solidFill>
                          <a:latin typeface="Calibri"/>
                        </a:rPr>
                        <a:t>0.2449</a:t>
                      </a:r>
                    </a:p>
                  </a:txBody>
                  <a:tcPr>
                    <a:solidFill>
                      <a:srgbClr val="FFFFFF"/>
                    </a:solidFill>
                  </a:tcPr>
                </a:tc>
                <a:tc>
                  <a:txBody>
                    <a:bodyPr/>
                    <a:lstStyle/>
                    <a:p>
                      <a:pPr algn="ctr"/>
                      <a:r>
                        <a:rPr sz="2000" b="0">
                          <a:solidFill>
                            <a:srgbClr val="2D3748"/>
                          </a:solidFill>
                          <a:latin typeface="Calibri"/>
                        </a:rPr>
                        <a:t>0.7432</a:t>
                      </a:r>
                    </a:p>
                  </a:txBody>
                  <a:tcPr>
                    <a:solidFill>
                      <a:srgbClr val="FFFFFF"/>
                    </a:solidFill>
                  </a:tcPr>
                </a:tc>
                <a:extLst>
                  <a:ext uri="{0D108BD9-81ED-4DB2-BD59-A6C34878D82A}">
                    <a16:rowId xmlns:a16="http://schemas.microsoft.com/office/drawing/2014/main" val="10003"/>
                  </a:ext>
                </a:extLst>
              </a:tr>
              <a:tr h="469392">
                <a:tc>
                  <a:txBody>
                    <a:bodyPr/>
                    <a:lstStyle/>
                    <a:p>
                      <a:pPr algn="l"/>
                      <a:r>
                        <a:rPr sz="2000" b="0">
                          <a:solidFill>
                            <a:srgbClr val="2D3748"/>
                          </a:solidFill>
                          <a:latin typeface="Calibri"/>
                        </a:rPr>
                        <a:t>MLP</a:t>
                      </a:r>
                    </a:p>
                  </a:txBody>
                  <a:tcPr>
                    <a:solidFill>
                      <a:srgbClr val="F5F7FA"/>
                    </a:solidFill>
                  </a:tcPr>
                </a:tc>
                <a:tc>
                  <a:txBody>
                    <a:bodyPr/>
                    <a:lstStyle/>
                    <a:p>
                      <a:pPr algn="ctr"/>
                      <a:r>
                        <a:rPr sz="2000" b="0">
                          <a:solidFill>
                            <a:srgbClr val="2D3748"/>
                          </a:solidFill>
                          <a:latin typeface="Calibri"/>
                        </a:rPr>
                        <a:t>2</a:t>
                      </a:r>
                    </a:p>
                  </a:txBody>
                  <a:tcPr>
                    <a:solidFill>
                      <a:srgbClr val="F5F7FA"/>
                    </a:solidFill>
                  </a:tcPr>
                </a:tc>
                <a:tc>
                  <a:txBody>
                    <a:bodyPr/>
                    <a:lstStyle/>
                    <a:p>
                      <a:pPr algn="ctr"/>
                      <a:r>
                        <a:rPr sz="2000" b="0">
                          <a:solidFill>
                            <a:srgbClr val="2D3748"/>
                          </a:solidFill>
                          <a:latin typeface="Calibri"/>
                        </a:rPr>
                        <a:t>0.2400</a:t>
                      </a:r>
                    </a:p>
                  </a:txBody>
                  <a:tcPr>
                    <a:solidFill>
                      <a:srgbClr val="F5F7FA"/>
                    </a:solidFill>
                  </a:tcPr>
                </a:tc>
                <a:tc>
                  <a:txBody>
                    <a:bodyPr/>
                    <a:lstStyle/>
                    <a:p>
                      <a:pPr algn="ctr"/>
                      <a:r>
                        <a:rPr sz="2000" b="0">
                          <a:solidFill>
                            <a:srgbClr val="2D3748"/>
                          </a:solidFill>
                          <a:latin typeface="Calibri"/>
                        </a:rPr>
                        <a:t>0.7344</a:t>
                      </a:r>
                    </a:p>
                  </a:txBody>
                  <a:tcPr>
                    <a:solidFill>
                      <a:srgbClr val="F5F7FA"/>
                    </a:solidFill>
                  </a:tcPr>
                </a:tc>
                <a:extLst>
                  <a:ext uri="{0D108BD9-81ED-4DB2-BD59-A6C34878D82A}">
                    <a16:rowId xmlns:a16="http://schemas.microsoft.com/office/drawing/2014/main" val="10004"/>
                  </a:ext>
                </a:extLst>
              </a:tr>
              <a:tr h="469392">
                <a:tc>
                  <a:txBody>
                    <a:bodyPr/>
                    <a:lstStyle/>
                    <a:p>
                      <a:pPr algn="l"/>
                      <a:r>
                        <a:rPr sz="2000" b="1">
                          <a:solidFill>
                            <a:srgbClr val="5B6475"/>
                          </a:solidFill>
                          <a:latin typeface="Calibri"/>
                        </a:rPr>
                        <a:t>Majority baseline</a:t>
                      </a:r>
                    </a:p>
                  </a:txBody>
                  <a:tcPr>
                    <a:solidFill>
                      <a:srgbClr val="F5F7FA"/>
                    </a:solidFill>
                  </a:tcPr>
                </a:tc>
                <a:tc>
                  <a:txBody>
                    <a:bodyPr/>
                    <a:lstStyle/>
                    <a:p>
                      <a:pPr algn="ctr"/>
                      <a:r>
                        <a:rPr sz="2000" b="1">
                          <a:solidFill>
                            <a:srgbClr val="5B6475"/>
                          </a:solidFill>
                          <a:latin typeface="Calibri"/>
                        </a:rPr>
                        <a:t>—</a:t>
                      </a:r>
                    </a:p>
                  </a:txBody>
                  <a:tcPr>
                    <a:solidFill>
                      <a:srgbClr val="F5F7FA"/>
                    </a:solidFill>
                  </a:tcPr>
                </a:tc>
                <a:tc>
                  <a:txBody>
                    <a:bodyPr/>
                    <a:lstStyle/>
                    <a:p>
                      <a:pPr algn="ctr"/>
                      <a:r>
                        <a:rPr sz="2000" b="1">
                          <a:solidFill>
                            <a:srgbClr val="5B6475"/>
                          </a:solidFill>
                          <a:latin typeface="Calibri"/>
                        </a:rPr>
                        <a:t>0.0792</a:t>
                      </a:r>
                    </a:p>
                  </a:txBody>
                  <a:tcPr>
                    <a:solidFill>
                      <a:srgbClr val="F5F7FA"/>
                    </a:solidFill>
                  </a:tcPr>
                </a:tc>
                <a:tc>
                  <a:txBody>
                    <a:bodyPr/>
                    <a:lstStyle/>
                    <a:p>
                      <a:pPr algn="ctr"/>
                      <a:r>
                        <a:rPr sz="2000" b="1">
                          <a:solidFill>
                            <a:srgbClr val="5B6475"/>
                          </a:solidFill>
                          <a:latin typeface="Calibri"/>
                        </a:rPr>
                        <a:t>0.5533</a:t>
                      </a:r>
                    </a:p>
                  </a:txBody>
                  <a:tcPr>
                    <a:solidFill>
                      <a:srgbClr val="F5F7FA"/>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6720840" y="3017520"/>
            <a:ext cx="4919472" cy="365760"/>
          </a:xfrm>
          <a:prstGeom prst="rect">
            <a:avLst/>
          </a:prstGeom>
          <a:noFill/>
        </p:spPr>
        <p:txBody>
          <a:bodyPr wrap="square" lIns="0" tIns="0" rIns="0" bIns="0" anchor="t">
            <a:spAutoFit/>
          </a:bodyPr>
          <a:lstStyle/>
          <a:p>
            <a:pPr algn="l"/>
            <a:r>
              <a:rPr sz="2000" b="1">
                <a:solidFill>
                  <a:srgbClr val="5B6475"/>
                </a:solidFill>
                <a:latin typeface="Calibri"/>
              </a:rPr>
              <a:t>How to read these numbers</a:t>
            </a:r>
          </a:p>
        </p:txBody>
      </p:sp>
      <p:sp>
        <p:nvSpPr>
          <p:cNvPr id="17" name="Rounded Rectangle 16"/>
          <p:cNvSpPr/>
          <p:nvPr/>
        </p:nvSpPr>
        <p:spPr>
          <a:xfrm>
            <a:off x="6720840" y="3401568"/>
            <a:ext cx="4919472" cy="2816352"/>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86016" y="3749039"/>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96912" y="3621024"/>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Averaged over all nine classes, not just the eight present</a:t>
            </a:r>
          </a:p>
        </p:txBody>
      </p:sp>
      <p:sp>
        <p:nvSpPr>
          <p:cNvPr id="20" name="Rounded Rectangle 19"/>
          <p:cNvSpPr/>
          <p:nvPr/>
        </p:nvSpPr>
        <p:spPr>
          <a:xfrm>
            <a:off x="6986016" y="4626864"/>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96912" y="4498848"/>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Folds grouped by recording, so no video sits on both sides</a:t>
            </a:r>
          </a:p>
        </p:txBody>
      </p:sp>
      <p:sp>
        <p:nvSpPr>
          <p:cNvPr id="22" name="Rounded Rectangle 21"/>
          <p:cNvSpPr/>
          <p:nvPr/>
        </p:nvSpPr>
        <p:spPr>
          <a:xfrm>
            <a:off x="6986016" y="5504688"/>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96912" y="5376672"/>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TF-IDF, scaler and encoder fitted inside the training fold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09805" y="183790"/>
            <a:ext cx="11265012" cy="520885"/>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Challenges</a:t>
            </a:r>
          </a:p>
        </p:txBody>
      </p:sp>
      <p:sp>
        <p:nvSpPr>
          <p:cNvPr id="3" name="TextBox 2"/>
          <p:cNvSpPr txBox="1"/>
          <p:nvPr/>
        </p:nvSpPr>
        <p:spPr>
          <a:xfrm>
            <a:off x="685800" y="1234440"/>
            <a:ext cx="3200400" cy="411480"/>
          </a:xfrm>
          <a:prstGeom prst="rect">
            <a:avLst/>
          </a:prstGeom>
          <a:noFill/>
        </p:spPr>
        <p:txBody>
          <a:bodyPr wrap="square" lIns="64008" tIns="32004" rIns="64008" bIns="32004" anchor="t">
            <a:normAutofit/>
          </a:bodyPr>
          <a:lstStyle/>
          <a:p>
            <a:pPr algn="l">
              <a:spcBef>
                <a:spcPts val="0"/>
              </a:spcBef>
              <a:spcAft>
                <a:spcPts val="400"/>
              </a:spcAft>
            </a:pPr>
            <a:r>
              <a:rPr lang="en-US" sz="1900" b="1">
                <a:solidFill>
                  <a:srgbClr val="002A57"/>
                </a:solidFill>
                <a:latin typeface="Calibri"/>
              </a:rPr>
              <a:t>Challenge</a:t>
            </a:r>
            <a:endParaRPr lang="en-US" sz="1900" b="1" i="0">
              <a:solidFill>
                <a:srgbClr val="002A57"/>
              </a:solidFill>
              <a:latin typeface="Calibri"/>
            </a:endParaRPr>
          </a:p>
        </p:txBody>
      </p:sp>
      <p:sp>
        <p:nvSpPr>
          <p:cNvPr id="4" name="TextBox 3"/>
          <p:cNvSpPr txBox="1"/>
          <p:nvPr/>
        </p:nvSpPr>
        <p:spPr>
          <a:xfrm>
            <a:off x="4023360" y="1234440"/>
            <a:ext cx="283464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Impact</a:t>
            </a:r>
          </a:p>
        </p:txBody>
      </p:sp>
      <p:sp>
        <p:nvSpPr>
          <p:cNvPr id="5" name="TextBox 4"/>
          <p:cNvSpPr txBox="1"/>
          <p:nvPr/>
        </p:nvSpPr>
        <p:spPr>
          <a:xfrm>
            <a:off x="7040880" y="1234440"/>
            <a:ext cx="448056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Solution</a:t>
            </a:r>
          </a:p>
        </p:txBody>
      </p:sp>
      <p:sp>
        <p:nvSpPr>
          <p:cNvPr id="11" name="Rounded Rectangle 10"/>
          <p:cNvSpPr/>
          <p:nvPr/>
        </p:nvSpPr>
        <p:spPr>
          <a:xfrm>
            <a:off x="427025" y="1783080"/>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4185" y="2116836"/>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Large Dataset (48 GB)</a:t>
            </a:r>
          </a:p>
        </p:txBody>
      </p:sp>
      <p:sp>
        <p:nvSpPr>
          <p:cNvPr id="14" name="TextBox 13"/>
          <p:cNvSpPr txBox="1"/>
          <p:nvPr/>
        </p:nvSpPr>
        <p:spPr>
          <a:xfrm>
            <a:off x="3901745" y="1783080"/>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Cannot fit in </a:t>
            </a:r>
            <a:r>
              <a:rPr sz="1900" b="1" i="0">
                <a:solidFill>
                  <a:srgbClr val="002A57"/>
                </a:solidFill>
                <a:latin typeface="Calibri"/>
              </a:rPr>
              <a:t>memory or train locally</a:t>
            </a:r>
          </a:p>
        </p:txBody>
      </p:sp>
      <p:sp>
        <p:nvSpPr>
          <p:cNvPr id="15" name="TextBox 14"/>
          <p:cNvSpPr txBox="1"/>
          <p:nvPr/>
        </p:nvSpPr>
        <p:spPr>
          <a:xfrm>
            <a:off x="6919265" y="1783080"/>
            <a:ext cx="448056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B6B5F"/>
                </a:solidFill>
                <a:latin typeface="Calibri"/>
              </a:rPr>
              <a:t>Streaming dataset loader; AWS EC2 for cloud training; Google Colab as free alternative</a:t>
            </a:r>
          </a:p>
        </p:txBody>
      </p:sp>
      <p:sp>
        <p:nvSpPr>
          <p:cNvPr id="21" name="Rounded Rectangle 20"/>
          <p:cNvSpPr/>
          <p:nvPr/>
        </p:nvSpPr>
        <p:spPr>
          <a:xfrm>
            <a:off x="427025" y="4203192"/>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4185" y="4536948"/>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Class Imbalance</a:t>
            </a:r>
          </a:p>
        </p:txBody>
      </p:sp>
      <p:sp>
        <p:nvSpPr>
          <p:cNvPr id="24" name="TextBox 23"/>
          <p:cNvSpPr txBox="1"/>
          <p:nvPr/>
        </p:nvSpPr>
        <p:spPr>
          <a:xfrm>
            <a:off x="3901745" y="4203192"/>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Uneven activity label distribution</a:t>
            </a:r>
          </a:p>
        </p:txBody>
      </p:sp>
      <p:sp>
        <p:nvSpPr>
          <p:cNvPr id="25" name="TextBox 24"/>
          <p:cNvSpPr txBox="1"/>
          <p:nvPr/>
        </p:nvSpPr>
        <p:spPr>
          <a:xfrm>
            <a:off x="6919265" y="4203192"/>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Stratified train/test split; 5x augmentation for datasets &lt; 100 samples; F1-macro as primary metric</a:t>
            </a:r>
          </a:p>
        </p:txBody>
      </p:sp>
      <p:sp>
        <p:nvSpPr>
          <p:cNvPr id="27" name="Rounded Rectangle 20">
            <a:extLst>
              <a:ext uri="{FF2B5EF4-FFF2-40B4-BE49-F238E27FC236}">
                <a16:creationId xmlns:a16="http://schemas.microsoft.com/office/drawing/2014/main" id="{1BD1BE2A-3BF3-9C9C-F119-B32F73E947DB}"/>
              </a:ext>
            </a:extLst>
          </p:cNvPr>
          <p:cNvSpPr/>
          <p:nvPr/>
        </p:nvSpPr>
        <p:spPr>
          <a:xfrm>
            <a:off x="447181" y="5430217"/>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1">
            <a:extLst>
              <a:ext uri="{FF2B5EF4-FFF2-40B4-BE49-F238E27FC236}">
                <a16:creationId xmlns:a16="http://schemas.microsoft.com/office/drawing/2014/main" id="{FE9D8109-CACE-8932-E21D-5CD4EAA0E10E}"/>
              </a:ext>
            </a:extLst>
          </p:cNvPr>
          <p:cNvSpPr/>
          <p:nvPr/>
        </p:nvSpPr>
        <p:spPr>
          <a:xfrm>
            <a:off x="564185" y="5623560"/>
            <a:ext cx="3200400" cy="842772"/>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lang="en-SG" sz="1900" b="1" i="0">
                <a:solidFill>
                  <a:schemeClr val="tx1"/>
                </a:solidFill>
                <a:latin typeface="Calibri"/>
              </a:rPr>
              <a:t>Different Processing Techniques for diff models</a:t>
            </a:r>
            <a:endParaRPr sz="2000" b="1" i="0">
              <a:solidFill>
                <a:schemeClr val="tx1"/>
              </a:solidFill>
              <a:latin typeface="Calibri"/>
            </a:endParaRPr>
          </a:p>
        </p:txBody>
      </p:sp>
      <p:sp>
        <p:nvSpPr>
          <p:cNvPr id="33" name="TextBox 32">
            <a:extLst>
              <a:ext uri="{FF2B5EF4-FFF2-40B4-BE49-F238E27FC236}">
                <a16:creationId xmlns:a16="http://schemas.microsoft.com/office/drawing/2014/main" id="{573E6FAB-697F-DDD4-DDBE-DD685AFD2247}"/>
              </a:ext>
            </a:extLst>
          </p:cNvPr>
          <p:cNvSpPr txBox="1"/>
          <p:nvPr/>
        </p:nvSpPr>
        <p:spPr>
          <a:xfrm>
            <a:off x="3901745" y="5565648"/>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Not all models need same preprocessing</a:t>
            </a:r>
            <a:endParaRPr sz="2000" b="0" i="0">
              <a:solidFill>
                <a:srgbClr val="2D3748"/>
              </a:solidFill>
              <a:latin typeface="Calibri"/>
            </a:endParaRPr>
          </a:p>
        </p:txBody>
      </p:sp>
      <p:sp>
        <p:nvSpPr>
          <p:cNvPr id="35" name="TextBox 34">
            <a:extLst>
              <a:ext uri="{FF2B5EF4-FFF2-40B4-BE49-F238E27FC236}">
                <a16:creationId xmlns:a16="http://schemas.microsoft.com/office/drawing/2014/main" id="{E0C8A5D4-EFD8-0454-4A41-FBC69ADB95B8}"/>
              </a:ext>
            </a:extLst>
          </p:cNvPr>
          <p:cNvSpPr txBox="1"/>
          <p:nvPr/>
        </p:nvSpPr>
        <p:spPr>
          <a:xfrm>
            <a:off x="6919265" y="5565648"/>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B6B5F"/>
                </a:solidFill>
                <a:latin typeface="Calibri"/>
              </a:rPr>
              <a:t>Every model has different preprocessing steps</a:t>
            </a:r>
            <a:endParaRPr sz="2000" b="0" i="0">
              <a:solidFill>
                <a:srgbClr val="0B6B5F"/>
              </a:solidFill>
              <a:latin typeface="Calibri"/>
            </a:endParaRPr>
          </a:p>
        </p:txBody>
      </p:sp>
      <p:sp>
        <p:nvSpPr>
          <p:cNvPr id="6" name="TextBox 5">
            <a:extLst>
              <a:ext uri="{FF2B5EF4-FFF2-40B4-BE49-F238E27FC236}">
                <a16:creationId xmlns:a16="http://schemas.microsoft.com/office/drawing/2014/main" id="{4E5AC8A8-3143-4657-97EA-4793059FC720}"/>
              </a:ext>
            </a:extLst>
          </p:cNvPr>
          <p:cNvSpPr txBox="1"/>
          <p:nvPr/>
        </p:nvSpPr>
        <p:spPr>
          <a:xfrm>
            <a:off x="564185" y="847288"/>
            <a:ext cx="3823257" cy="369332"/>
          </a:xfrm>
          <a:prstGeom prst="rect">
            <a:avLst/>
          </a:prstGeom>
          <a:noFill/>
        </p:spPr>
        <p:txBody>
          <a:bodyPr wrap="square" lIns="64008" tIns="32004" rIns="64008" bIns="32004" rtlCol="0">
            <a:normAutofit/>
          </a:bodyPr>
          <a:lstStyle/>
          <a:p>
            <a:pPr>
              <a:spcBef>
                <a:spcPts val="0"/>
              </a:spcBef>
              <a:spcAft>
                <a:spcPts val="400"/>
              </a:spcAft>
            </a:pPr>
            <a:r>
              <a:rPr lang="en-SG" sz="1400" b="0">
                <a:solidFill>
                  <a:srgbClr val="273140"/>
                </a:solidFill>
                <a:latin typeface="Calibri"/>
              </a:rPr>
              <a:t>Data and Infrastructure Challenges</a:t>
            </a:r>
          </a:p>
        </p:txBody>
      </p:sp>
      <p:sp>
        <p:nvSpPr>
          <p:cNvPr id="8" name="Rounded Rectangle 10">
            <a:extLst>
              <a:ext uri="{FF2B5EF4-FFF2-40B4-BE49-F238E27FC236}">
                <a16:creationId xmlns:a16="http://schemas.microsoft.com/office/drawing/2014/main" id="{7DF1B7AC-4969-6E43-6E76-6306649E4994}"/>
              </a:ext>
            </a:extLst>
          </p:cNvPr>
          <p:cNvSpPr/>
          <p:nvPr/>
        </p:nvSpPr>
        <p:spPr>
          <a:xfrm>
            <a:off x="446282" y="3006784"/>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1">
            <a:extLst>
              <a:ext uri="{FF2B5EF4-FFF2-40B4-BE49-F238E27FC236}">
                <a16:creationId xmlns:a16="http://schemas.microsoft.com/office/drawing/2014/main" id="{FD0B8ABF-04E8-5C7F-BAD7-C2CB3E987861}"/>
              </a:ext>
            </a:extLst>
          </p:cNvPr>
          <p:cNvSpPr/>
          <p:nvPr/>
        </p:nvSpPr>
        <p:spPr>
          <a:xfrm>
            <a:off x="583442" y="3340540"/>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Train/Test Leakage</a:t>
            </a:r>
          </a:p>
        </p:txBody>
      </p:sp>
      <p:sp>
        <p:nvSpPr>
          <p:cNvPr id="28" name="TextBox 27">
            <a:extLst>
              <a:ext uri="{FF2B5EF4-FFF2-40B4-BE49-F238E27FC236}">
                <a16:creationId xmlns:a16="http://schemas.microsoft.com/office/drawing/2014/main" id="{56A9F39A-0EEB-80C8-116F-240E3B03489E}"/>
              </a:ext>
            </a:extLst>
          </p:cNvPr>
          <p:cNvSpPr txBox="1"/>
          <p:nvPr/>
        </p:nvSpPr>
        <p:spPr>
          <a:xfrm>
            <a:off x="3921002" y="3006784"/>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Frames from one recording landing in both splits</a:t>
            </a:r>
          </a:p>
        </p:txBody>
      </p:sp>
      <p:sp>
        <p:nvSpPr>
          <p:cNvPr id="32" name="TextBox 31">
            <a:extLst>
              <a:ext uri="{FF2B5EF4-FFF2-40B4-BE49-F238E27FC236}">
                <a16:creationId xmlns:a16="http://schemas.microsoft.com/office/drawing/2014/main" id="{89A75169-DCE0-F095-2766-DAD348CF0EEB}"/>
              </a:ext>
            </a:extLst>
          </p:cNvPr>
          <p:cNvSpPr txBox="1"/>
          <p:nvPr/>
        </p:nvSpPr>
        <p:spPr>
          <a:xfrm>
            <a:off x="6938522" y="3006784"/>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Task-grouped 5-fold CV; TF-IDF, scaler and label encoder fitted inside each training fold; leakage asserted by unit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lang="en-US" sz="3200" b="1" i="0">
                <a:solidFill>
                  <a:srgbClr val="003D7C"/>
                </a:solidFill>
                <a:latin typeface="Calibri"/>
              </a:rPr>
              <a:t>Future Work</a:t>
            </a:r>
          </a:p>
        </p:txBody>
      </p:sp>
      <p:sp>
        <p:nvSpPr>
          <p:cNvPr id="3" name="Rounded Rectangle 2"/>
          <p:cNvSpPr/>
          <p:nvPr/>
        </p:nvSpPr>
        <p:spPr>
          <a:xfrm>
            <a:off x="605811" y="1040341"/>
            <a:ext cx="4683900" cy="1520133"/>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 name="Oval 3"/>
          <p:cNvSpPr/>
          <p:nvPr/>
        </p:nvSpPr>
        <p:spPr>
          <a:xfrm>
            <a:off x="868985" y="140610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descr="flask.png"/>
          <p:cNvPicPr>
            <a:picLocks noChangeAspect="1"/>
          </p:cNvPicPr>
          <p:nvPr/>
        </p:nvPicPr>
        <p:blipFill>
          <a:blip r:embed="rId2"/>
          <a:stretch>
            <a:fillRect/>
          </a:stretch>
        </p:blipFill>
        <p:spPr>
          <a:xfrm>
            <a:off x="1086155" y="1623270"/>
            <a:ext cx="434340" cy="434340"/>
          </a:xfrm>
          <a:prstGeom prst="rect">
            <a:avLst/>
          </a:prstGeom>
        </p:spPr>
      </p:pic>
      <p:sp>
        <p:nvSpPr>
          <p:cNvPr id="6" name="TextBox 5"/>
          <p:cNvSpPr txBox="1"/>
          <p:nvPr/>
        </p:nvSpPr>
        <p:spPr>
          <a:xfrm>
            <a:off x="1954835" y="1349161"/>
            <a:ext cx="2181243" cy="1004057"/>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Training and education</a:t>
            </a:r>
          </a:p>
          <a:p>
            <a:pPr>
              <a:spcBef>
                <a:spcPts val="0"/>
              </a:spcBef>
              <a:spcAft>
                <a:spcPts val="400"/>
              </a:spcAft>
            </a:pPr>
            <a:r>
              <a:rPr lang="en-SG" sz="1400" b="0" dirty="0">
                <a:solidFill>
                  <a:srgbClr val="273140"/>
                </a:solidFill>
                <a:latin typeface="Calibri"/>
              </a:rPr>
              <a:t>Turn demonstrations into searchable tutorials, step-by-step instructions, or feedback on how a task was performed.</a:t>
            </a:r>
            <a:endParaRPr lang="en-US" sz="1100" b="0" i="0" dirty="0">
              <a:solidFill>
                <a:srgbClr val="2D3748"/>
              </a:solidFill>
              <a:latin typeface="Calibri"/>
            </a:endParaRPr>
          </a:p>
        </p:txBody>
      </p:sp>
      <p:sp>
        <p:nvSpPr>
          <p:cNvPr id="7" name="Rounded Rectangle 6"/>
          <p:cNvSpPr/>
          <p:nvPr/>
        </p:nvSpPr>
        <p:spPr>
          <a:xfrm>
            <a:off x="6096000" y="1029121"/>
            <a:ext cx="4308587" cy="150876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8" name="Oval 7"/>
          <p:cNvSpPr/>
          <p:nvPr/>
        </p:nvSpPr>
        <p:spPr>
          <a:xfrm>
            <a:off x="6416040" y="139488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9" name="Picture 8" descr="chip.png"/>
          <p:cNvPicPr>
            <a:picLocks noChangeAspect="1"/>
          </p:cNvPicPr>
          <p:nvPr/>
        </p:nvPicPr>
        <p:blipFill>
          <a:blip r:embed="rId3"/>
          <a:stretch>
            <a:fillRect/>
          </a:stretch>
        </p:blipFill>
        <p:spPr>
          <a:xfrm>
            <a:off x="6633210" y="1612050"/>
            <a:ext cx="434340" cy="434340"/>
          </a:xfrm>
          <a:prstGeom prst="rect">
            <a:avLst/>
          </a:prstGeom>
        </p:spPr>
      </p:pic>
      <p:sp>
        <p:nvSpPr>
          <p:cNvPr id="10" name="TextBox 9"/>
          <p:cNvSpPr txBox="1"/>
          <p:nvPr/>
        </p:nvSpPr>
        <p:spPr>
          <a:xfrm>
            <a:off x="7559040" y="1349161"/>
            <a:ext cx="2331579" cy="925620"/>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Automatic documentation</a:t>
            </a:r>
          </a:p>
          <a:p>
            <a:pPr>
              <a:spcBef>
                <a:spcPts val="0"/>
              </a:spcBef>
              <a:spcAft>
                <a:spcPts val="400"/>
              </a:spcAft>
            </a:pPr>
            <a:r>
              <a:rPr lang="en-SG" sz="1400" b="0" dirty="0">
                <a:solidFill>
                  <a:srgbClr val="273140"/>
                </a:solidFill>
                <a:latin typeface="Calibri"/>
              </a:rPr>
              <a:t>Generate a draft runbook, incident timeline, or change summary from the recognized workflow</a:t>
            </a:r>
            <a:endParaRPr sz="1200" b="0" i="0" dirty="0">
              <a:solidFill>
                <a:srgbClr val="2D3748"/>
              </a:solidFill>
              <a:latin typeface="Calibri"/>
            </a:endParaRPr>
          </a:p>
        </p:txBody>
      </p:sp>
      <p:sp>
        <p:nvSpPr>
          <p:cNvPr id="11" name="Rounded Rectangle 10"/>
          <p:cNvSpPr/>
          <p:nvPr/>
        </p:nvSpPr>
        <p:spPr>
          <a:xfrm>
            <a:off x="636172" y="2923775"/>
            <a:ext cx="4683900" cy="1373751"/>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Oval 11"/>
          <p:cNvSpPr/>
          <p:nvPr/>
        </p:nvSpPr>
        <p:spPr>
          <a:xfrm>
            <a:off x="956212" y="3289536"/>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3" name="Picture 12" descr="db.png"/>
          <p:cNvPicPr>
            <a:picLocks noChangeAspect="1"/>
          </p:cNvPicPr>
          <p:nvPr/>
        </p:nvPicPr>
        <p:blipFill>
          <a:blip r:embed="rId4"/>
          <a:stretch>
            <a:fillRect/>
          </a:stretch>
        </p:blipFill>
        <p:spPr>
          <a:xfrm>
            <a:off x="1173382" y="3506706"/>
            <a:ext cx="434340" cy="434340"/>
          </a:xfrm>
          <a:prstGeom prst="rect">
            <a:avLst/>
          </a:prstGeom>
        </p:spPr>
      </p:pic>
      <p:sp>
        <p:nvSpPr>
          <p:cNvPr id="14" name="TextBox 13"/>
          <p:cNvSpPr txBox="1"/>
          <p:nvPr/>
        </p:nvSpPr>
        <p:spPr>
          <a:xfrm>
            <a:off x="2042062" y="2983757"/>
            <a:ext cx="2446048" cy="1174459"/>
          </a:xfrm>
          <a:prstGeom prst="rect">
            <a:avLst/>
          </a:prstGeom>
          <a:noFill/>
        </p:spPr>
        <p:txBody>
          <a:bodyPr wrap="square" lIns="64008" tIns="32004" rIns="64008" bIns="32004" anchor="t">
            <a:normAutofit fontScale="92500" lnSpcReduction="10000"/>
          </a:bodyPr>
          <a:lstStyle/>
          <a:p>
            <a:pPr>
              <a:spcBef>
                <a:spcPts val="0"/>
              </a:spcBef>
              <a:spcAft>
                <a:spcPts val="400"/>
              </a:spcAft>
            </a:pPr>
            <a:r>
              <a:rPr lang="en-US" sz="1300" b="1" dirty="0">
                <a:solidFill>
                  <a:srgbClr val="273140"/>
                </a:solidFill>
                <a:latin typeface="Calibri"/>
              </a:rPr>
              <a:t>Context-aware assistance</a:t>
            </a:r>
          </a:p>
          <a:p>
            <a:pPr>
              <a:spcBef>
                <a:spcPts val="0"/>
              </a:spcBef>
              <a:spcAft>
                <a:spcPts val="400"/>
              </a:spcAft>
            </a:pPr>
            <a:r>
              <a:rPr lang="en-US" sz="1300" b="0" dirty="0">
                <a:solidFill>
                  <a:srgbClr val="273140"/>
                </a:solidFill>
                <a:latin typeface="Calibri"/>
              </a:rPr>
              <a:t>When the system recognizes a likely error or repeated troubleshooting pattern, it could surface relevant documentation, a prior solution, or a suggested next step. </a:t>
            </a:r>
            <a:endParaRPr lang="en-US" sz="1300" b="0" i="0" dirty="0">
              <a:solidFill>
                <a:srgbClr val="2D3748"/>
              </a:solidFill>
              <a:latin typeface="Calibri"/>
            </a:endParaRPr>
          </a:p>
        </p:txBody>
      </p:sp>
      <p:sp>
        <p:nvSpPr>
          <p:cNvPr id="15" name="Rounded Rectangle 14"/>
          <p:cNvSpPr/>
          <p:nvPr/>
        </p:nvSpPr>
        <p:spPr>
          <a:xfrm>
            <a:off x="6095735" y="2857483"/>
            <a:ext cx="4315785" cy="148590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Oval 15"/>
          <p:cNvSpPr/>
          <p:nvPr/>
        </p:nvSpPr>
        <p:spPr>
          <a:xfrm>
            <a:off x="6415775" y="3177750"/>
            <a:ext cx="624455" cy="677567"/>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descr="sync.png"/>
          <p:cNvPicPr>
            <a:picLocks noChangeAspect="1"/>
          </p:cNvPicPr>
          <p:nvPr/>
        </p:nvPicPr>
        <p:blipFill>
          <a:blip r:embed="rId5"/>
          <a:stretch>
            <a:fillRect/>
          </a:stretch>
        </p:blipFill>
        <p:spPr>
          <a:xfrm>
            <a:off x="6793077" y="4304961"/>
            <a:ext cx="236897" cy="236897"/>
          </a:xfrm>
          <a:prstGeom prst="rect">
            <a:avLst/>
          </a:prstGeom>
        </p:spPr>
      </p:pic>
      <p:sp>
        <p:nvSpPr>
          <p:cNvPr id="18" name="TextBox 17"/>
          <p:cNvSpPr txBox="1"/>
          <p:nvPr/>
        </p:nvSpPr>
        <p:spPr>
          <a:xfrm>
            <a:off x="7155068" y="2871972"/>
            <a:ext cx="2994870" cy="1377684"/>
          </a:xfrm>
          <a:prstGeom prst="rect">
            <a:avLst/>
          </a:prstGeom>
          <a:noFill/>
        </p:spPr>
        <p:txBody>
          <a:bodyPr wrap="square" lIns="64008" tIns="32004" rIns="64008" bIns="32004" anchor="t">
            <a:normAutofit lnSpcReduction="10000"/>
          </a:bodyPr>
          <a:lstStyle/>
          <a:p>
            <a:pPr algn="l">
              <a:spcBef>
                <a:spcPts val="0"/>
              </a:spcBef>
              <a:spcAft>
                <a:spcPts val="400"/>
              </a:spcAft>
            </a:pPr>
            <a:r>
              <a:rPr lang="en-US" sz="1400" b="1" dirty="0">
                <a:solidFill>
                  <a:srgbClr val="273140"/>
                </a:solidFill>
                <a:latin typeface="Calibri"/>
              </a:rPr>
              <a:t>Real Time Activity Analysis</a:t>
            </a:r>
            <a:endParaRPr lang="en-US" sz="1400" b="1" i="0" dirty="0">
              <a:solidFill>
                <a:srgbClr val="1F2937"/>
              </a:solidFill>
              <a:latin typeface="Calibri"/>
            </a:endParaRPr>
          </a:p>
          <a:p>
            <a:pPr>
              <a:spcBef>
                <a:spcPts val="0"/>
              </a:spcBef>
              <a:spcAft>
                <a:spcPts val="400"/>
              </a:spcAft>
            </a:pPr>
            <a:r>
              <a:rPr lang="en-SG" sz="1400" b="0" dirty="0">
                <a:solidFill>
                  <a:srgbClr val="273140"/>
                </a:solidFill>
                <a:latin typeface="Calibri"/>
              </a:rPr>
              <a:t>Process screen frames and interaction events incrementally, identify activities such as editing code, running tests, debugging, or deploying, and update predictions as new evidence arrives.</a:t>
            </a:r>
            <a:endParaRPr lang="en-US" sz="2000" b="0" i="0" dirty="0">
              <a:solidFill>
                <a:srgbClr val="2D3748"/>
              </a:solidFill>
              <a:latin typeface="Calibri"/>
            </a:endParaRPr>
          </a:p>
        </p:txBody>
      </p:sp>
      <p:sp>
        <p:nvSpPr>
          <p:cNvPr id="20" name="Rounded Rectangle 10">
            <a:extLst>
              <a:ext uri="{FF2B5EF4-FFF2-40B4-BE49-F238E27FC236}">
                <a16:creationId xmlns:a16="http://schemas.microsoft.com/office/drawing/2014/main" id="{1547714E-8FFE-C642-856E-C9526B023F48}"/>
              </a:ext>
            </a:extLst>
          </p:cNvPr>
          <p:cNvSpPr/>
          <p:nvPr/>
        </p:nvSpPr>
        <p:spPr>
          <a:xfrm>
            <a:off x="3695193" y="4669824"/>
            <a:ext cx="4233085" cy="132588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lang="en-US" sz="1600" b="1" dirty="0">
                <a:solidFill>
                  <a:srgbClr val="273140"/>
                </a:solidFill>
                <a:latin typeface="Calibri"/>
              </a:rPr>
              <a:t>Compliance and audit</a:t>
            </a:r>
          </a:p>
          <a:p>
            <a:pPr algn="ctr">
              <a:spcBef>
                <a:spcPts val="0"/>
              </a:spcBef>
              <a:spcAft>
                <a:spcPts val="400"/>
              </a:spcAft>
            </a:pPr>
            <a:r>
              <a:rPr lang="en-US" sz="1600" b="1" dirty="0">
                <a:solidFill>
                  <a:srgbClr val="273140"/>
                </a:solidFill>
                <a:latin typeface="Calibri"/>
              </a:rPr>
              <a:t> </a:t>
            </a:r>
            <a:r>
              <a:rPr lang="en-US" sz="1600" b="0" dirty="0">
                <a:solidFill>
                  <a:srgbClr val="273140"/>
                </a:solidFill>
                <a:latin typeface="Calibri"/>
              </a:rPr>
              <a:t>Create reviewable timelines of operational actions, subject to consent, access controls, and appropriate redaction</a:t>
            </a:r>
            <a:endParaRPr lang="en-US" sz="1400" dirty="0">
              <a:solidFill>
                <a:schemeClr val="tx1"/>
              </a:solidFill>
            </a:endParaRPr>
          </a:p>
        </p:txBody>
      </p:sp>
      <p:pic>
        <p:nvPicPr>
          <p:cNvPr id="23" name="Picture 22" descr="chip.png">
            <a:extLst>
              <a:ext uri="{FF2B5EF4-FFF2-40B4-BE49-F238E27FC236}">
                <a16:creationId xmlns:a16="http://schemas.microsoft.com/office/drawing/2014/main" id="{9F07E8F5-5A88-520A-6526-7082157E19CB}"/>
              </a:ext>
            </a:extLst>
          </p:cNvPr>
          <p:cNvPicPr>
            <a:picLocks noChangeAspect="1"/>
          </p:cNvPicPr>
          <p:nvPr/>
        </p:nvPicPr>
        <p:blipFill>
          <a:blip r:embed="rId3"/>
          <a:stretch>
            <a:fillRect/>
          </a:stretch>
        </p:blipFill>
        <p:spPr>
          <a:xfrm>
            <a:off x="6510832" y="3303045"/>
            <a:ext cx="434340" cy="434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Upload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1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Drop a screen recording. Nothing else is asked for.</a:t>
            </a:r>
          </a:p>
        </p:txBody>
      </p:sp>
      <p:pic>
        <p:nvPicPr>
          <p:cNvPr id="6" name="Picture 5" descr="01_upload.png"/>
          <p:cNvPicPr>
            <a:picLocks noChangeAspect="1"/>
          </p:cNvPicPr>
          <p:nvPr/>
        </p:nvPicPr>
        <p:blipFill>
          <a:blip r:embed="rId2"/>
          <a:stretch>
            <a:fillRect/>
          </a:stretch>
        </p:blipFill>
        <p:spPr>
          <a:xfrm>
            <a:off x="1089339" y="1572768"/>
            <a:ext cx="10010273" cy="4846320"/>
          </a:xfrm>
          <a:prstGeom prst="rect">
            <a:avLst/>
          </a:prstGeom>
        </p:spPr>
      </p:pic>
      <p:sp>
        <p:nvSpPr>
          <p:cNvPr id="7" name="Rounded Rectangle 6"/>
          <p:cNvSpPr/>
          <p:nvPr/>
        </p:nvSpPr>
        <p:spPr>
          <a:xfrm>
            <a:off x="1089339" y="1572768"/>
            <a:ext cx="10010273"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The application running on feat/frontend; the analysis is its built-in mock, so figures are placeholders.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70A07C-552D-4166-F477-C84592C8C2A0}"/>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AE94846-2251-0121-1975-A1A61F04E994}"/>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a:extLst>
              <a:ext uri="{FF2B5EF4-FFF2-40B4-BE49-F238E27FC236}">
                <a16:creationId xmlns:a16="http://schemas.microsoft.com/office/drawing/2014/main" id="{1793C54C-FC8E-9665-1A5E-FD43D514E199}"/>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0C2E0C3E-1E2C-A709-148E-D23B53395D35}"/>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30B36D0A-CD1B-1441-2C7D-543483BA0CDC}"/>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a:extLst>
              <a:ext uri="{FF2B5EF4-FFF2-40B4-BE49-F238E27FC236}">
                <a16:creationId xmlns:a16="http://schemas.microsoft.com/office/drawing/2014/main" id="{75F79C0A-EA01-1D81-2A91-6A9364B6CD8C}"/>
              </a:ext>
            </a:extLst>
          </p:cNvPr>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a:extLst>
              <a:ext uri="{FF2B5EF4-FFF2-40B4-BE49-F238E27FC236}">
                <a16:creationId xmlns:a16="http://schemas.microsoft.com/office/drawing/2014/main" id="{C4EC705C-55BE-3037-004C-D58EB0C01D66}"/>
              </a:ext>
            </a:extLst>
          </p:cNvPr>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07856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FD7C6-98EB-AEA6-7A35-694E1AA10DE3}"/>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FECED45-7A8D-0F83-63C5-58321F22CDB9}"/>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a:extLst>
              <a:ext uri="{FF2B5EF4-FFF2-40B4-BE49-F238E27FC236}">
                <a16:creationId xmlns:a16="http://schemas.microsoft.com/office/drawing/2014/main" id="{14108F81-B2EF-0510-B3DF-442ADA43FC3A}"/>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635F22D7-2D08-E7D8-400B-BCF443629FC0}"/>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1A2B0235-6C88-07C9-D6E7-E97248F2D799}"/>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a:extLst>
              <a:ext uri="{FF2B5EF4-FFF2-40B4-BE49-F238E27FC236}">
                <a16:creationId xmlns:a16="http://schemas.microsoft.com/office/drawing/2014/main" id="{B9E43646-47BA-CC14-15B0-261E5658EB6B}"/>
              </a:ext>
            </a:extLst>
          </p:cNvPr>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a:extLst>
              <a:ext uri="{FF2B5EF4-FFF2-40B4-BE49-F238E27FC236}">
                <a16:creationId xmlns:a16="http://schemas.microsoft.com/office/drawing/2014/main" id="{6B7D5684-3B4D-C27E-44E1-FFF8D613A5BE}"/>
              </a:ext>
            </a:extLst>
          </p:cNvPr>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788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The SOP report</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4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The recording becomes a numbered procedure.</a:t>
            </a:r>
          </a:p>
        </p:txBody>
      </p:sp>
      <p:pic>
        <p:nvPicPr>
          <p:cNvPr id="6" name="Picture 5" descr="04_report.png"/>
          <p:cNvPicPr>
            <a:picLocks noChangeAspect="1"/>
          </p:cNvPicPr>
          <p:nvPr/>
        </p:nvPicPr>
        <p:blipFill>
          <a:blip r:embed="rId2"/>
          <a:stretch>
            <a:fillRect/>
          </a:stretch>
        </p:blipFill>
        <p:spPr>
          <a:xfrm>
            <a:off x="1512500" y="1572768"/>
            <a:ext cx="9163950" cy="4846320"/>
          </a:xfrm>
          <a:prstGeom prst="rect">
            <a:avLst/>
          </a:prstGeom>
        </p:spPr>
      </p:pic>
      <p:sp>
        <p:nvSpPr>
          <p:cNvPr id="7" name="Rounded Rectangle 6"/>
          <p:cNvSpPr/>
          <p:nvPr/>
        </p:nvSpPr>
        <p:spPr>
          <a:xfrm>
            <a:off x="1512500" y="1572768"/>
            <a:ext cx="9163950"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Seven steps in all, each carrying the timestamps it was read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History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5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Every recording analysed so far, with the label it was given.</a:t>
            </a:r>
          </a:p>
        </p:txBody>
      </p:sp>
      <p:pic>
        <p:nvPicPr>
          <p:cNvPr id="6" name="Picture 5" descr="05_history.png"/>
          <p:cNvPicPr>
            <a:picLocks noChangeAspect="1"/>
          </p:cNvPicPr>
          <p:nvPr/>
        </p:nvPicPr>
        <p:blipFill>
          <a:blip r:embed="rId2"/>
          <a:stretch>
            <a:fillRect/>
          </a:stretch>
        </p:blipFill>
        <p:spPr>
          <a:xfrm>
            <a:off x="956685" y="1572768"/>
            <a:ext cx="10275581" cy="4846320"/>
          </a:xfrm>
          <a:prstGeom prst="rect">
            <a:avLst/>
          </a:prstGeom>
        </p:spPr>
      </p:pic>
      <p:sp>
        <p:nvSpPr>
          <p:cNvPr id="7" name="Rounded Rectangle 6"/>
          <p:cNvSpPr/>
          <p:nvPr/>
        </p:nvSpPr>
        <p:spPr>
          <a:xfrm>
            <a:off x="956685" y="1572768"/>
            <a:ext cx="10275581"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Dashboard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6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How many recordings, which labels, average confidence.</a:t>
            </a:r>
          </a:p>
        </p:txBody>
      </p:sp>
      <p:pic>
        <p:nvPicPr>
          <p:cNvPr id="6" name="Picture 5" descr="06_dashboard.png"/>
          <p:cNvPicPr>
            <a:picLocks noChangeAspect="1"/>
          </p:cNvPicPr>
          <p:nvPr/>
        </p:nvPicPr>
        <p:blipFill>
          <a:blip r:embed="rId2"/>
          <a:stretch>
            <a:fillRect/>
          </a:stretch>
        </p:blipFill>
        <p:spPr>
          <a:xfrm>
            <a:off x="1044202" y="1572768"/>
            <a:ext cx="10100546" cy="4846320"/>
          </a:xfrm>
          <a:prstGeom prst="rect">
            <a:avLst/>
          </a:prstGeom>
        </p:spPr>
      </p:pic>
      <p:sp>
        <p:nvSpPr>
          <p:cNvPr id="7" name="Rounded Rectangle 6"/>
          <p:cNvSpPr/>
          <p:nvPr/>
        </p:nvSpPr>
        <p:spPr>
          <a:xfrm>
            <a:off x="1044202" y="1572768"/>
            <a:ext cx="1010054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9249" y="721453"/>
            <a:ext cx="11094415" cy="457200"/>
          </a:xfrm>
          <a:prstGeom prst="rect">
            <a:avLst/>
          </a:prstGeom>
          <a:noFill/>
        </p:spPr>
        <p:txBody>
          <a:bodyPr wrap="square" lIns="64008" tIns="32004" rIns="64008" bIns="32004" anchor="t">
            <a:noAutofit/>
          </a:bodyPr>
          <a:lstStyle/>
          <a:p>
            <a:pPr algn="ctr">
              <a:spcBef>
                <a:spcPts val="0"/>
              </a:spcBef>
              <a:spcAft>
                <a:spcPts val="400"/>
              </a:spcAft>
            </a:pPr>
            <a:r>
              <a:rPr sz="4700" b="1" i="0" dirty="0">
                <a:solidFill>
                  <a:srgbClr val="FFFFFF"/>
                </a:solidFill>
                <a:latin typeface="Calibri"/>
              </a:rPr>
              <a:t>Thank You</a:t>
            </a:r>
          </a:p>
        </p:txBody>
      </p:sp>
      <p:sp>
        <p:nvSpPr>
          <p:cNvPr id="4" name="TextBox 3"/>
          <p:cNvSpPr txBox="1"/>
          <p:nvPr/>
        </p:nvSpPr>
        <p:spPr>
          <a:xfrm>
            <a:off x="548640" y="4114800"/>
            <a:ext cx="11094415" cy="457200"/>
          </a:xfrm>
          <a:prstGeom prst="rect">
            <a:avLst/>
          </a:prstGeom>
          <a:noFill/>
        </p:spPr>
        <p:txBody>
          <a:bodyPr wrap="square" lIns="0" tIns="0" rIns="0" bIns="0" anchor="t"/>
          <a:lstStyle/>
          <a:p>
            <a:pPr algn="ctr"/>
            <a:endParaRPr sz="2200" b="0" i="0">
              <a:solidFill>
                <a:srgbClr val="FFFFFF"/>
              </a:solidFill>
              <a:latin typeface="Calibri"/>
            </a:endParaRPr>
          </a:p>
        </p:txBody>
      </p:sp>
      <p:sp>
        <p:nvSpPr>
          <p:cNvPr id="5" name="TextBox 4"/>
          <p:cNvSpPr txBox="1"/>
          <p:nvPr/>
        </p:nvSpPr>
        <p:spPr>
          <a:xfrm>
            <a:off x="548639" y="4642168"/>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dirty="0">
                <a:solidFill>
                  <a:srgbClr val="F5A800"/>
                </a:solidFill>
                <a:latin typeface="Calibri"/>
              </a:rPr>
              <a:t>github.com/laxmi1707/PatternRecognSystem-Video2Text</a:t>
            </a:r>
          </a:p>
        </p:txBody>
      </p:sp>
      <p:sp>
        <p:nvSpPr>
          <p:cNvPr id="6" name="TextBox 5">
            <a:extLst>
              <a:ext uri="{FF2B5EF4-FFF2-40B4-BE49-F238E27FC236}">
                <a16:creationId xmlns:a16="http://schemas.microsoft.com/office/drawing/2014/main" id="{A6255704-AAF7-166C-1CF5-BB56186DBD6B}"/>
              </a:ext>
            </a:extLst>
          </p:cNvPr>
          <p:cNvSpPr txBox="1"/>
          <p:nvPr/>
        </p:nvSpPr>
        <p:spPr>
          <a:xfrm>
            <a:off x="1395449" y="2240869"/>
            <a:ext cx="7164198" cy="1477328"/>
          </a:xfrm>
          <a:prstGeom prst="rect">
            <a:avLst/>
          </a:prstGeom>
          <a:noFill/>
        </p:spPr>
        <p:txBody>
          <a:bodyPr wrap="square" rtlCol="0">
            <a:spAutoFit/>
          </a:bodyPr>
          <a:lstStyle/>
          <a:p>
            <a:r>
              <a:rPr lang="en-US" b="1" dirty="0">
                <a:solidFill>
                  <a:srgbClr val="FFFFFF"/>
                </a:solidFill>
              </a:rPr>
              <a:t>Group Members (name, Student ID): </a:t>
            </a:r>
            <a:endParaRPr lang="en-SG" dirty="0">
              <a:solidFill>
                <a:schemeClr val="bg1"/>
              </a:solidFill>
            </a:endParaRPr>
          </a:p>
          <a:p>
            <a:r>
              <a:rPr lang="en-US" dirty="0">
                <a:solidFill>
                  <a:srgbClr val="FFFFFF"/>
                </a:solidFill>
              </a:rPr>
              <a:t>1. Lakshmi Barthwal Chamoli (A0340664E)</a:t>
            </a:r>
            <a:endParaRPr lang="en-SG" dirty="0">
              <a:solidFill>
                <a:schemeClr val="bg1"/>
              </a:solidFill>
            </a:endParaRPr>
          </a:p>
          <a:p>
            <a:r>
              <a:rPr lang="en-US" dirty="0">
                <a:solidFill>
                  <a:srgbClr val="FFFFFF"/>
                </a:solidFill>
              </a:rPr>
              <a:t>2. Yuan Zilin (A0283899Y) </a:t>
            </a:r>
            <a:endParaRPr lang="en-SG" dirty="0">
              <a:solidFill>
                <a:schemeClr val="bg1"/>
              </a:solidFill>
            </a:endParaRPr>
          </a:p>
          <a:p>
            <a:r>
              <a:rPr lang="en-US" dirty="0">
                <a:solidFill>
                  <a:srgbClr val="FFFFFF"/>
                </a:solidFill>
              </a:rPr>
              <a:t>3. Stalin Sagayaraj (A0340115X)</a:t>
            </a:r>
            <a:endParaRPr lang="en-SG" dirty="0">
              <a:solidFill>
                <a:schemeClr val="bg1"/>
              </a:solidFill>
            </a:endParaRPr>
          </a:p>
          <a:p>
            <a:r>
              <a:rPr lang="en-US" dirty="0">
                <a:solidFill>
                  <a:srgbClr val="FFFFFF"/>
                </a:solidFill>
              </a:rPr>
              <a:t>4. Muthaiah Muneeswaran (A0019650J)</a:t>
            </a:r>
            <a:endParaRPr lang="en-SG"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54864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References</a:t>
            </a:r>
            <a:endParaRPr lang="en-US" sz="4267"/>
          </a:p>
        </p:txBody>
      </p:sp>
      <p:sp>
        <p:nvSpPr>
          <p:cNvPr id="3" name="Text 1"/>
          <p:cNvSpPr txBox="1"/>
          <p:nvPr/>
        </p:nvSpPr>
        <p:spPr>
          <a:xfrm>
            <a:off x="609600" y="926592"/>
            <a:ext cx="10972800" cy="341376"/>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Full source artefacts for the background incidents (slide 1)</a:t>
            </a:r>
            <a:endParaRPr lang="en-US" sz="1733"/>
          </a:p>
        </p:txBody>
      </p:sp>
      <p:sp>
        <p:nvSpPr>
          <p:cNvPr id="4" name="Text 2"/>
          <p:cNvSpPr txBox="1"/>
          <p:nvPr/>
        </p:nvSpPr>
        <p:spPr>
          <a:xfrm>
            <a:off x="609600" y="1438656"/>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5B677A"/>
                </a:solidFill>
                <a:latin typeface="Calibri" pitchFamily="34" charset="0"/>
                <a:ea typeface="Calibri" pitchFamily="34" charset="-122"/>
                <a:cs typeface="Calibri" pitchFamily="34" charset="-120"/>
              </a:rPr>
              <a:t>CNA — primary report. Singapore/NCS case, S$918,000 loss.</a:t>
            </a:r>
            <a:endParaRPr lang="en-US" sz="1667"/>
          </a:p>
        </p:txBody>
      </p:sp>
      <p:sp>
        <p:nvSpPr>
          <p:cNvPr id="5" name="Text 3">
            <a:hlinkClick r:id="rId3" tooltip="https://www.channelnewsasia.com/singapore/former-employee-hack-ncs-delete-virtual-servers-quality-testing-4402141"/>
          </p:cNvPr>
          <p:cNvSpPr txBox="1"/>
          <p:nvPr/>
        </p:nvSpPr>
        <p:spPr>
          <a:xfrm>
            <a:off x="609600" y="1840992"/>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https://www.channelnewsasia.com/singapore/former-employee-hack-ncs-delete-virtual-servers-quality-testing-4402141</a:t>
            </a:r>
            <a:endParaRPr lang="en-US" sz="1267"/>
          </a:p>
        </p:txBody>
      </p:sp>
      <p:sp>
        <p:nvSpPr>
          <p:cNvPr id="6" name="Text 4"/>
          <p:cNvSpPr txBox="1"/>
          <p:nvPr/>
        </p:nvSpPr>
        <p:spPr>
          <a:xfrm>
            <a:off x="609600" y="23896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DataBreaches.net — secondary coverage of the CNA report.</a:t>
            </a:r>
            <a:endParaRPr lang="en-US" sz="1667"/>
          </a:p>
        </p:txBody>
      </p:sp>
      <p:sp>
        <p:nvSpPr>
          <p:cNvPr id="7" name="Text 5">
            <a:hlinkClick r:id="rId4" tooltip="https://databreaches.net/2024/06/14/insider-threat-months-after-being-fired-former-employee-accessed-companys-computer-test-system-and-deleted-servers-causing-it-to-lose-s918000/"/>
          </p:cNvPr>
          <p:cNvSpPr txBox="1"/>
          <p:nvPr/>
        </p:nvSpPr>
        <p:spPr>
          <a:xfrm>
            <a:off x="609600" y="27919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https://databreaches.net/2024/06/14/insider-threat-months-after-being-fired-former-employee-accessed-companys-computer-test-system-and-deleted-servers-causing-it-to-lose-s918000/</a:t>
            </a:r>
            <a:endParaRPr lang="en-US" sz="1267"/>
          </a:p>
        </p:txBody>
      </p:sp>
      <p:sp>
        <p:nvSpPr>
          <p:cNvPr id="8" name="Text 6"/>
          <p:cNvSpPr txBox="1"/>
          <p:nvPr/>
        </p:nvSpPr>
        <p:spPr>
          <a:xfrm>
            <a:off x="609600" y="36088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TechRadar Pro — secondary coverage, NCS case.</a:t>
            </a:r>
            <a:endParaRPr lang="en-US" sz="1667"/>
          </a:p>
        </p:txBody>
      </p:sp>
      <p:sp>
        <p:nvSpPr>
          <p:cNvPr id="9" name="Text 7">
            <a:hlinkClick r:id="rId5" tooltip="https://www.techradar.com/pro/security/ex-employee-of-major-south-east-asian-it-firm-jailed-after-he-brings-down-its-test-servers-with-scripts-found-on-google"/>
          </p:cNvPr>
          <p:cNvSpPr txBox="1"/>
          <p:nvPr/>
        </p:nvSpPr>
        <p:spPr>
          <a:xfrm>
            <a:off x="609600" y="40111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https://www.techradar.com/pro/security/ex-employee-of-major-south-east-asian-it-firm-jailed-after-he-brings-down-its-test-servers-with-scripts-found-on-google</a:t>
            </a:r>
            <a:endParaRPr lang="en-US" sz="1267"/>
          </a:p>
        </p:txBody>
      </p:sp>
      <p:sp>
        <p:nvSpPr>
          <p:cNvPr id="10" name="Text 8"/>
          <p:cNvSpPr txBox="1"/>
          <p:nvPr/>
        </p:nvSpPr>
        <p:spPr>
          <a:xfrm>
            <a:off x="609600" y="48280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CSO Online — original report, US/Pratt-Read case (site not directly fetchable; cited via G5 below).</a:t>
            </a:r>
            <a:endParaRPr lang="en-US" sz="1667"/>
          </a:p>
        </p:txBody>
      </p:sp>
      <p:sp>
        <p:nvSpPr>
          <p:cNvPr id="11" name="Text 9">
            <a:hlinkClick r:id="rId6" tooltip="https://www.csoonline.com/article/2123366/former-worker-sentenced-for-wrecking-servers.html"/>
          </p:cNvPr>
          <p:cNvSpPr txBox="1"/>
          <p:nvPr/>
        </p:nvSpPr>
        <p:spPr>
          <a:xfrm>
            <a:off x="609600" y="5230368"/>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6" tooltip="https://www.csoonline.com/article/2123366/former-worker-sentenced-for-wrecking-servers.html">
                  <a:extLst>
                    <a:ext uri="{A12FA001-AC4F-418D-AE19-62706E023703}">
                      <ahyp:hlinkClr xmlns:ahyp="http://schemas.microsoft.com/office/drawing/2018/hyperlinkcolor" val="tx"/>
                    </a:ext>
                  </a:extLst>
                </a:hlinkClick>
              </a:rPr>
              <a:t>https://www.csoonline.com/article/2123366/former-worker-sentenced-for-wrecking-servers.html</a:t>
            </a:r>
            <a:endParaRPr lang="en-US" sz="1267"/>
          </a:p>
        </p:txBody>
      </p:sp>
      <p:sp>
        <p:nvSpPr>
          <p:cNvPr id="12" name="Text 10"/>
          <p:cNvSpPr txBox="1"/>
          <p:nvPr/>
        </p:nvSpPr>
        <p:spPr>
          <a:xfrm>
            <a:off x="609600" y="5779008"/>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G5 Cyber Security — reproduces the CSO Online report, US/Pratt-Read case.</a:t>
            </a:r>
            <a:endParaRPr lang="en-US" sz="1667"/>
          </a:p>
        </p:txBody>
      </p:sp>
      <p:sp>
        <p:nvSpPr>
          <p:cNvPr id="13" name="Text 11">
            <a:hlinkClick r:id="rId7" tooltip="https://blog.g5cybersecurity.com/former-worker-sentenced-for-wrecking-servers/"/>
          </p:cNvPr>
          <p:cNvSpPr txBox="1"/>
          <p:nvPr/>
        </p:nvSpPr>
        <p:spPr>
          <a:xfrm>
            <a:off x="609600" y="6181344"/>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7" tooltip="https://blog.g5cybersecurity.com/former-worker-sentenced-for-wrecking-servers/">
                  <a:extLst>
                    <a:ext uri="{A12FA001-AC4F-418D-AE19-62706E023703}">
                      <ahyp:hlinkClr xmlns:ahyp="http://schemas.microsoft.com/office/drawing/2018/hyperlinkcolor" val="tx"/>
                    </a:ext>
                  </a:extLst>
                </a:hlinkClick>
              </a:rPr>
              <a:t>https://blog.g5cybersecurity.com/former-worker-sentenced-for-wrecking-servers/</a:t>
            </a:r>
            <a:endParaRPr lang="en-US" sz="1267"/>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E07757A5-5ABB-1578-4622-2B0B32EF4146}"/>
              </a:ext>
            </a:extLst>
          </p:cNvPr>
          <p:cNvSpPr txBox="1"/>
          <p:nvPr/>
        </p:nvSpPr>
        <p:spPr>
          <a:xfrm>
            <a:off x="3951214" y="2181138"/>
            <a:ext cx="6459523" cy="1015663"/>
          </a:xfrm>
          <a:prstGeom prst="rect">
            <a:avLst/>
          </a:prstGeom>
          <a:noFill/>
        </p:spPr>
        <p:txBody>
          <a:bodyPr wrap="square" rtlCol="0">
            <a:spAutoFit/>
          </a:bodyPr>
          <a:lstStyle/>
          <a:p>
            <a:r>
              <a:rPr lang="en-SG" sz="6000" dirty="0">
                <a:solidFill>
                  <a:srgbClr val="FFFFFF"/>
                </a:solidFill>
              </a:rPr>
              <a:t>Appendix</a:t>
            </a:r>
          </a:p>
        </p:txBody>
      </p:sp>
    </p:spTree>
    <p:extLst>
      <p:ext uri="{BB962C8B-B14F-4D97-AF65-F5344CB8AC3E}">
        <p14:creationId xmlns:p14="http://schemas.microsoft.com/office/powerpoint/2010/main" val="392738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6143E9-8C70-3CDB-2676-C7BCBFCCDFF3}"/>
              </a:ext>
            </a:extLst>
          </p:cNvPr>
          <p:cNvSpPr txBox="1"/>
          <p:nvPr/>
        </p:nvSpPr>
        <p:spPr>
          <a:xfrm>
            <a:off x="775063" y="592184"/>
            <a:ext cx="11016343" cy="2585323"/>
          </a:xfrm>
          <a:prstGeom prst="rect">
            <a:avLst/>
          </a:prstGeom>
          <a:noFill/>
        </p:spPr>
        <p:txBody>
          <a:bodyPr wrap="square">
            <a:spAutoFit/>
          </a:bodyPr>
          <a:lstStyle/>
          <a:p>
            <a:pPr>
              <a:buNone/>
            </a:pPr>
            <a:r>
              <a:rPr lang="en-SG" b="1" dirty="0">
                <a:effectLst/>
              </a:rPr>
              <a:t>AI Tool Declaration:</a:t>
            </a:r>
            <a:endParaRPr lang="en-SG" dirty="0"/>
          </a:p>
          <a:p>
            <a:pPr>
              <a:buNone/>
            </a:pPr>
            <a:r>
              <a:rPr lang="en-SG" dirty="0"/>
              <a:t>Figures: TRACE system architecture and pattern-recognition landscape diagrams, created by the project team with generative-AI assistance.</a:t>
            </a:r>
          </a:p>
          <a:p>
            <a:pPr>
              <a:buNone/>
            </a:pPr>
            <a:r>
              <a:rPr lang="en-SG" dirty="0"/>
              <a:t> </a:t>
            </a:r>
          </a:p>
          <a:p>
            <a:pPr>
              <a:buNone/>
            </a:pPr>
            <a:r>
              <a:rPr lang="en-SG" dirty="0"/>
              <a:t>The project team also used Claude Code (</a:t>
            </a:r>
            <a:r>
              <a:rPr lang="en-SG" dirty="0" err="1"/>
              <a:t>Opu</a:t>
            </a:r>
            <a:r>
              <a:rPr lang="en-SG" dirty="0"/>
              <a:t> 4.6 ), ChatGPT, Gemini to support project ideation, review the proposed technical approach, improve the clarity and structure of selected sections, and assist with document formatting and refinement. The project team reviewed and revised the generated suggestions and is responsible for the final project presentation, technical decisions, implementation, evaluation, content, and quality of the submitted work.</a:t>
            </a:r>
          </a:p>
        </p:txBody>
      </p:sp>
    </p:spTree>
    <p:extLst>
      <p:ext uri="{BB962C8B-B14F-4D97-AF65-F5344CB8AC3E}">
        <p14:creationId xmlns:p14="http://schemas.microsoft.com/office/powerpoint/2010/main" val="234229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A57"/>
      </a:dk2>
      <a:lt2>
        <a:srgbClr val="F2F5F9"/>
      </a:lt2>
      <a:accent1>
        <a:srgbClr val="003D7C"/>
      </a:accent1>
      <a:accent2>
        <a:srgbClr val="EF7C00"/>
      </a:accent2>
      <a:accent3>
        <a:srgbClr val="0E9384"/>
      </a:accent3>
      <a:accent4>
        <a:srgbClr val="5B4B9A"/>
      </a:accent4>
      <a:accent5>
        <a:srgbClr val="0077C8"/>
      </a:accent5>
      <a:accent6>
        <a:srgbClr val="F5A800"/>
      </a:accent6>
      <a:hlink>
        <a:srgbClr val="0057B8"/>
      </a:hlink>
      <a:folHlink>
        <a:srgbClr val="5B4B9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4199</Words>
  <Application>Microsoft Office PowerPoint</Application>
  <PresentationFormat>Widescreen</PresentationFormat>
  <Paragraphs>849</Paragraphs>
  <Slides>43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Video2Knowledge — Presentation (Consistent Formatting)</dc:title>
  <dc:subject>Unified typography, alignment, and color system</dc:subject>
  <dc:creator>Lakshmi Barthwal</dc:creator>
  <cp:keywords/>
  <dc:description>generated using python-pptx</dc:description>
  <cp:lastModifiedBy>Muneeswaran Muthaiah</cp:lastModifiedBy>
  <cp:revision>16</cp:revision>
  <dcterms:created xsi:type="dcterms:W3CDTF">2013-01-27T09:14:16Z</dcterms:created>
  <dcterms:modified xsi:type="dcterms:W3CDTF">2026-09-29T13:39:23Z</dcterms:modified>
  <cp:category/>
</cp:coreProperties>
</file>