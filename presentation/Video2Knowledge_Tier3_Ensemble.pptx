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Tier 3: Ensemble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Combining multiple models for better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Ensembles?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7C00"/>
                </a:solidFill>
                <a:latin typeface="Calibri"/>
              </a:defRPr>
            </a:pPr>
            <a:r>
              <a:t>Different models make different mistakes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920240"/>
            <a:ext cx="237744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8A745"/>
                </a:solidFill>
                <a:latin typeface="Calibri"/>
              </a:defRPr>
            </a:pPr>
            <a:r>
              <a:t>Good at: git_ops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2233"/>
                </a:solidFill>
                <a:latin typeface="Calibri"/>
              </a:defRPr>
            </a:pPr>
            <a:r>
              <a:t>Bad at: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920240"/>
            <a:ext cx="237744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8A745"/>
                </a:solidFill>
                <a:latin typeface="Calibri"/>
              </a:defRPr>
            </a:pPr>
            <a:r>
              <a:t>Good at: coding_editing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2233"/>
                </a:solidFill>
                <a:latin typeface="Calibri"/>
              </a:defRPr>
            </a:pPr>
            <a:r>
              <a:t>Bad at: debugging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237744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8A745"/>
                </a:solidFill>
                <a:latin typeface="Calibri"/>
              </a:defRPr>
            </a:pPr>
            <a:r>
              <a:t>Good at: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2233"/>
                </a:solidFill>
                <a:latin typeface="Calibri"/>
              </a:defRPr>
            </a:pPr>
            <a:r>
              <a:t>Bad at: git_ops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920240"/>
            <a:ext cx="237744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8A745"/>
                </a:solidFill>
                <a:latin typeface="Calibri"/>
              </a:defRPr>
            </a:pPr>
            <a:r>
              <a:t>Good at: ALL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7C00"/>
                </a:solidFill>
                <a:latin typeface="Calibri"/>
              </a:defRPr>
            </a:pPr>
            <a:r>
              <a:t>By combining diverse models, errors cancel 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389120"/>
            <a:ext cx="9144000" cy="109728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8A745"/>
                </a:solidFill>
              </a:defRPr>
            </a:pPr>
            <a:r>
              <a:t>The wisdom of crowds — multiple imperfect models &gt; one "perfect"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3 Ensemble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320040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Voting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7C00"/>
                </a:solidFill>
                <a:latin typeface="Calibri"/>
              </a:defRPr>
            </a:pPr>
            <a:r>
              <a:t>Average the predictions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(simplest)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 Models: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429000"/>
            <a:ext cx="283464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SVM + Random Forest + MLP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188720"/>
            <a:ext cx="320040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7C00"/>
                </a:solidFill>
                <a:latin typeface="Calibri"/>
              </a:defRPr>
            </a:pPr>
            <a:r>
              <a:t>Learn WHICH model to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(smartest)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 Models: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429000"/>
            <a:ext cx="283464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SVM + Random Forest +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F42C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617720"/>
            <a:ext cx="265176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Meta-learner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200400" cy="64008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Late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7C00"/>
                </a:solidFill>
                <a:latin typeface="Calibri"/>
              </a:defRPr>
            </a:pPr>
            <a:r>
              <a:t>Different models see</a:t>
            </a:r>
            <a:br/>
            <a:r>
              <a:t>different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(most specialized)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Base Models: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29000"/>
            <a:ext cx="283464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SVM (OCR+UI) +</a:t>
            </a:r>
            <a:br/>
            <a:r>
              <a:t>Random Forest (Visual+Interaction)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343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F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617720"/>
            <a:ext cx="265176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Meta-learner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Voting Classifier (Soft Voting)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Averages probability outputs from 3 base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737360"/>
            <a:ext cx="109728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SVM 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[0.72, 0.05, 0.03, ..., 0.08]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(72% git_ops)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194560"/>
            <a:ext cx="109728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Random Forest output: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[0.89, 0.03, 0.01, ..., 0.02]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Calibri"/>
              </a:defRPr>
            </a:pPr>
            <a:r>
              <a:t>(89% git_ops)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651760"/>
            <a:ext cx="109728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MLP output: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[0.45, 0.35, 0.05, ..., 0.05]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42C1"/>
                </a:solidFill>
                <a:latin typeface="Calibri"/>
              </a:defRPr>
            </a:pPr>
            <a:r>
              <a:t>(45% git_ops)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154680"/>
            <a:ext cx="9144000" cy="2743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3291840"/>
            <a:ext cx="109728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Average: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onsolas"/>
              </a:defRPr>
            </a:pPr>
            <a:r>
              <a:t>[0.69, 0.14, 0.03, ..., 0.05]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3246120"/>
            <a:ext cx="32004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"git_operations" (69%)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931920"/>
            <a:ext cx="5029200" cy="457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ACC"/>
                </a:solidFill>
              </a:defRPr>
            </a:pPr>
            <a:r>
              <a:t>Soft voting = weighted average of probabilities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931920"/>
            <a:ext cx="5029200" cy="457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Hard voting = majority vote on labels (not used here)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663440"/>
            <a:ext cx="5029200" cy="13716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Simple, no additional training needed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Robust to individual model failures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Fast to implement and 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663440"/>
            <a:ext cx="5029200" cy="13716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Treats all models equally (even bad ones)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Cannot learn per-class model trust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Limited by weakest model's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Stacking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Uses a META-LEARNER that learns which base model to trust for each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737360"/>
            <a:ext cx="5029200" cy="301752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22860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1: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1. Each base model makes predictions on training data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2. Base model probabilities become NEW features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 for the meta-learner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3. Meta-learner (Logistic Regression) trains 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 these "meta-features"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114800"/>
            <a:ext cx="438912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models × 9 classes = 27 meta-features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737360"/>
            <a:ext cx="5029200" cy="3017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1828800"/>
            <a:ext cx="22860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2: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1. New video → 3 base models produce probabilities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2. Probabilities fed to meta-learner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3. Meta-learner → final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474720"/>
            <a:ext cx="43891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Meta-learner learns: Trust RF for git_ops, trust MLP for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5029200"/>
            <a:ext cx="5029200" cy="10058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Learns optimal model weighting per class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Best F1 in our results (0.189)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Can correct systematic model biases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029200"/>
            <a:ext cx="5029200" cy="10058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Slower inference (6951ms)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Risk of overfitting on small meta-feature set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Requires careful cross-validation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Late Fusion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Each base model gets a DIFFERENT SUBSET of features (multimodal fusion)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828800"/>
            <a:ext cx="4754880" cy="18288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920240"/>
            <a:ext cx="27432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Branch 1: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Gets features [0–74] = OCR (50) + UI (25)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926080"/>
            <a:ext cx="4297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007ACC"/>
                </a:solidFill>
              </a:defRPr>
            </a:pPr>
            <a:r>
              <a:t>"Reads the screen"</a:t>
            </a:r>
            <a:br/>
            <a:r>
              <a:t>Specializes in TEXT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32004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Branch 2: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t>Gets features [75–149] = Visual (40) + Interaction (35)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926080"/>
            <a:ext cx="4846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EF7C00"/>
                </a:solidFill>
              </a:defRPr>
            </a:pPr>
            <a:r>
              <a:t>"Watches behavior"</a:t>
            </a:r>
            <a:br/>
            <a:r>
              <a:t>Specializes in VISUAL + BEHAVIORAL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A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7C0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114800"/>
            <a:ext cx="59436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Meta-learner combines both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is powerful: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12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Simulates how humans process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ACC"/>
                </a:solidFill>
                <a:latin typeface="Calibri"/>
              </a:defRPr>
            </a:pPr>
            <a:r>
              <a:t>•  One model specializes in TEXT understanding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Another model specializes in VISUAL + BEHAVIORAL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A745"/>
                </a:solidFill>
                <a:latin typeface="Calibri"/>
              </a:defRPr>
            </a:pPr>
            <a:r>
              <a:t>•  Meta-learner fuses both perspectives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Tiers Connect — Full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63040"/>
            <a:ext cx="1828800" cy="640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150-dim</a:t>
            </a:r>
            <a:br/>
            <a:r>
              <a:t>Feature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743200" cy="16459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56032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1: Classical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37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SVM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Random Forest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Naive Bayes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Decision Tree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KNN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XGBoost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017520"/>
            <a:ext cx="2743200" cy="128016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3108960"/>
            <a:ext cx="256032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2: 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MLP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CNN-1D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LSTM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77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Selected</a:t>
            </a:r>
            <a:br/>
            <a:r>
              <a:t>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463040"/>
            <a:ext cx="2743200" cy="283464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0" y="1554480"/>
            <a:ext cx="256032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3: 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Voting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SVM + RF + MLP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Stacking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SVM + RF + MLP → Meta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Late Fusion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D2D2D"/>
                </a:solidFill>
                <a:latin typeface="Calibri"/>
              </a:defRPr>
            </a:pPr>
            <a:r>
              <a:t>  SVM + RF →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463040"/>
            <a:ext cx="1828800" cy="28346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14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286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Best model selected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Ranked by accuracy,</a:t>
            </a:r>
            <a:br/>
            <a:r>
              <a:t>F1, and 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4846320"/>
            <a:ext cx="9144000" cy="9144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7C00"/>
                </a:solidFill>
              </a:defRPr>
            </a:pPr>
            <a:r>
              <a:t>Tier 3 DEPENDS on Tier 1 and Tier 2 being trained first</a:t>
            </a:r>
            <a:br/>
            <a:r>
              <a:t>Ensemble models use base model predictions as their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3 Results &amp;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188720"/>
            <a:ext cx="201168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234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14630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4630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14630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188720"/>
            <a:ext cx="256032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1645920"/>
            <a:ext cx="201168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Voting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6459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0.573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6459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0.107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459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6198ms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1645920"/>
            <a:ext cx="256032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1188720" y="2103120"/>
            <a:ext cx="20116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Stacking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103120"/>
            <a:ext cx="146304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0.566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103120"/>
            <a:ext cx="146304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0.189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103120"/>
            <a:ext cx="146304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148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6951ms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103120"/>
            <a:ext cx="25603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2148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BEST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2560320"/>
            <a:ext cx="201168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2606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Late Fusion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25603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0.568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5603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0.186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560320"/>
            <a:ext cx="146304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  <a:r>
              <a:t>2551ms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560320"/>
            <a:ext cx="2560320" cy="45720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7C00"/>
                </a:solidFill>
                <a:latin typeface="Calibr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1143000" y="2103120"/>
            <a:ext cx="4572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88720" y="4023360"/>
            <a:ext cx="4572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4069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Stacking achieved the best F1 score of all 14 models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8720" y="4617720"/>
            <a:ext cx="4572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Late Fusion offers the best balance of accuracy and speed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212080"/>
            <a:ext cx="4572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Ensembles consistently outperform individual models on F1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0" y="5669280"/>
            <a:ext cx="9144000" cy="4572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8A745"/>
                </a:solidFill>
              </a:defRPr>
            </a:pPr>
            <a:r>
              <a:t>Ensemble methods prove that combining diverse classifiers improves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