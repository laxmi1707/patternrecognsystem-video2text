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Tier 3: Ensemble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Combining multiple models for better predictions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4114800"/>
            <a:ext cx="2743200" cy="54864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Why Ensembles?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Different models make different mistakes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5176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8A745"/>
                </a:solidFill>
                <a:latin typeface="Calibri"/>
              </a:defRPr>
            </a:pPr>
            <a:r>
              <a:t>Good at: git_ops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C3545"/>
                </a:solidFill>
                <a:latin typeface="Calibri"/>
              </a:defRPr>
            </a:pPr>
            <a:r>
              <a:t>Bad at: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011680"/>
            <a:ext cx="265176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8A745"/>
                </a:solidFill>
                <a:latin typeface="Calibri"/>
              </a:defRPr>
            </a:pPr>
            <a:r>
              <a:t>Good at: coding_editing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063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C3545"/>
                </a:solidFill>
                <a:latin typeface="Calibri"/>
              </a:defRPr>
            </a:pPr>
            <a:r>
              <a:t>Bad at: debugging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651760" cy="5486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8A745"/>
                </a:solidFill>
                <a:latin typeface="Calibri"/>
              </a:defRPr>
            </a:pPr>
            <a:r>
              <a:t>Good at: 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63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C3545"/>
                </a:solidFill>
                <a:latin typeface="Calibri"/>
              </a:defRPr>
            </a:pPr>
            <a:r>
              <a:t>Bad at: git_ops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5176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Combined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8A745"/>
                </a:solidFill>
                <a:latin typeface="Calibri"/>
              </a:defRPr>
            </a:pPr>
            <a:r>
              <a:t>Good at: ALL categories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By combining diverse models, errors cancel 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144000" cy="10972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28A745"/>
                </a:solidFill>
              </a:defRPr>
            </a:pPr>
            <a:r>
              <a:t>The wisdom of crowds — multiple imperfect models &gt; one "perfect"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The 3 Ensemble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365760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Voting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D2D2D"/>
                </a:solidFill>
                <a:latin typeface="Calibri"/>
              </a:defRPr>
            </a:pPr>
            <a:r>
              <a:t>Average the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(simplest)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2D"/>
                </a:solidFill>
                <a:latin typeface="Calibri"/>
              </a:defRPr>
            </a:pPr>
            <a:r>
              <a:t>Base Models: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11880"/>
            <a:ext cx="3291840" cy="914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SVM + Random Forest + MLP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59" y="1371600"/>
            <a:ext cx="365760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Stacking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39" y="2148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D2D2D"/>
                </a:solidFill>
                <a:latin typeface="Calibri"/>
              </a:defRPr>
            </a:pPr>
            <a:r>
              <a:t>Learn WHICH model to 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39" y="2743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(smartest)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39" y="3291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2D"/>
                </a:solidFill>
                <a:latin typeface="Calibri"/>
              </a:defRPr>
            </a:pPr>
            <a:r>
              <a:t>Base Models: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39" y="3611880"/>
            <a:ext cx="3291840" cy="914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SVM + Random Forest +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59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F42C1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4800600"/>
            <a:ext cx="27432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Meta-learner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8" y="1371600"/>
            <a:ext cx="3657600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Late 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8" y="2148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D2D2D"/>
                </a:solidFill>
                <a:latin typeface="Calibri"/>
              </a:defRPr>
            </a:pPr>
            <a:r>
              <a:t>Different models see</a:t>
            </a:r>
            <a:br/>
            <a:r>
              <a:t>different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743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(most specialized)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8" y="3291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2D"/>
                </a:solidFill>
                <a:latin typeface="Calibri"/>
              </a:defRPr>
            </a:pPr>
            <a:r>
              <a:t>Base Models: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78" y="3611880"/>
            <a:ext cx="3291840" cy="914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SVM (OCR+UI) +</a:t>
            </a:r>
            <a:br/>
            <a:r>
              <a:t>Random Forest (Visual+Interaction)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8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7C00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798" y="4800600"/>
            <a:ext cx="274320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Meta-learner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Voting Classifier (Soft Voting)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Averages probability outputs from 3 base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9728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SVM 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onsolas"/>
              </a:defRPr>
            </a:pPr>
            <a:r>
              <a:t>[0.72, 0.05, 0.03, ..., 0.08]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alibri"/>
              </a:defRPr>
            </a:pPr>
            <a:r>
              <a:t>(72% git_ops)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109728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Random Forest output: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onsolas"/>
              </a:defRPr>
            </a:pPr>
            <a:r>
              <a:t>[0.89, 0.03, 0.01, ..., 0.02]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A745"/>
                </a:solidFill>
                <a:latin typeface="Calibri"/>
              </a:defRPr>
            </a:pPr>
            <a:r>
              <a:t>(89% git_ops)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109728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MLP output: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onsolas"/>
              </a:defRPr>
            </a:pPr>
            <a:r>
              <a:t>[0.45, 0.35, 0.05, ..., 0.05]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F42C1"/>
                </a:solidFill>
                <a:latin typeface="Calibri"/>
              </a:defRPr>
            </a:pPr>
            <a:r>
              <a:t>(45% git_ops)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246120"/>
            <a:ext cx="914400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383280"/>
            <a:ext cx="109728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Average: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onsolas"/>
              </a:defRPr>
            </a:pPr>
            <a:r>
              <a:t>[0.69, 0.14, 0.03, ..., 0.05]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337560"/>
            <a:ext cx="32004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→ "git_operations" (69%)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14800"/>
            <a:ext cx="5029200" cy="4572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7ACC"/>
                </a:solidFill>
              </a:defRPr>
            </a:pPr>
            <a:r>
              <a:t>Soft voting = weighted average of probabilities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4114800"/>
            <a:ext cx="5029200" cy="4572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Hard voting = majority vote on labels (not used here)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5029200" cy="13716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035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Simple, no additional training needed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Robust to individual model failures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Fast to implement and deploy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4846320"/>
            <a:ext cx="5029200" cy="13716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7C00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3035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Treats all models equally (even bad ones)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Cannot learn per-class model trust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Limited by weakest model's 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Stacking Classifier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Uses a META-LEARNER that learns which base model to trust for each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737360"/>
            <a:ext cx="5669280" cy="301752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1: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1. Each base model makes predictions on training data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2. Base model probabilities become NEW features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   for the meta-learner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3. Meta-learner (Logistic Regression) trains on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   these "meta-features"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50292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 models × 9 classes = 27 meta-features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486400" cy="3017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2: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1. New video → 3 base models produce probabilities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2. Probabilities fed to meta-learner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3. Meta-learner → final 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474720"/>
            <a:ext cx="50292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Meta-learner learns: Trust RF for git_ops, trust MLP for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5029200"/>
            <a:ext cx="5669280" cy="13716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Learns optimal model weighting per class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Best F1 in our results (0.189)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Can correct systematic model biases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7C00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486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Slower inference (6951ms)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Risk of overfitting on small meta-feature set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Requires careful cross-validation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Late Fusion Classifier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Each base model gets a DIFFERENT SUBSET of features (multimodal fusion)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828800"/>
            <a:ext cx="5303520" cy="20116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743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Branch 1: SVM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Gets features [0–74] = OCR (50) + UI (25)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484632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007ACC"/>
                </a:solidFill>
              </a:defRPr>
            </a:pPr>
            <a:r>
              <a:t>"Reads the screen"</a:t>
            </a:r>
            <a:br/>
            <a:r>
              <a:t>Specializes in TEXT understanding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5760720" cy="20116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320040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Branch 2: Random Forest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514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Gets features [75–149] = Visual (40) + Interaction (35)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017520"/>
            <a:ext cx="530352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57C00"/>
                </a:solidFill>
              </a:defRPr>
            </a:pPr>
            <a:r>
              <a:t>"Watches behavior"</a:t>
            </a:r>
            <a:br/>
            <a:r>
              <a:t>Specializes in VISUAL + BEHAVIORAL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AC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57C00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297680"/>
            <a:ext cx="64008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Meta-learner combines both branches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Why this is powerful: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Simulates how humans process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ACC"/>
                </a:solidFill>
                <a:latin typeface="Calibri"/>
              </a:defRPr>
            </a:pPr>
            <a:r>
              <a:t>•  One model specializes in TEXT 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7C00"/>
                </a:solidFill>
                <a:latin typeface="Calibri"/>
              </a:defRPr>
            </a:pPr>
            <a:r>
              <a:t>•  Another model specializes in VISUAL + BEHAVIORAL patterns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217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8A745"/>
                </a:solidFill>
                <a:latin typeface="Calibri"/>
              </a:defRPr>
            </a:pPr>
            <a:r>
              <a:t>•  Meta-learner fuses both perspectives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5029200"/>
            <a:ext cx="2468880" cy="13716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5074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A745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3492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 Modality-specific learning</a:t>
            </a:r>
          </a:p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 Cross-modal patterns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0" y="5029200"/>
            <a:ext cx="2377440" cy="13716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50749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7C00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53492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 Feature split may not be optimal</a:t>
            </a:r>
          </a:p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 Depends on modality boundaries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How Tiers Connect — Full Picture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1828800" cy="64008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150-dim</a:t>
            </a:r>
            <a:br/>
            <a:r>
              <a:t>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83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371600"/>
            <a:ext cx="2743200" cy="1645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0" y="1463040"/>
            <a:ext cx="256032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1: Classical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SVM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Random Forest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Naive Bayes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Decision Tree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KNN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XGBoost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83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3200400"/>
            <a:ext cx="2743200" cy="128016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3291840"/>
            <a:ext cx="256032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2: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7490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MLP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CNN-1D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LSTM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Transformer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20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474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5603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Selected</a:t>
            </a:r>
            <a:br/>
            <a:r>
              <a:t>predictions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1645920"/>
            <a:ext cx="2743200" cy="283464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2160" y="1737360"/>
            <a:ext cx="256032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3: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19456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Voting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  SVM + RF + MLP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Stacking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  SVM + RF + MLP → Meta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Late Fusion</a:t>
            </a:r>
          </a:p>
          <a:p>
            <a:pPr>
              <a:spcAft>
                <a:spcPts val="2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  SVM + RF → Meta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743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1645920"/>
            <a:ext cx="2926080" cy="283464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All 14 predictions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Calibri"/>
              </a:defRPr>
            </a:pPr>
            <a:r>
              <a:t>Best model selected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108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Ranked by accuracy,</a:t>
            </a:r>
            <a:br/>
            <a:r>
              <a:t>F1, and latency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5029200"/>
            <a:ext cx="9144000" cy="9144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7C00"/>
                </a:solidFill>
              </a:defRPr>
            </a:pPr>
            <a:r>
              <a:t>Tier 3 DEPENDS on Tier 1 and Tier 2 being trained first</a:t>
            </a:r>
            <a:br/>
            <a:r>
              <a:t>Ensemble models use base model predictions as their inputs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Tier 3 Results &amp;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28600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164592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164592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F1 Macro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164592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371600"/>
            <a:ext cx="274320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8288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874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Voting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2880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0.573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82880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0.107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82880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6198ms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80" y="182880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1874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731520" y="2286000"/>
            <a:ext cx="22860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286000"/>
            <a:ext cx="164592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0.566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2286000"/>
            <a:ext cx="164592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0.189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286000"/>
            <a:ext cx="164592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6951ms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2286000"/>
            <a:ext cx="27432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8A745"/>
                </a:solidFill>
                <a:latin typeface="Calibri"/>
              </a:defRPr>
            </a:pPr>
            <a:r>
              <a:t>BEST F1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Late Fusion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274320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52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0.568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274320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0.186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74320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2551ms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80" y="274320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528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4" name="Rectangle 43"/>
          <p:cNvSpPr/>
          <p:nvPr/>
        </p:nvSpPr>
        <p:spPr>
          <a:xfrm>
            <a:off x="685800" y="2286000"/>
            <a:ext cx="4572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206240"/>
            <a:ext cx="4572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2519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Stacking achieved the best F1 score of all 14 models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4800600"/>
            <a:ext cx="45720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0" y="4846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Late Fusion offers the best balance of accuracy and speed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5394960"/>
            <a:ext cx="4572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71600" y="54406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Ensembles consistently outperform individual models on F1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371600" y="5760720"/>
            <a:ext cx="9144000" cy="73152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8A745"/>
                </a:solidFill>
              </a:defRPr>
            </a:pPr>
            <a:r>
              <a:t>Ensemble methods prove that combining diverse classifiers improves reliability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