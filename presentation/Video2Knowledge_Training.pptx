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How Model Training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From raw data to trained classifiers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846320"/>
            <a:ext cx="137160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Prep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4846320"/>
            <a:ext cx="137160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Features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846320"/>
            <a:ext cx="137160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4846320"/>
            <a:ext cx="137160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Training Overview — 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End-to-end pipeline from raw dataset to evaluated classifiers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2286000" cy="21945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5920" y="1280160"/>
            <a:ext cx="1371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1945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7C00"/>
                </a:solidFill>
                <a:latin typeface="Calibri"/>
              </a:defRPr>
            </a:pPr>
            <a:r>
              <a:t>Split 9,609 tasks</a:t>
            </a:r>
            <a:br/>
            <a:r>
              <a:t>80% train / 20%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1188720"/>
            <a:ext cx="2286000" cy="219456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60" y="1280160"/>
            <a:ext cx="13716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  <a:latin typeface="Calibri"/>
              </a:defRPr>
            </a:pPr>
            <a:r>
              <a:t>Feature 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21945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7C00"/>
                </a:solidFill>
                <a:latin typeface="Calibri"/>
              </a:defRPr>
            </a:pPr>
            <a:r>
              <a:t>Video + actions</a:t>
            </a:r>
            <a:br/>
            <a:r>
              <a:t>→ 150-dim vectors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188720"/>
            <a:ext cx="2286000" cy="219456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1280160"/>
            <a:ext cx="137160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7C00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1945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7C00"/>
                </a:solidFill>
                <a:latin typeface="Calibri"/>
              </a:defRPr>
            </a:pPr>
            <a:r>
              <a:t>14 models learn</a:t>
            </a:r>
            <a:br/>
            <a:r>
              <a:t>from feature vectors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1188720"/>
            <a:ext cx="2286000" cy="219456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64040" y="1280160"/>
            <a:ext cx="137160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F42C1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19456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7C00"/>
                </a:solidFill>
                <a:latin typeface="Calibri"/>
              </a:defRPr>
            </a:pPr>
            <a:r>
              <a:t>Test set → metrics</a:t>
            </a:r>
            <a:br/>
            <a:r>
              <a:t>→ model comparison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71600" y="3840480"/>
            <a:ext cx="9418320" cy="5486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8A745"/>
                </a:solidFill>
                <a:latin typeface="Courier New"/>
              </a:defRPr>
            </a:pPr>
            <a:r>
              <a:t>$ python -m app.train --dataset-root ./dataset --model-dir ./models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One command trains all 14 models, evaluates on held-out test set, and logs results to MLflow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1 — Data Preparation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Stratified Train/Test Split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201168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9,609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234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097280"/>
            <a:ext cx="22860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7,685 train (80%)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554480"/>
            <a:ext cx="2286000" cy="4114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1,924 test (20%)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194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Label Distribution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2560320"/>
            <a:ext cx="5029200" cy="32004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560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5603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5603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1188720" y="288036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2880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other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880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5,441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880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57%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944368"/>
            <a:ext cx="1097280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88720" y="3154680"/>
            <a:ext cx="5029200" cy="274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3154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coding_editing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154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3,240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154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34%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3218688"/>
            <a:ext cx="653406" cy="146304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" y="342900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documentation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429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3429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4.7%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493008"/>
            <a:ext cx="90549" cy="146304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88720" y="3703320"/>
            <a:ext cx="5029200" cy="274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docker_workflow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3703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3.1%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3767328"/>
            <a:ext cx="60298" cy="14630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88720" y="397764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80160" y="3977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git_operations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3977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3977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0.9%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88720" y="4251960"/>
            <a:ext cx="5029200" cy="274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4251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aws_console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251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4251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0.5%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88720" y="452628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4526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debugging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526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0.4%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8720" y="4800600"/>
            <a:ext cx="5029200" cy="274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kubernetes_ops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6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0.1%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" y="507492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jenkins_ci_cd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5074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056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0.01%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58000" y="1188720"/>
            <a:ext cx="4846320" cy="13716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40880" y="12801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ACC"/>
                </a:solidFill>
                <a:latin typeface="Calibri"/>
              </a:defRPr>
            </a:pPr>
            <a:r>
              <a:t>Stratified Split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164592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Same label proportions in both train and test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Ensures test set is representative of real data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sklearn.model_selection.train_test_split(stratify=y)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0" y="2834640"/>
            <a:ext cx="4846320" cy="128016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0" y="2926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2233"/>
                </a:solidFill>
                <a:latin typeface="Calibri"/>
              </a:defRPr>
            </a:pPr>
            <a:r>
              <a:t>Class Imbalance Problem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0" y="3291840"/>
            <a:ext cx="448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"other" dominates at 57% — model can just predict "other"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jenkins_ci_cd has only 1 sample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Data augmentation applied when &lt; 100 training samples (5x)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58000" y="4389120"/>
            <a:ext cx="4846320" cy="9144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40880" y="44805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A745"/>
                </a:solidFill>
                <a:latin typeface="Calibri"/>
              </a:defRPr>
            </a:pPr>
            <a:r>
              <a:t>Data Augmentation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48463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Classes with &lt; 100 samples get 5x augmentation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Adds noise to feature vectors to create synthetic samples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2 — Feature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Converting raw video + actions into numeric vectors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82880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Video +</a:t>
            </a:r>
            <a:br/>
            <a:r>
              <a:t>action_log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00584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0241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Visual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02412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Frames, UI layout,</a:t>
            </a:r>
            <a:br/>
            <a:r>
              <a:t>screen regions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55448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5727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57276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Text on screen,</a:t>
            </a:r>
            <a:br/>
            <a:r>
              <a:t>command output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210312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21214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12140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Mouse, keyboard,</a:t>
            </a:r>
            <a:br/>
            <a:r>
              <a:t>timing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265176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6700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Action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67004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CLI commands,</a:t>
            </a:r>
            <a:br/>
            <a:r>
              <a:t>file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188720"/>
            <a:ext cx="2011680" cy="9144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150-dim</a:t>
            </a:r>
            <a:br/>
            <a:r>
              <a:t>Feature Vector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2834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Result Matrices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88720" y="3291840"/>
            <a:ext cx="320040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33375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ourier New"/>
              </a:defRPr>
            </a:pPr>
            <a:r>
              <a:t>X_train shape: (7685, 150)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3291840"/>
            <a:ext cx="274320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ourier New"/>
              </a:defRPr>
            </a:pPr>
            <a:r>
              <a:t>y_train shape: (7685,)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23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Sample Row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88720" y="4389120"/>
            <a:ext cx="10058400" cy="7315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448056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X[0] = [0.82, 0.75, 0.03, 0.91, ..., 0.29]   # 150 features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y[0] = 0                                       # git_operations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394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Each row is one task, each column is one feature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This matrix is what every model trains 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0" y="1005840"/>
            <a:ext cx="32004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0" y="10972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4 Extractors → 150 Dimensions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146304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Visual extractor:    ~40 dims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OCR extractor:       ~40 dims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Interaction extractor: ~40 dims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Action log extractor: ~30 dims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---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Total:               150 dims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3a — SVM: Finding the Optimal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Support Vector Machine with RBF kernel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457200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280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2D Visualization (simplified from 150D)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201168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03120" y="246888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20240" y="292608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77440" y="22860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63040" y="265176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94560" y="32004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37360" y="301752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0" y="27432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0" y="338328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68880" y="310896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74720" y="292608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338328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49039" y="365760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114800" y="320040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91840" y="356616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023360" y="384048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66160" y="393192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89120" y="356616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40480" y="411480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06240" y="3840480"/>
            <a:ext cx="164592" cy="164592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1737360"/>
            <a:ext cx="2743200" cy="36576"/>
          </a:xfrm>
          <a:prstGeom prst="rect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011680" y="2194560"/>
            <a:ext cx="274320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0" y="1280160"/>
            <a:ext cx="274320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■ git_ops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■ coding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931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2233"/>
                </a:solidFill>
                <a:latin typeface="Calibri"/>
              </a:defRPr>
            </a:pPr>
            <a:r>
              <a:t>— Decision boundary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Margin = distance between boundary and nearest points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1554480"/>
            <a:ext cx="548640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Maximize Margin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Finds the hyperplane that maximizes the gap between classes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2468880"/>
            <a:ext cx="548640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2514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RBF Kernel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788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K(x,x') = exp(-γ||x-x'||²) — maps to higher dimensions for non-linear boundaries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3383280"/>
            <a:ext cx="548640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429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Support Vectors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703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The boundary points closest to the hyperplane that define the decision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4297680"/>
            <a:ext cx="548640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4343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Multi-class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4617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150-dim space → find separating hyperplanes for all 9 classes (one-vs-one)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5212080"/>
            <a:ext cx="2743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 time: 52.6 seconds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3b — Decision Tree &amp;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Greedy splitting and ensemble aggregation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097280"/>
            <a:ext cx="5029200" cy="47548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188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Greedy recursive splitting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At each node: pick feature + threshold that maximizes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Information Gain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2377440"/>
            <a:ext cx="4663440" cy="4572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2468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IG = Entropy(parent) - Σ(weighted × Entropy(children))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3017520"/>
            <a:ext cx="256032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OCR[3] &gt; 0.5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840480"/>
            <a:ext cx="20116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Mostly: git_ops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3840480"/>
            <a:ext cx="228600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Mostly: coding_editing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747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747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4572000"/>
            <a:ext cx="27432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Training: 0.2 seconds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12064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+ Interpretable: you can read the rules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+ Fastest inference (2ms)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- Prone to overfitting on training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1097280"/>
            <a:ext cx="5029200" cy="47548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188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6459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100 trees, each trained on random bootstrap sample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Each split considers only √150 ≈ 12 random features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Prediction = majority vote of 100 trees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Diversity + aggregation = robustness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834640"/>
            <a:ext cx="73152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2834640"/>
            <a:ext cx="73152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2668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78240" y="2834640"/>
            <a:ext cx="73152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972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2834640"/>
            <a:ext cx="73152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98480" y="2834640"/>
            <a:ext cx="73152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60704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109960" y="329184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CCCCCC"/>
                </a:solidFill>
              </a:defRPr>
            </a:pPr>
            <a:r>
              <a:t>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2926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CCCCC"/>
                </a:solidFill>
                <a:latin typeface="Calibri"/>
              </a:defRPr>
            </a:pPr>
            <a:r>
              <a:t>...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Calibri"/>
              </a:defRPr>
            </a:pPr>
            <a:r>
              <a:t>↓  Majority Vote  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4023360"/>
            <a:ext cx="32004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Final Prediction: coding_editing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4572000"/>
            <a:ext cx="27432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Training: 0.8 seconds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512064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+ Reduces overfitting via bagging (bootstrap aggregation)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+ Handles high-dimensional data well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- Less interpretable than a single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3c — XGBoost: Sequential Error Correction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Gradient Boosted Decision Trees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Boosting Process: Each tree corrects the previous tree's mistakes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64592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167335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Tree₁ predicts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645920"/>
            <a:ext cx="20116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60%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965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2240280"/>
            <a:ext cx="10972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26771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Tree₂ on RESIDUALS of Tree₁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2240280"/>
            <a:ext cx="20116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fixes 20% more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560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8A745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834640"/>
            <a:ext cx="109728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86207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Tree₃ on remaining errors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2834640"/>
            <a:ext cx="201168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fixes 10% more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1546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7C00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8720" y="3429000"/>
            <a:ext cx="1097280" cy="365760"/>
          </a:xfrm>
          <a:prstGeom prst="round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45643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100 rounds 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49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4023360"/>
            <a:ext cx="109728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5079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F(x) = Tree₁ + 0.1×Tree₂ + 0.1×Tree₃ + 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023360"/>
            <a:ext cx="201168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93% correct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663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Formula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8720" y="5029200"/>
            <a:ext cx="5943600" cy="4572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512064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28A745"/>
                </a:solidFill>
                <a:latin typeface="Courier New"/>
              </a:defRPr>
            </a:pPr>
            <a:r>
              <a:t>F_m(x) = F_{m-1}(x) + η × h_m(x)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663440"/>
            <a:ext cx="4114800" cy="1371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47548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Key Parameters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1206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η = 0.1 (learning rate) — small steps prevent overfitting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Regularization Ω(h) penalizes complex trees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100 boosting rounds 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88720" y="5760720"/>
            <a:ext cx="2743200" cy="4114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3.7 seconds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3d — MLP: Forward Pass + Backpropagation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Multi-Layer Perceptron (feed-forward neural network)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828800" cy="7315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Input</a:t>
            </a:r>
            <a:br/>
            <a:r>
              <a:t>150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188720"/>
            <a:ext cx="1828800" cy="7315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Hidden 1</a:t>
            </a:r>
            <a:br/>
            <a:r>
              <a:t>256 neurons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88720"/>
            <a:ext cx="1828800" cy="7315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Hidden 2</a:t>
            </a:r>
            <a:br/>
            <a:r>
              <a:t>128 neurons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188720"/>
            <a:ext cx="1828800" cy="7315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Output</a:t>
            </a:r>
            <a:br/>
            <a:r>
              <a:t>9 classes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39" y="1325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19" y="1325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0999" y="1325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194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Forward Pass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560320"/>
            <a:ext cx="5029200" cy="10058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h₁ = ReLU(W₁·x + b₁)    # 256 neurons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h₂ = ReLU(W₂·h₁ + b₂)   # 128 neurons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ŷ  = Softmax(W₃·h₂ + b₃) # 9 class probs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194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2233"/>
                </a:solidFill>
                <a:latin typeface="Calibri"/>
              </a:defRPr>
            </a:pPr>
            <a:r>
              <a:t>Loss Function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2560320"/>
            <a:ext cx="5029200" cy="4572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6517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CrossEntropy = -log(predicted prob of true class)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Backward Pass (Backpropagation)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566160"/>
            <a:ext cx="5029200" cy="6858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1. Compute gradient ∂Loss/∂W for each layer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2. Update: W = W - learning_rate × gradient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3931920"/>
            <a:ext cx="5029200" cy="1645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40233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7C00"/>
                </a:solidFill>
                <a:latin typeface="Calibri"/>
              </a:defRPr>
            </a:pPr>
            <a:r>
              <a:t>Network Statistics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389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Total parameters: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389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72,448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6177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Layer 1 (150→256):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6177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150×256 + 256 = 38,656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Layer 2 (256→128):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256×128 + 128 = 32,896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074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Layer 3 (128→9):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074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128×9 + 9 = 1,161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572000"/>
            <a:ext cx="5029200" cy="10058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6634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7C00"/>
                </a:solidFill>
                <a:latin typeface="Calibri"/>
              </a:defRPr>
            </a:pPr>
            <a:r>
              <a:t>Training Process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0292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7,685 samples × 50 epochs = 384,250 weight updates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Training time: 14 seconds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3e — LSTM: Learning Sequences with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Long Short-Term Memory recurrent neural network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Input Reshape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55448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(150,) flat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600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1554480"/>
            <a:ext cx="32004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(10 timesteps, 15 features)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86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LSTM Cell: 4 Gates Control Information 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2743200"/>
            <a:ext cx="2560320" cy="137160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2834640"/>
            <a:ext cx="2194560" cy="320040"/>
          </a:xfrm>
          <a:prstGeom prst="roundRect">
            <a:avLst/>
          </a:prstGeom>
          <a:solidFill>
            <a:srgbClr val="CC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Forget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91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f_t = σ(W_f · [h_{t-1}, x_t])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57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What to forget from memory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2743200"/>
            <a:ext cx="2560320" cy="13716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14800" y="2834640"/>
            <a:ext cx="21945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Input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91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i_t = σ(W_i · [h_{t-1}, x_t])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657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What new info to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2743200"/>
            <a:ext cx="2560320" cy="13716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2834640"/>
            <a:ext cx="219456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Cell Update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291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C̃_t = tanh(W_c · [h_{t-1}, x_t])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657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New candidate information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2743200"/>
            <a:ext cx="2560320" cy="137160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01200" y="2834640"/>
            <a:ext cx="219456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Output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291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ourier New"/>
              </a:defRPr>
            </a:pPr>
            <a:r>
              <a:t>o_t = σ(W_o · [h_{t-1}, x_t])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657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What to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389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Cell State Update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88720" y="4754880"/>
            <a:ext cx="7315200" cy="4572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4846320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C_t = f_t ⊙ C_{t-1} + i_t ⊙ C̃_t    # forget old + add new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After 10 steps: final hidden state → Linear(64, 9) →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760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Backpropagation Through Time (BPTT) — gradients flow back through all 10 timesteps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5486400"/>
            <a:ext cx="27432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16 seconds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3f — Transformer: Self-Attention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Learning which feature pairs matter for each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Self-Attention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645920"/>
            <a:ext cx="329184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20240" y="1737360"/>
            <a:ext cx="18288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ourier New"/>
              </a:defRPr>
            </a:pPr>
            <a:r>
              <a:t>Q_i = W_Q · x_i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"What am I looking for?"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645920"/>
            <a:ext cx="3291840" cy="10972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0680" y="1737360"/>
            <a:ext cx="18288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ourier New"/>
              </a:defRPr>
            </a:pPr>
            <a:r>
              <a:t>K_j = W_K · x_j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"What do I contain?"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645920"/>
            <a:ext cx="3291840" cy="10972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61120" y="1737360"/>
            <a:ext cx="182880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ourier New"/>
              </a:defRPr>
            </a:pPr>
            <a:r>
              <a:t>V_j = W_V · x_j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"What do I offer?"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017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Attention Computation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3383280"/>
            <a:ext cx="6400800" cy="7315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347472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8A745"/>
                </a:solidFill>
                <a:latin typeface="Courier New"/>
              </a:defRPr>
            </a:pPr>
            <a:r>
              <a:t>Attention weights: α = softmax(Q·Kᵀ / √d_k)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28A745"/>
                </a:solidFill>
                <a:latin typeface="Courier New"/>
              </a:defRPr>
            </a:pPr>
            <a:r>
              <a:t>Output:           z = α · V   # weighted combination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4389120"/>
            <a:ext cx="1051560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4480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7C00"/>
                </a:solidFill>
                <a:latin typeface="Calibri"/>
              </a:defRPr>
            </a:pPr>
            <a:r>
              <a:t>Example: How Attention Helps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ACC"/>
                </a:solidFill>
                <a:latin typeface="Calibri"/>
              </a:defRPr>
            </a:pPr>
            <a:r>
              <a:t>OCR feature "git" attends to Interaction feature "typing commands" → strong signal for git_operations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212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F7C00"/>
                </a:solidFill>
                <a:latin typeface="Calibri"/>
              </a:defRPr>
            </a:pPr>
            <a:r>
              <a:t>Learns WHICH feature pairs matter for each class — no manual feature engineering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383280"/>
            <a:ext cx="34747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60 seconds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931920"/>
            <a:ext cx="3474720" cy="27432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931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F42C1"/>
                </a:solidFill>
                <a:latin typeface="Calibri"/>
              </a:defRPr>
            </a:pPr>
            <a:r>
              <a:t>2 attention heads, 2 encoder layers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3g — Stacking: Learning Which Model to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Two-phase meta-learning ensemble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Calibri"/>
              </a:defRPr>
            </a:pPr>
            <a:r>
              <a:t>Phase A: Train Base Models on X_train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55448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0" y="1554480"/>
            <a:ext cx="22860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554480"/>
            <a:ext cx="228600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86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Phase B: Each base model predicts on X_train → probability outputs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2651760"/>
            <a:ext cx="22860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SVM → (7685, 9)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0" y="2651760"/>
            <a:ext cx="22860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RF → (7685, 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651760"/>
            <a:ext cx="2286000" cy="4114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MLP → (7685,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651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→ Stack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560320"/>
            <a:ext cx="201168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meta_X</a:t>
            </a:r>
            <a:br/>
            <a:r>
              <a:t>(7685, 27)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F42C1"/>
                </a:solidFill>
                <a:latin typeface="Calibri"/>
              </a:defRPr>
            </a:pPr>
            <a:r>
              <a:t>Phase C: Train LogisticRegression on meta_X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3840480"/>
            <a:ext cx="10515600" cy="146304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Meta-learner discovers which model to trust for each class: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97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ourier New"/>
              </a:defRPr>
            </a:pPr>
            <a:r>
              <a:t>git_operations: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297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7C00"/>
                </a:solidFill>
                <a:latin typeface="Courier New"/>
              </a:defRPr>
            </a:pPr>
            <a:r>
              <a:t>trust RF (0.6) &gt; MLP (0.3) &gt; SVM (0.1)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ourier New"/>
              </a:defRPr>
            </a:pPr>
            <a:r>
              <a:t>coding_editing: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572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7C00"/>
                </a:solidFill>
                <a:latin typeface="Courier New"/>
              </a:defRPr>
            </a:pPr>
            <a:r>
              <a:t>trust SVM (0.5) &gt; RF (0.3) &gt; MLP (0.2)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ourier New"/>
              </a:defRPr>
            </a:pPr>
            <a:r>
              <a:t>documentation: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846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7C00"/>
                </a:solidFill>
                <a:latin typeface="Courier New"/>
              </a:defRPr>
            </a:pPr>
            <a:r>
              <a:t>trust MLP (0.5) &gt; SVM (0.3) &gt; RF (0.2)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5577840"/>
            <a:ext cx="32004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90 seconds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669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Stacking learns to combine strengths of different model families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 4 — How Models Are Evaluated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Testing on held-out data with standardized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228600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X_test (1924, 150)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234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118872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model.predict()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1188720"/>
            <a:ext cx="2286000" cy="5029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y_pred (1924,)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1234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188720"/>
            <a:ext cx="182880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011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Metrics Explained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377440"/>
            <a:ext cx="10515600" cy="77724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2468880"/>
            <a:ext cx="16459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ourier New"/>
              </a:defRPr>
            </a:pPr>
            <a:r>
              <a:t>correct / 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7614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Simple but misleading with imbalanced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3246120"/>
            <a:ext cx="10515600" cy="77724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80160" y="3337560"/>
            <a:ext cx="164592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F1 per Class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ourier New"/>
              </a:defRPr>
            </a:pPr>
            <a:r>
              <a:t>2 × (Precision × Recall) / (Precision + Recall)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630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Balances false positives and false negatives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4114800"/>
            <a:ext cx="10515600" cy="7772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80160" y="4206240"/>
            <a:ext cx="164592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F1 Macro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60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ourier New"/>
              </a:defRPr>
            </a:pPr>
            <a:r>
              <a:t>Average of all 9 class F1 scores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988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PRIMARY METRIC — treats all classes equally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8720" y="5029200"/>
            <a:ext cx="10515600" cy="1097280"/>
          </a:xfrm>
          <a:prstGeom prst="roundRect">
            <a:avLst/>
          </a:prstGeom>
          <a:solidFill>
            <a:srgbClr val="FDE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5120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2233"/>
                </a:solidFill>
                <a:latin typeface="Calibri"/>
              </a:defRPr>
            </a:pPr>
            <a:r>
              <a:t>Why F1 Macro, not Accuracy?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A model always predicting "other" gets 57% accuracy but F1 Macro ≈ 0.06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F1 Macro treats all 9 classes equally — minority classes matter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Latency measured with time.perf_counter() around predict()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Training Results — 14 Models Compared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Sorted by F1 Macro (primary metric)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097280"/>
            <a:ext cx="10515600" cy="36576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1247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1247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1247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1247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1247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F1 Macro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1247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11247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1188720" y="1463040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146304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46304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stacking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1490472"/>
            <a:ext cx="640080" cy="2286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630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4630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EF7C00"/>
                </a:solidFill>
                <a:latin typeface="Calibri"/>
              </a:defRPr>
            </a:pPr>
            <a:r>
              <a:t>0.189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14630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6951ms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1536192"/>
            <a:ext cx="2592324" cy="14630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1755648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175564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175564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late_fusion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0" y="1783080"/>
            <a:ext cx="640080" cy="2286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17556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17556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EF7C00"/>
                </a:solidFill>
                <a:latin typeface="Calibri"/>
              </a:defRPr>
            </a:pPr>
            <a:r>
              <a:t>0.186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17556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2551ms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1828800"/>
            <a:ext cx="2551176" cy="14630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" y="2048256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204825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20482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knn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0" y="2075688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20482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20482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20482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344ms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03920" y="2121408"/>
            <a:ext cx="2263139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88720" y="2340864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80160" y="234086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0" y="234086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decision_tree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0" y="2368296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0.490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2ms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03920" y="2414016"/>
            <a:ext cx="2208276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88720" y="2633472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80160" y="263347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26334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random_forest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57600" y="2660904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60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103ms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03920" y="2706624"/>
            <a:ext cx="2194560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88720" y="2926080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80160" y="292608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45920" y="29260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xgboost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57600" y="2953512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29260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29260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29260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59ms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2999232"/>
            <a:ext cx="2167127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8720" y="3218688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80160" y="321868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45920" y="32186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naive_bayes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0" y="3246120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32186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0.295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2160" y="32186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0.152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0" y="32186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9ms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503920" y="3291840"/>
            <a:ext cx="2084831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88720" y="3511296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80160" y="351129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45920" y="35112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mlp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0" y="3538728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0" y="351129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51129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32320" y="351129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12ms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03920" y="3584448"/>
            <a:ext cx="2029967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188720" y="3803904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80160" y="380390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8039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svm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0" y="3831336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0.558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5216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1392ms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03920" y="3877056"/>
            <a:ext cx="2002535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88720" y="4096512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80160" y="40965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5920" y="409651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transformer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657600" y="4123944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40965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60" y="40965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0.142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32320" y="40965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18ms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503920" y="4169664"/>
            <a:ext cx="1947671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88720" y="4389120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280160" y="438912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5920" y="43891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lstm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657600" y="4416552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72000" y="4389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60" y="4389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0.140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132320" y="4389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15ms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503920" y="4462272"/>
            <a:ext cx="1920240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88720" y="4681728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80160" y="468172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45920" y="46817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lightgbm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657600" y="4709160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0" y="46817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0.574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60" y="46817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0.137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32320" y="46817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37ms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503920" y="4754880"/>
            <a:ext cx="1879092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88720" y="4974336"/>
            <a:ext cx="10515600" cy="292608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280160" y="497433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45920" y="497433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cnn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657600" y="5001768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72000" y="4974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0.530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852160" y="4974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0.131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132320" y="4974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10ms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503920" y="5047488"/>
            <a:ext cx="1796796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188720" y="5266944"/>
            <a:ext cx="1051560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280160" y="526694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45920" y="526694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ourier New"/>
              </a:defRPr>
            </a:pPr>
            <a:r>
              <a:t>logistic_reg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657600" y="5294376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72000" y="526694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0.549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852160" y="526694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0.128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0" y="526694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503920" y="5340096"/>
            <a:ext cx="1755648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88720" y="5394960"/>
            <a:ext cx="109728" cy="18288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417320" y="537667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Ensembles achieve best F1 — combining models reduces errors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88720" y="5669280"/>
            <a:ext cx="109728" cy="18288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17320" y="565099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XGBoost has best raw accuracy but lower F1 (biased toward majority class)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188720" y="5943600"/>
            <a:ext cx="109728" cy="182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417320" y="592531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Decision Tree is fastest (2ms) — good for real-time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188720" y="6217920"/>
            <a:ext cx="109728" cy="18288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17320" y="619963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Deep learning didn't outperform classical ML with engineered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Trained Models → .pkl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What gets saved after training completes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models/ directory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600200"/>
            <a:ext cx="5029200" cy="32004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600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600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1920240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1920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svm.pkl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19202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~2.1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920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Support vectors + kernel params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2176272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21762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naive_bayes.pkl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1762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~15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1762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Class priors + likelihoods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2432304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24323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decision_tree.pkl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4323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~180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4323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Tree structure + thresholds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2688336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26883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random_forest.pkl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26883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~12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6883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100 tree structures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2944368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29443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knn.pkl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944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~8.5 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29443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Full training data (lazy learner)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88720" y="3200400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32004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xgboost.pkl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2004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~1.2 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2004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100 boosted trees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88720" y="3456432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0" y="34564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lightgbm.pkl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345643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~900 KB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34564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Gradient boosted trees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88720" y="3712464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0160" y="371246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logistic_reg.pkl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7124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~12 KB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371246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Weight matrix (150 x 9)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88720" y="3968496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80160" y="39684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mlp.pkl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39684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~350 KB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9684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72,448 learned weights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88720" y="4224528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80160" y="42245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lstm.pkl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4224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~500 KB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42245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Gate weights + cell states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88720" y="4480560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80160" y="44805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cnn.pkl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91840" y="448056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~280 KB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44805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Conv filters + FC weights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88720" y="4736592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0160" y="47365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transformer.pkl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736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~600 KB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97680" y="47365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Attention weights + FFN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88720" y="4992624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0160" y="49926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stacking.pkl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91840" y="49926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~15 MB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80" y="49926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Base models + meta-learner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88720" y="5248656"/>
            <a:ext cx="5029200" cy="25603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80160" y="524865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late_fusion.pkl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91840" y="52486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CCCCCC"/>
                </a:solidFill>
                <a:latin typeface="Calibri"/>
              </a:defRPr>
            </a:pPr>
            <a:r>
              <a:t>~10 MB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524865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alibri"/>
              </a:defRPr>
            </a:pPr>
            <a:r>
              <a:t>Base models + fusion weights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58000" y="1188720"/>
            <a:ext cx="484632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40880" y="12801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alibri"/>
              </a:defRPr>
            </a:pPr>
            <a:r>
              <a:t>Each .pkl contains the learned weights/parameters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40880" y="164592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7C00"/>
                </a:solidFill>
                <a:latin typeface="Calibri"/>
              </a:defRPr>
            </a:pPr>
            <a:r>
              <a:t>Backend loads these on startup — no retraining needed. Inference uses the saved model directly.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27432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End-to-End Flow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8000" y="3200400"/>
            <a:ext cx="109728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train.py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8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38160" y="3200400"/>
            <a:ext cx="109728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models/*.pkl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3544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18320" y="3200400"/>
            <a:ext cx="1097280" cy="6400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ml_service loads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1560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698480" y="3200400"/>
            <a:ext cx="109728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Ready for</a:t>
            </a:r>
            <a:br/>
            <a:r>
              <a:t>Inference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858000" y="4114800"/>
            <a:ext cx="4846320" cy="20116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40880" y="42062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7C00"/>
                </a:solidFill>
                <a:latin typeface="Calibri"/>
              </a:defRPr>
            </a:pPr>
            <a:r>
              <a:t>What's Inside a .pkl?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40880" y="4572000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Serialized with Python's pickle / joblib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Contains: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- Model architecture &amp; hyperparameters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- Trained weights / learned parameters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- Feature scaler (if applicable)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  - Label encoder mapping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F7C00"/>
                </a:solidFill>
                <a:latin typeface="Courier New"/>
              </a:defRPr>
            </a:pPr>
            <a:r>
              <a:t>Load: model = joblib.load('models/svm.pkl')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