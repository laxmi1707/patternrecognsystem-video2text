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How Model Training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From raw data to trained classifiers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4023360"/>
            <a:ext cx="3657600" cy="36576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4846320"/>
            <a:ext cx="137160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Prep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4846320"/>
            <a:ext cx="137160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4846320"/>
            <a:ext cx="137160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4846320"/>
            <a:ext cx="137160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Training Overview — 4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End-to-end pipeline from raw dataset to evaluated classifiers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2468880" cy="21945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554480"/>
            <a:ext cx="13716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Data Preparation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Split 9,609 tasks</a:t>
            </a:r>
            <a:br/>
            <a:r>
              <a:t>80% train / 20%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63040"/>
            <a:ext cx="2468880" cy="219456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77640" y="1554480"/>
            <a:ext cx="13716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  <a:latin typeface="Calibri"/>
              </a:defRPr>
            </a:pPr>
            <a:r>
              <a:t>Feature Extraction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468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2D2D"/>
                </a:solidFill>
                <a:latin typeface="Calibri"/>
              </a:defRPr>
            </a:pPr>
            <a:r>
              <a:t>Video + actions</a:t>
            </a:r>
            <a:br/>
            <a:r>
              <a:t>→ 150-dim vectors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463040"/>
            <a:ext cx="2468880" cy="219456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1554480"/>
            <a:ext cx="13716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11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7C00"/>
                </a:solidFill>
                <a:latin typeface="Calibri"/>
              </a:defRPr>
            </a:pPr>
            <a:r>
              <a:t>Model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68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14 models learn</a:t>
            </a:r>
            <a:br/>
            <a:r>
              <a:t>from feature vectors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5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463040"/>
            <a:ext cx="2468880" cy="219456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738360" y="1554480"/>
            <a:ext cx="137160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011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F42C1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468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 set → metrics</a:t>
            </a:r>
            <a:br/>
            <a:r>
              <a:t>→ model comparison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71600" y="4114800"/>
            <a:ext cx="9418320" cy="5486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08760" y="4206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28A745"/>
                </a:solidFill>
                <a:latin typeface="Courier New"/>
              </a:defRPr>
            </a:pPr>
            <a:r>
              <a:t>$ python -m app.train --dataset-root ./dataset --model-dir ./models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One command trains all 14 models, evaluates on held-out test set, and logs results to MLflow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1 — Data Preparation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Stratified Train/Test Split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011680" cy="5486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9,609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2860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7,685 train (80%)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737360"/>
            <a:ext cx="2286000" cy="4114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1,924 test (20%)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Label Distribution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5029200" cy="3200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Label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432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7432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432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731520" y="306324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063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other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063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5,441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063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3127248"/>
            <a:ext cx="1097280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337560"/>
            <a:ext cx="50292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337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coding_editing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3375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3,240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0" y="3401568"/>
            <a:ext cx="653406" cy="146304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361188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611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documentation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611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449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3611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4.7%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3675888"/>
            <a:ext cx="90549" cy="146304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3886200"/>
            <a:ext cx="50292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886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docker_workflow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299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3886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3.1%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0" y="3950208"/>
            <a:ext cx="60298" cy="146304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" y="416052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160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git_operations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23360" y="4160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0.9%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4434840"/>
            <a:ext cx="50292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434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aws_console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434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4434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0.5%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" y="470916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47091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debugging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0" y="4709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360" y="4709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0.4%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4983480"/>
            <a:ext cx="502920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49834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kubernetes_ops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360" y="49834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0.1%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5257800"/>
            <a:ext cx="5029200" cy="2743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" y="5257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jenkins_ci_cd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43200" y="5257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0" y="5257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0.01%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83680" y="1371600"/>
            <a:ext cx="4846320" cy="13716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14630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ACC"/>
                </a:solidFill>
                <a:latin typeface="Calibri"/>
              </a:defRPr>
            </a:pPr>
            <a:r>
              <a:t>Stratified Split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66560" y="182880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Same label proportions in both train and test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Ensures test set is representative of real data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sklearn.model_selection.train_test_split(stratify=y)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3017520"/>
            <a:ext cx="4846320" cy="128016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66560" y="310896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C3545"/>
                </a:solidFill>
                <a:latin typeface="Calibri"/>
              </a:defRPr>
            </a:pPr>
            <a:r>
              <a:t>Class Imbalance Problem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0" y="3474720"/>
            <a:ext cx="4480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"other" dominates at 57% — model can just predict "other"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jenkins_ci_cd has only 1 sample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Data augmentation applied when &lt; 100 training samples (5x)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583680" y="4572000"/>
            <a:ext cx="4846320" cy="9144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0" y="4663440"/>
            <a:ext cx="4480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A745"/>
                </a:solidFill>
                <a:latin typeface="Calibri"/>
              </a:defRPr>
            </a:pPr>
            <a:r>
              <a:t>Data Augmentation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66560" y="50292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Classes with &lt; 100 samples get 5x augmentation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Adds noise to feature vectors to create synthetic samples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2 — Feature Extraction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Converting raw video + actions into numeric vectors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1828800" cy="9144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Video +</a:t>
            </a:r>
            <a:br/>
            <a:r>
              <a:t>action_log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28016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2984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Visual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29844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Frames, UI layout,</a:t>
            </a:r>
            <a:br/>
            <a:r>
              <a:t>screen regions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182880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8470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4708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Text on screen,</a:t>
            </a:r>
            <a:br/>
            <a:r>
              <a:t>command output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37744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23957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39572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Mouse, keyboard,</a:t>
            </a:r>
            <a:br/>
            <a:r>
              <a:t>timing patterns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292608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29443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Action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944368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Calibri"/>
              </a:defRPr>
            </a:pPr>
            <a:r>
              <a:t>CLI commands,</a:t>
            </a:r>
            <a:br/>
            <a:r>
              <a:t>file operations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16916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463040"/>
            <a:ext cx="2011680" cy="9144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150-dim</a:t>
            </a:r>
            <a:br/>
            <a:r>
              <a:t>Feature Vector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08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Result Matrices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566160"/>
            <a:ext cx="320040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611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ourier New"/>
              </a:defRPr>
            </a:pPr>
            <a:r>
              <a:t>X_train shape: (7685, 150)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3566160"/>
            <a:ext cx="2743200" cy="50292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36118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ourier New"/>
              </a:defRPr>
            </a:pPr>
            <a:r>
              <a:t>y_train shape: (7685,)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297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Sample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663440"/>
            <a:ext cx="10515600" cy="7315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7548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X[0] = [0.82, 0.75, 0.03, 0.91, ..., 0.29]   # 150 features</a:t>
            </a:r>
          </a:p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y[0] = 0                                       # git_operations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692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Each row is one task, each column is one feature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This matrix is what every model trains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1280160"/>
            <a:ext cx="3657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4 Extractors → 150 Dimensions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173736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Visual extractor:    ~40 dims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OCR extractor:       ~40 dims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Interaction extractor: ~40 dims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Action log extractor: ~30 dims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---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Total:               150 dims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3a — SVM: Finding the Optimal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Support Vector Machine with RBF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57200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2D Visualization (simplified from 150D)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2860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7432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45920" y="32004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256032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92608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920240" y="347472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63040" y="329184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301752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37360" y="365760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194560" y="3383280"/>
            <a:ext cx="164592" cy="164592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00400" y="320040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0" y="365760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4720" y="393192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840480" y="347472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17520" y="384048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749039" y="411480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91840" y="420624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800" y="384048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566160" y="438912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1920" y="4114800"/>
            <a:ext cx="164592" cy="164592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011680" y="2011680"/>
            <a:ext cx="2743200" cy="36576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737360" y="2468880"/>
            <a:ext cx="274320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86000" y="1554480"/>
            <a:ext cx="2743200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alibri"/>
              </a:defRPr>
            </a:pPr>
            <a:r>
              <a:t>■ git_ops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57C00"/>
                </a:solidFill>
                <a:latin typeface="Calibri"/>
              </a:defRPr>
            </a:pPr>
            <a:r>
              <a:t>■ coding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206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C3545"/>
                </a:solidFill>
                <a:latin typeface="Calibri"/>
              </a:defRPr>
            </a:pPr>
            <a:r>
              <a:t>— Decision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Margin = distance between boundary and nearest points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Key Concepts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60720" y="1828800"/>
            <a:ext cx="566928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18745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Maximize Margin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21488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Finds the hyperplane that maximizes the gap between classes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60720" y="2743200"/>
            <a:ext cx="566928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27889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RBF Kernel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30632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K(x,x') = exp(-γ||x-x'||²) — maps to higher dimensions for non-linear boundaries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60720" y="3657600"/>
            <a:ext cx="566928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703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Support Vectors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9776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The boundary points closest to the hyperplane that define the decision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60720" y="4572000"/>
            <a:ext cx="5669280" cy="8229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4617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7ACC"/>
                </a:solidFill>
                <a:latin typeface="Calibri"/>
              </a:defRPr>
            </a:pPr>
            <a:r>
              <a:t>Multi-class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892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150-dim space → find separating hyperplanes for all 9 classes (one-vs-one)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5486400"/>
            <a:ext cx="27432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 time: 52.6 seconds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3b — Decision Tree &amp; Random Forest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Greedy splitting and ensemble aggregation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486400" cy="493776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ACC"/>
                </a:solidFill>
                <a:latin typeface="Calibri"/>
              </a:defRPr>
            </a:pPr>
            <a:r>
              <a:t>Decision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Greedy recursive splitting</a:t>
            </a:r>
          </a:p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At each node: pick feature + threshold that maximizes</a:t>
            </a:r>
          </a:p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Information Gain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60320"/>
            <a:ext cx="5120640" cy="457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517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28A745"/>
                </a:solidFill>
                <a:latin typeface="Courier New"/>
              </a:defRPr>
            </a:pPr>
            <a:r>
              <a:t>IG = Entropy(parent) - Σ(weighted × Entropy(children))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3200400"/>
            <a:ext cx="256032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OCR[3] &gt; 0.5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20116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Mostly: git_ops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023360"/>
            <a:ext cx="228600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Mostly: coding_editing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611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Calibri"/>
              </a:defRPr>
            </a:pPr>
            <a:r>
              <a:t>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611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Calibri"/>
              </a:defRPr>
            </a:pPr>
            <a:r>
              <a:t>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6576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8A745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6576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57C00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54880"/>
            <a:ext cx="27432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Training: 0.2 seconds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035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+ Interpretable: you can read the rules</a:t>
            </a:r>
          </a:p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+ Fastest inference (2ms)</a:t>
            </a:r>
          </a:p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- Prone to overfitting on training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280160"/>
            <a:ext cx="5486400" cy="493776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8A745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82880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100 trees, each trained on random bootstrap sample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Each split considers only √150 ≈ 12 random features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Prediction = majority vote of 100 trees</a:t>
            </a:r>
          </a:p>
          <a:p>
            <a:pPr>
              <a:spcAft>
                <a:spcPts val="6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Diversity + aggregation = robustness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017520"/>
            <a:ext cx="73152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9516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3017520"/>
            <a:ext cx="73152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3017520"/>
            <a:ext cx="73152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64040" y="3017520"/>
            <a:ext cx="73152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7260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7552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4160" y="3017520"/>
            <a:ext cx="73152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Tree 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3272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35640" y="3474720"/>
            <a:ext cx="411480" cy="228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0">
                <a:solidFill>
                  <a:srgbClr val="666666"/>
                </a:solidFill>
              </a:defRPr>
            </a:pPr>
            <a:r>
              <a:t>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310896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66666"/>
                </a:solidFill>
                <a:latin typeface="Calibri"/>
              </a:defRPr>
            </a:pPr>
            <a:r>
              <a:t>...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840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8A745"/>
                </a:solidFill>
                <a:latin typeface="Calibri"/>
              </a:defRPr>
            </a:pPr>
            <a:r>
              <a:t>↓  Majority Vote  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4206240"/>
            <a:ext cx="32004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Final Prediction: coding_editing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754880"/>
            <a:ext cx="27432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Training: 0.8 seconds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30352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+ Reduces overfitting via bagging (bootstrap aggregation)</a:t>
            </a:r>
          </a:p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+ Handles high-dimensional data well</a:t>
            </a:r>
          </a:p>
          <a:p>
            <a:pPr>
              <a:spcAft>
                <a:spcPts val="4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- Less interpretable than a single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3c — XGBoost: Sequential Error Correction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Gradient Boosted Decision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Boosting Process: Each tree corrects the previous tree's mistakes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972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5623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Tree₁ predicts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828800"/>
            <a:ext cx="2011680" cy="36576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60% correct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488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7ACC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23160"/>
            <a:ext cx="10972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45059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Tree₂ on RESIDUALS of Tree₁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423160"/>
            <a:ext cx="2011680" cy="36576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fixes 20%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8A745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17520"/>
            <a:ext cx="109728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Round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04495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Tree₃ on remaining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017520"/>
            <a:ext cx="2011680" cy="36576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fixes 10% more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337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57C00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611880"/>
            <a:ext cx="1097280" cy="36576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63931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100 rounds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931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66666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109728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233672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F(x) = Tree₁ + 0.1×Tree₂ + 0.1×Tree₃ + ...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4206240"/>
            <a:ext cx="2011680" cy="36576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93% correct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Key Formula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212080"/>
            <a:ext cx="5943600" cy="457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28A745"/>
                </a:solidFill>
                <a:latin typeface="Courier New"/>
              </a:defRPr>
            </a:pPr>
            <a:r>
              <a:t>F_m(x) = F_{m-1}(x) + η × h_m(x)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0" y="4846320"/>
            <a:ext cx="4297680" cy="13716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493776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Key Parameters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30352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η = 0.1 (learning rate) — small steps prevent overfitting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Regularization Ω(h) penalizes complex trees</a:t>
            </a:r>
          </a:p>
          <a:p>
            <a:pPr>
              <a:spcAft>
                <a:spcPts val="500"/>
              </a:spcAft>
              <a:defRPr sz="1100">
                <a:solidFill>
                  <a:srgbClr val="2D2D2D"/>
                </a:solidFill>
                <a:latin typeface="Calibri"/>
              </a:defRPr>
            </a:pPr>
            <a:r>
              <a:t>100 boosting rounds total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943600"/>
            <a:ext cx="2743200" cy="4114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3.7 seconds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3d — MLP: Forward Pass + Backpropagation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Multi-Layer Perceptron (feed-forward neural network)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828800" cy="7315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Input</a:t>
            </a:r>
            <a:br/>
            <a:r>
              <a:t>150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371600"/>
            <a:ext cx="1828800" cy="7315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Hidden 1</a:t>
            </a:r>
            <a:br/>
            <a:r>
              <a:t>256 neurons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1828800" cy="7315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Hidden 2</a:t>
            </a:r>
            <a:br/>
            <a:r>
              <a:t>128 neurons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71600"/>
            <a:ext cx="1828800" cy="7315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Output</a:t>
            </a:r>
            <a:br/>
            <a:r>
              <a:t>9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508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19" y="1508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799" y="15087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D2D2D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77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Forward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5029200" cy="100584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83464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h₁ = ReLU(W₁·x + b₁)    # 256 neurons</a:t>
            </a:r>
          </a:p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h₂ = ReLU(W₂·h₁ + b₂)   # 128 neurons</a:t>
            </a:r>
          </a:p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ŷ  = Softmax(W₃·h₂ + b₃) # 9 class probs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377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3545"/>
                </a:solidFill>
                <a:latin typeface="Calibri"/>
              </a:defRPr>
            </a:pPr>
            <a:r>
              <a:t>Loss Function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029200" cy="457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CrossEntropy = -log(predicted prob of true class)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383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7C00"/>
                </a:solidFill>
                <a:latin typeface="Calibri"/>
              </a:defRPr>
            </a:pPr>
            <a:r>
              <a:t>Backward Pass (Backpropagation)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029200" cy="685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840479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1. Compute gradient ∂Loss/∂W for each layer</a:t>
            </a:r>
          </a:p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2. Update: W = W - learning_rate × gradient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114800"/>
            <a:ext cx="5029200" cy="1645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2062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Network Statistics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ourier New"/>
              </a:defRPr>
            </a:pPr>
            <a:r>
              <a:t>Total parameters: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572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72,448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ourier New"/>
              </a:defRPr>
            </a:pPr>
            <a:r>
              <a:t>  Layer 1 (150→256):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8006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150×256 + 256 = 38,656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029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ourier New"/>
              </a:defRPr>
            </a:pPr>
            <a:r>
              <a:t>  Layer 2 (256→128):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0292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256×128 + 128 = 32,896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2578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ourier New"/>
              </a:defRPr>
            </a:pPr>
            <a:r>
              <a:t>  Layer 3 (128→9):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2578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7ACC"/>
                </a:solidFill>
                <a:latin typeface="Courier New"/>
              </a:defRPr>
            </a:pPr>
            <a:r>
              <a:t>128×9 + 9 = 1,161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754880"/>
            <a:ext cx="5029200" cy="10058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7C00"/>
                </a:solidFill>
                <a:latin typeface="Calibri"/>
              </a:defRPr>
            </a:pPr>
            <a:r>
              <a:t>Training Process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7,685 samples × 50 epochs = 384,250 weight updates</a:t>
            </a:r>
          </a:p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Training time: 14 seconds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3e — LSTM: Learning Sequences with Memory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Long Short-Term Memory recurrent neural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Input Reshape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(150,) flat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783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737360"/>
            <a:ext cx="32004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(10 timesteps, 15 features)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LSTM Cell: 4 Gates Control Information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2743200" cy="137160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2194560" cy="320040"/>
          </a:xfrm>
          <a:prstGeom prst="round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Forget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74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f_t = σ(W_f · [h_{t-1}, x_t])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What to forget from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2926080"/>
            <a:ext cx="2743200" cy="137160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57600" y="3017520"/>
            <a:ext cx="219456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Input 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474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i_t = σ(W_i · [h_{t-1}, x_t])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What new info to store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926080"/>
            <a:ext cx="2743200" cy="137160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0" y="3017520"/>
            <a:ext cx="219456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Cell Update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C̃_t = tanh(W_c · [h_{t-1}, x_t])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New candidate information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926080"/>
            <a:ext cx="2743200" cy="137160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09760" y="3017520"/>
            <a:ext cx="2194560" cy="32004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Output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4747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2D2D"/>
                </a:solidFill>
                <a:latin typeface="Courier New"/>
              </a:defRPr>
            </a:pPr>
            <a:r>
              <a:t>o_t = σ(W_o · [h_{t-1}, x_t])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What to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Cell State Update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937760"/>
            <a:ext cx="7315200" cy="4572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029200"/>
            <a:ext cx="7040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8A745"/>
                </a:solidFill>
                <a:latin typeface="Courier New"/>
              </a:defRPr>
            </a:pPr>
            <a:r>
              <a:t>C_t = f_t ⊙ C_{t-1} + i_t ⊙ C̃_t    # forget old + add new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After 10 steps: final hidden state → Linear(64, 9) → prediction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9436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Backpropagation Through Time (BPTT) — gradients flow back through all 10 timesteps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669280"/>
            <a:ext cx="27432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16 seconds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3f — Transformer: Self-Attention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Learning which feature pairs matter for each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Self-Attention Mechanism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29184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1920240"/>
            <a:ext cx="1828800" cy="32004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ourier New"/>
              </a:defRPr>
            </a:pPr>
            <a:r>
              <a:t>Q_i = W_Q · x_i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"What am I looking for?"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28800"/>
            <a:ext cx="3291840" cy="109728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83480" y="1920240"/>
            <a:ext cx="1828800" cy="32004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ourier New"/>
              </a:defRPr>
            </a:pPr>
            <a:r>
              <a:t>K_j = W_K · x_j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06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"What do I contain?"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1828800"/>
            <a:ext cx="3291840" cy="109728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1920240"/>
            <a:ext cx="1828800" cy="3200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33172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ourier New"/>
              </a:defRPr>
            </a:pPr>
            <a:r>
              <a:t>V_j = W_V · x_j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260604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"What do I offer?"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00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Attention Computation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566160"/>
            <a:ext cx="6400800" cy="7315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657600"/>
            <a:ext cx="6126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28A745"/>
                </a:solidFill>
                <a:latin typeface="Courier New"/>
              </a:defRPr>
            </a:pPr>
            <a:r>
              <a:t>Attention weights: α = softmax(Q·Kᵀ / √d_k)</a:t>
            </a:r>
          </a:p>
          <a:p>
            <a:pPr>
              <a:spcAft>
                <a:spcPts val="200"/>
              </a:spcAft>
              <a:defRPr sz="1300">
                <a:solidFill>
                  <a:srgbClr val="28A745"/>
                </a:solidFill>
                <a:latin typeface="Courier New"/>
              </a:defRPr>
            </a:pPr>
            <a:r>
              <a:t>Output:           z = α · V   # weighted combination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72000"/>
            <a:ext cx="10515600" cy="10972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Example: How Attention Helps Classification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029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07ACC"/>
                </a:solidFill>
                <a:latin typeface="Calibri"/>
              </a:defRPr>
            </a:pPr>
            <a:r>
              <a:t>OCR feature "git" attends to Interaction feature "typing commands" → strong signal for git_operations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Learns WHICH feature pairs matter for each class — no manual feature engineering needed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0" y="3566160"/>
            <a:ext cx="347472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60 seconds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114800"/>
            <a:ext cx="3474720" cy="27432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4114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F42C1"/>
                </a:solidFill>
                <a:latin typeface="Calibri"/>
              </a:defRPr>
            </a:pPr>
            <a:r>
              <a:t>2 attention heads, 2 encoder layers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3g — Stacking: Learning Which Model to Trust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Two-phase meta-learning ensemble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ACC"/>
                </a:solidFill>
                <a:latin typeface="Calibri"/>
              </a:defRPr>
            </a:pPr>
            <a:r>
              <a:t>Phase A: Train Base Models on X_train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286000" cy="4572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SVM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737360"/>
            <a:ext cx="2286000" cy="4572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737360"/>
            <a:ext cx="2286000" cy="45720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8A745"/>
                </a:solidFill>
                <a:latin typeface="Calibri"/>
              </a:defRPr>
            </a:pPr>
            <a:r>
              <a:t>Phase B: Each base model predicts on X_train → probability 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2286000" cy="4114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SVM → (7685, 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834640"/>
            <a:ext cx="2286000" cy="4114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RF → (7685, 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834640"/>
            <a:ext cx="2286000" cy="4114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MLP → (7685, 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834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→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743200"/>
            <a:ext cx="228600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meta_X</a:t>
            </a:r>
            <a:br/>
            <a:r>
              <a:t>(7685, 27)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661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F42C1"/>
                </a:solidFill>
                <a:latin typeface="Calibri"/>
              </a:defRPr>
            </a:pPr>
            <a:r>
              <a:t>Phase C: Train LogisticRegression on meta_X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10515600" cy="1463040"/>
          </a:xfrm>
          <a:prstGeom prst="roundRect">
            <a:avLst/>
          </a:prstGeom>
          <a:solidFill>
            <a:srgbClr val="F0E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D2D"/>
                </a:solidFill>
                <a:latin typeface="Calibri"/>
              </a:defRPr>
            </a:pPr>
            <a:r>
              <a:t>Meta-learner discovers which model to trust for each class: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8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ourier New"/>
              </a:defRPr>
            </a:pPr>
            <a:r>
              <a:t>git_operations: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4805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ourier New"/>
              </a:defRPr>
            </a:pPr>
            <a:r>
              <a:t>trust RF (0.6) &gt; MLP (0.3) &gt; SVM (0.1)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754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ourier New"/>
              </a:defRPr>
            </a:pPr>
            <a:r>
              <a:t>coding_editing: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754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ourier New"/>
              </a:defRPr>
            </a:pPr>
            <a:r>
              <a:t>trust SVM (0.5) &gt; RF (0.3) &gt; MLP (0.2)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F42C1"/>
                </a:solidFill>
                <a:latin typeface="Courier New"/>
              </a:defRPr>
            </a:pPr>
            <a:r>
              <a:t>documentation: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029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ourier New"/>
              </a:defRPr>
            </a:pPr>
            <a:r>
              <a:t>trust MLP (0.5) &gt; SVM (0.3) &gt; RF (0.2)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5760720"/>
            <a:ext cx="3200400" cy="4572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Training: 90 seconds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52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Stacking learns to combine strengths of different model families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Phase 4 — How Models Are Evaluated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Testing on held-out data with standardized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286000" cy="5029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X_test (1924, 150)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371600"/>
            <a:ext cx="2286000" cy="5029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model.predict()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2286000" cy="5029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y_pred (1924,)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14173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5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1371600"/>
            <a:ext cx="2286000" cy="50292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Metrics Explained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10515600" cy="77724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2651760"/>
            <a:ext cx="1645920" cy="27432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ourier New"/>
              </a:defRPr>
            </a:pPr>
            <a:r>
              <a:t>correct / 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443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Simple but misleading with imbalanced classes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29000"/>
            <a:ext cx="10515600" cy="777240"/>
          </a:xfrm>
          <a:prstGeom prst="roundRect">
            <a:avLst/>
          </a:prstGeom>
          <a:solidFill>
            <a:srgbClr val="E6F9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3520440"/>
            <a:ext cx="1645920" cy="27432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F1 per Class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ourier New"/>
              </a:defRPr>
            </a:pPr>
            <a:r>
              <a:t>2 × (Precision × Recall) / (Precision + Recall)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8130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Balances false positives and false negatives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97680"/>
            <a:ext cx="10515600" cy="777240"/>
          </a:xfrm>
          <a:prstGeom prst="roundRect">
            <a:avLst/>
          </a:prstGeom>
          <a:solidFill>
            <a:srgbClr val="FEF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" y="4389120"/>
            <a:ext cx="1645920" cy="27432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F1 Macro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343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D2D"/>
                </a:solidFill>
                <a:latin typeface="Courier New"/>
              </a:defRPr>
            </a:pPr>
            <a:r>
              <a:t>Average of all 9 class F1 scores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68172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alibri"/>
              </a:defRPr>
            </a:pPr>
            <a:r>
              <a:t>PRIMARY METRIC — treats all classes equally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212080"/>
            <a:ext cx="10515600" cy="1097280"/>
          </a:xfrm>
          <a:prstGeom prst="roundRect">
            <a:avLst/>
          </a:prstGeom>
          <a:solidFill>
            <a:srgbClr val="FD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03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C3545"/>
                </a:solidFill>
                <a:latin typeface="Calibri"/>
              </a:defRPr>
            </a:pPr>
            <a:r>
              <a:t>Why F1 Macro, not Accuracy?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A model always predicting "other" gets 57% accuracy but F1 Macro ≈ 0.06</a:t>
            </a:r>
          </a:p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F1 Macro treats all 9 classes equally — minority classes matter</a:t>
            </a:r>
          </a:p>
          <a:p>
            <a:pPr>
              <a:spcAft>
                <a:spcPts val="500"/>
              </a:spcAft>
              <a:defRPr sz="1200">
                <a:solidFill>
                  <a:srgbClr val="2D2D2D"/>
                </a:solidFill>
                <a:latin typeface="Calibri"/>
              </a:defRPr>
            </a:pPr>
            <a:r>
              <a:t>Latency measured with time.perf_counter() around predict()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Training Results — 14 Models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Sorted by F1 Macro (primary metric)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075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075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30759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3075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075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F1 Macro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075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3075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457200" y="1645920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4592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6459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stacking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1673352"/>
            <a:ext cx="640080" cy="2286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645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645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57C00"/>
                </a:solidFill>
                <a:latin typeface="Calibri"/>
              </a:defRPr>
            </a:pPr>
            <a:r>
              <a:t>0.189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6459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6951ms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1719072"/>
            <a:ext cx="3024377" cy="146304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938528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93852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19385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late_fusion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1965960"/>
            <a:ext cx="640080" cy="22860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19385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19385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F57C00"/>
                </a:solidFill>
                <a:latin typeface="Calibri"/>
              </a:defRPr>
            </a:pPr>
            <a:r>
              <a:t>0.186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93852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2551ms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0" y="2011680"/>
            <a:ext cx="2976372" cy="146304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231136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223113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223113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knn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26080" y="2258568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22311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22311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23113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344ms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2304288"/>
            <a:ext cx="2640329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2523744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252374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252374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decision_tree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926080" y="2551176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252374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0.490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252374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52374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2ms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2596896"/>
            <a:ext cx="2576322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2816352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281635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281635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random_forest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926080" y="2843784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28163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28163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81635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103ms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0" y="2889504"/>
            <a:ext cx="2560320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3108960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310896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31089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xgboost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26080" y="3136392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3108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108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3108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59ms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72400" y="3182112"/>
            <a:ext cx="2528315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7200" y="3401568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340156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34015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naive_bayes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26080" y="3429000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0.295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2064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340156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9ms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72400" y="3474720"/>
            <a:ext cx="2432303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57200" y="3694176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369417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369417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mlp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26080" y="3721608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40480" y="36941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20640" y="36941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0.148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0" y="369417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12ms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72400" y="3767328"/>
            <a:ext cx="2368295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57200" y="3986784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40" y="398678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" y="398678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svm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926080" y="4014216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40480" y="39867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0.558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20640" y="39867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00800" y="398678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1392ms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72400" y="4059936"/>
            <a:ext cx="2336291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57200" y="4279392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279392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" y="427939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transformer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926080" y="4306824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40480" y="42793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0.560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20640" y="42793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0.142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00800" y="42793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18ms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72400" y="4352544"/>
            <a:ext cx="2272283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57200" y="4572000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48640" y="4572000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4400" y="457200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lstm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926080" y="4599432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840480" y="45720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0.535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20640" y="45720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0" y="457200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15ms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772400" y="4645152"/>
            <a:ext cx="2240280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57200" y="4864608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48640" y="4864608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486460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lightgbm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926080" y="4892040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840480" y="48646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0.574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20640" y="48646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400800" y="486460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37ms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72400" y="4937760"/>
            <a:ext cx="2192274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7200" y="5157216"/>
            <a:ext cx="1124712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48640" y="5157216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4400" y="515721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cnn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926080" y="5184648"/>
            <a:ext cx="640080" cy="22860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840480" y="51572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120640" y="51572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00800" y="515721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10ms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772400" y="5230368"/>
            <a:ext cx="2096262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57200" y="5449824"/>
            <a:ext cx="11247120" cy="29260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8640" y="5449824"/>
            <a:ext cx="365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544982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2D2D"/>
                </a:solidFill>
                <a:latin typeface="Courier New"/>
              </a:defRPr>
            </a:pPr>
            <a:r>
              <a:t>logistic_reg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926080" y="5477256"/>
            <a:ext cx="640080" cy="22860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tier1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40480" y="54498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0.549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120640" y="54498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0.128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400800" y="54498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D2D2D"/>
                </a:solidFill>
                <a:latin typeface="Calibri"/>
              </a:defRPr>
            </a:pPr>
            <a:r>
              <a:t>4ms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72400" y="5522976"/>
            <a:ext cx="2048256" cy="14630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57200" y="5440680"/>
            <a:ext cx="109728" cy="182880"/>
          </a:xfrm>
          <a:prstGeom prst="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5800" y="542239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Ensembles achieve best F1 — combining models reduces errors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57200" y="5715000"/>
            <a:ext cx="109728" cy="1828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85800" y="569671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XGBoost has best raw accuracy but lower F1 (biased toward majority class)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57200" y="5989320"/>
            <a:ext cx="109728" cy="1828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85800" y="597103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Decision Tree is fastest (2ms) — good for real-time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457200" y="6263640"/>
            <a:ext cx="109728" cy="18288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85800" y="624535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Deep learning didn't outperform classical ML with engineered features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2D2D"/>
                </a:solidFill>
                <a:latin typeface="Calibri"/>
              </a:defRPr>
            </a:pPr>
            <a:r>
              <a:t>Trained Models → .pkl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777240"/>
            <a:ext cx="1828800" cy="457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Calibri"/>
              </a:defRPr>
            </a:pPr>
            <a:r>
              <a:t>What gets saved after training completes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t>models/ directory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83080"/>
            <a:ext cx="5029200" cy="32004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7830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7830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103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svm.pkl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10312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~2.1 MB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103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Support vectors + kernel params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359152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3591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naive_bayes.pkl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~15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3591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Class priors + likelihoods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615184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6151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decision_tree.pkl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261518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~180 KB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26151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Tree structure + thresholds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871216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87121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random_forest.pkl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87121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~12 MB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287121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100 tree structures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3127248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1272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knn.pkl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127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~8.5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31272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Full training data (lazy learner)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383280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3832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xgboost.pkl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34640" y="338328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~1.2 MB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0" y="338328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100 boosted trees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3639312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63931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lightgbm.pkl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363931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~900 KB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63931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Gradient boosted trees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895344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38953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logistic_reg.pkl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34640" y="38953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~12 KB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40480" y="38953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Weight matrix (150 x 9)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4151376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415137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mlp.pkl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41513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~350 KB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415137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72,448 learned weights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07408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lstm.pkl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34640" y="44074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~500 KB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Gate weights + cell states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4663440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46634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cnn.pkl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34640" y="46634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~280 KB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46634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Conv filters + FC weights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19472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49194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transformer.pkl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49194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~600 KB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9194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Attention weights + FFN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1520" y="5175504"/>
            <a:ext cx="5029200" cy="25603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" y="51755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stacking.pkl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34640" y="51755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~15 MB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517550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Base models + meta-learner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31536"/>
            <a:ext cx="50292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54315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07ACC"/>
                </a:solidFill>
                <a:latin typeface="Courier New"/>
              </a:defRPr>
            </a:pPr>
            <a:r>
              <a:t>late_fusion.pkl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34640" y="543153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66"/>
                </a:solidFill>
                <a:latin typeface="Calibri"/>
              </a:defRPr>
            </a:pPr>
            <a:r>
              <a:t>~10 MB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0" y="543153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2D2D"/>
                </a:solidFill>
                <a:latin typeface="Calibri"/>
              </a:defRPr>
            </a:pPr>
            <a:r>
              <a:t>Base models + fusion weights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0" y="1371600"/>
            <a:ext cx="5029200" cy="1097280"/>
          </a:xfrm>
          <a:prstGeom prst="round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0" y="146304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ACC"/>
                </a:solidFill>
                <a:latin typeface="Calibri"/>
              </a:defRPr>
            </a:pPr>
            <a:r>
              <a:t>Each .pkl contains the learned weights/parameters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83680" y="18288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Backend loads these on startup — no retraining needed. Inference uses the saved model directly.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00800" y="2926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t>End-to-End Flow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0" y="3383280"/>
            <a:ext cx="1097280" cy="640080"/>
          </a:xfrm>
          <a:prstGeom prst="round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train.py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80" y="3520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ACC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3383280"/>
            <a:ext cx="1097280" cy="640080"/>
          </a:xfrm>
          <a:prstGeom prst="round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models/*.pkl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78240" y="3520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8A74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961120" y="3383280"/>
            <a:ext cx="1097280" cy="64008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ml_service loads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58400" y="35204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57C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241280" y="3383280"/>
            <a:ext cx="1097280" cy="640080"/>
          </a:xfrm>
          <a:prstGeom prst="roundRect">
            <a:avLst/>
          </a:prstGeom>
          <a:solidFill>
            <a:srgbClr val="6F42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Ready for</a:t>
            </a:r>
            <a:br/>
            <a:r>
              <a:t>Inference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0" y="4297680"/>
            <a:ext cx="5029200" cy="20116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0" y="438912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D2D2D"/>
                </a:solidFill>
                <a:latin typeface="Calibri"/>
              </a:defRPr>
            </a:pPr>
            <a:r>
              <a:t>What's Inside a .pkl?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83680" y="475488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Serialized with Python's pickle / joblib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Contains: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  - Model architecture &amp; hyperparameters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  - Trained weights / learned parameters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  - Feature scaler (if applicable)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  - Label encoder mapping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  <a:latin typeface="Courier New"/>
              </a:defRPr>
            </a:pPr>
            <a:r>
              <a:t>Load: model = joblib.load('models/svm.pkl')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