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0"/>
  </p:normalViewPr>
  <p:slideViewPr>
    <p:cSldViewPr snapToGrid="0" snapToObjects="1">
      <p:cViewPr varScale="1">
        <p:scale>
          <a:sx n="118" d="100"/>
          <a:sy n="118" d="100"/>
        </p:scale>
        <p:origin x="55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19" y="91440"/>
            <a:ext cx="96752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FastAPI</a:t>
            </a:r>
            <a:r>
              <a:rPr dirty="0"/>
              <a:t>, Multi-tier Classifiers &amp; Multimodal Late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594360"/>
            <a:ext cx="108726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FastAPI</a:t>
            </a:r>
            <a:r>
              <a:rPr dirty="0"/>
              <a:t> backend · Multi-tier classifier architecture · Decision Tree · Random Forest · Late Fusion · CI/CD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7580" y="1764792"/>
            <a:ext cx="1709928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FastAPI 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97580" y="2176272"/>
            <a:ext cx="1709928" cy="27432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89020" y="224942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Async REST API (Python 3.11)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020" y="261518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Routers: /videos, /jobs, /results,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020" y="298094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  /knowledge, /history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020" y="334670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SQLAlchemy async ORM +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020" y="371246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Background job queue for ML 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020" y="407822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Startup: S3 model sync → load all .pkl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020" y="444398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OpenAPI docs at /docs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62372" y="1764792"/>
            <a:ext cx="1709928" cy="41148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Multi-Tier Classifier</a:t>
            </a:r>
            <a:br/>
            <a:r>
              <a:t>Architecture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2372" y="2176272"/>
            <a:ext cx="1709928" cy="2743200"/>
          </a:xfrm>
          <a:prstGeom prst="roundRect">
            <a:avLst/>
          </a:prstGeom>
          <a:solidFill>
            <a:srgbClr val="F0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53812" y="224942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Designed BaseClassifier interface: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3812" y="261518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  fit / predict / save / 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3812" y="298094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  timed_predict → latency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3812" y="334670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ModelRegistry: keyed by name + 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3812" y="371246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Orchestrates Tier 1 → Tier 2 → Tier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3812" y="407822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All 13 models implement same interface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3812" y="444398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MLflow experiment logging wired 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27164" y="1764792"/>
            <a:ext cx="1709928" cy="41148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Decision Tree</a:t>
            </a:r>
            <a:br/>
            <a:r>
              <a:t>(Tier 1)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27164" y="2176272"/>
            <a:ext cx="1709928" cy="274320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18604" y="224942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sklearn DecisionTreeClassifier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8604" y="261518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max_depth = 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8604" y="298094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Gini Impurity split criterion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8604" y="334670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class_weight = 'balanced'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18604" y="371246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  → handles class imbalance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18604" y="407822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F1 Macro: 0.762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8604" y="444398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Inference: 2 ms  (fastest model)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18604" y="4983480"/>
            <a:ext cx="1527048" cy="2286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F1 Macro: 0.762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91956" y="1764792"/>
            <a:ext cx="1709928" cy="4114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Random Forest</a:t>
            </a:r>
            <a:br/>
            <a:r>
              <a:t>(Tier 1)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91956" y="2176272"/>
            <a:ext cx="1709928" cy="274320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83396" y="224942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100 trees, bootstrap sampling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83396" y="261518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max_depth = 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83396" y="298094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√1391 ≈ 37 features per split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83396" y="334670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n_jobs = -1  (all CPU cores)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83396" y="371246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class_weight = 'balanced'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83396" y="407822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F1 Macro: 0.841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83396" y="444398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Training: 0.8 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83396" y="4983480"/>
            <a:ext cx="1527048" cy="228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F1 Macro: 0.841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56748" y="1764792"/>
            <a:ext cx="1709928" cy="411480"/>
          </a:xfrm>
          <a:prstGeom prst="roundRect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Multimodal</a:t>
            </a:r>
            <a:br/>
            <a:r>
              <a:t>Late Fusion (Tier 3)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56748" y="2176272"/>
            <a:ext cx="1709928" cy="2743200"/>
          </a:xfrm>
          <a:prstGeom prst="roundRect">
            <a:avLst/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48188" y="224942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Splits 1391-dim vector by modality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48188" y="261518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Each modality → own classifier branch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48188" y="298094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Branch outputs stacked → meta_X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48188" y="334670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Logistic Regression meta-learner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48188" y="371246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Learns per-modality trust weights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48188" y="407822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F1 Macro: 0.861  (3rd overall)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48188" y="444398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Latency: 78 ms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448188" y="4983480"/>
            <a:ext cx="1527048" cy="228600"/>
          </a:xfrm>
          <a:prstGeom prst="roundRect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F1 Macro: 0.861  (3rd overall)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104045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Decision Tree &amp; Random Forest — Training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10317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Tier 1 Classical ML — Greedy splitting (Decision Tree) vs. bootstrap aggregation (Random Forest)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8870" y="1371600"/>
            <a:ext cx="4297680" cy="3200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Decision Tree  (tier1/decision_tree.py)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8870" y="1691640"/>
            <a:ext cx="4297680" cy="347472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26030" y="1783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7C00"/>
                </a:solidFill>
                <a:latin typeface="Calibri"/>
              </a:defRPr>
            </a:pPr>
            <a:r>
              <a:t>Algorithm: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7630" y="17830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Greedy recursive binary splitting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030" y="20939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7C00"/>
                </a:solidFill>
                <a:latin typeface="Calibri"/>
              </a:defRPr>
            </a:pPr>
            <a:r>
              <a:t>Split criterion: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7630" y="209397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Gini Impurity = 1 − Σ pᵢ²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030" y="2404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7C00"/>
                </a:solidFill>
                <a:latin typeface="Calibri"/>
              </a:defRPr>
            </a:pPr>
            <a:r>
              <a:t>max_depth: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7630" y="240487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20  (limits tree depth → avoids overfitting)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6030" y="27157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7C00"/>
                </a:solidFill>
                <a:latin typeface="Calibri"/>
              </a:defRPr>
            </a:pPr>
            <a:r>
              <a:t>class_weight: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7630" y="27157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'balanced'  → minority classes get higher weight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030" y="30266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7C00"/>
                </a:solidFill>
                <a:latin typeface="Calibri"/>
              </a:defRPr>
            </a:pPr>
            <a:r>
              <a:t>Why balanced?: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7630" y="302666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VSCode tasks dominate (~38%); without balancing,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97630" y="33375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  tree ignores rare classes like git_operations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030" y="36484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7C00"/>
                </a:solidFill>
                <a:latin typeface="Calibri"/>
              </a:defRPr>
            </a:pPr>
            <a:r>
              <a:t>Prediction: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97630" y="364845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Traverses learned rules from root to leaf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97630" y="3959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  e.g. OCR['git'] &gt; 0.5  →  git_operations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6030" y="4270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7C00"/>
                </a:solidFill>
                <a:latin typeface="Calibri"/>
              </a:defRPr>
            </a:pPr>
            <a:r>
              <a:t>Training time: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97630" y="42702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&lt; 0.2 s  (fastest to train)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6030" y="45811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7C00"/>
                </a:solidFill>
                <a:latin typeface="Calibri"/>
              </a:defRPr>
            </a:pPr>
            <a:r>
              <a:t>Inference: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97630" y="45811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2 ms  — fastest of all 13 models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88870" y="5212080"/>
            <a:ext cx="4297680" cy="256032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v3b:  F1 Macro 0.762  |  Accuracy 0.791  |  Inference 2 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23710" y="1371600"/>
            <a:ext cx="411480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Random Forest  (tier1/random_forest.py)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23710" y="1691640"/>
            <a:ext cx="4114800" cy="347472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60870" y="1783080"/>
            <a:ext cx="1417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8A745"/>
                </a:solidFill>
                <a:latin typeface="Calibri"/>
              </a:defRPr>
            </a:pPr>
            <a:r>
              <a:t>Algorithm: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78190" y="1783080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Bootstrap Aggregation (Bagging)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60870" y="2048255"/>
            <a:ext cx="1417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8A745"/>
                </a:solidFill>
                <a:latin typeface="Calibri"/>
              </a:defRPr>
            </a:pPr>
            <a:r>
              <a:t>n_estimators: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78190" y="2048255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100 trees, each on a random bootstrap sample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60870" y="2313432"/>
            <a:ext cx="1417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8A745"/>
                </a:solidFill>
                <a:latin typeface="Calibri"/>
              </a:defRPr>
            </a:pPr>
            <a:r>
              <a:t>max_features: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78190" y="2313432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√1391 ≈ 37 features considered per split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78190" y="2578608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  → decorrelates trees → reduces variance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60870" y="2843784"/>
            <a:ext cx="1417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8A745"/>
                </a:solidFill>
                <a:latin typeface="Calibri"/>
              </a:defRPr>
            </a:pPr>
            <a:r>
              <a:t>max_depth: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78190" y="2843784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20  (same as Decision Tree)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60870" y="3108960"/>
            <a:ext cx="1417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8A745"/>
                </a:solidFill>
                <a:latin typeface="Calibri"/>
              </a:defRPr>
            </a:pPr>
            <a:r>
              <a:t>class_weight: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78190" y="3108960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'balanced'  → same imbalance handling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60870" y="3374135"/>
            <a:ext cx="1417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8A745"/>
                </a:solidFill>
                <a:latin typeface="Calibri"/>
              </a:defRPr>
            </a:pPr>
            <a:r>
              <a:t>n_jobs: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78190" y="3374135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-1  → trains all 100 trees in parallel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78190" y="3639311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  using all available CPU cores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60870" y="3904487"/>
            <a:ext cx="1417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8A745"/>
                </a:solidFill>
                <a:latin typeface="Calibri"/>
              </a:defRPr>
            </a:pPr>
            <a:r>
              <a:t>Prediction: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78190" y="3904487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Majority vote of 100 trees: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78190" y="4169663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  ŷ = mode { T₁(x), …, T₁₀₀(x) 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60870" y="4434840"/>
            <a:ext cx="1417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8A745"/>
                </a:solidFill>
                <a:latin typeface="Calibri"/>
              </a:defRPr>
            </a:pPr>
            <a:r>
              <a:t>Training time: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78190" y="4434840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0.8 s  (100 parallel trees)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60870" y="4700016"/>
            <a:ext cx="1417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8A745"/>
                </a:solidFill>
                <a:latin typeface="Calibri"/>
              </a:defRPr>
            </a:pPr>
            <a:r>
              <a:t>Inference: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8190" y="4700016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103 ms  (100 tree traversals)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723710" y="5212080"/>
            <a:ext cx="4114800" cy="256032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v3b:  F1 Macro 0.841  |  Accuracy 0.855  |  Training 0.8 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Multimodal Late Fusion — Architecture &amp;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100231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Tier 3 ensemble | Each modality trains its own classifier; meta-learner fuses branch outputs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9756" y="1371600"/>
            <a:ext cx="8503920" cy="320040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1,391-dim feature vector  →  split by modality  →  4 branch classifiers  →  meta-learner  →  activity class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99756" y="1828800"/>
            <a:ext cx="2011680" cy="347472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Visual Branch</a:t>
            </a:r>
            <a:br/>
            <a:r>
              <a:t>(cols 0–511)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99756" y="2176272"/>
            <a:ext cx="2011680" cy="13716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91196" y="224028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EfficientNet-B0 CNN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1196" y="2578608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512-dim visual encoding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1196" y="2916936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Captures UI layout, colour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36916" y="3584448"/>
            <a:ext cx="1737360" cy="256032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76996" y="3886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AC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1196" y="4160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P(c|branch_1): (n,8)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94316" y="1828800"/>
            <a:ext cx="2011680" cy="347472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OCR Branch</a:t>
            </a:r>
            <a:br/>
            <a:r>
              <a:t>(cols 512–1023)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4316" y="2176272"/>
            <a:ext cx="2011680" cy="137160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5756" y="224028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EasyOCR TF-IDF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5756" y="2578608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512-dim text encoding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5756" y="2916936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Identifies CLI cmds, IDE text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31476" y="3584448"/>
            <a:ext cx="1737360" cy="256032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SVM (RBF)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1556" y="3886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8A745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5756" y="4160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P(c|branch_2): (n,8)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88875" y="1828800"/>
            <a:ext cx="2011680" cy="347472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YOLO Branch</a:t>
            </a:r>
            <a:br/>
            <a:r>
              <a:t>(cols 1024–1279)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88875" y="2176272"/>
            <a:ext cx="2011680" cy="137160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80315" y="224028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YOLO UI detection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80315" y="2578608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256-dim widget encoding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80315" y="2916936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Buttons, menus, terminals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26035" y="3584448"/>
            <a:ext cx="1737360" cy="256032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Decision Tree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6115" y="3886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7C00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80315" y="4160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P(c|branch_3): (n,8)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83435" y="1828800"/>
            <a:ext cx="2011680" cy="347472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Interaction Branch</a:t>
            </a:r>
            <a:br/>
            <a:r>
              <a:t>(cols 1280–1390)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83435" y="2176272"/>
            <a:ext cx="2011680" cy="1371600"/>
          </a:xfrm>
          <a:prstGeom prst="roundRect">
            <a:avLst/>
          </a:prstGeom>
          <a:solidFill>
            <a:srgbClr val="F0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74875" y="224028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action_log.json statistics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4875" y="2578608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111-dim behavioural encoding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74875" y="2916936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Click rate, typing speed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20595" y="3584448"/>
            <a:ext cx="1737360" cy="256032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Naive Bayes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60675" y="3886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F42C1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74875" y="4160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ourier New"/>
              </a:defRPr>
            </a:pPr>
            <a:r>
              <a:t>P(c|branch_4): (n,8)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25636" y="4480560"/>
            <a:ext cx="5486400" cy="4114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8A745"/>
                </a:solidFill>
              </a:defRPr>
            </a:pPr>
            <a:r>
              <a:t>meta_X = [P_visual | P_ocr | P_yolo | P_interaction]  →  shape (n, 32)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65716" y="4956048"/>
            <a:ext cx="4206240" cy="347472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Logistic Regression meta-learner  →  learns per-modality trust weights  →  </a:t>
            </a:r>
            <a:r>
              <a:rPr dirty="0" err="1"/>
              <a:t>ŷ</a:t>
            </a:r>
            <a:endParaRPr dirty="0"/>
          </a:p>
        </p:txBody>
      </p:sp>
      <p:sp>
        <p:nvSpPr>
          <p:cNvPr id="45" name="Rounded Rectangle 44"/>
          <p:cNvSpPr/>
          <p:nvPr/>
        </p:nvSpPr>
        <p:spPr>
          <a:xfrm>
            <a:off x="1299756" y="5376672"/>
            <a:ext cx="4014216" cy="448056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436916" y="5404104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2A55"/>
                </a:solidFill>
                <a:latin typeface="Calibri"/>
              </a:defRPr>
            </a:pPr>
            <a:r>
              <a:rPr dirty="0"/>
              <a:t>Key idea: each modality has different strengths per class — OCR is best for </a:t>
            </a:r>
            <a:r>
              <a:rPr dirty="0" err="1"/>
              <a:t>git_ops</a:t>
            </a:r>
            <a:r>
              <a:rPr dirty="0"/>
              <a:t>, Visual for </a:t>
            </a:r>
            <a:r>
              <a:rPr dirty="0" err="1"/>
              <a:t>media_editing</a:t>
            </a:r>
            <a:endParaRPr dirty="0"/>
          </a:p>
        </p:txBody>
      </p:sp>
      <p:sp>
        <p:nvSpPr>
          <p:cNvPr id="47" name="Rounded Rectangle 46"/>
          <p:cNvSpPr/>
          <p:nvPr/>
        </p:nvSpPr>
        <p:spPr>
          <a:xfrm>
            <a:off x="5368836" y="5376672"/>
            <a:ext cx="4624250" cy="448056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505996" y="5404104"/>
            <a:ext cx="4206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3D7C"/>
                </a:solidFill>
                <a:latin typeface="Calibri"/>
              </a:defRPr>
            </a:pPr>
            <a:r>
              <a:rPr dirty="0"/>
              <a:t>v3b:  F1 Macro 0.861  |  Accuracy 0.875  |  Latency 78 </a:t>
            </a:r>
            <a:r>
              <a:rPr dirty="0" err="1"/>
              <a:t>ms</a:t>
            </a:r>
            <a:r>
              <a:rPr dirty="0"/>
              <a:t>  |  3rd best overall (Voting 0.884, Stacking 0.869)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934</Words>
  <Application>Microsoft Macintosh PowerPoint</Application>
  <PresentationFormat>Widescreen</PresentationFormat>
  <Paragraphs>137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Muthaiah MUNEESWARAN (GOVTECH)</cp:lastModifiedBy>
  <cp:revision>2</cp:revision>
  <dcterms:created xsi:type="dcterms:W3CDTF">2013-01-27T09:14:16Z</dcterms:created>
  <dcterms:modified xsi:type="dcterms:W3CDTF">2026-10-28T15:49:32Z</dcterms:modified>
  <cp:category/>
</cp:coreProperties>
</file>