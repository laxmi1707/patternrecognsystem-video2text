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Tier 1: Classical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7 proven algorithms for screen activity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Video2Knowledge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Pattern Recognition Systems  |  NUS ISS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September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Tier 1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7C00"/>
                </a:solidFill>
                <a:latin typeface="Calibri"/>
              </a:defRPr>
            </a:pPr>
            <a:r>
              <a:t>All classifiers take the same input: 150-dim feature vector  -&gt;  predict 1 of 9 activity labels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1828800"/>
            <a:ext cx="1417320" cy="7772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SVM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517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Support Vector Machine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15768" y="1828800"/>
            <a:ext cx="1417320" cy="777240"/>
          </a:xfrm>
          <a:prstGeom prst="round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NB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5768" y="26517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Naive Bayes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42816" y="1828800"/>
            <a:ext cx="1417320" cy="7772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2816" y="26517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Decision Tree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9864" y="1828800"/>
            <a:ext cx="1417320" cy="777240"/>
          </a:xfrm>
          <a:prstGeom prst="round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9864" y="26517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6912" y="1828800"/>
            <a:ext cx="1417320" cy="77724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KNN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912" y="26517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K-Nearest Neighbors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828800"/>
            <a:ext cx="1417320" cy="77724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XGB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26517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51008" y="1828800"/>
            <a:ext cx="1417320" cy="777240"/>
          </a:xfrm>
          <a:prstGeom prst="roundRect">
            <a:avLst/>
          </a:prstGeom>
          <a:solidFill>
            <a:srgbClr val="E83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LGBM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51008" y="265176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LightGBM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3063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7C00"/>
                </a:solidFill>
                <a:latin typeface="Calibri"/>
              </a:defRPr>
            </a:pPr>
            <a:r>
              <a:t>How every Tier 1 classifier works: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3474720"/>
            <a:ext cx="2926080" cy="164592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3520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7ACC"/>
                </a:solidFill>
                <a:latin typeface="Calibri"/>
              </a:defRPr>
            </a:pPr>
            <a:r>
              <a:t>INPUT: 150-dim Feature Vector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38862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alibri"/>
              </a:defRPr>
            </a:pPr>
            <a:r>
              <a:t>OCR features (50 dims)  --  text content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1148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alibri"/>
              </a:defRPr>
            </a:pPr>
            <a:r>
              <a:t>YOLO features (30 dims)  --  UI elements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43434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alibri"/>
              </a:defRPr>
            </a:pPr>
            <a:r>
              <a:t>OpenCV features (40 dims)  --  visual patterns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457200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alibri"/>
              </a:defRPr>
            </a:pPr>
            <a:r>
              <a:t>Action features (30 dims)  --  user interactions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48463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ourier New"/>
              </a:defRPr>
            </a:pPr>
            <a:r>
              <a:t>[0.82, 0.15, 0.0, 1.0, 0.67, ...]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39319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7ACC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37760" y="3474720"/>
            <a:ext cx="2926080" cy="164592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0" y="3520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7C00"/>
                </a:solidFill>
                <a:latin typeface="Calibri"/>
              </a:defRPr>
            </a:pPr>
            <a:r>
              <a:t>CLASSIFIER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3886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Any of the 7 algorithms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03520" y="4206240"/>
            <a:ext cx="2286000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fit(X_train, y_train)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03520" y="4617720"/>
            <a:ext cx="2286000" cy="32004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predict(X_new)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39319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7ACC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0" y="3474720"/>
            <a:ext cx="3200400" cy="164592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0" y="35204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A745"/>
                </a:solidFill>
                <a:latin typeface="Calibri"/>
              </a:defRPr>
            </a:pPr>
            <a:r>
              <a:t>OUTPUT: Label + Probability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20" y="388620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ourier New"/>
              </a:defRPr>
            </a:pPr>
            <a:r>
              <a:t>"git_operations"      87.3%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406908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ourier New"/>
              </a:defRPr>
            </a:pPr>
            <a:r>
              <a:t>"coding_editing"      5.2%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425196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ourier New"/>
              </a:defRPr>
            </a:pPr>
            <a:r>
              <a:t>"debugging"           3.1%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61120" y="443484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ourier New"/>
              </a:defRPr>
            </a:pPr>
            <a:r>
              <a:t>"web_browsing"        1.8%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0" y="461772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ourier New"/>
              </a:defRPr>
            </a:pPr>
            <a:r>
              <a:t>"documentation"       1.1%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0" y="480060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F7C00"/>
                </a:solidFill>
                <a:latin typeface="Courier New"/>
              </a:defRPr>
            </a:pPr>
            <a:r>
              <a:t>... (9 labels total)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88720" y="5669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9 Activity Labels:  coding_editing  |  debugging  |  git_operations  |  web_browsing  |  documentation  |  terminal_ops  |  file_management  |  communication  |  other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SVM (Support Vector Machine)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Finds the optimal boundary (hyperplane) between classes in 150-dimensional space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1188720"/>
            <a:ext cx="5029200" cy="32004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280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2D Visualization (simplified from 150D)</a:t>
            </a:r>
          </a:p>
        </p:txBody>
      </p:sp>
      <p:sp>
        <p:nvSpPr>
          <p:cNvPr id="12" name="Oval 11"/>
          <p:cNvSpPr/>
          <p:nvPr/>
        </p:nvSpPr>
        <p:spPr>
          <a:xfrm>
            <a:off x="2560320" y="2971800"/>
            <a:ext cx="201168" cy="201168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34640" y="3163823"/>
            <a:ext cx="201168" cy="201168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200400" y="3291840"/>
            <a:ext cx="201168" cy="201168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77440" y="3419856"/>
            <a:ext cx="201168" cy="201168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17520" y="3611880"/>
            <a:ext cx="201168" cy="201168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743200" y="3803904"/>
            <a:ext cx="201168" cy="201168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474720" y="3099815"/>
            <a:ext cx="201168" cy="201168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103120" y="3291840"/>
            <a:ext cx="201168" cy="201168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291840" y="3483864"/>
            <a:ext cx="201168" cy="201168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51760" y="3675888"/>
            <a:ext cx="201168" cy="201168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89120" y="1883664"/>
            <a:ext cx="201168" cy="201168"/>
          </a:xfrm>
          <a:prstGeom prst="ellipse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63440" y="2139696"/>
            <a:ext cx="201168" cy="201168"/>
          </a:xfrm>
          <a:prstGeom prst="ellipse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46320" y="1691640"/>
            <a:ext cx="201168" cy="201168"/>
          </a:xfrm>
          <a:prstGeom prst="ellipse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206240" y="2331719"/>
            <a:ext cx="201168" cy="201168"/>
          </a:xfrm>
          <a:prstGeom prst="ellipse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029200" y="2011679"/>
            <a:ext cx="201168" cy="201168"/>
          </a:xfrm>
          <a:prstGeom prst="ellipse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572000" y="1563624"/>
            <a:ext cx="201168" cy="201168"/>
          </a:xfrm>
          <a:prstGeom prst="ellipse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303520" y="1819656"/>
            <a:ext cx="201168" cy="201168"/>
          </a:xfrm>
          <a:prstGeom prst="ellipse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754880" y="2523744"/>
            <a:ext cx="201168" cy="201168"/>
          </a:xfrm>
          <a:prstGeom prst="ellipse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20640" y="2267712"/>
            <a:ext cx="201168" cy="201168"/>
          </a:xfrm>
          <a:prstGeom prst="ellipse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80560" y="1947672"/>
            <a:ext cx="201168" cy="201168"/>
          </a:xfrm>
          <a:prstGeom prst="ellipse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03320" y="1463040"/>
            <a:ext cx="36576" cy="2651760"/>
          </a:xfrm>
          <a:prstGeom prst="rect">
            <a:avLst/>
          </a:prstGeom>
          <a:solidFill>
            <a:srgbClr val="CC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37560" y="1463040"/>
            <a:ext cx="18288" cy="26517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087368" y="1463040"/>
            <a:ext cx="18288" cy="26517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63240" y="40233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C2233"/>
                </a:solidFill>
                <a:latin typeface="Calibri"/>
              </a:defRPr>
            </a:pPr>
            <a:r>
              <a:t>Hyperplane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80" y="12344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&lt;- margin -&gt;</a:t>
            </a:r>
          </a:p>
        </p:txBody>
      </p:sp>
      <p:sp>
        <p:nvSpPr>
          <p:cNvPr id="37" name="Oval 36"/>
          <p:cNvSpPr/>
          <p:nvPr/>
        </p:nvSpPr>
        <p:spPr>
          <a:xfrm>
            <a:off x="4663440" y="4023360"/>
            <a:ext cx="164592" cy="164592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92040" y="40233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7C00"/>
                </a:solidFill>
                <a:latin typeface="Calibri"/>
              </a:defRPr>
            </a:pPr>
            <a:r>
              <a:t>git_ops</a:t>
            </a:r>
          </a:p>
        </p:txBody>
      </p:sp>
      <p:sp>
        <p:nvSpPr>
          <p:cNvPr id="39" name="Oval 38"/>
          <p:cNvSpPr/>
          <p:nvPr/>
        </p:nvSpPr>
        <p:spPr>
          <a:xfrm>
            <a:off x="5486400" y="4023360"/>
            <a:ext cx="164592" cy="164592"/>
          </a:xfrm>
          <a:prstGeom prst="ellipse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15000" y="40233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7C00"/>
                </a:solidFill>
                <a:latin typeface="Calibri"/>
              </a:defRPr>
            </a:pPr>
            <a:r>
              <a:t>coding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75120" y="1188720"/>
            <a:ext cx="5029200" cy="128016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0" y="12801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7C00"/>
                </a:solidFill>
                <a:latin typeface="Calibri"/>
              </a:defRPr>
            </a:pPr>
            <a:r>
              <a:t>Key Concepts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1554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*  Maximizes the margin between classes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17830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*  Uses kernel trick to handle non-linear boundaries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2011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*  RBF kernel maps data to higher dimensions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22402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*  Support vectors = points closest to the boundary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88720" y="4754880"/>
            <a:ext cx="475488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Strengths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25880" y="51206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A745"/>
                </a:solidFill>
                <a:latin typeface="Calibri"/>
              </a:defRPr>
            </a:pPr>
            <a:r>
              <a:t>+  Works well with high-dimensional data (150 features)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25880" y="537667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A745"/>
                </a:solidFill>
                <a:latin typeface="Calibri"/>
              </a:defRPr>
            </a:pPr>
            <a:r>
              <a:t>+  Effective when classes have clear margins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9360" y="4754880"/>
            <a:ext cx="4754880" cy="32004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Weaknesses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51206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-  Slow on large datasets (5617ms latency)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537667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-  Sensitive to feature scaling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Naive Bayes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Uses Bayes' Theorem to calculate probability of each class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1188720"/>
            <a:ext cx="9418320" cy="109728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128016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ACC"/>
                </a:solidFill>
                <a:latin typeface="Cambria Math"/>
              </a:defRPr>
            </a:pPr>
            <a:r>
              <a:t>P(class | features) = P(features | class) x P(class) / P(features)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1783080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posterior          =        likelihood        x   prior    /  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468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F7C00"/>
                </a:solidFill>
                <a:latin typeface="Calibri"/>
              </a:defRPr>
            </a:pPr>
            <a:r>
              <a:t>Assumes all features are independent (the "naive" assumption)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3017520"/>
            <a:ext cx="10515600" cy="146304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108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7C00"/>
                </a:solidFill>
                <a:latin typeface="Calibri"/>
              </a:defRPr>
            </a:pPr>
            <a:r>
              <a:t>Worked Example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3474720"/>
            <a:ext cx="2743200" cy="3657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Observation: "git" in OCR 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7C00"/>
                </a:solidFill>
                <a:latin typeface="Calibri"/>
              </a:defRPr>
            </a:pPr>
            <a:r>
              <a:t>+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474720"/>
            <a:ext cx="2560320" cy="36576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Observation: terminal present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7C00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3474720"/>
            <a:ext cx="3474720" cy="3657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P(git_operations | features) = 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77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Each feature independently increases or decreases the probability of each class label.</a:t>
            </a:r>
            <a:br/>
            <a:r>
              <a:t>Final prediction = class with highest posterior probability.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4846320"/>
            <a:ext cx="475488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Strengths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21208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A745"/>
                </a:solidFill>
                <a:latin typeface="Calibri"/>
              </a:defRPr>
            </a:pPr>
            <a:r>
              <a:t>+  Very fast inference (16ms latency)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546811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A745"/>
                </a:solidFill>
                <a:latin typeface="Calibri"/>
              </a:defRPr>
            </a:pPr>
            <a:r>
              <a:t>+  Works well with small training datasets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846320"/>
            <a:ext cx="4754880" cy="32004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Weaknesses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21208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-  Independence assumption rarely true in practice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46811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-  Lowest accuracy in our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Decision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Asks yes/no questions about features in a tree structure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Diamond 9"/>
          <p:cNvSpPr/>
          <p:nvPr/>
        </p:nvSpPr>
        <p:spPr>
          <a:xfrm>
            <a:off x="4572000" y="1188720"/>
            <a:ext cx="3200400" cy="731520"/>
          </a:xfrm>
          <a:prstGeom prst="diamond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OCR contains "git"?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737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8A745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0" y="1737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F7C00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\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/</a:t>
            </a:r>
          </a:p>
        </p:txBody>
      </p:sp>
      <p:sp>
        <p:nvSpPr>
          <p:cNvPr id="15" name="Diamond 14"/>
          <p:cNvSpPr/>
          <p:nvPr/>
        </p:nvSpPr>
        <p:spPr>
          <a:xfrm>
            <a:off x="1828800" y="2377440"/>
            <a:ext cx="2743200" cy="731520"/>
          </a:xfrm>
          <a:prstGeom prst="diamond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Has terminal?</a:t>
            </a:r>
          </a:p>
        </p:txBody>
      </p:sp>
      <p:sp>
        <p:nvSpPr>
          <p:cNvPr id="16" name="Diamond 15"/>
          <p:cNvSpPr/>
          <p:nvPr/>
        </p:nvSpPr>
        <p:spPr>
          <a:xfrm>
            <a:off x="7680960" y="2377440"/>
            <a:ext cx="2743200" cy="731520"/>
          </a:xfrm>
          <a:prstGeom prst="diamond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Many clicks?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926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A745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926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7C00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\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2926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8A745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2926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7C00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\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/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3657600"/>
            <a:ext cx="2011680" cy="5029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git_operations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0" y="3657600"/>
            <a:ext cx="2011680" cy="50292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debugging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3657600"/>
            <a:ext cx="2011680" cy="5029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coding_editing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26880" y="3657600"/>
            <a:ext cx="2011680" cy="502920"/>
          </a:xfrm>
          <a:prstGeom prst="round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other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7C00"/>
                </a:solidFill>
                <a:latin typeface="Calibri"/>
              </a:defRPr>
            </a:pPr>
            <a:r>
              <a:t>Each internal node tests one feature. Follow the branches until reaching a leaf node (the prediction).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88720" y="4754880"/>
            <a:ext cx="475488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Strengths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1206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A745"/>
                </a:solidFill>
                <a:latin typeface="Calibri"/>
              </a:defRPr>
            </a:pPr>
            <a:r>
              <a:t>+  Interpretable  --  can visualize the decision 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37667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A745"/>
                </a:solidFill>
                <a:latin typeface="Calibri"/>
              </a:defRPr>
            </a:pPr>
            <a:r>
              <a:t>+  Fast inference (2ms latency), no feature scaling needed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4754880"/>
            <a:ext cx="4754880" cy="32004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Weaknesses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1206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-  Overfits easily to training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37667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-  Unstable  --  small data changes produce a different tree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Builds 100 decision trees, each on a random subset of data. Takes majority vote.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1188720"/>
            <a:ext cx="1645920" cy="146304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234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F7C00"/>
                </a:solidFill>
                <a:latin typeface="Calibri"/>
              </a:defRPr>
            </a:pPr>
            <a:r>
              <a:t>Tree 1</a:t>
            </a:r>
          </a:p>
        </p:txBody>
      </p:sp>
      <p:sp>
        <p:nvSpPr>
          <p:cNvPr id="12" name="Diamond 11"/>
          <p:cNvSpPr/>
          <p:nvPr/>
        </p:nvSpPr>
        <p:spPr>
          <a:xfrm>
            <a:off x="1691640" y="1508760"/>
            <a:ext cx="640080" cy="320040"/>
          </a:xfrm>
          <a:prstGeom prst="diamond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63040" y="1874520"/>
            <a:ext cx="411480" cy="228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48840" y="1874520"/>
            <a:ext cx="411480" cy="228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325880" y="2240280"/>
            <a:ext cx="1371600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git_ops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1188720"/>
            <a:ext cx="1645920" cy="146304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1234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F7C00"/>
                </a:solidFill>
                <a:latin typeface="Calibri"/>
              </a:defRPr>
            </a:pPr>
            <a:r>
              <a:t>Tree 2</a:t>
            </a:r>
          </a:p>
        </p:txBody>
      </p:sp>
      <p:sp>
        <p:nvSpPr>
          <p:cNvPr id="18" name="Diamond 17"/>
          <p:cNvSpPr/>
          <p:nvPr/>
        </p:nvSpPr>
        <p:spPr>
          <a:xfrm>
            <a:off x="3520440" y="1508760"/>
            <a:ext cx="640080" cy="320040"/>
          </a:xfrm>
          <a:prstGeom prst="diamond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1874520"/>
            <a:ext cx="411480" cy="228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77640" y="1874520"/>
            <a:ext cx="411480" cy="228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154680" y="2240280"/>
            <a:ext cx="1371600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git_ops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1188720"/>
            <a:ext cx="1645920" cy="146304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1234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F7C00"/>
                </a:solidFill>
                <a:latin typeface="Calibri"/>
              </a:defRPr>
            </a:pPr>
            <a:r>
              <a:t>Tree 3</a:t>
            </a:r>
          </a:p>
        </p:txBody>
      </p:sp>
      <p:sp>
        <p:nvSpPr>
          <p:cNvPr id="24" name="Diamond 23"/>
          <p:cNvSpPr/>
          <p:nvPr/>
        </p:nvSpPr>
        <p:spPr>
          <a:xfrm>
            <a:off x="5349240" y="1508760"/>
            <a:ext cx="640080" cy="320040"/>
          </a:xfrm>
          <a:prstGeom prst="diamond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20640" y="1874520"/>
            <a:ext cx="411480" cy="228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06440" y="1874520"/>
            <a:ext cx="411480" cy="228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983480" y="2240280"/>
            <a:ext cx="1371600" cy="32004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coding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1188720"/>
            <a:ext cx="1645920" cy="146304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1234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F7C00"/>
                </a:solidFill>
                <a:latin typeface="Calibri"/>
              </a:defRPr>
            </a:pPr>
            <a:r>
              <a:t>Tree 4</a:t>
            </a:r>
          </a:p>
        </p:txBody>
      </p:sp>
      <p:sp>
        <p:nvSpPr>
          <p:cNvPr id="30" name="Diamond 29"/>
          <p:cNvSpPr/>
          <p:nvPr/>
        </p:nvSpPr>
        <p:spPr>
          <a:xfrm>
            <a:off x="7178040" y="1508760"/>
            <a:ext cx="640080" cy="320040"/>
          </a:xfrm>
          <a:prstGeom prst="diamond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949440" y="1874520"/>
            <a:ext cx="411480" cy="228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35240" y="1874520"/>
            <a:ext cx="411480" cy="228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812280" y="2240280"/>
            <a:ext cx="1371600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git_ops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03920" y="1188720"/>
            <a:ext cx="1645920" cy="146304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0" y="1234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F7C00"/>
                </a:solidFill>
                <a:latin typeface="Calibri"/>
              </a:defRPr>
            </a:pPr>
            <a:r>
              <a:t>Tree 5</a:t>
            </a:r>
          </a:p>
        </p:txBody>
      </p:sp>
      <p:sp>
        <p:nvSpPr>
          <p:cNvPr id="36" name="Diamond 35"/>
          <p:cNvSpPr/>
          <p:nvPr/>
        </p:nvSpPr>
        <p:spPr>
          <a:xfrm>
            <a:off x="9006840" y="1508760"/>
            <a:ext cx="640080" cy="320040"/>
          </a:xfrm>
          <a:prstGeom prst="diamond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778240" y="1874520"/>
            <a:ext cx="411480" cy="228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464040" y="1874520"/>
            <a:ext cx="411480" cy="228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641080" y="2240280"/>
            <a:ext cx="1371600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git_ops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1737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>
                <a:solidFill>
                  <a:srgbClr val="CCCCCC"/>
                </a:solidFill>
                <a:latin typeface="Calibri"/>
              </a:defRPr>
            </a:pPr>
            <a:r>
              <a:t>...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v                v                v                v                v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286000" y="3200400"/>
            <a:ext cx="7315200" cy="64008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86000" y="3246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Majority Vote:  git_operations (4/5 = 80%)     -&gt;     Final Prediction: git_ops (87%)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88720" y="3931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F7C00"/>
                </a:solidFill>
                <a:latin typeface="Calibri"/>
              </a:defRPr>
            </a:pPr>
            <a:r>
              <a:t>Each tree sees different features and different data samples (bootstrap aggregating = bagging)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88720" y="4663440"/>
            <a:ext cx="475488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Strengths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25880" y="50292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A745"/>
                </a:solidFill>
                <a:latin typeface="Calibri"/>
              </a:defRPr>
            </a:pPr>
            <a:r>
              <a:t>+  Robust  --  averaging reduces overfitting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25880" y="528523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A745"/>
                </a:solidFill>
                <a:latin typeface="Calibri"/>
              </a:defRPr>
            </a:pPr>
            <a:r>
              <a:t>+  Good accuracy (58.7%), handles noisy data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09360" y="4663440"/>
            <a:ext cx="4754880" cy="32004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Weaknesses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50292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-  Slower than single tree (103ms latency)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528523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-  Less interpretable  --  100 trees are hard to visualize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KNN (K-Nearest Neighbors)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Finds the K most similar training examples and takes a vote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1188720"/>
            <a:ext cx="5029200" cy="32004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280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K=5 Nearest Neighbors</a:t>
            </a:r>
          </a:p>
        </p:txBody>
      </p:sp>
      <p:sp>
        <p:nvSpPr>
          <p:cNvPr id="12" name="Oval 11"/>
          <p:cNvSpPr/>
          <p:nvPr/>
        </p:nvSpPr>
        <p:spPr>
          <a:xfrm>
            <a:off x="2103120" y="2377440"/>
            <a:ext cx="182880" cy="18288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77440" y="2788920"/>
            <a:ext cx="182880" cy="18288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920240" y="3035808"/>
            <a:ext cx="182880" cy="18288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560320" y="2130552"/>
            <a:ext cx="182880" cy="18288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86000" y="3200400"/>
            <a:ext cx="182880" cy="18288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645920" y="2624328"/>
            <a:ext cx="182880" cy="18288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743200" y="2542032"/>
            <a:ext cx="182880" cy="18288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11680" y="1965960"/>
            <a:ext cx="182880" cy="18288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89120" y="1965960"/>
            <a:ext cx="182880" cy="182880"/>
          </a:xfrm>
          <a:prstGeom prst="ellipse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46320" y="2377440"/>
            <a:ext cx="182880" cy="182880"/>
          </a:xfrm>
          <a:prstGeom prst="ellipse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63440" y="2788920"/>
            <a:ext cx="182880" cy="182880"/>
          </a:xfrm>
          <a:prstGeom prst="ellipse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29200" y="1801368"/>
            <a:ext cx="182880" cy="182880"/>
          </a:xfrm>
          <a:prstGeom prst="ellipse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06240" y="2212848"/>
            <a:ext cx="182880" cy="182880"/>
          </a:xfrm>
          <a:prstGeom prst="ellipse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303520" y="2542032"/>
            <a:ext cx="182880" cy="182880"/>
          </a:xfrm>
          <a:prstGeom prst="ellipse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72000" y="3035808"/>
            <a:ext cx="182880" cy="182880"/>
          </a:xfrm>
          <a:prstGeom prst="ellipse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46320" y="3200400"/>
            <a:ext cx="182880" cy="182880"/>
          </a:xfrm>
          <a:prstGeom prst="ellipse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194560" y="1920240"/>
            <a:ext cx="2011680" cy="2011680"/>
          </a:xfrm>
          <a:prstGeom prst="ellipse">
            <a:avLst/>
          </a:prstGeom>
          <a:solidFill>
            <a:srgbClr val="33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377440" y="2788920"/>
            <a:ext cx="201168" cy="201168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60320" y="2130552"/>
            <a:ext cx="201168" cy="201168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86000" y="3200400"/>
            <a:ext cx="201168" cy="201168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43200" y="2542032"/>
            <a:ext cx="201168" cy="201168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206240" y="2212848"/>
            <a:ext cx="201168" cy="201168"/>
          </a:xfrm>
          <a:prstGeom prst="ellipse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834640" y="2560320"/>
            <a:ext cx="256032" cy="256032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?</a:t>
            </a:r>
          </a:p>
        </p:txBody>
      </p:sp>
      <p:sp>
        <p:nvSpPr>
          <p:cNvPr id="35" name="Oval 34"/>
          <p:cNvSpPr/>
          <p:nvPr/>
        </p:nvSpPr>
        <p:spPr>
          <a:xfrm>
            <a:off x="4114800" y="4023360"/>
            <a:ext cx="164592" cy="164592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43400" y="40233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7C00"/>
                </a:solidFill>
                <a:latin typeface="Calibri"/>
              </a:defRPr>
            </a:pPr>
            <a:r>
              <a:t>git_ops</a:t>
            </a:r>
          </a:p>
        </p:txBody>
      </p:sp>
      <p:sp>
        <p:nvSpPr>
          <p:cNvPr id="37" name="Oval 36"/>
          <p:cNvSpPr/>
          <p:nvPr/>
        </p:nvSpPr>
        <p:spPr>
          <a:xfrm>
            <a:off x="4937759" y="4023360"/>
            <a:ext cx="164592" cy="164592"/>
          </a:xfrm>
          <a:prstGeom prst="ellipse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66359" y="402336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7C00"/>
                </a:solidFill>
                <a:latin typeface="Calibri"/>
              </a:defRPr>
            </a:pPr>
            <a:r>
              <a:t>coding</a:t>
            </a:r>
          </a:p>
        </p:txBody>
      </p:sp>
      <p:sp>
        <p:nvSpPr>
          <p:cNvPr id="39" name="Oval 38"/>
          <p:cNvSpPr/>
          <p:nvPr/>
        </p:nvSpPr>
        <p:spPr>
          <a:xfrm>
            <a:off x="5669280" y="4023360"/>
            <a:ext cx="164592" cy="164592"/>
          </a:xfrm>
          <a:prstGeom prst="ellipse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97880" y="400507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7C00"/>
                </a:solidFill>
                <a:latin typeface="Calibri"/>
              </a:defRPr>
            </a:pPr>
            <a:r>
              <a:t>new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75120" y="1188720"/>
            <a:ext cx="5029200" cy="274320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F7C00"/>
                </a:solidFill>
                <a:latin typeface="Calibri"/>
              </a:defRPr>
            </a:pPr>
            <a:r>
              <a:t>How KNN classifies a new sample: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0" y="1645920"/>
            <a:ext cx="365760" cy="3657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60920" y="1691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7C00"/>
                </a:solidFill>
                <a:latin typeface="Calibri"/>
              </a:defRPr>
            </a:pPr>
            <a:r>
              <a:t>Compute distance to every training sample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0" y="2148840"/>
            <a:ext cx="365760" cy="36576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60920" y="2194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7C00"/>
                </a:solidFill>
                <a:latin typeface="Calibri"/>
              </a:defRPr>
            </a:pPr>
            <a:r>
              <a:t>Select K=5 nearest neighbors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0" y="2651760"/>
            <a:ext cx="365760" cy="3657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60920" y="26974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7C00"/>
                </a:solidFill>
                <a:latin typeface="Calibri"/>
              </a:defRPr>
            </a:pPr>
            <a:r>
              <a:t>Count votes:  4 git_ops  +  1 coding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0" y="3154680"/>
            <a:ext cx="365760" cy="36576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20" y="3200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F7C00"/>
                </a:solidFill>
                <a:latin typeface="Calibri"/>
              </a:defRPr>
            </a:pPr>
            <a:r>
              <a:t>Predict: "git_operations" (80%)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3794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No training needed  --  compares against all stored</a:t>
            </a:r>
            <a:br/>
            <a:r>
              <a:t>examples at prediction time (lazy learner)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188720" y="4754880"/>
            <a:ext cx="475488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Strengths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25880" y="51206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A745"/>
                </a:solidFill>
                <a:latin typeface="Calibri"/>
              </a:defRPr>
            </a:pPr>
            <a:r>
              <a:t>+  Simple, no training phase, adapts to any data shape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25880" y="537667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A745"/>
                </a:solidFill>
                <a:latin typeface="Calibri"/>
              </a:defRPr>
            </a:pPr>
            <a:r>
              <a:t>+  Non-parametric  --  no assumptions about data distribution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09360" y="4754880"/>
            <a:ext cx="4754880" cy="32004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Weaknesses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46520" y="51206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-  Slow prediction (344ms)  --  compares every stored sample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46520" y="537667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-  Sensitive to irrelevant features and curse of dimensionality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Extreme Gradient Boosting  --  builds trees sequentially, each fixing previous errors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1188720"/>
            <a:ext cx="2286000" cy="128016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234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7C00"/>
                </a:solidFill>
                <a:latin typeface="Calibri"/>
              </a:defRPr>
            </a:pPr>
            <a:r>
              <a:t>Tree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1828800"/>
            <a:ext cx="1920240" cy="274320"/>
          </a:xfrm>
          <a:prstGeom prst="roundRect">
            <a:avLst/>
          </a:prstGeom>
          <a:solidFill>
            <a:srgbClr val="33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71600" y="1828800"/>
            <a:ext cx="1152144" cy="27432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F7C00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0" y="1188720"/>
            <a:ext cx="2286000" cy="128016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1234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7C00"/>
                </a:solidFill>
                <a:latin typeface="Calibri"/>
              </a:defRPr>
            </a:pPr>
            <a:r>
              <a:t>Tree 2</a:t>
            </a:r>
            <a:br/>
            <a:r>
              <a:t>fixes 20%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1828800"/>
            <a:ext cx="1920240" cy="274320"/>
          </a:xfrm>
          <a:prstGeom prst="roundRect">
            <a:avLst/>
          </a:prstGeom>
          <a:solidFill>
            <a:srgbClr val="33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14800" y="1828800"/>
            <a:ext cx="1536192" cy="274320"/>
          </a:xfrm>
          <a:prstGeom prst="roundRect">
            <a:avLst/>
          </a:prstGeom>
          <a:solidFill>
            <a:srgbClr val="CC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80%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F7C00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1188720"/>
            <a:ext cx="2286000" cy="128016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234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7C00"/>
                </a:solidFill>
                <a:latin typeface="Calibri"/>
              </a:defRPr>
            </a:pPr>
            <a:r>
              <a:t>Tree 3</a:t>
            </a:r>
            <a:br/>
            <a:r>
              <a:t>fixes 10%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1828800"/>
            <a:ext cx="1920240" cy="274320"/>
          </a:xfrm>
          <a:prstGeom prst="roundRect">
            <a:avLst/>
          </a:prstGeom>
          <a:solidFill>
            <a:srgbClr val="33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0" y="1828800"/>
            <a:ext cx="1728216" cy="274320"/>
          </a:xfrm>
          <a:prstGeom prst="roundRect">
            <a:avLst/>
          </a:prstGeom>
          <a:solidFill>
            <a:srgbClr val="66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90%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F7C00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18320" y="1188720"/>
            <a:ext cx="2286000" cy="128016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0" y="1234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7C00"/>
                </a:solidFill>
                <a:latin typeface="Calibri"/>
              </a:defRPr>
            </a:pPr>
            <a:r>
              <a:t>Tree 4</a:t>
            </a:r>
            <a:br/>
            <a:r>
              <a:t>fixes 3%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1828800"/>
            <a:ext cx="1920240" cy="274320"/>
          </a:xfrm>
          <a:prstGeom prst="roundRect">
            <a:avLst/>
          </a:prstGeom>
          <a:solidFill>
            <a:srgbClr val="3355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01200" y="1828800"/>
            <a:ext cx="1785823" cy="2743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93%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CCCCC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2560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^ Each new tree focuses on the errors of all previous trees (gradient descent on the loss function)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88720" y="3108960"/>
            <a:ext cx="2560320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Regularization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7C00"/>
                </a:solidFill>
                <a:latin typeface="Calibri"/>
              </a:defRPr>
            </a:pPr>
            <a:r>
              <a:t>L1 &amp; L2 penalties prevent</a:t>
            </a:r>
            <a:br/>
            <a:r>
              <a:t>overfitting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31920" y="3108960"/>
            <a:ext cx="2560320" cy="32004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Column Sampling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6908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7C00"/>
                </a:solidFill>
                <a:latin typeface="Calibri"/>
              </a:defRPr>
            </a:pPr>
            <a:r>
              <a:t>Each tree uses random</a:t>
            </a:r>
            <a:br/>
            <a:r>
              <a:t>subset of features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75120" y="3108960"/>
            <a:ext cx="2560320" cy="32004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Gradient Descent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7C00"/>
                </a:solidFill>
                <a:latin typeface="Calibri"/>
              </a:defRPr>
            </a:pPr>
            <a:r>
              <a:t>Minimizes prediction</a:t>
            </a:r>
            <a:br/>
            <a:r>
              <a:t>errors iteratively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18320" y="3108960"/>
            <a:ext cx="256032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Tree Pruning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8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F7C00"/>
                </a:solidFill>
                <a:latin typeface="Calibri"/>
              </a:defRPr>
            </a:pPr>
            <a:r>
              <a:t>Removes branches that</a:t>
            </a:r>
            <a:br/>
            <a:r>
              <a:t>don't improve accuracy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88720" y="4663440"/>
            <a:ext cx="475488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Strengths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25880" y="50292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A745"/>
                </a:solidFill>
                <a:latin typeface="Calibri"/>
              </a:defRPr>
            </a:pPr>
            <a:r>
              <a:t>+  Often best accuracy (59.3% in our benchmarks)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25880" y="528523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A745"/>
                </a:solidFill>
                <a:latin typeface="Calibri"/>
              </a:defRPr>
            </a:pPr>
            <a:r>
              <a:t>+  Handles imbalanced data, fast inference (59ms)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9360" y="4663440"/>
            <a:ext cx="4754880" cy="32004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Weaknesses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46520" y="50292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-  Many hyperparameters to tune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528523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-  Can overfit with too many boosting rounds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LightGBM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Light Gradient Boosting Machine  --  same concept as XGBoost but grows trees leaf-wise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1188720"/>
            <a:ext cx="5029200" cy="292608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25880" y="1280160"/>
            <a:ext cx="2743200" cy="32004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XGBoost: Level-wise Growth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1737360"/>
            <a:ext cx="1097280" cy="32004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Root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20240" y="2286000"/>
            <a:ext cx="1097280" cy="32004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L1-Left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2286000"/>
            <a:ext cx="1097280" cy="32004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L1-Right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2834640"/>
            <a:ext cx="1005840" cy="32004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L2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68880" y="2834640"/>
            <a:ext cx="1005840" cy="32004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L2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2834640"/>
            <a:ext cx="1005840" cy="32004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L2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2834640"/>
            <a:ext cx="1005840" cy="32004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L2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2011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\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011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2918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Expands ALL nodes at each level before going deeper.</a:t>
            </a:r>
            <a:br/>
            <a:r>
              <a:t>Balanced tree  --  thorough but slower.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1188720"/>
            <a:ext cx="5029200" cy="292608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12280" y="1280160"/>
            <a:ext cx="274320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LightGBM: Leaf-wise Growth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1737360"/>
            <a:ext cx="109728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Root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2286000"/>
            <a:ext cx="109728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L1-Left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2286000"/>
            <a:ext cx="1097280" cy="320040"/>
          </a:xfrm>
          <a:prstGeom prst="round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Leaf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2834640"/>
            <a:ext cx="100584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L2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2834640"/>
            <a:ext cx="1005840" cy="320040"/>
          </a:xfrm>
          <a:prstGeom prst="round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</a:defRPr>
            </a:pPr>
            <a:r>
              <a:t>Leaf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2011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\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20116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32918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Only expands the leaf with HIGHEST LOSS.</a:t>
            </a:r>
            <a:br/>
            <a:r>
              <a:t>Deeper on one side  --  faster convergence, lower memory.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743200" y="4297680"/>
            <a:ext cx="6675120" cy="411480"/>
          </a:xfrm>
          <a:prstGeom prst="round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7ACC"/>
                </a:solidFill>
              </a:defRPr>
            </a:pPr>
            <a:r>
              <a:t>Faster training  *  Lower memory  *  Similar accuracy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88720" y="4754880"/>
            <a:ext cx="4754880" cy="32004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Strengths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51206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A745"/>
                </a:solidFill>
                <a:latin typeface="Calibri"/>
              </a:defRPr>
            </a:pPr>
            <a:r>
              <a:t>+  Fastest training among boosting methods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537667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8A745"/>
                </a:solidFill>
                <a:latin typeface="Calibri"/>
              </a:defRPr>
            </a:pPr>
            <a:r>
              <a:t>+  Handles categorical features natively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4754880"/>
            <a:ext cx="4754880" cy="320040"/>
          </a:xfrm>
          <a:prstGeom prst="round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Weaknesses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1206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-  Can overfit on small datasets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37667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F7C00"/>
                </a:solidFill>
                <a:latin typeface="Calibri"/>
              </a:defRPr>
            </a:pPr>
            <a:r>
              <a:t>-  Leaf-wise growth may miss patterns in balanced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7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0" cy="822960"/>
          </a:xfrm>
          <a:prstGeom prst="rect">
            <a:avLst/>
          </a:prstGeom>
          <a:solidFill>
            <a:srgbClr val="FFE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54864" cy="5303520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0" y="137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FFFFFF"/>
                </a:solidFill>
                <a:latin typeface="Arial"/>
              </a:defRPr>
            </a:pPr>
            <a:r>
              <a:t>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457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FFFFFF"/>
                </a:solidFill>
                <a:latin typeface="Arial"/>
              </a:defRPr>
            </a:pPr>
            <a:r>
              <a:t>National University</a:t>
            </a:r>
            <a:br/>
            <a:r>
              <a:t>of Singapore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Tier 1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94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All 7 classical ML models benchmarked on CUA-Suite dataset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72200"/>
            <a:ext cx="12191695" cy="54864"/>
          </a:xfrm>
          <a:prstGeom prst="rect">
            <a:avLst/>
          </a:prstGeom>
          <a:solidFill>
            <a:srgbClr val="EF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  <a:latin typeface="Calibri"/>
              </a:defRPr>
            </a:pPr>
            <a:r>
              <a:t>© Copyright National University of Singapore. All Rights Reserved.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1188720"/>
            <a:ext cx="1984248" cy="4114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188720"/>
            <a:ext cx="1618488" cy="4114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1188720"/>
            <a:ext cx="1618488" cy="4114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F1 Macro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188720"/>
            <a:ext cx="1618488" cy="4114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Latency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1984248" cy="4114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Training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49840" y="1188720"/>
            <a:ext cx="1984248" cy="4114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Note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1600200"/>
            <a:ext cx="1984248" cy="411480"/>
          </a:xfrm>
          <a:prstGeom prst="rect">
            <a:avLst/>
          </a:prstGeom>
          <a:solidFill>
            <a:srgbClr val="33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F7C00"/>
                </a:solidFill>
              </a:defRPr>
            </a:pPr>
            <a:r>
              <a:t>XGBoost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1600200"/>
            <a:ext cx="1618488" cy="411480"/>
          </a:xfrm>
          <a:prstGeom prst="rect">
            <a:avLst/>
          </a:prstGeom>
          <a:solidFill>
            <a:srgbClr val="33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F7C00"/>
                </a:solidFill>
              </a:defRPr>
            </a:pPr>
            <a:r>
              <a:t>59.3%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600200"/>
            <a:ext cx="1618488" cy="411480"/>
          </a:xfrm>
          <a:prstGeom prst="rect">
            <a:avLst/>
          </a:prstGeom>
          <a:solidFill>
            <a:srgbClr val="33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F7C00"/>
                </a:solidFill>
              </a:defRPr>
            </a:pPr>
            <a:r>
              <a:t>0.397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1600200"/>
            <a:ext cx="1618488" cy="411480"/>
          </a:xfrm>
          <a:prstGeom prst="rect">
            <a:avLst/>
          </a:prstGeom>
          <a:solidFill>
            <a:srgbClr val="33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F7C00"/>
                </a:solidFill>
              </a:defRPr>
            </a:pPr>
            <a:r>
              <a:t>59 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1600200"/>
            <a:ext cx="1984248" cy="411480"/>
          </a:xfrm>
          <a:prstGeom prst="rect">
            <a:avLst/>
          </a:prstGeom>
          <a:solidFill>
            <a:srgbClr val="33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F7C00"/>
                </a:solidFill>
              </a:defRPr>
            </a:pPr>
            <a:r>
              <a:t>2.1 sec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49840" y="1600200"/>
            <a:ext cx="1984248" cy="411480"/>
          </a:xfrm>
          <a:prstGeom prst="rect">
            <a:avLst/>
          </a:prstGeom>
          <a:solidFill>
            <a:srgbClr val="335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F7C00"/>
                </a:solidFill>
              </a:defRPr>
            </a:pPr>
            <a:r>
              <a:t>Best accuracy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88720" y="2011680"/>
            <a:ext cx="1984248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F7C00"/>
                </a:solidFill>
              </a:defRPr>
            </a:pPr>
            <a:r>
              <a:t>Random Forest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0" y="2011680"/>
            <a:ext cx="1618488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F7C00"/>
                </a:solidFill>
              </a:defRPr>
            </a:pPr>
            <a:r>
              <a:t>58.7%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2011680"/>
            <a:ext cx="1618488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F7C00"/>
                </a:solidFill>
              </a:defRPr>
            </a:pPr>
            <a:r>
              <a:t>0.389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2011680"/>
            <a:ext cx="1618488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F7C00"/>
                </a:solidFill>
              </a:defRPr>
            </a:pPr>
            <a:r>
              <a:t>103 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2011680"/>
            <a:ext cx="1984248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F7C00"/>
                </a:solidFill>
              </a:defRPr>
            </a:pPr>
            <a:r>
              <a:t>1.8 sec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49840" y="2011680"/>
            <a:ext cx="1984248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F7C00"/>
                </a:solidFill>
              </a:defRPr>
            </a:pPr>
            <a:r>
              <a:t>Most robust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88720" y="2423160"/>
            <a:ext cx="1984248" cy="41148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F7C00"/>
                </a:solidFill>
              </a:defRPr>
            </a:pPr>
            <a:r>
              <a:t>LightGBM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2423160"/>
            <a:ext cx="1618488" cy="41148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F7C00"/>
                </a:solidFill>
              </a:defRPr>
            </a:pPr>
            <a:r>
              <a:t>58.5%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2423160"/>
            <a:ext cx="1618488" cy="41148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F7C00"/>
                </a:solidFill>
              </a:defRPr>
            </a:pPr>
            <a:r>
              <a:t>0.385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2423160"/>
            <a:ext cx="1618488" cy="41148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F7C00"/>
                </a:solidFill>
              </a:defRPr>
            </a:pPr>
            <a:r>
              <a:t>45 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2423160"/>
            <a:ext cx="1984248" cy="41148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F7C00"/>
                </a:solidFill>
              </a:defRPr>
            </a:pPr>
            <a:r>
              <a:t>0.9 sec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149840" y="2423160"/>
            <a:ext cx="1984248" cy="41148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F7C00"/>
                </a:solidFill>
              </a:defRPr>
            </a:pPr>
            <a:r>
              <a:t>Fastest training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88720" y="2834640"/>
            <a:ext cx="1984248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F7C00"/>
                </a:solidFill>
              </a:defRPr>
            </a:pPr>
            <a:r>
              <a:t>Decision Tree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2834640"/>
            <a:ext cx="1618488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F7C00"/>
                </a:solidFill>
              </a:defRPr>
            </a:pPr>
            <a:r>
              <a:t>50.2%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2834640"/>
            <a:ext cx="1618488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F7C00"/>
                </a:solidFill>
              </a:defRPr>
            </a:pPr>
            <a:r>
              <a:t>0.321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2834640"/>
            <a:ext cx="1618488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F7C00"/>
                </a:solidFill>
              </a:defRPr>
            </a:pPr>
            <a:r>
              <a:t>2 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2834640"/>
            <a:ext cx="1984248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F7C00"/>
                </a:solidFill>
              </a:defRPr>
            </a:pPr>
            <a:r>
              <a:t>0.3 sec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49840" y="2834640"/>
            <a:ext cx="1984248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F7C00"/>
                </a:solidFill>
              </a:defRPr>
            </a:pPr>
            <a:r>
              <a:t>Fastest inference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88720" y="3246120"/>
            <a:ext cx="1984248" cy="41148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F7C00"/>
                </a:solidFill>
              </a:defRPr>
            </a:pPr>
            <a:r>
              <a:t>KNN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0" y="3246120"/>
            <a:ext cx="1618488" cy="41148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F7C00"/>
                </a:solidFill>
              </a:defRPr>
            </a:pPr>
            <a:r>
              <a:t>48.9%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46320" y="3246120"/>
            <a:ext cx="1618488" cy="41148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F7C00"/>
                </a:solidFill>
              </a:defRPr>
            </a:pPr>
            <a:r>
              <a:t>0.298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3246120"/>
            <a:ext cx="1618488" cy="41148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F7C00"/>
                </a:solidFill>
              </a:defRPr>
            </a:pPr>
            <a:r>
              <a:t>344 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0" y="3246120"/>
            <a:ext cx="1984248" cy="41148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F7C00"/>
                </a:solidFill>
              </a:defRPr>
            </a:pPr>
            <a:r>
              <a:t>0.0 sec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149840" y="3246120"/>
            <a:ext cx="1984248" cy="41148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F7C00"/>
                </a:solidFill>
              </a:defRPr>
            </a:pPr>
            <a:r>
              <a:t>No training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88720" y="3657600"/>
            <a:ext cx="1984248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F7C00"/>
                </a:solidFill>
              </a:defRPr>
            </a:pPr>
            <a:r>
              <a:t>SVM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0" y="3657600"/>
            <a:ext cx="1618488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F7C00"/>
                </a:solidFill>
              </a:defRPr>
            </a:pPr>
            <a:r>
              <a:t>47.1%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46320" y="3657600"/>
            <a:ext cx="1618488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F7C00"/>
                </a:solidFill>
              </a:defRPr>
            </a:pPr>
            <a:r>
              <a:t>0.271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92240" y="3657600"/>
            <a:ext cx="1618488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F7C00"/>
                </a:solidFill>
              </a:defRPr>
            </a:pPr>
            <a:r>
              <a:t>5617 ms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38160" y="3657600"/>
            <a:ext cx="1984248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F7C00"/>
                </a:solidFill>
              </a:defRPr>
            </a:pPr>
            <a:r>
              <a:t>12.4 sec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149840" y="3657600"/>
            <a:ext cx="1984248" cy="4114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F7C00"/>
                </a:solidFill>
              </a:defRPr>
            </a:pPr>
            <a:r>
              <a:t>Slowest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88720" y="4069080"/>
            <a:ext cx="1984248" cy="41148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F7C00"/>
                </a:solidFill>
              </a:defRPr>
            </a:pPr>
            <a:r>
              <a:t>Naive Bayes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0" y="4069080"/>
            <a:ext cx="1618488" cy="41148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F7C00"/>
                </a:solidFill>
              </a:defRPr>
            </a:pPr>
            <a:r>
              <a:t>35.8%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46320" y="4069080"/>
            <a:ext cx="1618488" cy="41148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F7C00"/>
                </a:solidFill>
              </a:defRPr>
            </a:pPr>
            <a:r>
              <a:t>0.198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92240" y="4069080"/>
            <a:ext cx="1618488" cy="41148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F7C00"/>
                </a:solidFill>
              </a:defRPr>
            </a:pPr>
            <a:r>
              <a:t>16 ms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38160" y="4069080"/>
            <a:ext cx="1984248" cy="41148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F7C00"/>
                </a:solidFill>
              </a:defRPr>
            </a:pPr>
            <a:r>
              <a:t>0.1 sec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149840" y="4069080"/>
            <a:ext cx="1984248" cy="411480"/>
          </a:xfrm>
          <a:prstGeom prst="rect">
            <a:avLst/>
          </a:prstGeom>
          <a:solidFill>
            <a:srgbClr val="0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EF7C00"/>
                </a:solidFill>
              </a:defRPr>
            </a:pPr>
            <a:r>
              <a:t>Simplest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188720" y="4937759"/>
            <a:ext cx="274320" cy="274320"/>
          </a:xfrm>
          <a:prstGeom prst="round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*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54480" y="493775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8A745"/>
                </a:solidFill>
                <a:latin typeface="Calibri"/>
              </a:defRPr>
            </a:pPr>
            <a:r>
              <a:t>XGBoost = best overall accuracy among Tier 1 models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760720" y="4937759"/>
            <a:ext cx="274320" cy="2743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!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26480" y="493775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7ACC"/>
                </a:solidFill>
                <a:latin typeface="Calibri"/>
              </a:defRPr>
            </a:pPr>
            <a:r>
              <a:t>Decision Tree = fastest inference (2ms latency)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8872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7C00"/>
                </a:solidFill>
                <a:latin typeface="Calibri"/>
              </a:defRPr>
            </a:pPr>
            <a:r>
              <a:t>Key Takeaway:  Boosting methods (XGBoost, LightGBM, Random Forest) consistently outperform individual models.  Trade-off between accuracy and latency depends on deployment needs.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