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7760" y="1463040"/>
            <a:ext cx="2286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TIER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Tier 1: Classical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7 proven algorithms for screen activity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3767" y="4754880"/>
            <a:ext cx="1371600" cy="41148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7ACC"/>
                </a:solidFill>
              </a:defRPr>
            </a:pPr>
            <a:r>
              <a:t>SVM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92527" y="4754880"/>
            <a:ext cx="1371600" cy="41148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7ACC"/>
                </a:solidFill>
              </a:defRPr>
            </a:pPr>
            <a:r>
              <a:t>Naive Bayes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01287" y="4754880"/>
            <a:ext cx="1371600" cy="41148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7ACC"/>
                </a:solidFill>
              </a:defRPr>
            </a:pPr>
            <a:r>
              <a:t>Decision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4754880"/>
            <a:ext cx="1371600" cy="41148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7ACC"/>
                </a:solidFill>
              </a:defRPr>
            </a:pPr>
            <a:r>
              <a:t>Random Forest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8807" y="4754880"/>
            <a:ext cx="1371600" cy="41148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7ACC"/>
                </a:solidFill>
              </a:defRPr>
            </a:pPr>
            <a:r>
              <a:t>KNN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27567" y="4754880"/>
            <a:ext cx="1371600" cy="41148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7ACC"/>
                </a:solidFill>
              </a:defRPr>
            </a:pPr>
            <a:r>
              <a:t>XGBoost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36327" y="4754880"/>
            <a:ext cx="1371600" cy="41148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7ACC"/>
                </a:solidFill>
              </a:defRPr>
            </a:pPr>
            <a:r>
              <a:t>LightGBM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Video2Knowledge  |  Pattern Recognition Systems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Tier 1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D2D2D"/>
                </a:solidFill>
                <a:latin typeface="Calibri"/>
              </a:defRPr>
            </a:pPr>
            <a:r>
              <a:t>All classifiers take the same input: 150-dim feature vector  →  predict 1 of 9 activity labels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1554480" cy="7772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SVM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Support Vector Machine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21408" y="1737360"/>
            <a:ext cx="1554480" cy="777240"/>
          </a:xfrm>
          <a:prstGeom prst="round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408" y="2560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Naive Bayes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5616" y="1737360"/>
            <a:ext cx="1554480" cy="7772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5616" y="2560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9824" y="1737360"/>
            <a:ext cx="1554480" cy="777240"/>
          </a:xfrm>
          <a:prstGeom prst="roundRect">
            <a:avLst/>
          </a:prstGeom>
          <a:solidFill>
            <a:srgbClr val="20C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4" y="2560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2" y="1737360"/>
            <a:ext cx="1554480" cy="7772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KNN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2560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K-Nearest Neighbors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737360"/>
            <a:ext cx="1554480" cy="7772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XGB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560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42448" y="1737360"/>
            <a:ext cx="1554480" cy="777240"/>
          </a:xfrm>
          <a:prstGeom prst="roundRect">
            <a:avLst/>
          </a:prstGeom>
          <a:solidFill>
            <a:srgbClr val="E83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LGBM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2448" y="2560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971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How every Tier 1 classifier works: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83280"/>
            <a:ext cx="2926080" cy="1645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29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INPUT: 150-dim Feature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7947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OCR features (50 dims)  —  text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0233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YOLO features (30 dims)  —  UI elements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2519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OpenCV features (40 dims)  —  visual patterns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48056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alibri"/>
              </a:defRPr>
            </a:pPr>
            <a:r>
              <a:t>Action features (30 dims)  —  user interactions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54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ourier New"/>
              </a:defRPr>
            </a:pPr>
            <a:r>
              <a:t>[0.82, 0.15, 0.0, 1.0, 0.67, ...]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8404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80560" y="3383280"/>
            <a:ext cx="2926080" cy="1645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429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D2D"/>
                </a:solidFill>
                <a:latin typeface="Calibri"/>
              </a:defRPr>
            </a:pPr>
            <a:r>
              <a:t>CLASSIFIER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794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Any of the 7 algorithms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46320" y="4114800"/>
            <a:ext cx="22860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fit(X_train, y_train)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4526280"/>
            <a:ext cx="228600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predict(X_new)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8404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3383280"/>
            <a:ext cx="3474720" cy="164592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A745"/>
                </a:solidFill>
                <a:latin typeface="Calibri"/>
              </a:defRPr>
            </a:pPr>
            <a:r>
              <a:t>OUTPUT: Label + Probability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7947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"git_operations"      87.3%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9776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"coding_editing"      5.2%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16052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"debugging"           3.1%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34340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"web_browsing"        1.8%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5262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"documentation"       1.1%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70916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... (9 labels total)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577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9 Activity Labels:  coding_editing  |  debugging  |  git_operations  |  web_browsing  |  documentation  |  terminal_ops  |  file_management  |  communication  |  other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SVM (Support Vector Machine)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Finds the optimal boundary (hyperplane) between classes in 150-dimensional 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3200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2D Visualization (simplified from 150D)</a:t>
            </a:r>
          </a:p>
        </p:txBody>
      </p:sp>
      <p:sp>
        <p:nvSpPr>
          <p:cNvPr id="7" name="Oval 6"/>
          <p:cNvSpPr/>
          <p:nvPr/>
        </p:nvSpPr>
        <p:spPr>
          <a:xfrm>
            <a:off x="2103120" y="3429000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377440" y="3621023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3200" y="3749040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20240" y="3877056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60320" y="4069080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0" y="4261104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17520" y="3557015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45920" y="3749040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34640" y="3941064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94560" y="4133088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31920" y="2340864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06240" y="2596896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89120" y="2148840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49040" y="2788919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0" y="2468879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14800" y="2020824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46320" y="2276856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97680" y="2980944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63440" y="2724912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023360" y="2404872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46120" y="1920240"/>
            <a:ext cx="36576" cy="265176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80360" y="1920240"/>
            <a:ext cx="18288" cy="26517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30168" y="1920240"/>
            <a:ext cx="18288" cy="26517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604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C3545"/>
                </a:solidFill>
                <a:latin typeface="Calibri"/>
              </a:defRPr>
            </a:pPr>
            <a:r>
              <a:t>Hyperplane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16916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← margin →</a:t>
            </a:r>
          </a:p>
        </p:txBody>
      </p:sp>
      <p:sp>
        <p:nvSpPr>
          <p:cNvPr id="32" name="Oval 31"/>
          <p:cNvSpPr/>
          <p:nvPr/>
        </p:nvSpPr>
        <p:spPr>
          <a:xfrm>
            <a:off x="4206240" y="4480560"/>
            <a:ext cx="164592" cy="164592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git_ops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0" y="4480560"/>
            <a:ext cx="164592" cy="16459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80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coding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1645920"/>
            <a:ext cx="5303520" cy="12801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20116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Maximizes the margin between classes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22402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Uses kernel trick to handle non-linear boundaries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4688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RBF kernel maps data to higher dimensions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26974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Support vectors = points closest to the boundary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12080"/>
            <a:ext cx="5029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Works well with high-dimensional data (150 features)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833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Effective when classes have clear margins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5212080"/>
            <a:ext cx="5029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5577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Slow on large datasets (5617ms latency)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5833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Sensitive to feature scaling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Naive Bayes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Uses Bayes' Theorem to calculate probability of each class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941832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73736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Cambria Math"/>
              </a:defRPr>
            </a:pPr>
            <a:r>
              <a:t>P(class | features) = P(features | class) × P(class) / P(features)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40280"/>
            <a:ext cx="9052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posterior          =        likelihood        ×   prior    /  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D2D2D"/>
                </a:solidFill>
                <a:latin typeface="Calibri"/>
              </a:defRPr>
            </a:pPr>
            <a:r>
              <a:t>Assumes all features are independent (the "naive" assumption)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1051560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Worked Example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274320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Observation: "git" in OCR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931920"/>
            <a:ext cx="256032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Observation: terminal present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3931920"/>
            <a:ext cx="347472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P(git_operations | features) =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Each feature independently increases or decreases the probability of each class label.</a:t>
            </a:r>
            <a:br/>
            <a:r>
              <a:t>Final prediction = class with highest posterior probability.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03520"/>
            <a:ext cx="5029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669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Very fast inference (16ms latency)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2531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Works well with small training datasets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303520"/>
            <a:ext cx="5029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669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Independence assumption rarely true in practice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92531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Lowest accuracy in our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Asks yes/no questions about features in a tree structure</a:t>
            </a:r>
          </a:p>
        </p:txBody>
      </p:sp>
      <p:sp>
        <p:nvSpPr>
          <p:cNvPr id="5" name="Diamond 4"/>
          <p:cNvSpPr/>
          <p:nvPr/>
        </p:nvSpPr>
        <p:spPr>
          <a:xfrm>
            <a:off x="4389120" y="1645920"/>
            <a:ext cx="3200400" cy="731520"/>
          </a:xfrm>
          <a:prstGeom prst="diamond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OCR contains "git"?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2194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A745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194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7C00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Calibri"/>
              </a:defRPr>
            </a:pPr>
            <a:r>
              <a:t>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Calibri"/>
              </a:defRPr>
            </a:pPr>
            <a:r>
              <a:t>↘</a:t>
            </a:r>
          </a:p>
        </p:txBody>
      </p:sp>
      <p:sp>
        <p:nvSpPr>
          <p:cNvPr id="10" name="Diamond 9"/>
          <p:cNvSpPr/>
          <p:nvPr/>
        </p:nvSpPr>
        <p:spPr>
          <a:xfrm>
            <a:off x="1645920" y="2834640"/>
            <a:ext cx="2743200" cy="731520"/>
          </a:xfrm>
          <a:prstGeom prst="diamond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Has terminal?</a:t>
            </a:r>
          </a:p>
        </p:txBody>
      </p:sp>
      <p:sp>
        <p:nvSpPr>
          <p:cNvPr id="11" name="Diamond 10"/>
          <p:cNvSpPr/>
          <p:nvPr/>
        </p:nvSpPr>
        <p:spPr>
          <a:xfrm>
            <a:off x="7498079" y="2834640"/>
            <a:ext cx="2743200" cy="731520"/>
          </a:xfrm>
          <a:prstGeom prst="diamond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Many clicks?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383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383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7C00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3383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399" y="3383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7C00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399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59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14800"/>
            <a:ext cx="201168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git_operations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7520" y="4114800"/>
            <a:ext cx="2011680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debugging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114800"/>
            <a:ext cx="201168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coding_editing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4114800"/>
            <a:ext cx="2011680" cy="5029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Each internal node tests one feature. Follow the branches until reaching a leaf node (the prediction).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20640"/>
            <a:ext cx="5029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Interpretable  —  can visualize the decision path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Fast inference (2ms latency), no feature scaling needed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5120640"/>
            <a:ext cx="5029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Overfits easily to training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Unstable  —  small data changes produce a different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Builds 100 decision trees, each on a random subset of data. Takes majority vote.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164592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2D"/>
                </a:solidFill>
                <a:latin typeface="Calibri"/>
              </a:defRPr>
            </a:pPr>
            <a:r>
              <a:t>Tree 1</a:t>
            </a:r>
          </a:p>
        </p:txBody>
      </p:sp>
      <p:sp>
        <p:nvSpPr>
          <p:cNvPr id="7" name="Diamond 6"/>
          <p:cNvSpPr/>
          <p:nvPr/>
        </p:nvSpPr>
        <p:spPr>
          <a:xfrm>
            <a:off x="960120" y="2057400"/>
            <a:ext cx="640080" cy="320040"/>
          </a:xfrm>
          <a:prstGeom prst="diamond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788920"/>
            <a:ext cx="13716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git_ops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737360"/>
            <a:ext cx="164592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2D"/>
                </a:solidFill>
                <a:latin typeface="Calibri"/>
              </a:defRPr>
            </a:pPr>
            <a:r>
              <a:t>Tree 2</a:t>
            </a:r>
          </a:p>
        </p:txBody>
      </p:sp>
      <p:sp>
        <p:nvSpPr>
          <p:cNvPr id="13" name="Diamond 12"/>
          <p:cNvSpPr/>
          <p:nvPr/>
        </p:nvSpPr>
        <p:spPr>
          <a:xfrm>
            <a:off x="2788920" y="2057400"/>
            <a:ext cx="640080" cy="320040"/>
          </a:xfrm>
          <a:prstGeom prst="diamond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61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23160" y="2788920"/>
            <a:ext cx="13716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git_ops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1737360"/>
            <a:ext cx="164592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2D"/>
                </a:solidFill>
                <a:latin typeface="Calibri"/>
              </a:defRPr>
            </a:pPr>
            <a:r>
              <a:t>Tree 3</a:t>
            </a:r>
          </a:p>
        </p:txBody>
      </p:sp>
      <p:sp>
        <p:nvSpPr>
          <p:cNvPr id="19" name="Diamond 18"/>
          <p:cNvSpPr/>
          <p:nvPr/>
        </p:nvSpPr>
        <p:spPr>
          <a:xfrm>
            <a:off x="4617720" y="2057400"/>
            <a:ext cx="640080" cy="320040"/>
          </a:xfrm>
          <a:prstGeom prst="diamond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749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51960" y="2788920"/>
            <a:ext cx="13716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737360"/>
            <a:ext cx="164592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2D"/>
                </a:solidFill>
                <a:latin typeface="Calibri"/>
              </a:defRPr>
            </a:pPr>
            <a:r>
              <a:t>Tree 4</a:t>
            </a:r>
          </a:p>
        </p:txBody>
      </p:sp>
      <p:sp>
        <p:nvSpPr>
          <p:cNvPr id="25" name="Diamond 24"/>
          <p:cNvSpPr/>
          <p:nvPr/>
        </p:nvSpPr>
        <p:spPr>
          <a:xfrm>
            <a:off x="6446520" y="2057400"/>
            <a:ext cx="640080" cy="320040"/>
          </a:xfrm>
          <a:prstGeom prst="diamond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037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080760" y="2788920"/>
            <a:ext cx="13716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git_ops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1737360"/>
            <a:ext cx="1645920" cy="14630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1783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D2D"/>
                </a:solidFill>
                <a:latin typeface="Calibri"/>
              </a:defRPr>
            </a:pPr>
            <a:r>
              <a:t>Tree 5</a:t>
            </a:r>
          </a:p>
        </p:txBody>
      </p:sp>
      <p:sp>
        <p:nvSpPr>
          <p:cNvPr id="31" name="Diamond 30"/>
          <p:cNvSpPr/>
          <p:nvPr/>
        </p:nvSpPr>
        <p:spPr>
          <a:xfrm>
            <a:off x="8275320" y="2057400"/>
            <a:ext cx="640080" cy="320040"/>
          </a:xfrm>
          <a:prstGeom prst="diamond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32520" y="2423160"/>
            <a:ext cx="411480" cy="2286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09560" y="2788920"/>
            <a:ext cx="13716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git_ops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666666"/>
                </a:solidFill>
                <a:latin typeface="Calibri"/>
              </a:defRPr>
            </a:pPr>
            <a:r>
              <a:t>...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Calibri"/>
              </a:defRPr>
            </a:pPr>
            <a:r>
              <a:t>↓                ↓                ↓                ↓                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86000" y="3749040"/>
            <a:ext cx="731520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" y="3794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Majority Vote:  git_operations (4/5 = 80%)     →     Final Prediction: git_ops (87%)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Each tree sees different features and different data samples (bootstrap aggregating = bagging)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5120640"/>
            <a:ext cx="5029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Robust  —  averaging reduces overfitting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Good accuracy (58.7%), handles noisy data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5120640"/>
            <a:ext cx="5029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Slower than single tree (103ms latency)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Less interpretable  —  100 trees are hard to visualize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KNN (K-Nearest Neighbors)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Finds the K most similar training examples and takes a vote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32004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K=5 Nearest Neighbors</a:t>
            </a:r>
          </a:p>
        </p:txBody>
      </p:sp>
      <p:sp>
        <p:nvSpPr>
          <p:cNvPr id="7" name="Oval 6"/>
          <p:cNvSpPr/>
          <p:nvPr/>
        </p:nvSpPr>
        <p:spPr>
          <a:xfrm>
            <a:off x="1645920" y="283464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20240" y="324612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63040" y="3493008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03120" y="2587752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365760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3081528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2999232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2423160"/>
            <a:ext cx="182880" cy="182880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931920" y="2423160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89120" y="2834640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06240" y="3246120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72000" y="2258568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49040" y="2670048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46320" y="2999232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114800" y="3493008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9120" y="3657600"/>
            <a:ext cx="182880" cy="18288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37360" y="2377440"/>
            <a:ext cx="2011680" cy="201168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20240" y="3246120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03120" y="2587752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28800" y="3657600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86000" y="2999232"/>
            <a:ext cx="201168" cy="201168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49040" y="2670048"/>
            <a:ext cx="201168" cy="20116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377440" y="3017520"/>
            <a:ext cx="256032" cy="256032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?</a:t>
            </a:r>
          </a:p>
        </p:txBody>
      </p:sp>
      <p:sp>
        <p:nvSpPr>
          <p:cNvPr id="30" name="Oval 29"/>
          <p:cNvSpPr/>
          <p:nvPr/>
        </p:nvSpPr>
        <p:spPr>
          <a:xfrm>
            <a:off x="3657600" y="4480560"/>
            <a:ext cx="164592" cy="164592"/>
          </a:xfrm>
          <a:prstGeom prst="ellips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86200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git_ops</a:t>
            </a:r>
          </a:p>
        </p:txBody>
      </p:sp>
      <p:sp>
        <p:nvSpPr>
          <p:cNvPr id="32" name="Oval 31"/>
          <p:cNvSpPr/>
          <p:nvPr/>
        </p:nvSpPr>
        <p:spPr>
          <a:xfrm>
            <a:off x="4480559" y="4480560"/>
            <a:ext cx="164592" cy="16459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59" y="44805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coding</a:t>
            </a:r>
          </a:p>
        </p:txBody>
      </p:sp>
      <p:sp>
        <p:nvSpPr>
          <p:cNvPr id="34" name="Oval 33"/>
          <p:cNvSpPr/>
          <p:nvPr/>
        </p:nvSpPr>
        <p:spPr>
          <a:xfrm>
            <a:off x="5212080" y="4480560"/>
            <a:ext cx="164592" cy="164592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40680" y="4462272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new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1645920"/>
            <a:ext cx="5303520" cy="27432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737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How KNN classifies a new sample: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2103120"/>
            <a:ext cx="36576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Compute distance to every training sample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2606040"/>
            <a:ext cx="36576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6517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Select K=5 nearest neighbors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3108960"/>
            <a:ext cx="36576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3154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Count votes:  4 git_ops  +  1 coding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3611880"/>
            <a:ext cx="36576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6576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Predict: "git_operations" (80%)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251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No training needed  —  compares against all stored</a:t>
            </a:r>
            <a:br/>
            <a:r>
              <a:t>examples at prediction time (lazy learner)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212080"/>
            <a:ext cx="5029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577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Simple, no training phase, adapts to any data shape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5833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Non-parametric  —  no assumptions about data distribution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26480" y="5212080"/>
            <a:ext cx="5029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63640" y="5577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Slow prediction (344ms)  —  compares every stored sample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3640" y="5833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Sensitive to irrelevant features and curse of dimensionality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Extreme Gradient Boosting  —  builds trees sequentially, each fixing previous errors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286000" cy="12801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Tree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920240" cy="274320"/>
          </a:xfrm>
          <a:prstGeom prst="round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1152144" cy="2743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737360"/>
            <a:ext cx="2286000" cy="12801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Tree 2</a:t>
            </a:r>
            <a:br/>
            <a:r>
              <a:t>fixes 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77440"/>
            <a:ext cx="1920240" cy="274320"/>
          </a:xfrm>
          <a:prstGeom prst="round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2377440"/>
            <a:ext cx="1536192" cy="274320"/>
          </a:xfrm>
          <a:prstGeom prst="round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80%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97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737360"/>
            <a:ext cx="2286000" cy="12801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Tree 3</a:t>
            </a:r>
            <a:br/>
            <a:r>
              <a:t>fixes 10%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2377440"/>
            <a:ext cx="1920240" cy="274320"/>
          </a:xfrm>
          <a:prstGeom prst="round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2377440"/>
            <a:ext cx="1728216" cy="274320"/>
          </a:xfrm>
          <a:prstGeom prst="roundRect">
            <a:avLst/>
          </a:prstGeom>
          <a:solidFill>
            <a:srgbClr val="66B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90%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697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1737360"/>
            <a:ext cx="2286000" cy="12801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D2D2D"/>
                </a:solidFill>
                <a:latin typeface="Calibri"/>
              </a:defRPr>
            </a:pPr>
            <a:r>
              <a:t>Tree 4</a:t>
            </a:r>
            <a:br/>
            <a:r>
              <a:t>fixes 3%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0" y="2377440"/>
            <a:ext cx="1920240" cy="274320"/>
          </a:xfrm>
          <a:prstGeom prst="round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69680" y="2377440"/>
            <a:ext cx="1785823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6974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↑ Each new tree focuses on the errors of all previous trees (gradient descent on the loss function)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566160"/>
            <a:ext cx="265176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Regularization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L1 &amp; L2 penalties prevent</a:t>
            </a:r>
            <a:br/>
            <a:r>
              <a:t>overfitting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3566160"/>
            <a:ext cx="265176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Column Sampling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Each tree uses random</a:t>
            </a:r>
            <a:br/>
            <a:r>
              <a:t>subset of features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566160"/>
            <a:ext cx="265176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Gradient Descent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Minimizes prediction</a:t>
            </a:r>
            <a:br/>
            <a:r>
              <a:t>errors iteratively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20" y="3566160"/>
            <a:ext cx="26517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Tree Pruning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Removes branches that</a:t>
            </a:r>
            <a:br/>
            <a:r>
              <a:t>don't improve accuracy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120640"/>
            <a:ext cx="5029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Often best accuracy (59.3% in our benchmarks)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Handles imbalanced data, fast inference (59ms)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5120640"/>
            <a:ext cx="5029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Many hyperparameters to tune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7424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Can overfit with too many boosting rounds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Light Gradient Boosting Machine  —  same concept as XGBoost but grows trees leaf-wise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303520" cy="29260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737360"/>
            <a:ext cx="2743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XGBoost: Level-wise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194560"/>
            <a:ext cx="109728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43200"/>
            <a:ext cx="109728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L1-Left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2743200"/>
            <a:ext cx="109728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L1-Right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91840"/>
            <a:ext cx="100584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L2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3291840"/>
            <a:ext cx="100584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291840"/>
            <a:ext cx="100584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91840"/>
            <a:ext cx="100584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7490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Expands ALL nodes at each level before going deeper.</a:t>
            </a:r>
            <a:br/>
            <a:r>
              <a:t>Balanced tree  —  thorough but slower.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45920"/>
            <a:ext cx="5303520" cy="29260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80" y="1737360"/>
            <a:ext cx="2743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LightGBM: Leaf-wise Growth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194560"/>
            <a:ext cx="109728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Root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743200"/>
            <a:ext cx="109728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L1-Left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2743200"/>
            <a:ext cx="1097280" cy="320040"/>
          </a:xfrm>
          <a:prstGeom prst="round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Leaf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291840"/>
            <a:ext cx="100584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L2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291840"/>
            <a:ext cx="1005840" cy="320040"/>
          </a:xfrm>
          <a:prstGeom prst="round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FFFFFF"/>
                </a:solidFill>
              </a:defRPr>
            </a:pPr>
            <a:r>
              <a:t>Leaf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468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7490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Only expands the leaf with HIGHEST LOSS.</a:t>
            </a:r>
            <a:br/>
            <a:r>
              <a:t>Deeper on one side  —  faster convergence, lower memory.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754880"/>
            <a:ext cx="6675120" cy="4114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CC"/>
                </a:solidFill>
              </a:defRPr>
            </a:pPr>
            <a:r>
              <a:t>Faster training  •  Lower memory  •  Similar accuracy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212080"/>
            <a:ext cx="50292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77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Fastest training among boosting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33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8A745"/>
                </a:solidFill>
                <a:latin typeface="Calibri"/>
              </a:defRPr>
            </a:pPr>
            <a:r>
              <a:t>+  Handles categorical features natively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5212080"/>
            <a:ext cx="50292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5778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Can overfit on small datasets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8338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7C00"/>
                </a:solidFill>
                <a:latin typeface="Calibri"/>
              </a:defRPr>
            </a:pPr>
            <a:r>
              <a:t>-  Leaf-wise growth may miss patterns in balanced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Tier 1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All 7 classical ML models benchmarked on CUA-Suite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1984248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645920"/>
            <a:ext cx="1618488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645920"/>
            <a:ext cx="1618488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F1 Macro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1645920"/>
            <a:ext cx="1618488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45920"/>
            <a:ext cx="1984248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645920"/>
            <a:ext cx="1984248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57400"/>
            <a:ext cx="1984248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057400"/>
            <a:ext cx="1618488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59.3%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057400"/>
            <a:ext cx="1618488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0.397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057400"/>
            <a:ext cx="1618488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59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057400"/>
            <a:ext cx="1984248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2.1 sec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2057400"/>
            <a:ext cx="1984248" cy="4114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Best 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6888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Random Forest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46888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46888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0.389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0" y="246888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103 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46888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1.8 sec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46888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Most robust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88036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LightGBM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288036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58.5%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288036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0.385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0" y="288036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45 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88036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0.9 sec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288036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Fastest training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9184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Decision Tree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329184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50.2%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329184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0.321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0" y="329184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2 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329184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0.3 sec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0" y="329184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Fastest inference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0332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KNN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370332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48.9%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370332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0.298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370332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344 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370332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0.0 sec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8320" y="370332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No training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11480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SVM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68880" y="411480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47.1%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411480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0.271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114800"/>
            <a:ext cx="161848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5617 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06640" y="411480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12.4 sec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4114800"/>
            <a:ext cx="1984248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Slowest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52628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D2D2D"/>
                </a:solidFill>
              </a:defRPr>
            </a:pPr>
            <a:r>
              <a:t>Naive Bayes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68880" y="452628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35.8%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0" y="452628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0.198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60720" y="4526280"/>
            <a:ext cx="161848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16 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06640" y="452628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0.1 sec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18320" y="4526280"/>
            <a:ext cx="1984248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</a:defRPr>
            </a:pPr>
            <a:r>
              <a:t>Simplest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5394959"/>
            <a:ext cx="27432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539495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Calibri"/>
              </a:defRPr>
            </a:pPr>
            <a:r>
              <a:t>XGBoost = best overall accuracy among Tier 1 models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0" y="5394959"/>
            <a:ext cx="2743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539495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  <a:latin typeface="Calibri"/>
              </a:defRPr>
            </a:pPr>
            <a:r>
              <a:t>Decision Tree = fastest inference (2ms latency)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Key Takeaway:  Boosting methods (XGBoost, LightGBM, Random Forest) consistently outperform individual models.  Trade-off between accuracy and latency depends on deployment needs.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